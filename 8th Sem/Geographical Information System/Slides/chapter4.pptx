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78"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CE02DE-48C0-49F7-B115-5F8B83512F4D}" type="datetimeFigureOut">
              <a:rPr lang="en-US" smtClean="0"/>
              <a:t>1/29/2017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0B550A-D575-4978-B85E-EEB57AF572B5}" type="slidenum">
              <a:rPr lang="en-US" smtClean="0"/>
              <a:t>‹#›</a:t>
            </a:fld>
            <a:endParaRPr lang="en-US"/>
          </a:p>
        </p:txBody>
      </p:sp>
    </p:spTree>
    <p:extLst>
      <p:ext uri="{BB962C8B-B14F-4D97-AF65-F5344CB8AC3E}">
        <p14:creationId xmlns:p14="http://schemas.microsoft.com/office/powerpoint/2010/main" val="420814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AC5A90B-DBA2-4478-92A2-DE54ACAA8A51}" type="slidenum">
              <a:rPr lang="en-US" altLang="en-US" smtClean="0"/>
              <a:pPr>
                <a:spcBef>
                  <a:spcPct val="0"/>
                </a:spcBef>
              </a:pPr>
              <a:t>3</a:t>
            </a:fld>
            <a:endParaRPr lang="en-US" altLang="en-US" smtClean="0"/>
          </a:p>
        </p:txBody>
      </p:sp>
      <p:sp>
        <p:nvSpPr>
          <p:cNvPr id="9219"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92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0290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458C651-59B7-40ED-88DD-46E3E12D74F0}" type="slidenum">
              <a:rPr lang="en-US" altLang="en-US" smtClean="0"/>
              <a:pPr>
                <a:spcBef>
                  <a:spcPct val="0"/>
                </a:spcBef>
              </a:pPr>
              <a:t>11</a:t>
            </a:fld>
            <a:endParaRPr lang="en-US" altLang="en-US" smtClean="0"/>
          </a:p>
        </p:txBody>
      </p:sp>
      <p:sp>
        <p:nvSpPr>
          <p:cNvPr id="18435" name="Rectangle 2"/>
          <p:cNvSpPr>
            <a:spLocks noRot="1" noChangeArrowheads="1" noTextEdit="1"/>
          </p:cNvSpPr>
          <p:nvPr>
            <p:ph type="sldImg"/>
          </p:nvPr>
        </p:nvSpPr>
        <p:spPr>
          <a:xfrm>
            <a:off x="385763" y="687388"/>
            <a:ext cx="6088062" cy="3425825"/>
          </a:xfrm>
          <a:ln w="12700" cap="flat">
            <a:solidFill>
              <a:schemeClr val="tx1"/>
            </a:solidFill>
          </a:ln>
        </p:spPr>
      </p:sp>
      <p:sp>
        <p:nvSpPr>
          <p:cNvPr id="1843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0"/>
              </a:spcBef>
              <a:buFontTx/>
              <a:buChar char="•"/>
            </a:pPr>
            <a:r>
              <a:rPr lang="en-US" altLang="en-US" smtClean="0">
                <a:latin typeface="Arial" panose="020B0604020202020204" pitchFamily="34" charset="0"/>
                <a:cs typeface="Arial" panose="020B0604020202020204" pitchFamily="34" charset="0"/>
              </a:rPr>
              <a:t>Different materials such as water, soil, vegetation, buildings and roads reflect visible and infrared light in different ways. </a:t>
            </a:r>
          </a:p>
          <a:p>
            <a:pPr marL="342900" indent="-342900" eaLnBrk="1" hangingPunct="1">
              <a:spcBef>
                <a:spcPct val="0"/>
              </a:spcBef>
              <a:buFontTx/>
              <a:buChar char="•"/>
            </a:pPr>
            <a:r>
              <a:rPr lang="en-US" altLang="en-US" smtClean="0">
                <a:latin typeface="Arial" panose="020B0604020202020204" pitchFamily="34" charset="0"/>
                <a:cs typeface="Arial" panose="020B0604020202020204" pitchFamily="34" charset="0"/>
              </a:rPr>
              <a:t>They have different colours and brightness when seen under the sun.</a:t>
            </a: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631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B103D08-5622-43DC-8483-394CA717BB93}" type="slidenum">
              <a:rPr lang="en-US" altLang="en-US" smtClean="0"/>
              <a:pPr>
                <a:spcBef>
                  <a:spcPct val="0"/>
                </a:spcBef>
              </a:pPr>
              <a:t>24</a:t>
            </a:fld>
            <a:endParaRPr lang="en-US" altLang="en-US" smtClean="0"/>
          </a:p>
        </p:txBody>
      </p:sp>
      <p:sp>
        <p:nvSpPr>
          <p:cNvPr id="32771"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3277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5825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7919751-0AA3-4DA9-AB35-AA765EA7FEF6}" type="slidenum">
              <a:rPr lang="en-US" altLang="en-US" smtClean="0">
                <a:latin typeface="Arial" panose="020B0604020202020204" pitchFamily="34" charset="0"/>
              </a:rPr>
              <a:pPr/>
              <a:t>25</a:t>
            </a:fld>
            <a:endParaRPr lang="en-US" altLang="en-US" smtClean="0">
              <a:latin typeface="Arial" panose="020B0604020202020204" pitchFamily="34" charset="0"/>
            </a:endParaRPr>
          </a:p>
        </p:txBody>
      </p:sp>
      <p:sp>
        <p:nvSpPr>
          <p:cNvPr id="34819" name="Rectangle 2"/>
          <p:cNvSpPr>
            <a:spLocks noChangeArrowheads="1" noTextEdit="1"/>
          </p:cNvSpPr>
          <p:nvPr>
            <p:ph type="sldImg"/>
          </p:nvPr>
        </p:nvSpPr>
        <p:spPr>
          <a:ln cap="flat"/>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0877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9D910846-87AD-4928-997B-071E931023E5}" type="slidenum">
              <a:rPr lang="en-US" altLang="en-US" smtClean="0">
                <a:latin typeface="Arial" panose="020B0604020202020204" pitchFamily="34" charset="0"/>
              </a:rPr>
              <a:pPr/>
              <a:t>26</a:t>
            </a:fld>
            <a:endParaRPr lang="en-US" altLang="en-US" smtClean="0">
              <a:latin typeface="Arial" panose="020B0604020202020204" pitchFamily="34" charset="0"/>
            </a:endParaRPr>
          </a:p>
        </p:txBody>
      </p:sp>
      <p:sp>
        <p:nvSpPr>
          <p:cNvPr id="36867" name="Rectangle 2"/>
          <p:cNvSpPr>
            <a:spLocks noChangeArrowheads="1" noTextEdit="1"/>
          </p:cNvSpPr>
          <p:nvPr>
            <p:ph type="sldImg"/>
          </p:nvPr>
        </p:nvSpPr>
        <p:spPr>
          <a:ln cap="flat"/>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4377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1BD57C67-F21E-4D48-BC44-3289E5B037D9}" type="slidenum">
              <a:rPr lang="en-US" altLang="en-US" smtClean="0">
                <a:latin typeface="Arial" panose="020B0604020202020204" pitchFamily="34" charset="0"/>
              </a:rPr>
              <a:pPr/>
              <a:t>30</a:t>
            </a:fld>
            <a:endParaRPr lang="en-US" altLang="en-US" smtClean="0">
              <a:latin typeface="Arial" panose="020B0604020202020204" pitchFamily="34" charset="0"/>
            </a:endParaRPr>
          </a:p>
        </p:txBody>
      </p:sp>
      <p:sp>
        <p:nvSpPr>
          <p:cNvPr id="41987" name="Rectangle 2"/>
          <p:cNvSpPr>
            <a:spLocks noChangeArrowheads="1" noTextEdit="1"/>
          </p:cNvSpPr>
          <p:nvPr>
            <p:ph type="sldImg"/>
          </p:nvPr>
        </p:nvSpPr>
        <p:spPr>
          <a:ln cap="flat"/>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713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9EA076A-9396-49C7-A5DF-DCA0544679FD}" type="slidenum">
              <a:rPr lang="en-US" altLang="en-US" smtClean="0">
                <a:latin typeface="Arial" panose="020B0604020202020204" pitchFamily="34" charset="0"/>
              </a:rPr>
              <a:pPr/>
              <a:t>31</a:t>
            </a:fld>
            <a:endParaRPr lang="en-US" altLang="en-US" smtClean="0">
              <a:latin typeface="Arial" panose="020B0604020202020204" pitchFamily="34" charset="0"/>
            </a:endParaRPr>
          </a:p>
        </p:txBody>
      </p:sp>
      <p:sp>
        <p:nvSpPr>
          <p:cNvPr id="44035" name="Rectangle 2"/>
          <p:cNvSpPr>
            <a:spLocks noChangeArrowheads="1" noTextEdit="1"/>
          </p:cNvSpPr>
          <p:nvPr>
            <p:ph type="sldImg"/>
          </p:nvPr>
        </p:nvSpPr>
        <p:spPr>
          <a:ln cap="flat"/>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2535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0BA2314-994D-4E09-8156-35F58D132226}" type="slidenum">
              <a:rPr lang="en-US" altLang="en-US" smtClean="0">
                <a:latin typeface="Arial" panose="020B0604020202020204" pitchFamily="34" charset="0"/>
              </a:rPr>
              <a:pPr/>
              <a:t>32</a:t>
            </a:fld>
            <a:endParaRPr lang="en-US" altLang="en-US" smtClean="0">
              <a:latin typeface="Arial" panose="020B0604020202020204" pitchFamily="34" charset="0"/>
            </a:endParaRPr>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5496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341D7F1-570B-4AC9-994C-C80F6582683D}" type="slidenum">
              <a:rPr lang="en-US" altLang="en-US" smtClean="0">
                <a:latin typeface="Arial" panose="020B0604020202020204" pitchFamily="34" charset="0"/>
              </a:rPr>
              <a:pPr/>
              <a:t>35</a:t>
            </a:fld>
            <a:endParaRPr lang="en-US" altLang="en-US" smtClean="0">
              <a:latin typeface="Arial" panose="020B0604020202020204" pitchFamily="34" charset="0"/>
            </a:endParaRPr>
          </a:p>
        </p:txBody>
      </p:sp>
      <p:sp>
        <p:nvSpPr>
          <p:cNvPr id="50179" name="Rectangle 2"/>
          <p:cNvSpPr>
            <a:spLocks noChangeArrowheads="1" noTextEdit="1"/>
          </p:cNvSpPr>
          <p:nvPr>
            <p:ph type="sldImg"/>
          </p:nvPr>
        </p:nvSpPr>
        <p:spPr>
          <a:ln cap="flat"/>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0803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DA1512B9-8832-444E-A364-1DD9DC6FF1F8}" type="slidenum">
              <a:rPr lang="en-US" altLang="en-US" smtClean="0">
                <a:latin typeface="Arial" panose="020B0604020202020204" pitchFamily="34" charset="0"/>
              </a:rPr>
              <a:pPr/>
              <a:t>36</a:t>
            </a:fld>
            <a:endParaRPr lang="en-US" altLang="en-US" smtClean="0">
              <a:latin typeface="Arial" panose="020B0604020202020204" pitchFamily="34" charset="0"/>
            </a:endParaRPr>
          </a:p>
        </p:txBody>
      </p:sp>
      <p:sp>
        <p:nvSpPr>
          <p:cNvPr id="52227" name="Rectangle 2"/>
          <p:cNvSpPr>
            <a:spLocks noChangeArrowheads="1" noTextEdit="1"/>
          </p:cNvSpPr>
          <p:nvPr>
            <p:ph type="sldImg"/>
          </p:nvPr>
        </p:nvSpPr>
        <p:spPr>
          <a:ln cap="flat"/>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916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25C541CB-03CC-4B26-BB93-C64703A26022}" type="slidenum">
              <a:rPr lang="en-US" altLang="en-US" smtClean="0">
                <a:latin typeface="Arial" panose="020B0604020202020204" pitchFamily="34" charset="0"/>
              </a:rPr>
              <a:pPr/>
              <a:t>37</a:t>
            </a:fld>
            <a:endParaRPr lang="en-US" altLang="en-US"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ln cap="flat"/>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755" tIns="48439" rIns="93755" bIns="48439"/>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879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179CE605-83A4-4B3E-B256-118D6B27CCAE}" type="slidenum">
              <a:rPr lang="en-US" altLang="en-US" smtClean="0">
                <a:latin typeface="Arial" panose="020B0604020202020204" pitchFamily="34" charset="0"/>
              </a:rPr>
              <a:pPr/>
              <a:t>38</a:t>
            </a:fld>
            <a:endParaRPr lang="en-US" altLang="en-US" smtClean="0">
              <a:latin typeface="Arial" panose="020B0604020202020204" pitchFamily="34" charset="0"/>
            </a:endParaRPr>
          </a:p>
        </p:txBody>
      </p:sp>
      <p:sp>
        <p:nvSpPr>
          <p:cNvPr id="56323" name="Rectangle 2"/>
          <p:cNvSpPr>
            <a:spLocks noGrp="1" noRot="1" noChangeAspect="1" noChangeArrowheads="1" noTextEdit="1"/>
          </p:cNvSpPr>
          <p:nvPr>
            <p:ph type="sldImg"/>
          </p:nvPr>
        </p:nvSpPr>
        <p:spPr>
          <a:ln cap="flat"/>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755" tIns="48439" rIns="93755" bIns="48439"/>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4895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1CBBD1AA-E24C-4700-B9FB-31E2AD85D491}" type="slidenum">
              <a:rPr lang="en-US" altLang="en-US" smtClean="0">
                <a:latin typeface="Arial" panose="020B0604020202020204" pitchFamily="34" charset="0"/>
              </a:rPr>
              <a:pPr/>
              <a:t>39</a:t>
            </a:fld>
            <a:endParaRPr lang="en-US" altLang="en-US" smtClean="0">
              <a:latin typeface="Arial" panose="020B0604020202020204" pitchFamily="34" charset="0"/>
            </a:endParaRPr>
          </a:p>
        </p:txBody>
      </p:sp>
      <p:sp>
        <p:nvSpPr>
          <p:cNvPr id="58371" name="Rectangle 2"/>
          <p:cNvSpPr>
            <a:spLocks noGrp="1" noRot="1" noChangeAspect="1" noChangeArrowheads="1" noTextEdit="1"/>
          </p:cNvSpPr>
          <p:nvPr>
            <p:ph type="sldImg"/>
          </p:nvPr>
        </p:nvSpPr>
        <p:spPr>
          <a:ln cap="flat"/>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755" tIns="48439" rIns="93755" bIns="48439"/>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3201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C8F0457-53C5-4B5F-A086-79E81FCE791E}" type="slidenum">
              <a:rPr lang="en-US" altLang="en-US" smtClean="0">
                <a:latin typeface="Arial" panose="020B0604020202020204" pitchFamily="34" charset="0"/>
              </a:rPr>
              <a:pPr/>
              <a:t>40</a:t>
            </a:fld>
            <a:endParaRPr lang="en-US" altLang="en-US" smtClean="0">
              <a:latin typeface="Arial" panose="020B0604020202020204" pitchFamily="34" charset="0"/>
            </a:endParaRPr>
          </a:p>
        </p:txBody>
      </p:sp>
      <p:sp>
        <p:nvSpPr>
          <p:cNvPr id="60419" name="Rectangle 2"/>
          <p:cNvSpPr>
            <a:spLocks noChangeArrowheads="1" noTextEdit="1"/>
          </p:cNvSpPr>
          <p:nvPr>
            <p:ph type="sldImg"/>
          </p:nvPr>
        </p:nvSpPr>
        <p:spPr>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3284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C6194827-F92C-4E79-8D51-1C9829F2A2DF}" type="slidenum">
              <a:rPr lang="en-US" altLang="en-US" smtClean="0">
                <a:latin typeface="Arial" panose="020B0604020202020204" pitchFamily="34" charset="0"/>
              </a:rPr>
              <a:pPr/>
              <a:t>41</a:t>
            </a:fld>
            <a:endParaRPr lang="en-US" altLang="en-US" smtClean="0">
              <a:latin typeface="Arial" panose="020B0604020202020204" pitchFamily="34" charset="0"/>
            </a:endParaRPr>
          </a:p>
        </p:txBody>
      </p:sp>
      <p:sp>
        <p:nvSpPr>
          <p:cNvPr id="62467" name="Rectangle 2"/>
          <p:cNvSpPr>
            <a:spLocks noChangeArrowheads="1" noTextEdit="1"/>
          </p:cNvSpPr>
          <p:nvPr>
            <p:ph type="sldImg"/>
          </p:nvPr>
        </p:nvSpPr>
        <p:spPr>
          <a:ln cap="flat"/>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8356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26CB318-C65B-4832-AC07-013809ED96D7}" type="slidenum">
              <a:rPr lang="en-US" altLang="en-US" smtClean="0"/>
              <a:pPr>
                <a:spcBef>
                  <a:spcPct val="0"/>
                </a:spcBef>
              </a:pPr>
              <a:t>42</a:t>
            </a:fld>
            <a:endParaRPr lang="en-US" altLang="en-US" smtClean="0"/>
          </a:p>
        </p:txBody>
      </p:sp>
      <p:sp>
        <p:nvSpPr>
          <p:cNvPr id="64515"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6451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1196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F2BC4BD-6286-406E-B867-275146CEE3EE}" type="slidenum">
              <a:rPr lang="en-US" altLang="en-US" smtClean="0"/>
              <a:pPr>
                <a:spcBef>
                  <a:spcPct val="0"/>
                </a:spcBef>
              </a:pPr>
              <a:t>43</a:t>
            </a:fld>
            <a:endParaRPr lang="en-US" altLang="en-US" smtClean="0"/>
          </a:p>
        </p:txBody>
      </p:sp>
      <p:sp>
        <p:nvSpPr>
          <p:cNvPr id="66563"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6656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898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C74400AF-D325-4FCB-8225-4F9C4B4E837D}" type="slidenum">
              <a:rPr lang="en-US" altLang="en-US" smtClean="0">
                <a:latin typeface="Arial" panose="020B0604020202020204" pitchFamily="34" charset="0"/>
              </a:rPr>
              <a:pPr/>
              <a:t>44</a:t>
            </a:fld>
            <a:endParaRPr lang="en-US" altLang="en-US" smtClean="0">
              <a:latin typeface="Arial" panose="020B0604020202020204" pitchFamily="34" charset="0"/>
            </a:endParaRPr>
          </a:p>
        </p:txBody>
      </p:sp>
      <p:sp>
        <p:nvSpPr>
          <p:cNvPr id="68611" name="Rectangle 2"/>
          <p:cNvSpPr>
            <a:spLocks noChangeArrowheads="1" noTextEdit="1"/>
          </p:cNvSpPr>
          <p:nvPr>
            <p:ph type="sldImg"/>
          </p:nvPr>
        </p:nvSpPr>
        <p:spPr>
          <a:ln cap="flat"/>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50" tIns="49212" rIns="95250" bIns="49212"/>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58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F704241-A3E6-4CF2-8A84-1FF00EB67AA8}" type="slidenum">
              <a:rPr lang="en-US" altLang="en-US" smtClean="0">
                <a:latin typeface="Arial" panose="020B0604020202020204" pitchFamily="34" charset="0"/>
              </a:rPr>
              <a:pPr/>
              <a:t>45</a:t>
            </a:fld>
            <a:endParaRPr lang="en-US" altLang="en-US" smtClean="0">
              <a:latin typeface="Arial"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723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4A67D29-4A2F-4772-86FB-6D56CB2CCDA7}" type="slidenum">
              <a:rPr lang="en-US" altLang="en-US" smtClean="0">
                <a:latin typeface="Arial" panose="020B0604020202020204" pitchFamily="34" charset="0"/>
              </a:rPr>
              <a:pPr/>
              <a:t>46</a:t>
            </a:fld>
            <a:endParaRPr lang="en-US" altLang="en-US" smtClean="0">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3187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3F84597-EC64-44B8-8EC1-29C1F524926D}" type="slidenum">
              <a:rPr lang="en-US" altLang="en-US" smtClean="0">
                <a:latin typeface="Arial" panose="020B0604020202020204" pitchFamily="34" charset="0"/>
              </a:rPr>
              <a:pPr/>
              <a:t>47</a:t>
            </a:fld>
            <a:endParaRPr lang="en-US" altLang="en-US" smtClean="0">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5202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0133EB4C-5594-41C2-9A61-D120B8AF854F}" type="slidenum">
              <a:rPr lang="en-US" altLang="en-US" smtClean="0">
                <a:latin typeface="Arial" panose="020B0604020202020204" pitchFamily="34" charset="0"/>
              </a:rPr>
              <a:pPr/>
              <a:t>48</a:t>
            </a:fld>
            <a:endParaRPr lang="en-US" altLang="en-US" smtClean="0">
              <a:latin typeface="Arial" panose="020B0604020202020204" pitchFamily="34" charset="0"/>
            </a:endParaRPr>
          </a:p>
        </p:txBody>
      </p:sp>
      <p:sp>
        <p:nvSpPr>
          <p:cNvPr id="76803" name="Rectangle 2"/>
          <p:cNvSpPr>
            <a:spLocks noGrp="1" noRot="1" noChangeAspect="1" noChangeArrowheads="1" noTextEdit="1"/>
          </p:cNvSpPr>
          <p:nvPr>
            <p:ph type="sldImg"/>
          </p:nvPr>
        </p:nvSpPr>
        <p:spPr>
          <a:xfrm>
            <a:off x="393700" y="692150"/>
            <a:ext cx="6072188" cy="3416300"/>
          </a:xfrm>
          <a:ln/>
        </p:spPr>
      </p:sp>
      <p:sp>
        <p:nvSpPr>
          <p:cNvPr id="76804" name="Rectangle 3"/>
          <p:cNvSpPr>
            <a:spLocks noGrp="1" noChangeArrowheads="1"/>
          </p:cNvSpPr>
          <p:nvPr>
            <p:ph type="body" idx="1"/>
          </p:nvPr>
        </p:nvSpPr>
        <p:spPr>
          <a:xfrm>
            <a:off x="914400" y="4343400"/>
            <a:ext cx="5029200" cy="4087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1680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29B74B79-EF69-4700-8379-61A424C5FE26}" type="slidenum">
              <a:rPr lang="en-US" altLang="en-US" smtClean="0">
                <a:latin typeface="Arial" panose="020B0604020202020204" pitchFamily="34" charset="0"/>
              </a:rPr>
              <a:pPr/>
              <a:t>49</a:t>
            </a:fld>
            <a:endParaRPr lang="en-US" altLang="en-US" smtClean="0">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8063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F473799D-7775-4998-8307-8F14C9E13F5B}" type="slidenum">
              <a:rPr lang="en-US" altLang="en-US" smtClean="0">
                <a:latin typeface="Arial" panose="020B0604020202020204" pitchFamily="34" charset="0"/>
              </a:rPr>
              <a:pPr/>
              <a:t>50</a:t>
            </a:fld>
            <a:endParaRPr lang="en-US" altLang="en-US" smtClean="0">
              <a:latin typeface="Arial" panose="020B060402020202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Cylindrical projections, are analogous to wrapping a cylinder of paper around the earth, projecting the earth’s feature onto it, and then unwarpping the cylinder.</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Conic projections, are analogous to wrapping a sheet of paper around the Earth in a cone, projecting the earth’s feature onto it, and then unwarpping the cone.</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Azimuthal or planar projections, are analogous to touching the earth with a sheet of flat paper,  </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Central meridian, standard meridians</a:t>
            </a:r>
          </a:p>
          <a:p>
            <a:r>
              <a:rPr lang="en-US" altLang="en-US" smtClean="0">
                <a:latin typeface="Arial" panose="020B0604020202020204" pitchFamily="34" charset="0"/>
                <a:cs typeface="Arial" panose="020B0604020202020204" pitchFamily="34" charset="0"/>
              </a:rPr>
              <a:t>Central parallel, standard parallels.</a:t>
            </a:r>
          </a:p>
          <a:p>
            <a:endParaRPr lang="en-US" altLang="en-US" smtClean="0">
              <a:latin typeface="Arial" panose="020B0604020202020204" pitchFamily="34" charset="0"/>
              <a:cs typeface="Arial" panose="020B0604020202020204" pitchFamily="34" charset="0"/>
            </a:endParaRPr>
          </a:p>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8228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EB8C91AD-518B-46F5-A5D9-3ABE629E9AFF}" type="slidenum">
              <a:rPr lang="en-US" altLang="en-US" smtClean="0">
                <a:latin typeface="Arial" panose="020B0604020202020204" pitchFamily="34" charset="0"/>
              </a:rPr>
              <a:pPr/>
              <a:t>51</a:t>
            </a:fld>
            <a:endParaRPr lang="en-US" altLang="en-US" smtClean="0">
              <a:latin typeface="Arial" panose="020B060402020202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259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3FDA1D36-72ED-41EF-89BA-FE40004652AC}" type="slidenum">
              <a:rPr lang="de-DE" altLang="en-US" smtClean="0">
                <a:latin typeface="Arial" panose="020B0604020202020204" pitchFamily="34" charset="0"/>
              </a:rPr>
              <a:pPr/>
              <a:t>52</a:t>
            </a:fld>
            <a:endParaRPr lang="de-DE" altLang="en-US" smtClean="0">
              <a:latin typeface="Arial" panose="020B0604020202020204" pitchFamily="34" charset="0"/>
            </a:endParaRPr>
          </a:p>
        </p:txBody>
      </p:sp>
      <p:sp>
        <p:nvSpPr>
          <p:cNvPr id="84995" name="Rectangle 2"/>
          <p:cNvSpPr>
            <a:spLocks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17302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4122C55-5CE7-4974-B626-727C321FEC94}" type="slidenum">
              <a:rPr lang="de-DE" altLang="en-US" smtClean="0">
                <a:latin typeface="Arial" panose="020B0604020202020204" pitchFamily="34" charset="0"/>
              </a:rPr>
              <a:pPr/>
              <a:t>53</a:t>
            </a:fld>
            <a:endParaRPr lang="de-DE" altLang="en-US" smtClean="0">
              <a:latin typeface="Arial" panose="020B0604020202020204" pitchFamily="34" charset="0"/>
            </a:endParaRPr>
          </a:p>
        </p:txBody>
      </p:sp>
      <p:sp>
        <p:nvSpPr>
          <p:cNvPr id="87043" name="Rectangle 2"/>
          <p:cNvSpPr>
            <a:spLocks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338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D18F04E-EC71-43D4-8C31-CB49727A6DCD}" type="slidenum">
              <a:rPr lang="de-DE" altLang="en-US" smtClean="0">
                <a:latin typeface="Arial" panose="020B0604020202020204" pitchFamily="34" charset="0"/>
              </a:rPr>
              <a:pPr/>
              <a:t>54</a:t>
            </a:fld>
            <a:endParaRPr lang="de-DE" altLang="en-US" smtClean="0">
              <a:latin typeface="Arial" panose="020B0604020202020204" pitchFamily="34" charset="0"/>
            </a:endParaRPr>
          </a:p>
        </p:txBody>
      </p:sp>
      <p:sp>
        <p:nvSpPr>
          <p:cNvPr id="89091" name="Rectangle 2"/>
          <p:cNvSpPr>
            <a:spLocks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smtClean="0">
                <a:latin typeface="Arial" panose="020B0604020202020204" pitchFamily="34" charset="0"/>
                <a:cs typeface="Arial" panose="020B0604020202020204" pitchFamily="34" charset="0"/>
              </a:rPr>
              <a:t>Think about a building construction plan: if the overall spatial reference system is not clearly and completely defined, the construction company would not be able to put the new building in the correct location and orientation.</a:t>
            </a:r>
          </a:p>
          <a:p>
            <a:r>
              <a:rPr lang="de-DE" altLang="en-US" smtClean="0">
                <a:latin typeface="Arial" panose="020B0604020202020204" pitchFamily="34" charset="0"/>
                <a:cs typeface="Arial" panose="020B0604020202020204" pitchFamily="34" charset="0"/>
              </a:rPr>
              <a:t>To put the construction plan onto a large scale topographical map or a city map (e.g. 1:10000), all involved geospatial documents need to have a defined georeferencing system, otherwise they are not „inter-operable“.</a:t>
            </a:r>
          </a:p>
          <a:p>
            <a:r>
              <a:rPr lang="de-DE" altLang="en-US" smtClean="0">
                <a:latin typeface="Arial" panose="020B0604020202020204" pitchFamily="34" charset="0"/>
                <a:cs typeface="Arial" panose="020B0604020202020204" pitchFamily="34" charset="0"/>
              </a:rPr>
              <a:t>We can identify a number of reasons why defined georeferencing is ALWAYS required:</a:t>
            </a:r>
          </a:p>
          <a:p>
            <a:pPr>
              <a:buFontTx/>
              <a:buChar char="•"/>
            </a:pPr>
            <a:r>
              <a:rPr lang="de-DE" altLang="en-US" smtClean="0">
                <a:latin typeface="Arial" panose="020B0604020202020204" pitchFamily="34" charset="0"/>
                <a:cs typeface="Arial" panose="020B0604020202020204" pitchFamily="34" charset="0"/>
              </a:rPr>
              <a:t>geospatial data sets from different sources can only be co-registered on a screen or hardcopy map if they are (automatically) transformed into the map‘s projection</a:t>
            </a:r>
          </a:p>
          <a:p>
            <a:pPr>
              <a:buFontTx/>
              <a:buChar char="•"/>
            </a:pPr>
            <a:r>
              <a:rPr lang="de-DE" altLang="en-US" smtClean="0">
                <a:latin typeface="Arial" panose="020B0604020202020204" pitchFamily="34" charset="0"/>
                <a:cs typeface="Arial" panose="020B0604020202020204" pitchFamily="34" charset="0"/>
              </a:rPr>
              <a:t>measuring location, distance, bearing or area on any map is only feasible if the referencing system and its geometric properties are known</a:t>
            </a:r>
          </a:p>
          <a:p>
            <a:pPr>
              <a:buFontTx/>
              <a:buChar char="•"/>
            </a:pPr>
            <a:r>
              <a:rPr lang="de-DE" altLang="en-US" smtClean="0">
                <a:latin typeface="Arial" panose="020B0604020202020204" pitchFamily="34" charset="0"/>
                <a:cs typeface="Arial" panose="020B0604020202020204" pitchFamily="34" charset="0"/>
              </a:rPr>
              <a:t>overlaying and other operations involving multiple data sets (map algebra: zonal and local operations) is only possible under the same conditions</a:t>
            </a:r>
          </a:p>
        </p:txBody>
      </p:sp>
    </p:spTree>
    <p:extLst>
      <p:ext uri="{BB962C8B-B14F-4D97-AF65-F5344CB8AC3E}">
        <p14:creationId xmlns:p14="http://schemas.microsoft.com/office/powerpoint/2010/main" val="34747745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971C2825-35EA-4D4F-BFB9-A960845EF561}" type="slidenum">
              <a:rPr lang="de-DE" altLang="en-US" smtClean="0">
                <a:latin typeface="Arial" panose="020B0604020202020204" pitchFamily="34" charset="0"/>
              </a:rPr>
              <a:pPr/>
              <a:t>55</a:t>
            </a:fld>
            <a:endParaRPr lang="de-DE" altLang="en-US" smtClean="0">
              <a:latin typeface="Arial" panose="020B0604020202020204" pitchFamily="34" charset="0"/>
            </a:endParaRPr>
          </a:p>
        </p:txBody>
      </p:sp>
      <p:sp>
        <p:nvSpPr>
          <p:cNvPr id="91139" name="Rectangle 2"/>
          <p:cNvSpPr>
            <a:spLocks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smtClean="0">
                <a:latin typeface="Arial" panose="020B0604020202020204" pitchFamily="34" charset="0"/>
                <a:cs typeface="Arial" panose="020B0604020202020204" pitchFamily="34" charset="0"/>
              </a:rPr>
              <a:t>Even in the (earlier) days of computerized handling of geographical information, in some cases the use of locally defined coordinate systems was perfectly legitimate, often the establishing of a global reference would have entailed considerable additional work with little short term benefit.</a:t>
            </a:r>
          </a:p>
          <a:p>
            <a:r>
              <a:rPr lang="de-DE" altLang="en-US" smtClean="0">
                <a:latin typeface="Arial" panose="020B0604020202020204" pitchFamily="34" charset="0"/>
                <a:cs typeface="Arial" panose="020B0604020202020204" pitchFamily="34" charset="0"/>
              </a:rPr>
              <a:t>If all you wanted to do was to „automate“ work with a set of analog maps, edit, analyse and visualize the information these maps contain, a local system with no relation to absolute points outside the given area of interest was of little use.</a:t>
            </a:r>
          </a:p>
          <a:p>
            <a:r>
              <a:rPr lang="de-DE" altLang="en-US" smtClean="0">
                <a:latin typeface="Arial" panose="020B0604020202020204" pitchFamily="34" charset="0"/>
                <a:cs typeface="Arial" panose="020B0604020202020204" pitchFamily="34" charset="0"/>
              </a:rPr>
              <a:t>Now that we are more frequently looking beyond the bounds of any one data set, there is very little „isolated“ information in a world of increasingly globalized contexts. Rarely we will have all required data contained in a set of co-registered maps, in many cases „external“, more up-to-date and  easily available data sets will need to be brought in - this kind of interoperability would be severly impeded by the use of any kind of local system</a:t>
            </a:r>
          </a:p>
        </p:txBody>
      </p:sp>
    </p:spTree>
    <p:extLst>
      <p:ext uri="{BB962C8B-B14F-4D97-AF65-F5344CB8AC3E}">
        <p14:creationId xmlns:p14="http://schemas.microsoft.com/office/powerpoint/2010/main" val="1038857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0161FD28-CEED-47F0-A49B-7EB6EDEBC7A3}" type="slidenum">
              <a:rPr lang="de-DE" altLang="en-US" smtClean="0">
                <a:latin typeface="Arial" panose="020B0604020202020204" pitchFamily="34" charset="0"/>
              </a:rPr>
              <a:pPr/>
              <a:t>56</a:t>
            </a:fld>
            <a:endParaRPr lang="de-DE" altLang="en-US" smtClean="0">
              <a:latin typeface="Arial" panose="020B0604020202020204" pitchFamily="34" charset="0"/>
            </a:endParaRPr>
          </a:p>
        </p:txBody>
      </p:sp>
      <p:sp>
        <p:nvSpPr>
          <p:cNvPr id="93187" name="Rectangle 2"/>
          <p:cNvSpPr>
            <a:spLocks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3041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91F2724-A0E7-4598-A505-B25FA6E78E7B}" type="slidenum">
              <a:rPr lang="de-DE" altLang="en-US" smtClean="0">
                <a:latin typeface="Arial" panose="020B0604020202020204" pitchFamily="34" charset="0"/>
              </a:rPr>
              <a:pPr/>
              <a:t>57</a:t>
            </a:fld>
            <a:endParaRPr lang="de-DE" altLang="en-US" smtClean="0">
              <a:latin typeface="Arial" panose="020B0604020202020204" pitchFamily="34" charset="0"/>
            </a:endParaRPr>
          </a:p>
        </p:txBody>
      </p:sp>
      <p:sp>
        <p:nvSpPr>
          <p:cNvPr id="95235" name="Rectangle 2"/>
          <p:cNvSpPr>
            <a:spLocks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smtClean="0">
                <a:latin typeface="Arial" panose="020B0604020202020204" pitchFamily="34" charset="0"/>
                <a:cs typeface="Arial" panose="020B0604020202020204" pitchFamily="34" charset="0"/>
              </a:rPr>
              <a:t>Various types of coordinate systems can be used, e.g.</a:t>
            </a:r>
          </a:p>
          <a:p>
            <a:pPr>
              <a:buFontTx/>
              <a:buChar char="•"/>
            </a:pPr>
            <a:r>
              <a:rPr lang="de-DE" altLang="en-US" smtClean="0">
                <a:latin typeface="Arial" panose="020B0604020202020204" pitchFamily="34" charset="0"/>
                <a:cs typeface="Arial" panose="020B0604020202020204" pitchFamily="34" charset="0"/>
              </a:rPr>
              <a:t>two- or three-dimensional cartesian coordinate systems</a:t>
            </a:r>
          </a:p>
          <a:p>
            <a:pPr>
              <a:buFontTx/>
              <a:buChar char="•"/>
            </a:pPr>
            <a:r>
              <a:rPr lang="de-DE" altLang="en-US" smtClean="0">
                <a:latin typeface="Arial" panose="020B0604020202020204" pitchFamily="34" charset="0"/>
                <a:cs typeface="Arial" panose="020B0604020202020204" pitchFamily="34" charset="0"/>
              </a:rPr>
              <a:t>two-dimensional geographical (spherical) coordinate systems</a:t>
            </a:r>
          </a:p>
          <a:p>
            <a:pPr>
              <a:buFontTx/>
              <a:buChar char="•"/>
            </a:pPr>
            <a:r>
              <a:rPr lang="de-DE" altLang="en-US" smtClean="0">
                <a:latin typeface="Arial" panose="020B0604020202020204" pitchFamily="34" charset="0"/>
                <a:cs typeface="Arial" panose="020B0604020202020204" pitchFamily="34" charset="0"/>
              </a:rPr>
              <a:t>three-dimensional geodetic coordinate systems with ellipsoidal height</a:t>
            </a:r>
          </a:p>
          <a:p>
            <a:endParaRPr lang="de-DE" altLang="en-US" smtClean="0">
              <a:latin typeface="Arial" panose="020B0604020202020204" pitchFamily="34" charset="0"/>
              <a:cs typeface="Arial" panose="020B0604020202020204" pitchFamily="34" charset="0"/>
            </a:endParaRPr>
          </a:p>
          <a:p>
            <a:r>
              <a:rPr lang="de-DE" altLang="en-US" smtClean="0">
                <a:latin typeface="Arial" panose="020B0604020202020204" pitchFamily="34" charset="0"/>
                <a:cs typeface="Arial" panose="020B0604020202020204" pitchFamily="34" charset="0"/>
              </a:rPr>
              <a:t>The sequence (x,y vs y,x) and naming of axes(N, Northing, Up) often has to be agreed between  exchange partners.</a:t>
            </a:r>
          </a:p>
          <a:p>
            <a:endParaRPr lang="de-DE" altLang="en-US" smtClean="0">
              <a:latin typeface="Arial" panose="020B0604020202020204" pitchFamily="34" charset="0"/>
              <a:cs typeface="Arial" panose="020B0604020202020204" pitchFamily="34" charset="0"/>
            </a:endParaRPr>
          </a:p>
          <a:p>
            <a:r>
              <a:rPr lang="de-DE" altLang="en-US" smtClean="0">
                <a:latin typeface="Arial" panose="020B0604020202020204" pitchFamily="34" charset="0"/>
                <a:cs typeface="Arial" panose="020B0604020202020204" pitchFamily="34" charset="0"/>
              </a:rPr>
              <a:t>Most parameters of specific coordinate systems are a direct result of the geodetic datum and (even more so) the map projection being used.</a:t>
            </a:r>
          </a:p>
        </p:txBody>
      </p:sp>
    </p:spTree>
    <p:extLst>
      <p:ext uri="{BB962C8B-B14F-4D97-AF65-F5344CB8AC3E}">
        <p14:creationId xmlns:p14="http://schemas.microsoft.com/office/powerpoint/2010/main" val="1966200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1D15C32D-8E74-4280-A271-FC58C3633726}" type="slidenum">
              <a:rPr lang="de-DE" altLang="en-US" smtClean="0">
                <a:latin typeface="Arial" panose="020B0604020202020204" pitchFamily="34" charset="0"/>
              </a:rPr>
              <a:pPr/>
              <a:t>58</a:t>
            </a:fld>
            <a:endParaRPr lang="de-DE" altLang="en-US" smtClean="0">
              <a:latin typeface="Arial" panose="020B0604020202020204" pitchFamily="34" charset="0"/>
            </a:endParaRPr>
          </a:p>
        </p:txBody>
      </p:sp>
      <p:sp>
        <p:nvSpPr>
          <p:cNvPr id="97283" name="Rectangle 2"/>
          <p:cNvSpPr>
            <a:spLocks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smtClean="0">
                <a:latin typeface="Arial" panose="020B0604020202020204" pitchFamily="34" charset="0"/>
                <a:cs typeface="Arial" panose="020B0604020202020204" pitchFamily="34" charset="0"/>
              </a:rPr>
              <a:t>Direct position</a:t>
            </a:r>
          </a:p>
          <a:p>
            <a:r>
              <a:rPr lang="de-DE" altLang="en-US" smtClean="0">
                <a:latin typeface="Arial" panose="020B0604020202020204" pitchFamily="34" charset="0"/>
                <a:cs typeface="Arial" panose="020B0604020202020204" pitchFamily="34" charset="0"/>
              </a:rPr>
              <a:t>direct position is a set of coordinates usually based on a spatial reference system which includes a geodetic datum and a coordinate system. It can also be a set of coordinates based on a local reference system, using a horizontal surface through a starting point.</a:t>
            </a:r>
          </a:p>
          <a:p>
            <a:endParaRPr lang="de-DE" altLang="en-US" smtClean="0">
              <a:latin typeface="Arial" panose="020B0604020202020204" pitchFamily="34" charset="0"/>
              <a:cs typeface="Arial" panose="020B0604020202020204" pitchFamily="34" charset="0"/>
            </a:endParaRPr>
          </a:p>
          <a:p>
            <a:r>
              <a:rPr lang="de-DE" altLang="en-US" smtClean="0">
                <a:latin typeface="Arial" panose="020B0604020202020204" pitchFamily="34" charset="0"/>
                <a:cs typeface="Arial" panose="020B0604020202020204" pitchFamily="34" charset="0"/>
              </a:rPr>
              <a:t>Indirect position</a:t>
            </a:r>
          </a:p>
          <a:p>
            <a:r>
              <a:rPr lang="de-DE" altLang="en-US" smtClean="0">
                <a:latin typeface="Arial" panose="020B0604020202020204" pitchFamily="34" charset="0"/>
                <a:cs typeface="Arial" panose="020B0604020202020204" pitchFamily="34" charset="0"/>
              </a:rPr>
              <a:t>in daily life and communications various kinds of positioning systems are used without using coordinates. These are street address, postal zone, place names etc. To communicate position this way, a common understanding between sender and recipient is required. In order to relate between different (direct and indirect) spatial reference systems and to support computer based handling, indirect position needs to be translated into defined coordinate systems (direct position). The term GEOCODING is used for this process.</a:t>
            </a:r>
          </a:p>
        </p:txBody>
      </p:sp>
    </p:spTree>
    <p:extLst>
      <p:ext uri="{BB962C8B-B14F-4D97-AF65-F5344CB8AC3E}">
        <p14:creationId xmlns:p14="http://schemas.microsoft.com/office/powerpoint/2010/main" val="3111408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D3EF754-6616-4E07-A854-9BE4DCB011D0}" type="slidenum">
              <a:rPr lang="de-DE" altLang="en-US" smtClean="0">
                <a:latin typeface="Arial" panose="020B0604020202020204" pitchFamily="34" charset="0"/>
              </a:rPr>
              <a:pPr/>
              <a:t>59</a:t>
            </a:fld>
            <a:endParaRPr lang="de-DE" altLang="en-US" smtClean="0">
              <a:latin typeface="Arial" panose="020B0604020202020204" pitchFamily="34" charset="0"/>
            </a:endParaRPr>
          </a:p>
        </p:txBody>
      </p:sp>
      <p:sp>
        <p:nvSpPr>
          <p:cNvPr id="99331" name="Rectangle 2"/>
          <p:cNvSpPr>
            <a:spLocks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smtClean="0">
                <a:latin typeface="Arial" panose="020B0604020202020204" pitchFamily="34" charset="0"/>
                <a:cs typeface="Arial" panose="020B0604020202020204" pitchFamily="34" charset="0"/>
              </a:rPr>
              <a:t>Overall, GIS methodology is largely ill defined in full 3D space. Still, from a perspective of interoperability we need to least gracefully handle 3D info instead of ignoring the vertical (z) component - as currently happens in many exchange interfaces.</a:t>
            </a:r>
          </a:p>
          <a:p>
            <a:r>
              <a:rPr lang="de-DE" altLang="en-US" smtClean="0">
                <a:latin typeface="Arial" panose="020B0604020202020204" pitchFamily="34" charset="0"/>
                <a:cs typeface="Arial" panose="020B0604020202020204" pitchFamily="34" charset="0"/>
              </a:rPr>
              <a:t>As a compromise, some systems are capable of handling 2.5D info: elevation info is kept as an attribute, and on surfaces there is only one z-value per x,y position: thus the surface is „single-valued“, showing no folds etc</a:t>
            </a:r>
          </a:p>
          <a:p>
            <a:r>
              <a:rPr lang="de-DE" altLang="en-US" smtClean="0">
                <a:latin typeface="Arial" panose="020B0604020202020204" pitchFamily="34" charset="0"/>
                <a:cs typeface="Arial" panose="020B0604020202020204" pitchFamily="34" charset="0"/>
              </a:rPr>
              <a:t>Vector data can be easily extended into 3D space by using coordinate triplets instead of pairs, from raster pixels we move on to „voxels“ - cubes from which volume objects can be constructed. Increasingly visualisation tools within GIS are capable of handling and properly displaying 3D data in various perspectives.</a:t>
            </a:r>
          </a:p>
          <a:p>
            <a:r>
              <a:rPr lang="de-DE" altLang="en-US" smtClean="0">
                <a:latin typeface="Arial" panose="020B0604020202020204" pitchFamily="34" charset="0"/>
                <a:cs typeface="Arial" panose="020B0604020202020204" pitchFamily="34" charset="0"/>
              </a:rPr>
              <a:t>Again, we need to keep in mind that this trend is valid for data structures and visualisation, but currently not for the bulk of analytical functionality within GIS.  </a:t>
            </a:r>
          </a:p>
        </p:txBody>
      </p:sp>
    </p:spTree>
    <p:extLst>
      <p:ext uri="{BB962C8B-B14F-4D97-AF65-F5344CB8AC3E}">
        <p14:creationId xmlns:p14="http://schemas.microsoft.com/office/powerpoint/2010/main" val="8926522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CDC3729-AF5B-44EE-BF38-0EA65A3A389B}" type="slidenum">
              <a:rPr lang="en-US" altLang="en-US" smtClean="0">
                <a:latin typeface="Arial" panose="020B0604020202020204" pitchFamily="34" charset="0"/>
              </a:rPr>
              <a:pPr/>
              <a:t>61</a:t>
            </a:fld>
            <a:endParaRPr lang="en-US" altLang="en-US" smtClean="0">
              <a:latin typeface="Arial" panose="020B0604020202020204" pitchFamily="34" charset="0"/>
            </a:endParaRPr>
          </a:p>
        </p:txBody>
      </p:sp>
      <p:sp>
        <p:nvSpPr>
          <p:cNvPr id="102403" name="Rectangle 2"/>
          <p:cNvSpPr>
            <a:spLocks noGrp="1" noRot="1" noChangeAspect="1" noChangeArrowheads="1" noTextEdit="1"/>
          </p:cNvSpPr>
          <p:nvPr>
            <p:ph type="sldImg"/>
          </p:nvPr>
        </p:nvSpPr>
        <p:spPr>
          <a:xfrm>
            <a:off x="393700" y="692150"/>
            <a:ext cx="6072188" cy="3416300"/>
          </a:xfrm>
          <a:ln/>
        </p:spPr>
      </p:sp>
      <p:sp>
        <p:nvSpPr>
          <p:cNvPr id="102404" name="Rectangle 3"/>
          <p:cNvSpPr>
            <a:spLocks noGrp="1" noChangeArrowheads="1"/>
          </p:cNvSpPr>
          <p:nvPr>
            <p:ph type="body" idx="1"/>
          </p:nvPr>
        </p:nvSpPr>
        <p:spPr>
          <a:xfrm>
            <a:off x="914400" y="4343400"/>
            <a:ext cx="5029200" cy="4087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3662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degrees-minutes-seconds (DMS), MSEC GPS result: 34º04'04.270" N, 106º54'20.870 “ W</a:t>
            </a:r>
          </a:p>
          <a:p>
            <a:r>
              <a:rPr lang="en-US" altLang="en-US" smtClean="0">
                <a:latin typeface="Arial" panose="020B0604020202020204" pitchFamily="34" charset="0"/>
                <a:cs typeface="Arial" panose="020B0604020202020204" pitchFamily="34" charset="0"/>
              </a:rPr>
              <a:t>decimal degrees (DD): 34.06785 N, 106.90580 W </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Parallels are parallel and spaced equally on meridians. Meridians and other arcs of great circles are straight lines (if looked at perpendicularly to the Earth's surface). Meridians converge toward the poles and diverge toward the Equator.</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Meridians are equally spaced on the parallels, but their distances apart decreases from the Equator to the poles. At the Equator, meridians are spaced the same as parallels. Meridians at 60° are half as far apart as parallels. Parallels and meridians cross at right angles. The area of the surface bounded by any two parallels and any two meridians (a given distance apart) is the same anywhere between the same two parallels.</a:t>
            </a:r>
          </a:p>
          <a:p>
            <a:r>
              <a:rPr lang="en-US" altLang="en-US" smtClean="0">
                <a:latin typeface="Arial" panose="020B0604020202020204" pitchFamily="34" charset="0"/>
                <a:cs typeface="Arial" panose="020B0604020202020204" pitchFamily="34" charset="0"/>
              </a:rPr>
              <a:t>The scale factor at each point is the same in any direction.</a:t>
            </a:r>
          </a:p>
          <a:p>
            <a:endParaRPr lang="en-US" altLang="en-US" smtClean="0">
              <a:latin typeface="Arial" panose="020B0604020202020204" pitchFamily="34" charset="0"/>
              <a:cs typeface="Arial" panose="020B0604020202020204" pitchFamily="34" charset="0"/>
            </a:endParaRPr>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C129DDA-2EF1-4C09-9C83-8AA3512C861E}" type="slidenum">
              <a:rPr lang="en-US" altLang="en-US" smtClean="0">
                <a:latin typeface="Arial" panose="020B0604020202020204" pitchFamily="34" charset="0"/>
              </a:rPr>
              <a:pPr/>
              <a:t>62</a:t>
            </a:fld>
            <a:endParaRPr lang="en-US" altLang="en-US" smtClean="0">
              <a:latin typeface="Arial" panose="020B0604020202020204" pitchFamily="34" charset="0"/>
            </a:endParaRPr>
          </a:p>
        </p:txBody>
      </p:sp>
    </p:spTree>
    <p:extLst>
      <p:ext uri="{BB962C8B-B14F-4D97-AF65-F5344CB8AC3E}">
        <p14:creationId xmlns:p14="http://schemas.microsoft.com/office/powerpoint/2010/main" val="3782191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4A6B27-4212-46D1-BC60-3899026477D6}"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3942071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A6B27-4212-46D1-BC60-3899026477D6}"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376779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4A6B27-4212-46D1-BC60-3899026477D6}"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74866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4A6B27-4212-46D1-BC60-3899026477D6}"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1282624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4A6B27-4212-46D1-BC60-3899026477D6}" type="datetimeFigureOut">
              <a:rPr lang="en-US" smtClean="0"/>
              <a:t>1/29/2017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840556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4A6B27-4212-46D1-BC60-3899026477D6}" type="datetimeFigureOut">
              <a:rPr lang="en-US" smtClean="0"/>
              <a:t>1/29/2017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2693977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4A6B27-4212-46D1-BC60-3899026477D6}" type="datetimeFigureOut">
              <a:rPr lang="en-US" smtClean="0"/>
              <a:t>1/29/2017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136031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4A6B27-4212-46D1-BC60-3899026477D6}"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4277086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4A6B27-4212-46D1-BC60-3899026477D6}"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3588802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A6B27-4212-46D1-BC60-3899026477D6}"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123414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A6B27-4212-46D1-BC60-3899026477D6}"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DA02A-A444-4718-8729-90EBE87B0A4C}" type="slidenum">
              <a:rPr lang="en-US" smtClean="0"/>
              <a:t>‹#›</a:t>
            </a:fld>
            <a:endParaRPr lang="en-US"/>
          </a:p>
        </p:txBody>
      </p:sp>
    </p:spTree>
    <p:extLst>
      <p:ext uri="{BB962C8B-B14F-4D97-AF65-F5344CB8AC3E}">
        <p14:creationId xmlns:p14="http://schemas.microsoft.com/office/powerpoint/2010/main" val="1637910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28084" y="930275"/>
            <a:ext cx="10363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2147888"/>
            <a:ext cx="10363200" cy="4114800"/>
          </a:xfrm>
        </p:spPr>
        <p:txBody>
          <a:bodyPr/>
          <a:lstStyle/>
          <a:p>
            <a:pPr lvl="0"/>
            <a:endParaRPr lang="en-US" noProof="0"/>
          </a:p>
        </p:txBody>
      </p:sp>
      <p:sp>
        <p:nvSpPr>
          <p:cNvPr id="4" name="Date Placeholder 3"/>
          <p:cNvSpPr>
            <a:spLocks noGrp="1"/>
          </p:cNvSpPr>
          <p:nvPr>
            <p:ph type="dt" sz="half" idx="10"/>
          </p:nvPr>
        </p:nvSpPr>
        <p:spPr>
          <a:xfrm>
            <a:off x="914400" y="6324600"/>
            <a:ext cx="2540000" cy="457200"/>
          </a:xfrm>
          <a:prstGeom prst="rect">
            <a:avLst/>
          </a:prstGeo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4165600" y="6324600"/>
            <a:ext cx="3860800" cy="457200"/>
          </a:xfrm>
          <a:prstGeom prst="rect">
            <a:avLst/>
          </a:prstGeo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8737600" y="6324600"/>
            <a:ext cx="2540000" cy="457200"/>
          </a:xfrm>
        </p:spPr>
        <p:txBody>
          <a:bodyPr/>
          <a:lstStyle>
            <a:lvl1pPr>
              <a:defRPr/>
            </a:lvl1pPr>
          </a:lstStyle>
          <a:p>
            <a:pPr>
              <a:defRPr/>
            </a:pPr>
            <a:fld id="{3D955203-DC5D-434A-A0AA-82C05F8B9FAC}" type="slidenum">
              <a:rPr lang="en-US" altLang="en-US"/>
              <a:pPr>
                <a:defRPr/>
              </a:pPr>
              <a:t>‹#›</a:t>
            </a:fld>
            <a:endParaRPr lang="en-US" altLang="en-US"/>
          </a:p>
        </p:txBody>
      </p:sp>
    </p:spTree>
    <p:extLst>
      <p:ext uri="{BB962C8B-B14F-4D97-AF65-F5344CB8AC3E}">
        <p14:creationId xmlns:p14="http://schemas.microsoft.com/office/powerpoint/2010/main" val="18702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4A6B27-4212-46D1-BC60-3899026477D6}" type="datetimeFigureOut">
              <a:rPr lang="en-US" smtClean="0"/>
              <a:t>1/29/2017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9DA02A-A444-4718-8729-90EBE87B0A4C}" type="slidenum">
              <a:rPr lang="en-US" smtClean="0"/>
              <a:t>‹#›</a:t>
            </a:fld>
            <a:endParaRPr lang="en-US"/>
          </a:p>
        </p:txBody>
      </p:sp>
    </p:spTree>
    <p:extLst>
      <p:ext uri="{BB962C8B-B14F-4D97-AF65-F5344CB8AC3E}">
        <p14:creationId xmlns:p14="http://schemas.microsoft.com/office/powerpoint/2010/main" val="2886927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3.png"/><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hyperlink" Target="http://www.cosc.canterbury.ac.nz/people/mukundan/covn/Thin.html"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22.wmf"/><Relationship Id="rId4"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ctrTitle"/>
          </p:nvPr>
        </p:nvSpPr>
        <p:spPr>
          <a:xfrm>
            <a:off x="1524001" y="1052513"/>
            <a:ext cx="8785225" cy="2590800"/>
          </a:xfrm>
        </p:spPr>
        <p:txBody>
          <a:bodyPr/>
          <a:lstStyle/>
          <a:p>
            <a:pPr eaLnBrk="1" hangingPunct="1"/>
            <a:r>
              <a:rPr lang="en-US" altLang="en-US" sz="5400"/>
              <a:t>Capturing Real World</a:t>
            </a:r>
            <a:r>
              <a:rPr lang="en-US" altLang="en-US" sz="3600"/>
              <a:t/>
            </a:r>
            <a:br>
              <a:rPr lang="en-US" altLang="en-US" sz="3600"/>
            </a:br>
            <a:r>
              <a:rPr lang="en-US" altLang="en-US" sz="3600"/>
              <a:t/>
            </a:r>
            <a:br>
              <a:rPr lang="en-US" altLang="en-US" sz="3600"/>
            </a:br>
            <a:r>
              <a:rPr lang="en-US" altLang="en-US" sz="1600"/>
              <a:t/>
            </a:r>
            <a:br>
              <a:rPr lang="en-US" altLang="en-US" sz="1600"/>
            </a:br>
            <a:r>
              <a:rPr lang="en-US" altLang="en-US" sz="3600"/>
              <a:t>Chapter - 4</a:t>
            </a:r>
            <a:endParaRPr lang="en-US" altLang="en-US" sz="3600" i="1"/>
          </a:p>
        </p:txBody>
      </p:sp>
      <p:sp>
        <p:nvSpPr>
          <p:cNvPr id="6147" name="Rectangle 8"/>
          <p:cNvSpPr>
            <a:spLocks noGrp="1" noChangeArrowheads="1"/>
          </p:cNvSpPr>
          <p:nvPr>
            <p:ph type="subTitle" idx="1"/>
          </p:nvPr>
        </p:nvSpPr>
        <p:spPr>
          <a:xfrm>
            <a:off x="2782888" y="5013326"/>
            <a:ext cx="6800850" cy="1844675"/>
          </a:xfrm>
        </p:spPr>
        <p:txBody>
          <a:bodyPr/>
          <a:lstStyle/>
          <a:p>
            <a:pPr eaLnBrk="1" hangingPunct="1"/>
            <a:r>
              <a:rPr lang="en-US" altLang="en-US" sz="3200" b="1"/>
              <a:t>Ajaya Mishra</a:t>
            </a:r>
          </a:p>
          <a:p>
            <a:pPr eaLnBrk="1" hangingPunct="1"/>
            <a:endParaRPr lang="en-US" altLang="en-US" sz="1000"/>
          </a:p>
          <a:p>
            <a:pPr eaLnBrk="1" hangingPunct="1"/>
            <a:r>
              <a:rPr lang="en-US" altLang="en-US" sz="3200"/>
              <a:t>Tuesday, December 01, 2015</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1981200" y="1"/>
            <a:ext cx="8229600" cy="1139825"/>
          </a:xfrm>
        </p:spPr>
        <p:txBody>
          <a:bodyPr/>
          <a:lstStyle/>
          <a:p>
            <a:pPr eaLnBrk="1" hangingPunct="1">
              <a:defRPr/>
            </a:pPr>
            <a:r>
              <a:rPr lang="en-US" dirty="0" smtClean="0"/>
              <a:t>Outlines</a:t>
            </a:r>
          </a:p>
        </p:txBody>
      </p:sp>
      <p:sp>
        <p:nvSpPr>
          <p:cNvPr id="4099" name="Rectangle 6"/>
          <p:cNvSpPr>
            <a:spLocks noGrp="1" noChangeArrowheads="1"/>
          </p:cNvSpPr>
          <p:nvPr>
            <p:ph type="body" idx="1"/>
          </p:nvPr>
        </p:nvSpPr>
        <p:spPr>
          <a:xfrm>
            <a:off x="2208214" y="1131889"/>
            <a:ext cx="8002587" cy="5292725"/>
          </a:xfrm>
        </p:spPr>
        <p:txBody>
          <a:bodyPr/>
          <a:lstStyle/>
          <a:p>
            <a:pPr>
              <a:lnSpc>
                <a:spcPct val="150000"/>
              </a:lnSpc>
              <a:spcBef>
                <a:spcPct val="0"/>
              </a:spcBef>
              <a:spcAft>
                <a:spcPts val="1200"/>
              </a:spcAft>
            </a:pPr>
            <a:r>
              <a:rPr lang="en-US" altLang="en-US" sz="2600"/>
              <a:t>D</a:t>
            </a:r>
            <a:r>
              <a:rPr lang="en-US" altLang="en-US"/>
              <a:t>ifferent methods of data capture</a:t>
            </a:r>
          </a:p>
          <a:p>
            <a:pPr>
              <a:lnSpc>
                <a:spcPct val="150000"/>
              </a:lnSpc>
              <a:spcBef>
                <a:spcPct val="0"/>
              </a:spcBef>
              <a:spcAft>
                <a:spcPts val="1200"/>
              </a:spcAft>
            </a:pPr>
            <a:r>
              <a:rPr lang="en-US" altLang="en-US"/>
              <a:t>Map projection and spatial reference</a:t>
            </a:r>
          </a:p>
          <a:p>
            <a:pPr>
              <a:lnSpc>
                <a:spcPct val="150000"/>
              </a:lnSpc>
              <a:spcBef>
                <a:spcPct val="0"/>
              </a:spcBef>
              <a:spcAft>
                <a:spcPts val="1200"/>
              </a:spcAft>
            </a:pPr>
            <a:r>
              <a:rPr lang="en-US" altLang="en-US"/>
              <a:t>Data preparation, conversion &amp; integration</a:t>
            </a:r>
          </a:p>
          <a:p>
            <a:pPr>
              <a:lnSpc>
                <a:spcPct val="150000"/>
              </a:lnSpc>
              <a:spcBef>
                <a:spcPct val="0"/>
              </a:spcBef>
              <a:spcAft>
                <a:spcPts val="1200"/>
              </a:spcAft>
            </a:pPr>
            <a:r>
              <a:rPr lang="en-US" altLang="en-US"/>
              <a:t>Quality aspects of spatial data</a:t>
            </a:r>
          </a:p>
          <a:p>
            <a:pPr>
              <a:lnSpc>
                <a:spcPct val="150000"/>
              </a:lnSpc>
              <a:spcBef>
                <a:spcPct val="0"/>
              </a:spcBef>
              <a:spcAft>
                <a:spcPts val="1200"/>
              </a:spcAft>
            </a:pPr>
            <a:r>
              <a:rPr lang="en-US" altLang="en-US"/>
              <a:t>GPS</a:t>
            </a:r>
          </a:p>
          <a:p>
            <a:pPr>
              <a:lnSpc>
                <a:spcPct val="150000"/>
              </a:lnSpc>
              <a:spcBef>
                <a:spcPct val="0"/>
              </a:spcBef>
              <a:spcAft>
                <a:spcPts val="1200"/>
              </a:spcAft>
            </a:pPr>
            <a:r>
              <a:rPr lang="en-US" altLang="en-US"/>
              <a:t>Remote Sensing</a:t>
            </a:r>
            <a:endParaRPr lang="en-US" altLang="en-US" sz="260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arn(inVertical)">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arn(inVertical)">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arn(inVertical)">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arn(inVertical)">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arn(inVertical)">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arn(inVertical)">
                                      <p:cBhvr>
                                        <p:cTn id="32"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normAutofit fontScale="90000"/>
          </a:bodyPr>
          <a:lstStyle/>
          <a:p>
            <a:pPr>
              <a:lnSpc>
                <a:spcPct val="150000"/>
              </a:lnSpc>
              <a:spcBef>
                <a:spcPts val="0"/>
              </a:spcBef>
              <a:spcAft>
                <a:spcPts val="1200"/>
              </a:spcAft>
              <a:defRPr/>
            </a:pPr>
            <a:r>
              <a:rPr lang="en-US" altLang="en-US" dirty="0"/>
              <a:t>D</a:t>
            </a:r>
            <a:r>
              <a:rPr lang="en-US" dirty="0"/>
              <a:t>ifferent methods </a:t>
            </a:r>
            <a:br>
              <a:rPr lang="en-US" dirty="0"/>
            </a:br>
            <a:r>
              <a:rPr lang="en-US" dirty="0"/>
              <a:t>of </a:t>
            </a:r>
            <a:br>
              <a:rPr lang="en-US" dirty="0"/>
            </a:br>
            <a:r>
              <a:rPr lang="en-US" dirty="0"/>
              <a:t>data capture</a:t>
            </a:r>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1026"/>
          <p:cNvSpPr>
            <a:spLocks noGrp="1" noChangeArrowheads="1"/>
          </p:cNvSpPr>
          <p:nvPr>
            <p:ph type="title"/>
          </p:nvPr>
        </p:nvSpPr>
        <p:spPr>
          <a:xfrm>
            <a:off x="1536700" y="1"/>
            <a:ext cx="9144000" cy="1000125"/>
          </a:xfrm>
        </p:spPr>
        <p:txBody>
          <a:bodyPr/>
          <a:lstStyle/>
          <a:p>
            <a:pPr>
              <a:defRPr/>
            </a:pPr>
            <a:r>
              <a:rPr lang="en-US" altLang="en-US" dirty="0"/>
              <a:t>Stages in Data Collection Projects</a:t>
            </a:r>
          </a:p>
        </p:txBody>
      </p:sp>
      <p:sp>
        <p:nvSpPr>
          <p:cNvPr id="324626" name="Oval 1042"/>
          <p:cNvSpPr>
            <a:spLocks noChangeArrowheads="1"/>
          </p:cNvSpPr>
          <p:nvPr/>
        </p:nvSpPr>
        <p:spPr bwMode="auto">
          <a:xfrm>
            <a:off x="3622675" y="3224888"/>
            <a:ext cx="4114800" cy="519351"/>
          </a:xfrm>
          <a:prstGeom prst="ellipse">
            <a:avLst/>
          </a:prstGeom>
          <a:noFill/>
          <a:ln w="571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24627" name="Line 1043"/>
          <p:cNvSpPr>
            <a:spLocks noChangeShapeType="1"/>
          </p:cNvSpPr>
          <p:nvPr/>
        </p:nvSpPr>
        <p:spPr bwMode="auto">
          <a:xfrm flipV="1">
            <a:off x="3851275" y="2151063"/>
            <a:ext cx="228600" cy="381000"/>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24629" name="Line 1045"/>
          <p:cNvSpPr>
            <a:spLocks noChangeShapeType="1"/>
          </p:cNvSpPr>
          <p:nvPr/>
        </p:nvSpPr>
        <p:spPr bwMode="auto">
          <a:xfrm flipH="1" flipV="1">
            <a:off x="5375276" y="5553075"/>
            <a:ext cx="479425" cy="20638"/>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24630" name="Line 1046"/>
          <p:cNvSpPr>
            <a:spLocks noChangeShapeType="1"/>
          </p:cNvSpPr>
          <p:nvPr/>
        </p:nvSpPr>
        <p:spPr bwMode="auto">
          <a:xfrm flipH="1" flipV="1">
            <a:off x="3614739" y="3616325"/>
            <a:ext cx="90487" cy="457200"/>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24631" name="Line 1047"/>
          <p:cNvSpPr>
            <a:spLocks noChangeShapeType="1"/>
          </p:cNvSpPr>
          <p:nvPr/>
        </p:nvSpPr>
        <p:spPr bwMode="auto">
          <a:xfrm>
            <a:off x="7204075" y="2074863"/>
            <a:ext cx="255588" cy="355600"/>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24632" name="Line 1048"/>
          <p:cNvSpPr>
            <a:spLocks noChangeShapeType="1"/>
          </p:cNvSpPr>
          <p:nvPr/>
        </p:nvSpPr>
        <p:spPr bwMode="auto">
          <a:xfrm flipH="1">
            <a:off x="7689850" y="3541714"/>
            <a:ext cx="39688" cy="498475"/>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nvGrpSpPr>
          <p:cNvPr id="324613" name="Group 1029"/>
          <p:cNvGrpSpPr>
            <a:grpSpLocks/>
          </p:cNvGrpSpPr>
          <p:nvPr/>
        </p:nvGrpSpPr>
        <p:grpSpPr bwMode="auto">
          <a:xfrm>
            <a:off x="4079876" y="1350966"/>
            <a:ext cx="2155171" cy="414338"/>
            <a:chOff x="1296" y="1608"/>
            <a:chExt cx="1385" cy="261"/>
          </a:xfrm>
        </p:grpSpPr>
        <p:sp>
          <p:nvSpPr>
            <p:cNvPr id="10267" name="Rectangle 1027"/>
            <p:cNvSpPr>
              <a:spLocks noChangeArrowheads="1"/>
            </p:cNvSpPr>
            <p:nvPr/>
          </p:nvSpPr>
          <p:spPr bwMode="auto">
            <a:xfrm>
              <a:off x="1296" y="1636"/>
              <a:ext cx="119" cy="233"/>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10268" name="Text Box 1028"/>
            <p:cNvSpPr txBox="1">
              <a:spLocks noChangeArrowheads="1"/>
            </p:cNvSpPr>
            <p:nvPr/>
          </p:nvSpPr>
          <p:spPr bwMode="auto">
            <a:xfrm>
              <a:off x="1793" y="1608"/>
              <a:ext cx="888" cy="242"/>
            </a:xfrm>
            <a:prstGeom prst="rect">
              <a:avLst/>
            </a:prstGeom>
            <a:solidFill>
              <a:schemeClr val="hlink"/>
            </a:solidFill>
            <a:ln>
              <a:noFill/>
            </a:ln>
            <a:effectLst/>
            <a:extLst>
              <a:ext uri="{91240B29-F687-4F45-9708-019B960494DF}">
                <a14:hiddenLine xmlns:a14="http://schemas.microsoft.com/office/drawing/2010/main" w="57150">
                  <a:solidFill>
                    <a:srgbClr val="0011B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900">
                  <a:solidFill>
                    <a:srgbClr val="FF0000"/>
                  </a:solidFill>
                </a:rPr>
                <a:t>Planning</a:t>
              </a:r>
            </a:p>
          </p:txBody>
        </p:sp>
      </p:grpSp>
      <p:grpSp>
        <p:nvGrpSpPr>
          <p:cNvPr id="324614" name="Group 1030"/>
          <p:cNvGrpSpPr>
            <a:grpSpLocks/>
          </p:cNvGrpSpPr>
          <p:nvPr/>
        </p:nvGrpSpPr>
        <p:grpSpPr bwMode="auto">
          <a:xfrm>
            <a:off x="6518275" y="2722566"/>
            <a:ext cx="2348752" cy="414338"/>
            <a:chOff x="1296" y="1608"/>
            <a:chExt cx="1595" cy="261"/>
          </a:xfrm>
        </p:grpSpPr>
        <p:sp>
          <p:nvSpPr>
            <p:cNvPr id="10265" name="Rectangle 1031"/>
            <p:cNvSpPr>
              <a:spLocks noChangeArrowheads="1"/>
            </p:cNvSpPr>
            <p:nvPr/>
          </p:nvSpPr>
          <p:spPr bwMode="auto">
            <a:xfrm>
              <a:off x="1296" y="1636"/>
              <a:ext cx="125" cy="233"/>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10266" name="Text Box 1032"/>
            <p:cNvSpPr txBox="1">
              <a:spLocks noChangeArrowheads="1"/>
            </p:cNvSpPr>
            <p:nvPr/>
          </p:nvSpPr>
          <p:spPr bwMode="auto">
            <a:xfrm>
              <a:off x="1669" y="1608"/>
              <a:ext cx="1222" cy="242"/>
            </a:xfrm>
            <a:prstGeom prst="rect">
              <a:avLst/>
            </a:prstGeom>
            <a:solidFill>
              <a:schemeClr val="hlink"/>
            </a:solidFill>
            <a:ln>
              <a:noFill/>
            </a:ln>
            <a:effectLst/>
            <a:extLst>
              <a:ext uri="{91240B29-F687-4F45-9708-019B960494DF}">
                <a14:hiddenLine xmlns:a14="http://schemas.microsoft.com/office/drawing/2010/main" w="57150">
                  <a:solidFill>
                    <a:srgbClr val="0011B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900">
                  <a:solidFill>
                    <a:srgbClr val="FF0000"/>
                  </a:solidFill>
                </a:rPr>
                <a:t>Preparation</a:t>
              </a:r>
            </a:p>
          </p:txBody>
        </p:sp>
      </p:grpSp>
      <p:grpSp>
        <p:nvGrpSpPr>
          <p:cNvPr id="2" name="Group 1"/>
          <p:cNvGrpSpPr>
            <a:grpSpLocks/>
          </p:cNvGrpSpPr>
          <p:nvPr/>
        </p:nvGrpSpPr>
        <p:grpSpPr bwMode="auto">
          <a:xfrm>
            <a:off x="6343651" y="4640264"/>
            <a:ext cx="3001963" cy="384175"/>
            <a:chOff x="5251932" y="5036592"/>
            <a:chExt cx="3002322" cy="384175"/>
          </a:xfrm>
        </p:grpSpPr>
        <p:sp>
          <p:nvSpPr>
            <p:cNvPr id="10263" name="Rectangle 1034"/>
            <p:cNvSpPr>
              <a:spLocks noChangeArrowheads="1"/>
            </p:cNvSpPr>
            <p:nvPr/>
          </p:nvSpPr>
          <p:spPr bwMode="auto">
            <a:xfrm>
              <a:off x="5251932" y="5044013"/>
              <a:ext cx="184753" cy="369332"/>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10264" name="Text Box 1035"/>
            <p:cNvSpPr txBox="1">
              <a:spLocks noChangeArrowheads="1"/>
            </p:cNvSpPr>
            <p:nvPr/>
          </p:nvSpPr>
          <p:spPr bwMode="auto">
            <a:xfrm>
              <a:off x="5273824" y="5036592"/>
              <a:ext cx="2980430" cy="384175"/>
            </a:xfrm>
            <a:prstGeom prst="rect">
              <a:avLst/>
            </a:prstGeom>
            <a:solidFill>
              <a:schemeClr val="hlink"/>
            </a:solidFill>
            <a:ln>
              <a:noFill/>
            </a:ln>
            <a:effectLst/>
            <a:extLst>
              <a:ext uri="{91240B29-F687-4F45-9708-019B960494DF}">
                <a14:hiddenLine xmlns:a14="http://schemas.microsoft.com/office/drawing/2010/main" w="57150">
                  <a:solidFill>
                    <a:srgbClr val="0011B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900">
                  <a:solidFill>
                    <a:srgbClr val="FF0000"/>
                  </a:solidFill>
                </a:rPr>
                <a:t>Digitizing / Transfer</a:t>
              </a:r>
            </a:p>
          </p:txBody>
        </p:sp>
      </p:grpSp>
      <p:grpSp>
        <p:nvGrpSpPr>
          <p:cNvPr id="3" name="Group 2"/>
          <p:cNvGrpSpPr>
            <a:grpSpLocks/>
          </p:cNvGrpSpPr>
          <p:nvPr/>
        </p:nvGrpSpPr>
        <p:grpSpPr bwMode="auto">
          <a:xfrm>
            <a:off x="1992314" y="4687889"/>
            <a:ext cx="3373437" cy="384175"/>
            <a:chOff x="900130" y="5084217"/>
            <a:chExt cx="3372921" cy="384175"/>
          </a:xfrm>
        </p:grpSpPr>
        <p:sp>
          <p:nvSpPr>
            <p:cNvPr id="10261" name="Rectangle 1034"/>
            <p:cNvSpPr>
              <a:spLocks noChangeArrowheads="1"/>
            </p:cNvSpPr>
            <p:nvPr/>
          </p:nvSpPr>
          <p:spPr bwMode="auto">
            <a:xfrm>
              <a:off x="900130" y="5091638"/>
              <a:ext cx="3372921" cy="369332"/>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10262" name="Text Box 1035"/>
            <p:cNvSpPr txBox="1">
              <a:spLocks noChangeArrowheads="1"/>
            </p:cNvSpPr>
            <p:nvPr/>
          </p:nvSpPr>
          <p:spPr bwMode="auto">
            <a:xfrm>
              <a:off x="922022" y="5084217"/>
              <a:ext cx="3351029" cy="384175"/>
            </a:xfrm>
            <a:prstGeom prst="rect">
              <a:avLst/>
            </a:prstGeom>
            <a:solidFill>
              <a:schemeClr val="hlink"/>
            </a:solidFill>
            <a:ln>
              <a:noFill/>
            </a:ln>
            <a:effectLst/>
            <a:extLst>
              <a:ext uri="{91240B29-F687-4F45-9708-019B960494DF}">
                <a14:hiddenLine xmlns:a14="http://schemas.microsoft.com/office/drawing/2010/main" w="57150">
                  <a:solidFill>
                    <a:srgbClr val="0011B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900">
                  <a:solidFill>
                    <a:srgbClr val="FF0000"/>
                  </a:solidFill>
                </a:rPr>
                <a:t>Editing / Improvement</a:t>
              </a:r>
            </a:p>
          </p:txBody>
        </p:sp>
      </p:grpSp>
      <p:grpSp>
        <p:nvGrpSpPr>
          <p:cNvPr id="324623" name="Group 1039"/>
          <p:cNvGrpSpPr>
            <a:grpSpLocks/>
          </p:cNvGrpSpPr>
          <p:nvPr/>
        </p:nvGrpSpPr>
        <p:grpSpPr bwMode="auto">
          <a:xfrm>
            <a:off x="1900239" y="2874966"/>
            <a:ext cx="2255039" cy="414338"/>
            <a:chOff x="1296" y="1608"/>
            <a:chExt cx="1511" cy="261"/>
          </a:xfrm>
        </p:grpSpPr>
        <p:sp>
          <p:nvSpPr>
            <p:cNvPr id="10259" name="Rectangle 1040"/>
            <p:cNvSpPr>
              <a:spLocks noChangeArrowheads="1"/>
            </p:cNvSpPr>
            <p:nvPr/>
          </p:nvSpPr>
          <p:spPr bwMode="auto">
            <a:xfrm>
              <a:off x="1296" y="1636"/>
              <a:ext cx="124" cy="233"/>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10260" name="Text Box 1041"/>
            <p:cNvSpPr txBox="1">
              <a:spLocks noChangeArrowheads="1"/>
            </p:cNvSpPr>
            <p:nvPr/>
          </p:nvSpPr>
          <p:spPr bwMode="auto">
            <a:xfrm>
              <a:off x="1717" y="1608"/>
              <a:ext cx="1090" cy="242"/>
            </a:xfrm>
            <a:prstGeom prst="rect">
              <a:avLst/>
            </a:prstGeom>
            <a:solidFill>
              <a:schemeClr val="hlink"/>
            </a:solidFill>
            <a:ln>
              <a:noFill/>
            </a:ln>
            <a:effectLst/>
            <a:extLst>
              <a:ext uri="{91240B29-F687-4F45-9708-019B960494DF}">
                <a14:hiddenLine xmlns:a14="http://schemas.microsoft.com/office/drawing/2010/main" w="57150">
                  <a:solidFill>
                    <a:srgbClr val="0011B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900">
                  <a:solidFill>
                    <a:srgbClr val="FF0000"/>
                  </a:solidFill>
                </a:rPr>
                <a:t>Evaluation</a:t>
              </a:r>
            </a:p>
          </p:txBody>
        </p:sp>
      </p:grpSp>
      <p:sp>
        <p:nvSpPr>
          <p:cNvPr id="4" name="TextBox 3"/>
          <p:cNvSpPr txBox="1">
            <a:spLocks noChangeArrowheads="1"/>
          </p:cNvSpPr>
          <p:nvPr/>
        </p:nvSpPr>
        <p:spPr bwMode="auto">
          <a:xfrm>
            <a:off x="7148514" y="1089026"/>
            <a:ext cx="31765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pPr>
            <a:r>
              <a:rPr lang="en-US" altLang="en-US" sz="1500" b="0"/>
              <a:t>establish user requirements</a:t>
            </a:r>
          </a:p>
          <a:p>
            <a:pPr>
              <a:spcBef>
                <a:spcPct val="0"/>
              </a:spcBef>
              <a:buClrTx/>
            </a:pPr>
            <a:r>
              <a:rPr lang="en-US" altLang="en-US" sz="1500" b="0"/>
              <a:t>garnering resources</a:t>
            </a:r>
          </a:p>
          <a:p>
            <a:pPr>
              <a:spcBef>
                <a:spcPct val="0"/>
              </a:spcBef>
              <a:buClrTx/>
            </a:pPr>
            <a:r>
              <a:rPr lang="en-US" altLang="en-US" sz="1500" b="0"/>
              <a:t>developing a project plan</a:t>
            </a:r>
          </a:p>
        </p:txBody>
      </p:sp>
      <p:sp>
        <p:nvSpPr>
          <p:cNvPr id="5" name="TextBox 4"/>
          <p:cNvSpPr txBox="1">
            <a:spLocks noChangeArrowheads="1"/>
          </p:cNvSpPr>
          <p:nvPr/>
        </p:nvSpPr>
        <p:spPr bwMode="auto">
          <a:xfrm>
            <a:off x="5754689" y="3355976"/>
            <a:ext cx="49815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pPr>
            <a:r>
              <a:rPr lang="en-US" altLang="en-US" sz="1500" b="0"/>
              <a:t>obtain data &amp; redraft poor quality map sources</a:t>
            </a:r>
          </a:p>
          <a:p>
            <a:pPr>
              <a:spcBef>
                <a:spcPct val="0"/>
              </a:spcBef>
              <a:buClrTx/>
            </a:pPr>
            <a:r>
              <a:rPr lang="en-US" altLang="en-US" sz="1500" b="0"/>
              <a:t>edit scanned map images/removing noise</a:t>
            </a:r>
          </a:p>
          <a:p>
            <a:pPr>
              <a:spcBef>
                <a:spcPct val="0"/>
              </a:spcBef>
              <a:buClrTx/>
            </a:pPr>
            <a:r>
              <a:rPr lang="en-US" altLang="en-US" sz="1500" b="0"/>
              <a:t>setup GIS h/w &amp; s/w sys to accept data</a:t>
            </a:r>
          </a:p>
        </p:txBody>
      </p:sp>
      <p:sp>
        <p:nvSpPr>
          <p:cNvPr id="6" name="TextBox 5"/>
          <p:cNvSpPr txBox="1">
            <a:spLocks noChangeArrowheads="1"/>
          </p:cNvSpPr>
          <p:nvPr/>
        </p:nvSpPr>
        <p:spPr bwMode="auto">
          <a:xfrm>
            <a:off x="7075488" y="5256214"/>
            <a:ext cx="34210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pPr>
            <a:r>
              <a:rPr lang="en-US" altLang="en-US" sz="1500" b="0"/>
              <a:t>stage where the majority of the effort will be expended</a:t>
            </a:r>
          </a:p>
        </p:txBody>
      </p:sp>
      <p:sp>
        <p:nvSpPr>
          <p:cNvPr id="7" name="TextBox 6"/>
          <p:cNvSpPr txBox="1">
            <a:spLocks noChangeArrowheads="1"/>
          </p:cNvSpPr>
          <p:nvPr/>
        </p:nvSpPr>
        <p:spPr bwMode="auto">
          <a:xfrm>
            <a:off x="1831975" y="5326063"/>
            <a:ext cx="35433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pPr>
            <a:r>
              <a:rPr lang="en-US" altLang="en-US" sz="1500" b="0"/>
              <a:t>covers many techniques designed to validate data</a:t>
            </a:r>
          </a:p>
          <a:p>
            <a:pPr>
              <a:spcBef>
                <a:spcPct val="0"/>
              </a:spcBef>
              <a:buClrTx/>
            </a:pPr>
            <a:r>
              <a:rPr lang="en-US" altLang="en-US" sz="1500" b="0"/>
              <a:t>correct errors &amp; improve quality</a:t>
            </a:r>
          </a:p>
        </p:txBody>
      </p:sp>
      <p:sp>
        <p:nvSpPr>
          <p:cNvPr id="8" name="TextBox 7"/>
          <p:cNvSpPr txBox="1">
            <a:spLocks noChangeArrowheads="1"/>
          </p:cNvSpPr>
          <p:nvPr/>
        </p:nvSpPr>
        <p:spPr bwMode="auto">
          <a:xfrm>
            <a:off x="1871663" y="2276476"/>
            <a:ext cx="393541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pPr>
            <a:r>
              <a:rPr lang="en-US" altLang="en-US" sz="1500" b="0"/>
              <a:t>identify project successes &amp; failures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24626"/>
                                        </p:tgtEl>
                                        <p:attrNameLst>
                                          <p:attrName>style.visibility</p:attrName>
                                        </p:attrNameLst>
                                      </p:cBhvr>
                                      <p:to>
                                        <p:strVal val="visible"/>
                                      </p:to>
                                    </p:set>
                                    <p:anim calcmode="lin" valueType="num">
                                      <p:cBhvr>
                                        <p:cTn id="7" dur="1000" fill="hold"/>
                                        <p:tgtEl>
                                          <p:spTgt spid="324626"/>
                                        </p:tgtEl>
                                        <p:attrNameLst>
                                          <p:attrName>ppt_w</p:attrName>
                                        </p:attrNameLst>
                                      </p:cBhvr>
                                      <p:tavLst>
                                        <p:tav tm="0">
                                          <p:val>
                                            <p:fltVal val="0"/>
                                          </p:val>
                                        </p:tav>
                                        <p:tav tm="100000">
                                          <p:val>
                                            <p:strVal val="#ppt_w"/>
                                          </p:val>
                                        </p:tav>
                                      </p:tavLst>
                                    </p:anim>
                                    <p:anim calcmode="lin" valueType="num">
                                      <p:cBhvr>
                                        <p:cTn id="8" dur="1000" fill="hold"/>
                                        <p:tgtEl>
                                          <p:spTgt spid="324626"/>
                                        </p:tgtEl>
                                        <p:attrNameLst>
                                          <p:attrName>ppt_h</p:attrName>
                                        </p:attrNameLst>
                                      </p:cBhvr>
                                      <p:tavLst>
                                        <p:tav tm="0">
                                          <p:val>
                                            <p:fltVal val="0"/>
                                          </p:val>
                                        </p:tav>
                                        <p:tav tm="100000">
                                          <p:val>
                                            <p:strVal val="#ppt_h"/>
                                          </p:val>
                                        </p:tav>
                                      </p:tavLst>
                                    </p:anim>
                                    <p:anim calcmode="lin" valueType="num">
                                      <p:cBhvr>
                                        <p:cTn id="9" dur="1000" fill="hold"/>
                                        <p:tgtEl>
                                          <p:spTgt spid="324626"/>
                                        </p:tgtEl>
                                        <p:attrNameLst>
                                          <p:attrName>style.rotation</p:attrName>
                                        </p:attrNameLst>
                                      </p:cBhvr>
                                      <p:tavLst>
                                        <p:tav tm="0">
                                          <p:val>
                                            <p:fltVal val="90"/>
                                          </p:val>
                                        </p:tav>
                                        <p:tav tm="100000">
                                          <p:val>
                                            <p:fltVal val="0"/>
                                          </p:val>
                                        </p:tav>
                                      </p:tavLst>
                                    </p:anim>
                                    <p:animEffect transition="in" filter="fade">
                                      <p:cBhvr>
                                        <p:cTn id="10" dur="1000"/>
                                        <p:tgtEl>
                                          <p:spTgt spid="3246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16" fill="hold" nodeType="clickEffect">
                                  <p:stCondLst>
                                    <p:cond delay="0"/>
                                  </p:stCondLst>
                                  <p:childTnLst>
                                    <p:set>
                                      <p:cBhvr>
                                        <p:cTn id="14" dur="1" fill="hold">
                                          <p:stCondLst>
                                            <p:cond delay="0"/>
                                          </p:stCondLst>
                                        </p:cTn>
                                        <p:tgtEl>
                                          <p:spTgt spid="324613"/>
                                        </p:tgtEl>
                                        <p:attrNameLst>
                                          <p:attrName>style.visibility</p:attrName>
                                        </p:attrNameLst>
                                      </p:cBhvr>
                                      <p:to>
                                        <p:strVal val="visible"/>
                                      </p:to>
                                    </p:set>
                                    <p:anim calcmode="lin" valueType="num">
                                      <p:cBhvr>
                                        <p:cTn id="15" dur="500" fill="hold"/>
                                        <p:tgtEl>
                                          <p:spTgt spid="324613"/>
                                        </p:tgtEl>
                                        <p:attrNameLst>
                                          <p:attrName>ppt_w</p:attrName>
                                        </p:attrNameLst>
                                      </p:cBhvr>
                                      <p:tavLst>
                                        <p:tav tm="0">
                                          <p:val>
                                            <p:fltVal val="0"/>
                                          </p:val>
                                        </p:tav>
                                        <p:tav tm="100000">
                                          <p:val>
                                            <p:strVal val="#ppt_w"/>
                                          </p:val>
                                        </p:tav>
                                      </p:tavLst>
                                    </p:anim>
                                    <p:anim calcmode="lin" valueType="num">
                                      <p:cBhvr>
                                        <p:cTn id="16" dur="500" fill="hold"/>
                                        <p:tgtEl>
                                          <p:spTgt spid="324613"/>
                                        </p:tgtEl>
                                        <p:attrNameLst>
                                          <p:attrName>ppt_h</p:attrName>
                                        </p:attrNameLst>
                                      </p:cBhvr>
                                      <p:tavLst>
                                        <p:tav tm="0">
                                          <p:val>
                                            <p:fltVal val="0"/>
                                          </p:val>
                                        </p:tav>
                                        <p:tav tm="100000">
                                          <p:val>
                                            <p:strVal val="#ppt_h"/>
                                          </p:val>
                                        </p:tav>
                                      </p:tavLst>
                                    </p:anim>
                                    <p:animEffect transition="in" filter="fade">
                                      <p:cBhvr>
                                        <p:cTn id="17" dur="500"/>
                                        <p:tgtEl>
                                          <p:spTgt spid="3246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24631"/>
                                        </p:tgtEl>
                                        <p:attrNameLst>
                                          <p:attrName>style.visibility</p:attrName>
                                        </p:attrNameLst>
                                      </p:cBhvr>
                                      <p:to>
                                        <p:strVal val="visible"/>
                                      </p:to>
                                    </p:set>
                                    <p:animEffect transition="in" filter="barn(inVertical)">
                                      <p:cBhvr>
                                        <p:cTn id="22" dur="500"/>
                                        <p:tgtEl>
                                          <p:spTgt spid="3246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nodeType="clickEffect">
                                  <p:stCondLst>
                                    <p:cond delay="0"/>
                                  </p:stCondLst>
                                  <p:childTnLst>
                                    <p:set>
                                      <p:cBhvr>
                                        <p:cTn id="26" dur="1" fill="hold">
                                          <p:stCondLst>
                                            <p:cond delay="0"/>
                                          </p:stCondLst>
                                        </p:cTn>
                                        <p:tgtEl>
                                          <p:spTgt spid="324614"/>
                                        </p:tgtEl>
                                        <p:attrNameLst>
                                          <p:attrName>style.visibility</p:attrName>
                                        </p:attrNameLst>
                                      </p:cBhvr>
                                      <p:to>
                                        <p:strVal val="visible"/>
                                      </p:to>
                                    </p:set>
                                    <p:anim calcmode="lin" valueType="num">
                                      <p:cBhvr>
                                        <p:cTn id="27" dur="500" fill="hold"/>
                                        <p:tgtEl>
                                          <p:spTgt spid="324614"/>
                                        </p:tgtEl>
                                        <p:attrNameLst>
                                          <p:attrName>ppt_w</p:attrName>
                                        </p:attrNameLst>
                                      </p:cBhvr>
                                      <p:tavLst>
                                        <p:tav tm="0">
                                          <p:val>
                                            <p:fltVal val="0"/>
                                          </p:val>
                                        </p:tav>
                                        <p:tav tm="100000">
                                          <p:val>
                                            <p:strVal val="#ppt_w"/>
                                          </p:val>
                                        </p:tav>
                                      </p:tavLst>
                                    </p:anim>
                                    <p:anim calcmode="lin" valueType="num">
                                      <p:cBhvr>
                                        <p:cTn id="28" dur="500" fill="hold"/>
                                        <p:tgtEl>
                                          <p:spTgt spid="324614"/>
                                        </p:tgtEl>
                                        <p:attrNameLst>
                                          <p:attrName>ppt_h</p:attrName>
                                        </p:attrNameLst>
                                      </p:cBhvr>
                                      <p:tavLst>
                                        <p:tav tm="0">
                                          <p:val>
                                            <p:fltVal val="0"/>
                                          </p:val>
                                        </p:tav>
                                        <p:tav tm="100000">
                                          <p:val>
                                            <p:strVal val="#ppt_h"/>
                                          </p:val>
                                        </p:tav>
                                      </p:tavLst>
                                    </p:anim>
                                    <p:animEffect transition="in" filter="fade">
                                      <p:cBhvr>
                                        <p:cTn id="29" dur="500"/>
                                        <p:tgtEl>
                                          <p:spTgt spid="3246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324632"/>
                                        </p:tgtEl>
                                        <p:attrNameLst>
                                          <p:attrName>style.visibility</p:attrName>
                                        </p:attrNameLst>
                                      </p:cBhvr>
                                      <p:to>
                                        <p:strVal val="visible"/>
                                      </p:to>
                                    </p:set>
                                    <p:animEffect transition="in" filter="barn(inVertical)">
                                      <p:cBhvr>
                                        <p:cTn id="34" dur="500"/>
                                        <p:tgtEl>
                                          <p:spTgt spid="32463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16"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animEffect transition="in" filter="fade">
                                      <p:cBhvr>
                                        <p:cTn id="41" dur="5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324629"/>
                                        </p:tgtEl>
                                        <p:attrNameLst>
                                          <p:attrName>style.visibility</p:attrName>
                                        </p:attrNameLst>
                                      </p:cBhvr>
                                      <p:to>
                                        <p:strVal val="visible"/>
                                      </p:to>
                                    </p:set>
                                    <p:animEffect transition="in" filter="barn(inVertical)">
                                      <p:cBhvr>
                                        <p:cTn id="46" dur="500"/>
                                        <p:tgtEl>
                                          <p:spTgt spid="32462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3" presetClass="entr" presetSubtype="16"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p:cTn id="51" dur="500" fill="hold"/>
                                        <p:tgtEl>
                                          <p:spTgt spid="3"/>
                                        </p:tgtEl>
                                        <p:attrNameLst>
                                          <p:attrName>ppt_w</p:attrName>
                                        </p:attrNameLst>
                                      </p:cBhvr>
                                      <p:tavLst>
                                        <p:tav tm="0">
                                          <p:val>
                                            <p:fltVal val="0"/>
                                          </p:val>
                                        </p:tav>
                                        <p:tav tm="100000">
                                          <p:val>
                                            <p:strVal val="#ppt_w"/>
                                          </p:val>
                                        </p:tav>
                                      </p:tavLst>
                                    </p:anim>
                                    <p:anim calcmode="lin" valueType="num">
                                      <p:cBhvr>
                                        <p:cTn id="52" dur="500" fill="hold"/>
                                        <p:tgtEl>
                                          <p:spTgt spid="3"/>
                                        </p:tgtEl>
                                        <p:attrNameLst>
                                          <p:attrName>ppt_h</p:attrName>
                                        </p:attrNameLst>
                                      </p:cBhvr>
                                      <p:tavLst>
                                        <p:tav tm="0">
                                          <p:val>
                                            <p:fltVal val="0"/>
                                          </p:val>
                                        </p:tav>
                                        <p:tav tm="100000">
                                          <p:val>
                                            <p:strVal val="#ppt_h"/>
                                          </p:val>
                                        </p:tav>
                                      </p:tavLst>
                                    </p:anim>
                                    <p:animEffect transition="in" filter="fade">
                                      <p:cBhvr>
                                        <p:cTn id="53" dur="500"/>
                                        <p:tgtEl>
                                          <p:spTgt spid="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324630"/>
                                        </p:tgtEl>
                                        <p:attrNameLst>
                                          <p:attrName>style.visibility</p:attrName>
                                        </p:attrNameLst>
                                      </p:cBhvr>
                                      <p:to>
                                        <p:strVal val="visible"/>
                                      </p:to>
                                    </p:set>
                                    <p:animEffect transition="in" filter="barn(inVertical)">
                                      <p:cBhvr>
                                        <p:cTn id="58" dur="500"/>
                                        <p:tgtEl>
                                          <p:spTgt spid="32463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nodeType="clickEffect">
                                  <p:stCondLst>
                                    <p:cond delay="0"/>
                                  </p:stCondLst>
                                  <p:childTnLst>
                                    <p:set>
                                      <p:cBhvr>
                                        <p:cTn id="62" dur="1" fill="hold">
                                          <p:stCondLst>
                                            <p:cond delay="0"/>
                                          </p:stCondLst>
                                        </p:cTn>
                                        <p:tgtEl>
                                          <p:spTgt spid="324623"/>
                                        </p:tgtEl>
                                        <p:attrNameLst>
                                          <p:attrName>style.visibility</p:attrName>
                                        </p:attrNameLst>
                                      </p:cBhvr>
                                      <p:to>
                                        <p:strVal val="visible"/>
                                      </p:to>
                                    </p:set>
                                    <p:anim calcmode="lin" valueType="num">
                                      <p:cBhvr>
                                        <p:cTn id="63" dur="500" fill="hold"/>
                                        <p:tgtEl>
                                          <p:spTgt spid="324623"/>
                                        </p:tgtEl>
                                        <p:attrNameLst>
                                          <p:attrName>ppt_w</p:attrName>
                                        </p:attrNameLst>
                                      </p:cBhvr>
                                      <p:tavLst>
                                        <p:tav tm="0">
                                          <p:val>
                                            <p:fltVal val="0"/>
                                          </p:val>
                                        </p:tav>
                                        <p:tav tm="100000">
                                          <p:val>
                                            <p:strVal val="#ppt_w"/>
                                          </p:val>
                                        </p:tav>
                                      </p:tavLst>
                                    </p:anim>
                                    <p:anim calcmode="lin" valueType="num">
                                      <p:cBhvr>
                                        <p:cTn id="64" dur="500" fill="hold"/>
                                        <p:tgtEl>
                                          <p:spTgt spid="324623"/>
                                        </p:tgtEl>
                                        <p:attrNameLst>
                                          <p:attrName>ppt_h</p:attrName>
                                        </p:attrNameLst>
                                      </p:cBhvr>
                                      <p:tavLst>
                                        <p:tav tm="0">
                                          <p:val>
                                            <p:fltVal val="0"/>
                                          </p:val>
                                        </p:tav>
                                        <p:tav tm="100000">
                                          <p:val>
                                            <p:strVal val="#ppt_h"/>
                                          </p:val>
                                        </p:tav>
                                      </p:tavLst>
                                    </p:anim>
                                    <p:animEffect transition="in" filter="fade">
                                      <p:cBhvr>
                                        <p:cTn id="65" dur="500"/>
                                        <p:tgtEl>
                                          <p:spTgt spid="32462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324627"/>
                                        </p:tgtEl>
                                        <p:attrNameLst>
                                          <p:attrName>style.visibility</p:attrName>
                                        </p:attrNameLst>
                                      </p:cBhvr>
                                      <p:to>
                                        <p:strVal val="visible"/>
                                      </p:to>
                                    </p:set>
                                    <p:animEffect transition="in" filter="barn(inVertical)">
                                      <p:cBhvr>
                                        <p:cTn id="70" dur="500"/>
                                        <p:tgtEl>
                                          <p:spTgt spid="32462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6" presetClass="entr" presetSubtype="16"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circle(in)">
                                      <p:cBhvr>
                                        <p:cTn id="75" dur="2000"/>
                                        <p:tgtEl>
                                          <p:spTgt spid="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6" presetClass="entr" presetSubtype="16" fill="hold" grpId="0" nodeType="click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circle(in)">
                                      <p:cBhvr>
                                        <p:cTn id="80" dur="2000"/>
                                        <p:tgtEl>
                                          <p:spTgt spid="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6" presetClass="entr" presetSubtype="16" fill="hold" grpId="0"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circle(in)">
                                      <p:cBhvr>
                                        <p:cTn id="85" dur="2000"/>
                                        <p:tgtEl>
                                          <p:spTgt spid="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6" presetClass="entr" presetSubtype="16" fill="hold" grpId="0" nodeType="clickEffect">
                                  <p:stCondLst>
                                    <p:cond delay="0"/>
                                  </p:stCondLst>
                                  <p:childTnLst>
                                    <p:set>
                                      <p:cBhvr>
                                        <p:cTn id="89" dur="1" fill="hold">
                                          <p:stCondLst>
                                            <p:cond delay="0"/>
                                          </p:stCondLst>
                                        </p:cTn>
                                        <p:tgtEl>
                                          <p:spTgt spid="7"/>
                                        </p:tgtEl>
                                        <p:attrNameLst>
                                          <p:attrName>style.visibility</p:attrName>
                                        </p:attrNameLst>
                                      </p:cBhvr>
                                      <p:to>
                                        <p:strVal val="visible"/>
                                      </p:to>
                                    </p:set>
                                    <p:animEffect transition="in" filter="circle(in)">
                                      <p:cBhvr>
                                        <p:cTn id="90" dur="2000"/>
                                        <p:tgtEl>
                                          <p:spTgt spid="7"/>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6" presetClass="entr" presetSubtype="16" fill="hold" grpId="0" nodeType="clickEffect">
                                  <p:stCondLst>
                                    <p:cond delay="0"/>
                                  </p:stCondLst>
                                  <p:childTnLst>
                                    <p:set>
                                      <p:cBhvr>
                                        <p:cTn id="94" dur="1" fill="hold">
                                          <p:stCondLst>
                                            <p:cond delay="0"/>
                                          </p:stCondLst>
                                        </p:cTn>
                                        <p:tgtEl>
                                          <p:spTgt spid="8"/>
                                        </p:tgtEl>
                                        <p:attrNameLst>
                                          <p:attrName>style.visibility</p:attrName>
                                        </p:attrNameLst>
                                      </p:cBhvr>
                                      <p:to>
                                        <p:strVal val="visible"/>
                                      </p:to>
                                    </p:set>
                                    <p:animEffect transition="in" filter="circle(in)">
                                      <p:cBhvr>
                                        <p:cTn id="9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26" grpId="0" animBg="1"/>
      <p:bldP spid="324627" grpId="0" animBg="1"/>
      <p:bldP spid="324629" grpId="0" animBg="1"/>
      <p:bldP spid="324630" grpId="0" animBg="1"/>
      <p:bldP spid="324631" grpId="0" animBg="1"/>
      <p:bldP spid="324632" grpId="0" animBg="1"/>
      <p:bldP spid="4"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defRPr/>
            </a:pPr>
            <a:r>
              <a:rPr lang="en-US" dirty="0" smtClean="0"/>
              <a:t>Methods of data capture</a:t>
            </a:r>
            <a:endParaRPr lang="en-US" altLang="en-US" dirty="0"/>
          </a:p>
        </p:txBody>
      </p:sp>
      <p:sp>
        <p:nvSpPr>
          <p:cNvPr id="320515" name="Rectangle 3"/>
          <p:cNvSpPr>
            <a:spLocks noGrp="1" noChangeArrowheads="1"/>
          </p:cNvSpPr>
          <p:nvPr>
            <p:ph type="body" idx="1"/>
          </p:nvPr>
        </p:nvSpPr>
        <p:spPr>
          <a:xfrm>
            <a:off x="1955801" y="908051"/>
            <a:ext cx="8532813" cy="5222875"/>
          </a:xfrm>
        </p:spPr>
        <p:txBody>
          <a:bodyPr/>
          <a:lstStyle/>
          <a:p>
            <a:pPr>
              <a:spcAft>
                <a:spcPts val="600"/>
              </a:spcAft>
              <a:defRPr/>
            </a:pPr>
            <a:r>
              <a:rPr lang="en-US" altLang="en-US" dirty="0"/>
              <a:t>One of most expensive GIS activities.</a:t>
            </a:r>
          </a:p>
          <a:p>
            <a:pPr>
              <a:spcAft>
                <a:spcPts val="600"/>
              </a:spcAft>
              <a:defRPr/>
            </a:pPr>
            <a:r>
              <a:rPr lang="en-US" dirty="0"/>
              <a:t>No single method of entering the spatial data into a GIS. </a:t>
            </a:r>
          </a:p>
          <a:p>
            <a:pPr>
              <a:spcAft>
                <a:spcPts val="600"/>
              </a:spcAft>
              <a:defRPr/>
            </a:pPr>
            <a:r>
              <a:rPr lang="en-US" dirty="0"/>
              <a:t>Several mutually compatible methods that can be used singly or in combination.</a:t>
            </a:r>
          </a:p>
          <a:p>
            <a:pPr>
              <a:spcAft>
                <a:spcPts val="600"/>
              </a:spcAft>
              <a:defRPr/>
            </a:pPr>
            <a:r>
              <a:rPr lang="en-US" dirty="0"/>
              <a:t>Choice of Data capture method depends on:</a:t>
            </a:r>
          </a:p>
          <a:p>
            <a:pPr marL="822960">
              <a:spcAft>
                <a:spcPts val="600"/>
              </a:spcAft>
              <a:buFont typeface="Wingdings" panose="05000000000000000000" pitchFamily="2" charset="2"/>
              <a:buChar char="ü"/>
              <a:defRPr/>
            </a:pPr>
            <a:r>
              <a:rPr lang="en-US" dirty="0"/>
              <a:t>application used</a:t>
            </a:r>
          </a:p>
          <a:p>
            <a:pPr marL="822960">
              <a:spcAft>
                <a:spcPts val="600"/>
              </a:spcAft>
              <a:buFont typeface="Wingdings" panose="05000000000000000000" pitchFamily="2" charset="2"/>
              <a:buChar char="ü"/>
              <a:defRPr/>
            </a:pPr>
            <a:r>
              <a:rPr lang="en-US" dirty="0"/>
              <a:t>available budget</a:t>
            </a:r>
          </a:p>
          <a:p>
            <a:pPr marL="822960">
              <a:spcAft>
                <a:spcPts val="600"/>
              </a:spcAft>
              <a:buFont typeface="Wingdings" panose="05000000000000000000" pitchFamily="2" charset="2"/>
              <a:buChar char="ü"/>
              <a:defRPr/>
            </a:pPr>
            <a:r>
              <a:rPr lang="en-US" dirty="0"/>
              <a:t>type &amp; complexity of data being input</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0515">
                                            <p:txEl>
                                              <p:pRg st="5" end="5"/>
                                            </p:txEl>
                                          </p:spTgt>
                                        </p:tgtEl>
                                        <p:attrNameLst>
                                          <p:attrName>style.visibility</p:attrName>
                                        </p:attrNameLst>
                                      </p:cBhvr>
                                      <p:to>
                                        <p:strVal val="visible"/>
                                      </p:to>
                                    </p:set>
                                    <p:animEffect transition="in" filter="fade">
                                      <p:cBhvr>
                                        <p:cTn id="32" dur="500"/>
                                        <p:tgtEl>
                                          <p:spTgt spid="320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0515">
                                            <p:txEl>
                                              <p:pRg st="6" end="6"/>
                                            </p:txEl>
                                          </p:spTgt>
                                        </p:tgtEl>
                                        <p:attrNameLst>
                                          <p:attrName>style.visibility</p:attrName>
                                        </p:attrNameLst>
                                      </p:cBhvr>
                                      <p:to>
                                        <p:strVal val="visible"/>
                                      </p:to>
                                    </p:set>
                                    <p:animEffect transition="in" filter="fade">
                                      <p:cBhvr>
                                        <p:cTn id="37" dur="500"/>
                                        <p:tgtEl>
                                          <p:spTgt spid="320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defRPr/>
            </a:pPr>
            <a:r>
              <a:rPr lang="en-US" dirty="0" smtClean="0"/>
              <a:t>Methods of data capture</a:t>
            </a:r>
            <a:endParaRPr lang="en-US" altLang="en-US" dirty="0"/>
          </a:p>
        </p:txBody>
      </p:sp>
      <p:sp>
        <p:nvSpPr>
          <p:cNvPr id="320515" name="Rectangle 3"/>
          <p:cNvSpPr>
            <a:spLocks noGrp="1" noChangeArrowheads="1"/>
          </p:cNvSpPr>
          <p:nvPr>
            <p:ph type="body" idx="1"/>
          </p:nvPr>
        </p:nvSpPr>
        <p:spPr>
          <a:xfrm>
            <a:off x="1955801" y="908051"/>
            <a:ext cx="8532813" cy="5222875"/>
          </a:xfrm>
        </p:spPr>
        <p:txBody>
          <a:bodyPr>
            <a:normAutofit lnSpcReduction="10000"/>
          </a:bodyPr>
          <a:lstStyle/>
          <a:p>
            <a:pPr>
              <a:spcAft>
                <a:spcPts val="1200"/>
              </a:spcAft>
              <a:defRPr/>
            </a:pPr>
            <a:r>
              <a:rPr lang="en-US" dirty="0"/>
              <a:t>GIS data capture is a technique in which the information on various map attributes, facilities, assets, and organizational data are digitized and organized on a target GIS system in appropriate layers.</a:t>
            </a:r>
            <a:endParaRPr lang="en-US" altLang="en-US" i="1" u="sng" dirty="0"/>
          </a:p>
          <a:p>
            <a:pPr>
              <a:spcAft>
                <a:spcPts val="1200"/>
              </a:spcAft>
              <a:defRPr/>
            </a:pPr>
            <a:r>
              <a:rPr lang="en-US" altLang="en-US" i="1" u="sng" dirty="0"/>
              <a:t>Two broad types of collection:</a:t>
            </a:r>
          </a:p>
          <a:p>
            <a:pPr marL="937260" indent="-457200">
              <a:spcAft>
                <a:spcPts val="1200"/>
              </a:spcAft>
              <a:buFont typeface="Wingdings" panose="05000000000000000000" pitchFamily="2" charset="2"/>
              <a:buChar char="ü"/>
              <a:defRPr/>
            </a:pPr>
            <a:r>
              <a:rPr lang="en-US" altLang="en-US" sz="2600" dirty="0"/>
              <a:t>Data capture (direct collection)</a:t>
            </a:r>
          </a:p>
          <a:p>
            <a:pPr marL="937260" indent="-457200">
              <a:spcAft>
                <a:spcPts val="1200"/>
              </a:spcAft>
              <a:buFont typeface="Wingdings" panose="05000000000000000000" pitchFamily="2" charset="2"/>
              <a:buChar char="ü"/>
              <a:defRPr/>
            </a:pPr>
            <a:r>
              <a:rPr lang="en-US" altLang="en-US" sz="2600" dirty="0"/>
              <a:t>Data transfer</a:t>
            </a:r>
          </a:p>
          <a:p>
            <a:pPr>
              <a:spcAft>
                <a:spcPts val="1200"/>
              </a:spcAft>
              <a:defRPr/>
            </a:pPr>
            <a:r>
              <a:rPr lang="en-US" altLang="en-US" i="1" u="sng" dirty="0"/>
              <a:t>Two broad capture methods:</a:t>
            </a:r>
          </a:p>
          <a:p>
            <a:pPr marL="822960">
              <a:spcAft>
                <a:spcPts val="1200"/>
              </a:spcAft>
              <a:buFont typeface="Wingdings" panose="05000000000000000000" pitchFamily="2" charset="2"/>
              <a:buChar char="ü"/>
              <a:defRPr/>
            </a:pPr>
            <a:r>
              <a:rPr lang="en-US" altLang="en-US" sz="2600" dirty="0"/>
              <a:t>Primary (direct measurement)</a:t>
            </a:r>
          </a:p>
          <a:p>
            <a:pPr marL="822960">
              <a:spcAft>
                <a:spcPts val="1200"/>
              </a:spcAft>
              <a:buFont typeface="Wingdings" panose="05000000000000000000" pitchFamily="2" charset="2"/>
              <a:buChar char="ü"/>
              <a:defRPr/>
            </a:pPr>
            <a:r>
              <a:rPr lang="en-US" altLang="en-US" sz="2600" dirty="0"/>
              <a:t>Secondary (indirect derivation)</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0515">
                                            <p:txEl>
                                              <p:pRg st="5" end="5"/>
                                            </p:txEl>
                                          </p:spTgt>
                                        </p:tgtEl>
                                        <p:attrNameLst>
                                          <p:attrName>style.visibility</p:attrName>
                                        </p:attrNameLst>
                                      </p:cBhvr>
                                      <p:to>
                                        <p:strVal val="visible"/>
                                      </p:to>
                                    </p:set>
                                    <p:animEffect transition="in" filter="fade">
                                      <p:cBhvr>
                                        <p:cTn id="32" dur="500"/>
                                        <p:tgtEl>
                                          <p:spTgt spid="320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0515">
                                            <p:txEl>
                                              <p:pRg st="6" end="6"/>
                                            </p:txEl>
                                          </p:spTgt>
                                        </p:tgtEl>
                                        <p:attrNameLst>
                                          <p:attrName>style.visibility</p:attrName>
                                        </p:attrNameLst>
                                      </p:cBhvr>
                                      <p:to>
                                        <p:strVal val="visible"/>
                                      </p:to>
                                    </p:set>
                                    <p:animEffect transition="in" filter="fade">
                                      <p:cBhvr>
                                        <p:cTn id="37" dur="500"/>
                                        <p:tgtEl>
                                          <p:spTgt spid="320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1509713" y="152401"/>
            <a:ext cx="9144001" cy="836613"/>
          </a:xfrm>
        </p:spPr>
        <p:txBody>
          <a:bodyPr/>
          <a:lstStyle/>
          <a:p>
            <a:pPr>
              <a:defRPr/>
            </a:pPr>
            <a:r>
              <a:rPr lang="en-US" altLang="en-US" dirty="0"/>
              <a:t>Data Collection Techniques </a:t>
            </a:r>
          </a:p>
        </p:txBody>
      </p:sp>
      <p:graphicFrame>
        <p:nvGraphicFramePr>
          <p:cNvPr id="322610" name="Group 50"/>
          <p:cNvGraphicFramePr>
            <a:graphicFrameLocks noGrp="1"/>
          </p:cNvGraphicFramePr>
          <p:nvPr>
            <p:ph type="tbl" idx="1"/>
          </p:nvPr>
        </p:nvGraphicFramePr>
        <p:xfrm>
          <a:off x="1811338" y="1520826"/>
          <a:ext cx="8532812" cy="4537075"/>
        </p:xfrm>
        <a:graphic>
          <a:graphicData uri="http://schemas.openxmlformats.org/drawingml/2006/table">
            <a:tbl>
              <a:tblPr/>
              <a:tblGrid>
                <a:gridCol w="2412231"/>
                <a:gridCol w="2880274"/>
                <a:gridCol w="3240307"/>
              </a:tblGrid>
              <a:tr h="1008240">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3200" b="0" i="0" u="none" strike="noStrike" cap="none" normalizeH="0" baseline="0" dirty="0" smtClean="0">
                        <a:ln>
                          <a:noFill/>
                        </a:ln>
                        <a:solidFill>
                          <a:schemeClr val="tx1"/>
                        </a:solidFill>
                        <a:effectLst/>
                        <a:latin typeface="Tahoma" panose="020B0604030504040204" pitchFamily="34" charset="0"/>
                      </a:endParaRPr>
                    </a:p>
                  </a:txBody>
                  <a:tcPr marL="91439" marR="9143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3407"/>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en-US" altLang="en-US" sz="3200" b="0" i="0" u="none" strike="noStrike" cap="none" normalizeH="0" baseline="0" dirty="0" smtClean="0">
                          <a:ln>
                            <a:noFill/>
                          </a:ln>
                          <a:solidFill>
                            <a:schemeClr val="tx1"/>
                          </a:solidFill>
                          <a:effectLst/>
                          <a:latin typeface="Tahoma" panose="020B0604030504040204" pitchFamily="34" charset="0"/>
                        </a:rPr>
                        <a:t>Raster</a:t>
                      </a:r>
                    </a:p>
                  </a:txBody>
                  <a:tcPr marL="91439" marR="9143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3407"/>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en-US" altLang="en-US" sz="3200" b="0" i="0" u="none" strike="noStrike" cap="none" normalizeH="0" baseline="0" dirty="0" smtClean="0">
                          <a:ln>
                            <a:noFill/>
                          </a:ln>
                          <a:solidFill>
                            <a:schemeClr val="tx1"/>
                          </a:solidFill>
                          <a:effectLst/>
                          <a:latin typeface="Tahoma" panose="020B0604030504040204" pitchFamily="34" charset="0"/>
                        </a:rPr>
                        <a:t>Vector</a:t>
                      </a: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3407"/>
                    </a:solidFill>
                  </a:tcPr>
                </a:tc>
              </a:tr>
              <a:tr h="900213">
                <a:tc rowSpan="2">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300000"/>
                        </a:lnSpc>
                        <a:spcBef>
                          <a:spcPct val="20000"/>
                        </a:spcBef>
                        <a:spcAft>
                          <a:spcPct val="0"/>
                        </a:spcAft>
                        <a:buClrTx/>
                        <a:buSzTx/>
                        <a:buFontTx/>
                        <a:buNone/>
                        <a:tabLst/>
                      </a:pPr>
                      <a:r>
                        <a:rPr kumimoji="0" lang="en-US" altLang="en-US" sz="3200" b="0" i="0" u="none" strike="noStrike" cap="none" normalizeH="0" baseline="0" dirty="0" smtClean="0">
                          <a:ln>
                            <a:noFill/>
                          </a:ln>
                          <a:solidFill>
                            <a:schemeClr val="tx1"/>
                          </a:solidFill>
                          <a:effectLst/>
                          <a:latin typeface="Tahoma" panose="020B0604030504040204" pitchFamily="34" charset="0"/>
                        </a:rPr>
                        <a:t>  Primary</a:t>
                      </a:r>
                    </a:p>
                  </a:txBody>
                  <a:tcPr marL="91439" marR="9143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Digital remote sensing images</a:t>
                      </a:r>
                    </a:p>
                  </a:txBody>
                  <a:tcPr marL="91439" marR="9143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GPS measurements</a:t>
                      </a: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r>
              <a:tr h="900213">
                <a:tc vMerge="1">
                  <a:txBody>
                    <a:bodyPr/>
                    <a:lstStyle/>
                    <a:p>
                      <a:endParaRPr lang="en-US"/>
                    </a:p>
                  </a:txBody>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Digital aerial photographs</a:t>
                      </a:r>
                    </a:p>
                  </a:txBody>
                  <a:tcPr marL="91439" marR="9143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Survey measurements</a:t>
                      </a: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r>
              <a:tr h="828196">
                <a:tc rowSpan="2">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300000"/>
                        </a:lnSpc>
                        <a:spcBef>
                          <a:spcPct val="20000"/>
                        </a:spcBef>
                        <a:spcAft>
                          <a:spcPct val="0"/>
                        </a:spcAft>
                        <a:buClrTx/>
                        <a:buSzTx/>
                        <a:buFontTx/>
                        <a:buNone/>
                        <a:tabLst/>
                      </a:pPr>
                      <a:r>
                        <a:rPr kumimoji="0" lang="en-US" altLang="en-US" sz="3200" b="0" i="0" u="none" strike="noStrike" cap="none" normalizeH="0" baseline="0" dirty="0" smtClean="0">
                          <a:ln>
                            <a:noFill/>
                          </a:ln>
                          <a:solidFill>
                            <a:schemeClr val="tx1"/>
                          </a:solidFill>
                          <a:effectLst/>
                          <a:latin typeface="Tahoma" panose="020B0604030504040204" pitchFamily="34" charset="0"/>
                        </a:rPr>
                        <a:t> Secondary</a:t>
                      </a:r>
                    </a:p>
                  </a:txBody>
                  <a:tcPr marL="91439" marR="9143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Scanners</a:t>
                      </a:r>
                    </a:p>
                  </a:txBody>
                  <a:tcPr marL="91439" marR="9143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CC"/>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Topographic surveys</a:t>
                      </a: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CC"/>
                    </a:solidFill>
                  </a:tcPr>
                </a:tc>
              </a:tr>
              <a:tr h="900213">
                <a:tc vMerge="1">
                  <a:txBody>
                    <a:bodyPr/>
                    <a:lstStyle/>
                    <a:p>
                      <a:endParaRPr lang="en-US"/>
                    </a:p>
                  </a:txBody>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ahoma" panose="020B0604030504040204" pitchFamily="34" charset="0"/>
                        </a:rPr>
                        <a:t>DEMs from maps</a:t>
                      </a:r>
                    </a:p>
                  </a:txBody>
                  <a:tcPr marL="91439" marR="9143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CCCC"/>
                    </a:solid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buSzPct val="75000"/>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buClr>
                          <a:schemeClr val="tx2"/>
                        </a:buClr>
                        <a:defRPr>
                          <a:solidFill>
                            <a:schemeClr val="tx1"/>
                          </a:solidFill>
                          <a:latin typeface="Tahoma" panose="020B0604030504040204" pitchFamily="34" charset="0"/>
                        </a:defRPr>
                      </a:lvl5pPr>
                      <a:lvl6pPr fontAlgn="base">
                        <a:spcBef>
                          <a:spcPct val="20000"/>
                        </a:spcBef>
                        <a:spcAft>
                          <a:spcPct val="0"/>
                        </a:spcAft>
                        <a:buClr>
                          <a:schemeClr val="tx2"/>
                        </a:buClr>
                        <a:defRPr>
                          <a:solidFill>
                            <a:schemeClr val="tx1"/>
                          </a:solidFill>
                          <a:latin typeface="Tahoma" panose="020B0604030504040204" pitchFamily="34" charset="0"/>
                        </a:defRPr>
                      </a:lvl6pPr>
                      <a:lvl7pPr fontAlgn="base">
                        <a:spcBef>
                          <a:spcPct val="20000"/>
                        </a:spcBef>
                        <a:spcAft>
                          <a:spcPct val="0"/>
                        </a:spcAft>
                        <a:buClr>
                          <a:schemeClr val="tx2"/>
                        </a:buClr>
                        <a:defRPr>
                          <a:solidFill>
                            <a:schemeClr val="tx1"/>
                          </a:solidFill>
                          <a:latin typeface="Tahoma" panose="020B0604030504040204" pitchFamily="34" charset="0"/>
                        </a:defRPr>
                      </a:lvl7pPr>
                      <a:lvl8pPr fontAlgn="base">
                        <a:spcBef>
                          <a:spcPct val="20000"/>
                        </a:spcBef>
                        <a:spcAft>
                          <a:spcPct val="0"/>
                        </a:spcAft>
                        <a:buClr>
                          <a:schemeClr val="tx2"/>
                        </a:buClr>
                        <a:defRPr>
                          <a:solidFill>
                            <a:schemeClr val="tx1"/>
                          </a:solidFill>
                          <a:latin typeface="Tahoma" panose="020B0604030504040204" pitchFamily="34" charset="0"/>
                        </a:defRPr>
                      </a:lvl8pPr>
                      <a:lvl9pPr fontAlgn="base">
                        <a:spcBef>
                          <a:spcPct val="20000"/>
                        </a:spcBef>
                        <a:spcAft>
                          <a:spcPct val="0"/>
                        </a:spcAft>
                        <a:buClr>
                          <a:schemeClr val="tx2"/>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lang="en-US" altLang="en-US" sz="2400" b="0" dirty="0" smtClean="0"/>
                        <a:t>Digitizing</a:t>
                      </a:r>
                      <a:endParaRPr kumimoji="0" lang="en-US" altLang="en-US" sz="2400" b="0" i="0" u="none" strike="noStrike" cap="none" normalizeH="0" baseline="0" dirty="0" smtClean="0">
                        <a:ln>
                          <a:noFill/>
                        </a:ln>
                        <a:solidFill>
                          <a:schemeClr val="tx1"/>
                        </a:solidFill>
                        <a:effectLst/>
                        <a:latin typeface="Tahoma" panose="020B0604030504040204" pitchFamily="34" charset="0"/>
                      </a:endParaRP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CCCC"/>
                    </a:solidFill>
                  </a:tcPr>
                </a:tc>
              </a:tr>
            </a:tbl>
          </a:graphicData>
        </a:graphic>
      </p:graphicFrame>
    </p:spTree>
  </p:cSld>
  <p:clrMapOvr>
    <a:masterClrMapping/>
  </p:clrMapOvr>
  <p:transition spd="med" advTm="0">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1524001" y="152401"/>
            <a:ext cx="9129713" cy="836613"/>
          </a:xfrm>
        </p:spPr>
        <p:txBody>
          <a:bodyPr/>
          <a:lstStyle/>
          <a:p>
            <a:pPr>
              <a:defRPr/>
            </a:pPr>
            <a:r>
              <a:rPr lang="en-US" altLang="en-US" dirty="0"/>
              <a:t>Data Collection Techniques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876" y="989013"/>
            <a:ext cx="54768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16501" y="3463925"/>
            <a:ext cx="54768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0">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88913"/>
            <a:ext cx="9144000" cy="908050"/>
          </a:xfrm>
        </p:spPr>
        <p:txBody>
          <a:bodyPr/>
          <a:lstStyle/>
          <a:p>
            <a:pPr>
              <a:defRPr/>
            </a:pPr>
            <a:r>
              <a:rPr lang="en-US" dirty="0"/>
              <a:t>Primary </a:t>
            </a:r>
            <a:r>
              <a:rPr lang="en-US" dirty="0" smtClean="0"/>
              <a:t>GIS data </a:t>
            </a:r>
            <a:r>
              <a:rPr lang="en-US" dirty="0"/>
              <a:t>capture</a:t>
            </a:r>
            <a:endParaRPr lang="en-US" altLang="en-US" dirty="0"/>
          </a:p>
        </p:txBody>
      </p:sp>
      <p:sp>
        <p:nvSpPr>
          <p:cNvPr id="320515" name="Rectangle 3"/>
          <p:cNvSpPr>
            <a:spLocks noGrp="1" noChangeArrowheads="1"/>
          </p:cNvSpPr>
          <p:nvPr>
            <p:ph type="body" idx="1"/>
          </p:nvPr>
        </p:nvSpPr>
        <p:spPr>
          <a:xfrm>
            <a:off x="1955801" y="1304925"/>
            <a:ext cx="8532813" cy="4789488"/>
          </a:xfrm>
        </p:spPr>
        <p:txBody>
          <a:bodyPr/>
          <a:lstStyle/>
          <a:p>
            <a:pPr>
              <a:spcAft>
                <a:spcPts val="1800"/>
              </a:spcAft>
              <a:defRPr/>
            </a:pPr>
            <a:r>
              <a:rPr lang="en-US" dirty="0"/>
              <a:t>Raster Data capture:</a:t>
            </a:r>
          </a:p>
          <a:p>
            <a:pPr marL="937260" indent="-457200">
              <a:spcAft>
                <a:spcPts val="1800"/>
              </a:spcAft>
              <a:buFont typeface="Wingdings" panose="05000000000000000000" pitchFamily="2" charset="2"/>
              <a:buChar char="ü"/>
              <a:defRPr/>
            </a:pPr>
            <a:r>
              <a:rPr lang="en-US" sz="2600" dirty="0"/>
              <a:t>Remote sensing</a:t>
            </a:r>
          </a:p>
          <a:p>
            <a:pPr marL="937260" indent="-457200">
              <a:spcAft>
                <a:spcPts val="1800"/>
              </a:spcAft>
              <a:buFont typeface="Wingdings" panose="05000000000000000000" pitchFamily="2" charset="2"/>
              <a:buChar char="ü"/>
              <a:defRPr/>
            </a:pPr>
            <a:r>
              <a:rPr lang="en-US" sz="2600" dirty="0"/>
              <a:t>Aerial photography</a:t>
            </a:r>
          </a:p>
          <a:p>
            <a:pPr>
              <a:spcAft>
                <a:spcPts val="1800"/>
              </a:spcAft>
              <a:defRPr/>
            </a:pPr>
            <a:r>
              <a:rPr lang="en-US" altLang="en-US" dirty="0"/>
              <a:t>Vector Data capture</a:t>
            </a:r>
          </a:p>
          <a:p>
            <a:pPr marL="822960">
              <a:spcAft>
                <a:spcPts val="1800"/>
              </a:spcAft>
              <a:buFont typeface="Wingdings" panose="05000000000000000000" pitchFamily="2" charset="2"/>
              <a:buChar char="ü"/>
              <a:defRPr/>
            </a:pPr>
            <a:r>
              <a:rPr lang="en-US" altLang="en-US" sz="2600" dirty="0"/>
              <a:t>S</a:t>
            </a:r>
            <a:r>
              <a:rPr lang="en-US" sz="2600" dirty="0"/>
              <a:t>urveying</a:t>
            </a:r>
          </a:p>
          <a:p>
            <a:pPr marL="822960">
              <a:spcAft>
                <a:spcPts val="1800"/>
              </a:spcAft>
              <a:buFont typeface="Wingdings" panose="05000000000000000000" pitchFamily="2" charset="2"/>
              <a:buChar char="ü"/>
              <a:defRPr/>
            </a:pPr>
            <a:r>
              <a:rPr lang="en-US" altLang="en-US" sz="2600" dirty="0"/>
              <a:t>LiDAR</a:t>
            </a:r>
          </a:p>
          <a:p>
            <a:pPr marL="822960">
              <a:spcAft>
                <a:spcPts val="1800"/>
              </a:spcAft>
              <a:buFont typeface="Wingdings" panose="05000000000000000000" pitchFamily="2" charset="2"/>
              <a:buChar char="ü"/>
              <a:defRPr/>
            </a:pPr>
            <a:r>
              <a:rPr lang="en-US" altLang="en-US" sz="2600" dirty="0"/>
              <a:t>GPS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0515">
                                            <p:txEl>
                                              <p:pRg st="5" end="5"/>
                                            </p:txEl>
                                          </p:spTgt>
                                        </p:tgtEl>
                                        <p:attrNameLst>
                                          <p:attrName>style.visibility</p:attrName>
                                        </p:attrNameLst>
                                      </p:cBhvr>
                                      <p:to>
                                        <p:strVal val="visible"/>
                                      </p:to>
                                    </p:set>
                                    <p:animEffect transition="in" filter="fade">
                                      <p:cBhvr>
                                        <p:cTn id="32" dur="500"/>
                                        <p:tgtEl>
                                          <p:spTgt spid="320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0515">
                                            <p:txEl>
                                              <p:pRg st="6" end="6"/>
                                            </p:txEl>
                                          </p:spTgt>
                                        </p:tgtEl>
                                        <p:attrNameLst>
                                          <p:attrName>style.visibility</p:attrName>
                                        </p:attrNameLst>
                                      </p:cBhvr>
                                      <p:to>
                                        <p:strVal val="visible"/>
                                      </p:to>
                                    </p:set>
                                    <p:animEffect transition="in" filter="fade">
                                      <p:cBhvr>
                                        <p:cTn id="37" dur="500"/>
                                        <p:tgtEl>
                                          <p:spTgt spid="320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Raster Data capture</a:t>
            </a:r>
          </a:p>
        </p:txBody>
      </p:sp>
      <p:sp>
        <p:nvSpPr>
          <p:cNvPr id="320515" name="Rectangle 3"/>
          <p:cNvSpPr>
            <a:spLocks noGrp="1" noChangeArrowheads="1"/>
          </p:cNvSpPr>
          <p:nvPr>
            <p:ph type="body" idx="1"/>
          </p:nvPr>
        </p:nvSpPr>
        <p:spPr>
          <a:xfrm>
            <a:off x="1955801" y="908051"/>
            <a:ext cx="8532813" cy="5222875"/>
          </a:xfrm>
        </p:spPr>
        <p:txBody>
          <a:bodyPr/>
          <a:lstStyle/>
          <a:p>
            <a:pPr>
              <a:spcAft>
                <a:spcPts val="1200"/>
              </a:spcAft>
              <a:defRPr/>
            </a:pPr>
            <a:r>
              <a:rPr lang="en-US" dirty="0"/>
              <a:t>Remote Sensing:</a:t>
            </a:r>
          </a:p>
          <a:p>
            <a:pPr marL="822960">
              <a:buFont typeface="Wingdings" panose="05000000000000000000" pitchFamily="2" charset="2"/>
              <a:buChar char="ü"/>
              <a:defRPr/>
            </a:pPr>
            <a:r>
              <a:rPr lang="en-US" sz="2400" dirty="0"/>
              <a:t>technique used to derive information about the </a:t>
            </a:r>
            <a:r>
              <a:rPr lang="en-US" sz="2400" u="sng" dirty="0"/>
              <a:t>physical</a:t>
            </a:r>
            <a:r>
              <a:rPr lang="en-US" sz="2400" dirty="0"/>
              <a:t>, </a:t>
            </a:r>
            <a:r>
              <a:rPr lang="en-US" sz="2400" u="sng" dirty="0"/>
              <a:t>chemical</a:t>
            </a:r>
            <a:r>
              <a:rPr lang="en-US" sz="2400" dirty="0"/>
              <a:t>, &amp; </a:t>
            </a:r>
            <a:r>
              <a:rPr lang="en-US" sz="2400" u="sng" dirty="0"/>
              <a:t>biological</a:t>
            </a:r>
            <a:r>
              <a:rPr lang="en-US" sz="2400" dirty="0"/>
              <a:t> properties of objects without direct physical contact.</a:t>
            </a:r>
          </a:p>
          <a:p>
            <a:pPr marL="822960">
              <a:buFont typeface="Wingdings" panose="05000000000000000000" pitchFamily="2" charset="2"/>
              <a:buChar char="ü"/>
              <a:defRPr/>
            </a:pPr>
            <a:r>
              <a:rPr lang="en-US" sz="2400" dirty="0"/>
              <a:t>information is derived from measurements of the amount of electromagnetic radiation </a:t>
            </a:r>
            <a:r>
              <a:rPr lang="en-US" sz="2400" u="sng" dirty="0"/>
              <a:t>reflected</a:t>
            </a:r>
            <a:r>
              <a:rPr lang="en-US" sz="2400" dirty="0"/>
              <a:t>, </a:t>
            </a:r>
            <a:r>
              <a:rPr lang="en-US" sz="2400" u="sng" dirty="0"/>
              <a:t>emitted</a:t>
            </a:r>
            <a:r>
              <a:rPr lang="en-US" sz="2400" dirty="0"/>
              <a:t>, or </a:t>
            </a:r>
            <a:r>
              <a:rPr lang="en-US" sz="2400" u="sng" dirty="0"/>
              <a:t>scattered</a:t>
            </a:r>
            <a:r>
              <a:rPr lang="en-US" sz="2400" dirty="0"/>
              <a:t> from objects.</a:t>
            </a:r>
          </a:p>
          <a:p>
            <a:pPr marL="822960">
              <a:buFont typeface="Wingdings" panose="05000000000000000000" pitchFamily="2" charset="2"/>
              <a:buChar char="ü"/>
              <a:defRPr/>
            </a:pPr>
            <a:r>
              <a:rPr lang="en-US" sz="2400" i="1" dirty="0"/>
              <a:t>resolution </a:t>
            </a:r>
            <a:r>
              <a:rPr lang="en-US" sz="2400" dirty="0"/>
              <a:t>is a key physical characteristic of remote sensing systems.</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988" name="Rectangle 4"/>
          <p:cNvSpPr>
            <a:spLocks noGrp="1" noChangeArrowheads="1"/>
          </p:cNvSpPr>
          <p:nvPr>
            <p:ph type="title"/>
          </p:nvPr>
        </p:nvSpPr>
        <p:spPr>
          <a:xfrm>
            <a:off x="1919288" y="17464"/>
            <a:ext cx="8229600" cy="1139825"/>
          </a:xfrm>
        </p:spPr>
        <p:txBody>
          <a:bodyPr/>
          <a:lstStyle/>
          <a:p>
            <a:pPr eaLnBrk="1" hangingPunct="1">
              <a:defRPr/>
            </a:pPr>
            <a:r>
              <a:rPr lang="en-US" dirty="0" smtClean="0"/>
              <a:t>How Remote Sensing works?</a:t>
            </a:r>
          </a:p>
        </p:txBody>
      </p:sp>
      <p:pic>
        <p:nvPicPr>
          <p:cNvPr id="17411" name="Picture 2" descr="F:\TEACHING\GIS\Resources\Principles of Remote Sensing - Centre for Remote Imaging, Sensing and Processing, CRISP_files\infrare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944564"/>
            <a:ext cx="9072562" cy="591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randombar(horizontal)">
                                      <p:cBhvr>
                                        <p:cTn id="7"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Raster Data capture</a:t>
            </a:r>
          </a:p>
        </p:txBody>
      </p:sp>
      <p:sp>
        <p:nvSpPr>
          <p:cNvPr id="320515" name="Rectangle 3"/>
          <p:cNvSpPr>
            <a:spLocks noGrp="1" noChangeArrowheads="1"/>
          </p:cNvSpPr>
          <p:nvPr>
            <p:ph type="body" idx="1"/>
          </p:nvPr>
        </p:nvSpPr>
        <p:spPr>
          <a:xfrm>
            <a:off x="1774825" y="908051"/>
            <a:ext cx="8713788" cy="5222875"/>
          </a:xfrm>
        </p:spPr>
        <p:txBody>
          <a:bodyPr/>
          <a:lstStyle/>
          <a:p>
            <a:pPr>
              <a:spcAft>
                <a:spcPts val="1200"/>
              </a:spcAft>
              <a:defRPr/>
            </a:pPr>
            <a:r>
              <a:rPr lang="en-US" dirty="0"/>
              <a:t>Aerial Photography:</a:t>
            </a:r>
          </a:p>
          <a:p>
            <a:pPr marL="822960">
              <a:buFont typeface="Wingdings" panose="05000000000000000000" pitchFamily="2" charset="2"/>
              <a:buChar char="ü"/>
              <a:defRPr/>
            </a:pPr>
            <a:r>
              <a:rPr lang="en-US" sz="2400" dirty="0"/>
              <a:t>Aerial photography is equally important in medium- to large-scale projects</a:t>
            </a:r>
          </a:p>
          <a:p>
            <a:pPr marL="822960">
              <a:buFont typeface="Wingdings" panose="05000000000000000000" pitchFamily="2" charset="2"/>
              <a:buChar char="ü"/>
              <a:defRPr/>
            </a:pPr>
            <a:r>
              <a:rPr lang="en-US" sz="2400" dirty="0"/>
              <a:t>Photographs are normally collected by analog optical cameras and later scanned</a:t>
            </a:r>
          </a:p>
          <a:p>
            <a:pPr marL="822960">
              <a:buFont typeface="Wingdings" panose="05000000000000000000" pitchFamily="2" charset="2"/>
              <a:buChar char="ü"/>
              <a:defRPr/>
            </a:pPr>
            <a:r>
              <a:rPr lang="en-US" sz="2400" dirty="0"/>
              <a:t>The process involves using specialized equipment (a stereo-plotter) to project overlapping aerial photos so that a viewer can see a 3-D pictures of the terrain.</a:t>
            </a:r>
          </a:p>
          <a:p>
            <a:pPr marL="822960">
              <a:buFont typeface="Wingdings" panose="05000000000000000000" pitchFamily="2" charset="2"/>
              <a:buChar char="ü"/>
              <a:defRPr/>
            </a:pPr>
            <a:r>
              <a:rPr lang="en-US" sz="2400" dirty="0"/>
              <a:t>This is known as photogrammetric model.</a:t>
            </a:r>
            <a:endParaRPr lang="en-US" altLang="en-US" sz="2400" dirty="0"/>
          </a:p>
        </p:txBody>
      </p:sp>
      <p:pic>
        <p:nvPicPr>
          <p:cNvPr id="1946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6351" y="4545014"/>
            <a:ext cx="2951163"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9460"/>
                                        </p:tgtEl>
                                        <p:attrNameLst>
                                          <p:attrName>style.visibility</p:attrName>
                                        </p:attrNameLst>
                                      </p:cBhvr>
                                      <p:to>
                                        <p:strVal val="visible"/>
                                      </p:to>
                                    </p:set>
                                    <p:animEffect transition="in" filter="randombar(horizontal)">
                                      <p:cBhvr>
                                        <p:cTn id="32"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63513"/>
            <a:ext cx="9144000" cy="908050"/>
          </a:xfrm>
        </p:spPr>
        <p:txBody>
          <a:bodyPr/>
          <a:lstStyle/>
          <a:p>
            <a:pPr>
              <a:spcAft>
                <a:spcPts val="1800"/>
              </a:spcAft>
              <a:defRPr/>
            </a:pPr>
            <a:r>
              <a:rPr lang="en-US" dirty="0" smtClean="0"/>
              <a:t>Raster Data capture</a:t>
            </a:r>
          </a:p>
        </p:txBody>
      </p:sp>
      <p:sp>
        <p:nvSpPr>
          <p:cNvPr id="320515" name="Rectangle 3"/>
          <p:cNvSpPr>
            <a:spLocks noGrp="1" noChangeArrowheads="1"/>
          </p:cNvSpPr>
          <p:nvPr>
            <p:ph type="body" idx="1"/>
          </p:nvPr>
        </p:nvSpPr>
        <p:spPr>
          <a:xfrm>
            <a:off x="1739900" y="1196976"/>
            <a:ext cx="8712200" cy="5222875"/>
          </a:xfrm>
        </p:spPr>
        <p:txBody>
          <a:bodyPr/>
          <a:lstStyle/>
          <a:p>
            <a:pPr>
              <a:spcAft>
                <a:spcPts val="1200"/>
              </a:spcAft>
              <a:defRPr/>
            </a:pPr>
            <a:r>
              <a:rPr lang="en-US" dirty="0"/>
              <a:t>Aerial Photography (Advantages):</a:t>
            </a:r>
          </a:p>
          <a:p>
            <a:pPr marL="822960">
              <a:buFont typeface="Wingdings" panose="05000000000000000000" pitchFamily="2" charset="2"/>
              <a:buChar char="ü"/>
              <a:defRPr/>
            </a:pPr>
            <a:r>
              <a:rPr lang="en-US" sz="2400" dirty="0"/>
              <a:t>Consistency of the data</a:t>
            </a:r>
          </a:p>
          <a:p>
            <a:pPr marL="822960">
              <a:buFont typeface="Wingdings" panose="05000000000000000000" pitchFamily="2" charset="2"/>
              <a:buChar char="ü"/>
              <a:defRPr/>
            </a:pPr>
            <a:r>
              <a:rPr lang="en-US" sz="2400" dirty="0"/>
              <a:t>Availability of systematic global coverage</a:t>
            </a:r>
          </a:p>
          <a:p>
            <a:pPr marL="822960">
              <a:buFont typeface="Wingdings" panose="05000000000000000000" pitchFamily="2" charset="2"/>
              <a:buChar char="ü"/>
              <a:defRPr/>
            </a:pPr>
            <a:r>
              <a:rPr lang="en-US" sz="2400" dirty="0"/>
              <a:t>Regular repeat cycles</a:t>
            </a:r>
          </a:p>
          <a:p>
            <a:pPr marL="480060" indent="0">
              <a:buNone/>
              <a:defRPr/>
            </a:pPr>
            <a:endParaRPr lang="en-US" sz="2400" dirty="0"/>
          </a:p>
          <a:p>
            <a:pPr>
              <a:spcAft>
                <a:spcPts val="1200"/>
              </a:spcAft>
              <a:defRPr/>
            </a:pPr>
            <a:r>
              <a:rPr lang="en-US" dirty="0"/>
              <a:t>Aerial Photography (Disadvantages):</a:t>
            </a:r>
          </a:p>
          <a:p>
            <a:pPr marL="822960">
              <a:buFont typeface="Wingdings" panose="05000000000000000000" pitchFamily="2" charset="2"/>
              <a:buChar char="ü"/>
              <a:defRPr/>
            </a:pPr>
            <a:r>
              <a:rPr lang="en-US" sz="2400" dirty="0"/>
              <a:t>Resolution is often too coarse</a:t>
            </a:r>
          </a:p>
          <a:p>
            <a:pPr marL="822960">
              <a:buFont typeface="Wingdings" panose="05000000000000000000" pitchFamily="2" charset="2"/>
              <a:buChar char="ü"/>
              <a:defRPr/>
            </a:pPr>
            <a:r>
              <a:rPr lang="en-US" sz="2400" dirty="0"/>
              <a:t>Many sensors are restricted by cloud cover</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5" end="5"/>
                                            </p:txEl>
                                          </p:spTgt>
                                        </p:tgtEl>
                                        <p:attrNameLst>
                                          <p:attrName>style.visibility</p:attrName>
                                        </p:attrNameLst>
                                      </p:cBhvr>
                                      <p:to>
                                        <p:strVal val="visible"/>
                                      </p:to>
                                    </p:set>
                                    <p:animEffect transition="in" filter="fade">
                                      <p:cBhvr>
                                        <p:cTn id="27" dur="500"/>
                                        <p:tgtEl>
                                          <p:spTgt spid="3205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0515">
                                            <p:txEl>
                                              <p:pRg st="6" end="6"/>
                                            </p:txEl>
                                          </p:spTgt>
                                        </p:tgtEl>
                                        <p:attrNameLst>
                                          <p:attrName>style.visibility</p:attrName>
                                        </p:attrNameLst>
                                      </p:cBhvr>
                                      <p:to>
                                        <p:strVal val="visible"/>
                                      </p:to>
                                    </p:set>
                                    <p:animEffect transition="in" filter="fade">
                                      <p:cBhvr>
                                        <p:cTn id="32" dur="500"/>
                                        <p:tgtEl>
                                          <p:spTgt spid="32051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0515">
                                            <p:txEl>
                                              <p:pRg st="7" end="7"/>
                                            </p:txEl>
                                          </p:spTgt>
                                        </p:tgtEl>
                                        <p:attrNameLst>
                                          <p:attrName>style.visibility</p:attrName>
                                        </p:attrNameLst>
                                      </p:cBhvr>
                                      <p:to>
                                        <p:strVal val="visible"/>
                                      </p:to>
                                    </p:set>
                                    <p:animEffect transition="in" filter="fade">
                                      <p:cBhvr>
                                        <p:cTn id="37" dur="500"/>
                                        <p:tgtEl>
                                          <p:spTgt spid="3205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Vector Data capture</a:t>
            </a:r>
          </a:p>
        </p:txBody>
      </p:sp>
      <p:sp>
        <p:nvSpPr>
          <p:cNvPr id="320515" name="Rectangle 3"/>
          <p:cNvSpPr>
            <a:spLocks noGrp="1" noChangeArrowheads="1"/>
          </p:cNvSpPr>
          <p:nvPr>
            <p:ph type="body" idx="1"/>
          </p:nvPr>
        </p:nvSpPr>
        <p:spPr>
          <a:xfrm>
            <a:off x="1955801" y="908051"/>
            <a:ext cx="8532813" cy="5222875"/>
          </a:xfrm>
        </p:spPr>
        <p:txBody>
          <a:bodyPr/>
          <a:lstStyle/>
          <a:p>
            <a:pPr>
              <a:spcAft>
                <a:spcPts val="1200"/>
              </a:spcAft>
              <a:defRPr/>
            </a:pPr>
            <a:r>
              <a:rPr lang="en-US" dirty="0"/>
              <a:t>Surveying:</a:t>
            </a:r>
          </a:p>
          <a:p>
            <a:pPr marL="822960">
              <a:buFont typeface="Wingdings" panose="05000000000000000000" pitchFamily="2" charset="2"/>
              <a:buChar char="ü"/>
              <a:defRPr/>
            </a:pPr>
            <a:r>
              <a:rPr lang="en-US" sz="2400" dirty="0"/>
              <a:t>surveying is based on the principle that the 3-D location of any point can be determined by measuring angles and distances from other known points.</a:t>
            </a:r>
          </a:p>
          <a:p>
            <a:pPr marL="822960">
              <a:buFont typeface="Wingdings" panose="05000000000000000000" pitchFamily="2" charset="2"/>
              <a:buChar char="ü"/>
              <a:defRPr/>
            </a:pPr>
            <a:r>
              <a:rPr lang="en-US" sz="2400" dirty="0"/>
              <a:t>Ground survey is a very time-consuming and expensive activity, but it is still the best way to obtain highly accurate point locations.</a:t>
            </a:r>
          </a:p>
          <a:p>
            <a:pPr marL="822960">
              <a:buFont typeface="Wingdings" panose="05000000000000000000" pitchFamily="2" charset="2"/>
              <a:buChar char="ü"/>
              <a:defRPr/>
            </a:pPr>
            <a:r>
              <a:rPr lang="en-US" sz="2400" dirty="0"/>
              <a:t>Typically used for capturing buildings, land and property boundaries, manholes, and other objects that need to be located accurately.</a:t>
            </a:r>
          </a:p>
          <a:p>
            <a:pPr marL="822960">
              <a:buFont typeface="Wingdings" panose="05000000000000000000" pitchFamily="2" charset="2"/>
              <a:buChar char="ü"/>
              <a:defRPr/>
            </a:pPr>
            <a:r>
              <a:rPr lang="en-US" sz="2400" dirty="0"/>
              <a:t> Also employed to obtain reference marks for use in other data capture projects</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Vector Data capture</a:t>
            </a:r>
          </a:p>
        </p:txBody>
      </p:sp>
      <p:sp>
        <p:nvSpPr>
          <p:cNvPr id="320515" name="Rectangle 3"/>
          <p:cNvSpPr>
            <a:spLocks noGrp="1" noChangeArrowheads="1"/>
          </p:cNvSpPr>
          <p:nvPr>
            <p:ph type="body" idx="1"/>
          </p:nvPr>
        </p:nvSpPr>
        <p:spPr>
          <a:xfrm>
            <a:off x="1955801" y="908051"/>
            <a:ext cx="8532813" cy="5222875"/>
          </a:xfrm>
        </p:spPr>
        <p:txBody>
          <a:bodyPr/>
          <a:lstStyle/>
          <a:p>
            <a:pPr>
              <a:spcAft>
                <a:spcPts val="1200"/>
              </a:spcAft>
              <a:defRPr/>
            </a:pPr>
            <a:r>
              <a:rPr lang="en-US" dirty="0"/>
              <a:t>LiDAR:</a:t>
            </a:r>
          </a:p>
          <a:p>
            <a:pPr marL="822960">
              <a:buFont typeface="Wingdings" panose="05000000000000000000" pitchFamily="2" charset="2"/>
              <a:buChar char="ü"/>
              <a:defRPr/>
            </a:pPr>
            <a:r>
              <a:rPr lang="en-US" sz="2400" dirty="0"/>
              <a:t>Relatively new technology that employs a scanning laser rangefinder to produce accurate topographic surveys</a:t>
            </a:r>
          </a:p>
          <a:p>
            <a:pPr marL="822960">
              <a:buFont typeface="Wingdings" panose="05000000000000000000" pitchFamily="2" charset="2"/>
              <a:buChar char="ü"/>
              <a:defRPr/>
            </a:pPr>
            <a:r>
              <a:rPr lang="en-US" sz="2400" dirty="0"/>
              <a:t>Typically carried on a low-altitude aircraft that also has an inertial navigation system and a differential GPS to provide location.</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Vector Data capture</a:t>
            </a:r>
          </a:p>
        </p:txBody>
      </p:sp>
      <p:sp>
        <p:nvSpPr>
          <p:cNvPr id="320515" name="Rectangle 3"/>
          <p:cNvSpPr>
            <a:spLocks noGrp="1" noChangeArrowheads="1"/>
          </p:cNvSpPr>
          <p:nvPr>
            <p:ph type="body" idx="1"/>
          </p:nvPr>
        </p:nvSpPr>
        <p:spPr>
          <a:xfrm>
            <a:off x="1955801" y="908051"/>
            <a:ext cx="8532813" cy="5222875"/>
          </a:xfrm>
        </p:spPr>
        <p:txBody>
          <a:bodyPr/>
          <a:lstStyle/>
          <a:p>
            <a:pPr>
              <a:spcAft>
                <a:spcPts val="1200"/>
              </a:spcAft>
              <a:defRPr/>
            </a:pPr>
            <a:r>
              <a:rPr lang="en-US" dirty="0"/>
              <a:t>GPS:</a:t>
            </a:r>
          </a:p>
          <a:p>
            <a:pPr marL="822960">
              <a:buFont typeface="Wingdings" panose="05000000000000000000" pitchFamily="2" charset="2"/>
              <a:buChar char="ü"/>
              <a:defRPr/>
            </a:pPr>
            <a:r>
              <a:rPr lang="en-US" altLang="en-US" sz="2400" dirty="0"/>
              <a:t>Collection of satellites used to fix locations on Earth’s surface</a:t>
            </a:r>
          </a:p>
          <a:p>
            <a:pPr marL="822960">
              <a:buFont typeface="Wingdings" panose="05000000000000000000" pitchFamily="2" charset="2"/>
              <a:buChar char="ü"/>
              <a:defRPr/>
            </a:pPr>
            <a:r>
              <a:rPr lang="en-US" altLang="en-US" sz="2400" dirty="0"/>
              <a:t>Differential GPS used to improve accuracy</a:t>
            </a:r>
          </a:p>
          <a:p>
            <a:pPr marL="822960">
              <a:buFont typeface="Wingdings" panose="05000000000000000000" pitchFamily="2" charset="2"/>
              <a:buChar char="ü"/>
              <a:defRPr/>
            </a:pPr>
            <a:r>
              <a:rPr lang="en-US" altLang="en-US" sz="2400" dirty="0"/>
              <a:t>Precise positioning is possible using GPS receivers at reference locations providing corrections and relative positioning data for remote receivers.</a:t>
            </a:r>
          </a:p>
          <a:p>
            <a:pPr marL="822960">
              <a:buFont typeface="Wingdings" panose="05000000000000000000" pitchFamily="2" charset="2"/>
              <a:buChar char="ü"/>
              <a:defRPr/>
            </a:pPr>
            <a:r>
              <a:rPr lang="en-US" altLang="en-US" sz="2400" dirty="0"/>
              <a:t>GIS mapping data capture, surveying engineering and geodetic control are the main disciplines for GPS for precise positioning(</a:t>
            </a:r>
            <a:r>
              <a:rPr lang="en-US" altLang="en-US" sz="2400" dirty="0" err="1"/>
              <a:t>upto</a:t>
            </a:r>
            <a:r>
              <a:rPr lang="en-US" altLang="en-US" sz="2400" dirty="0"/>
              <a:t> mm level)</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Vector Data capture : GPS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1063" y="4329113"/>
            <a:ext cx="3402012" cy="24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8926" y="800101"/>
            <a:ext cx="5624513" cy="421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1524000" y="15875"/>
            <a:ext cx="9144000" cy="965200"/>
          </a:xfrm>
        </p:spPr>
        <p:txBody>
          <a:bodyPr/>
          <a:lstStyle/>
          <a:p>
            <a:pPr>
              <a:defRPr/>
            </a:pPr>
            <a:r>
              <a:rPr lang="en-US" altLang="en-US" dirty="0" smtClean="0"/>
              <a:t>GPS: Total </a:t>
            </a:r>
            <a:r>
              <a:rPr lang="en-US" altLang="en-US" dirty="0"/>
              <a:t>Station</a:t>
            </a:r>
          </a:p>
        </p:txBody>
      </p:sp>
      <p:pic>
        <p:nvPicPr>
          <p:cNvPr id="25603" name="Picture 5" descr="C:\WINNT\Profiles\maguire\My Documents\GISS\Temp\Field Surve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6038" y="1089026"/>
            <a:ext cx="3675062" cy="549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6" descr="C:\WINNT\Profiles\maguire\My Documents\GISS\Temp\Total St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1" y="1484314"/>
            <a:ext cx="31226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1470026" y="1589"/>
            <a:ext cx="6537325" cy="1139825"/>
          </a:xfrm>
        </p:spPr>
        <p:txBody>
          <a:bodyPr/>
          <a:lstStyle/>
          <a:p>
            <a:pPr>
              <a:defRPr/>
            </a:pPr>
            <a:r>
              <a:rPr lang="en-US" altLang="en-US" sz="3400" dirty="0"/>
              <a:t>GPS: Pen/Portable PC</a:t>
            </a:r>
          </a:p>
        </p:txBody>
      </p:sp>
      <p:pic>
        <p:nvPicPr>
          <p:cNvPr id="26627" name="Picture 6" descr="D:\ElPilar1999\ElPilar1999\image5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5439" y="3067050"/>
            <a:ext cx="4503737" cy="360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7" descr="D:\ElPilar1999\ElPilar1999\image5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1101" y="3108326"/>
            <a:ext cx="4265613" cy="358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8" descr="C:\Documents and Settings\kclarke\My Documents\Class\G176B\field_equipmen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7351" y="80964"/>
            <a:ext cx="2536825"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88913"/>
            <a:ext cx="9144000" cy="908050"/>
          </a:xfrm>
        </p:spPr>
        <p:txBody>
          <a:bodyPr/>
          <a:lstStyle/>
          <a:p>
            <a:pPr>
              <a:defRPr/>
            </a:pPr>
            <a:r>
              <a:rPr lang="en-US" dirty="0" smtClean="0"/>
              <a:t>Secondary GIS data </a:t>
            </a:r>
            <a:r>
              <a:rPr lang="en-US" dirty="0"/>
              <a:t>capture</a:t>
            </a:r>
            <a:endParaRPr lang="en-US" altLang="en-US" dirty="0"/>
          </a:p>
        </p:txBody>
      </p:sp>
      <p:sp>
        <p:nvSpPr>
          <p:cNvPr id="320515" name="Rectangle 3"/>
          <p:cNvSpPr>
            <a:spLocks noGrp="1" noChangeArrowheads="1"/>
          </p:cNvSpPr>
          <p:nvPr>
            <p:ph type="body" idx="1"/>
          </p:nvPr>
        </p:nvSpPr>
        <p:spPr>
          <a:xfrm>
            <a:off x="1955801" y="1304925"/>
            <a:ext cx="8532813" cy="4789488"/>
          </a:xfrm>
        </p:spPr>
        <p:txBody>
          <a:bodyPr/>
          <a:lstStyle/>
          <a:p>
            <a:pPr>
              <a:spcAft>
                <a:spcPts val="1800"/>
              </a:spcAft>
              <a:defRPr/>
            </a:pPr>
            <a:r>
              <a:rPr lang="en-US" dirty="0"/>
              <a:t>Raster Data capture:</a:t>
            </a:r>
          </a:p>
          <a:p>
            <a:pPr marL="937260" indent="-457200">
              <a:spcAft>
                <a:spcPts val="1800"/>
              </a:spcAft>
              <a:buFont typeface="Wingdings" panose="05000000000000000000" pitchFamily="2" charset="2"/>
              <a:buChar char="ü"/>
              <a:defRPr/>
            </a:pPr>
            <a:r>
              <a:rPr lang="en-US" sz="2600" dirty="0"/>
              <a:t>Scanners</a:t>
            </a:r>
          </a:p>
          <a:p>
            <a:pPr>
              <a:spcAft>
                <a:spcPts val="1800"/>
              </a:spcAft>
              <a:defRPr/>
            </a:pPr>
            <a:r>
              <a:rPr lang="en-US" altLang="en-US" dirty="0"/>
              <a:t>Vector Data capture</a:t>
            </a:r>
          </a:p>
          <a:p>
            <a:pPr marL="822960">
              <a:spcAft>
                <a:spcPts val="1800"/>
              </a:spcAft>
              <a:buFont typeface="Wingdings" panose="05000000000000000000" pitchFamily="2" charset="2"/>
              <a:buChar char="ü"/>
              <a:defRPr/>
            </a:pPr>
            <a:r>
              <a:rPr lang="en-US" altLang="en-US" sz="2600" dirty="0"/>
              <a:t>Digitizing</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Raster Data capture</a:t>
            </a:r>
          </a:p>
        </p:txBody>
      </p:sp>
      <p:sp>
        <p:nvSpPr>
          <p:cNvPr id="320515" name="Rectangle 3"/>
          <p:cNvSpPr>
            <a:spLocks noGrp="1" noChangeArrowheads="1"/>
          </p:cNvSpPr>
          <p:nvPr>
            <p:ph type="body" idx="1"/>
          </p:nvPr>
        </p:nvSpPr>
        <p:spPr>
          <a:xfrm>
            <a:off x="1955801" y="908051"/>
            <a:ext cx="8461375" cy="5508625"/>
          </a:xfrm>
        </p:spPr>
        <p:txBody>
          <a:bodyPr/>
          <a:lstStyle/>
          <a:p>
            <a:pPr>
              <a:spcAft>
                <a:spcPts val="1200"/>
              </a:spcAft>
              <a:defRPr/>
            </a:pPr>
            <a:r>
              <a:rPr lang="en-US" dirty="0"/>
              <a:t>Scanners:</a:t>
            </a:r>
          </a:p>
          <a:p>
            <a:pPr marL="822960">
              <a:buFont typeface="Wingdings" panose="05000000000000000000" pitchFamily="2" charset="2"/>
              <a:buChar char="ü"/>
              <a:defRPr/>
            </a:pPr>
            <a:r>
              <a:rPr lang="en-US" sz="2400" dirty="0"/>
              <a:t>Documents are scanned to reduce wear and tear, improve access, provide integrated database storage, and to index them geographically</a:t>
            </a:r>
          </a:p>
          <a:p>
            <a:pPr marL="822960">
              <a:buFont typeface="Wingdings" panose="05000000000000000000" pitchFamily="2" charset="2"/>
              <a:buChar char="ü"/>
              <a:defRPr/>
            </a:pPr>
            <a:r>
              <a:rPr lang="en-US" sz="2400" dirty="0"/>
              <a:t>Film and paper maps, aerial photographs, and images are scanned and georeferenced so that they provide geographic context for other data</a:t>
            </a:r>
          </a:p>
          <a:p>
            <a:pPr marL="822960">
              <a:buFont typeface="Wingdings" panose="05000000000000000000" pitchFamily="2" charset="2"/>
              <a:buChar char="ü"/>
              <a:defRPr/>
            </a:pPr>
            <a:r>
              <a:rPr lang="en-US" sz="2400" dirty="0"/>
              <a:t>Maps, aerial photographs and images are scanned prior to vectorization</a:t>
            </a:r>
          </a:p>
          <a:p>
            <a:pPr marL="822960">
              <a:buFont typeface="Wingdings" panose="05000000000000000000" pitchFamily="2" charset="2"/>
              <a:buChar char="ü"/>
              <a:defRPr/>
            </a:pPr>
            <a:r>
              <a:rPr lang="en-US" altLang="en-US" sz="2400" dirty="0"/>
              <a:t>Most scanning systems provide software to convert raster data to vector format that differentiates points, line and area features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spcAft>
                <a:spcPts val="1800"/>
              </a:spcAft>
              <a:defRPr/>
            </a:pPr>
            <a:r>
              <a:rPr lang="en-US" dirty="0" smtClean="0"/>
              <a:t>Vector Data capture</a:t>
            </a:r>
          </a:p>
        </p:txBody>
      </p:sp>
      <p:sp>
        <p:nvSpPr>
          <p:cNvPr id="320515" name="Rectangle 3"/>
          <p:cNvSpPr>
            <a:spLocks noGrp="1" noChangeArrowheads="1"/>
          </p:cNvSpPr>
          <p:nvPr>
            <p:ph type="body" idx="1"/>
          </p:nvPr>
        </p:nvSpPr>
        <p:spPr>
          <a:xfrm>
            <a:off x="1955801" y="908051"/>
            <a:ext cx="8461375" cy="5508625"/>
          </a:xfrm>
        </p:spPr>
        <p:txBody>
          <a:bodyPr/>
          <a:lstStyle/>
          <a:p>
            <a:pPr>
              <a:spcAft>
                <a:spcPts val="1200"/>
              </a:spcAft>
              <a:defRPr/>
            </a:pPr>
            <a:r>
              <a:rPr lang="en-US" dirty="0"/>
              <a:t>Digitizing:</a:t>
            </a:r>
          </a:p>
          <a:p>
            <a:pPr marL="822960">
              <a:buFont typeface="Wingdings" panose="05000000000000000000" pitchFamily="2" charset="2"/>
              <a:buChar char="ü"/>
              <a:defRPr/>
            </a:pPr>
            <a:r>
              <a:rPr lang="en-US" sz="2400" dirty="0"/>
              <a:t>Digitizing workstation with digitizing tablet and cursor is typically used to trace digitize.</a:t>
            </a:r>
          </a:p>
          <a:p>
            <a:pPr marL="822960">
              <a:buFont typeface="Wingdings" panose="05000000000000000000" pitchFamily="2" charset="2"/>
              <a:buChar char="ü"/>
              <a:defRPr/>
            </a:pPr>
            <a:r>
              <a:rPr lang="en-US" sz="2400" dirty="0"/>
              <a:t>Both the tablet and cursor are connected to computer that controls their functions.</a:t>
            </a:r>
          </a:p>
          <a:p>
            <a:pPr marL="822960">
              <a:buFont typeface="Wingdings" panose="05000000000000000000" pitchFamily="2" charset="2"/>
              <a:buChar char="ü"/>
              <a:defRPr/>
            </a:pPr>
            <a:r>
              <a:rPr lang="en-US" sz="2400" dirty="0"/>
              <a:t>Most digitizing tables come in standard sizes that relate to engineering drawing(A-E &amp; larger)</a:t>
            </a:r>
          </a:p>
          <a:p>
            <a:pPr marL="822960">
              <a:buFont typeface="Wingdings" panose="05000000000000000000" pitchFamily="2" charset="2"/>
              <a:buChar char="ü"/>
              <a:defRPr/>
            </a:pPr>
            <a:r>
              <a:rPr lang="en-US" sz="2400" dirty="0"/>
              <a:t>The person performing the digitizing may input separate features into map layers or attach an attribute to identify the feature.</a:t>
            </a:r>
          </a:p>
          <a:p>
            <a:pPr>
              <a:defRPr/>
            </a:pPr>
            <a:endParaRPr lang="en-US" sz="2400" dirty="0"/>
          </a:p>
          <a:p>
            <a:pPr>
              <a:defRPr/>
            </a:pPr>
            <a:endParaRPr lang="en-US"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6564" y="3649664"/>
            <a:ext cx="3756025" cy="31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randombar(horizont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5" descr="C:\WINNT\Profiles\maguire\My Documents\GISS\Temp\Digitiz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75" y="1443039"/>
            <a:ext cx="6662738"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6" name="Rectangle 2"/>
          <p:cNvSpPr>
            <a:spLocks noGrp="1" noChangeArrowheads="1"/>
          </p:cNvSpPr>
          <p:nvPr>
            <p:ph type="title"/>
          </p:nvPr>
        </p:nvSpPr>
        <p:spPr>
          <a:xfrm>
            <a:off x="1524000" y="4763"/>
            <a:ext cx="9132888" cy="1143000"/>
          </a:xfrm>
        </p:spPr>
        <p:txBody>
          <a:bodyPr/>
          <a:lstStyle/>
          <a:p>
            <a:pPr>
              <a:defRPr/>
            </a:pPr>
            <a:r>
              <a:rPr lang="en-US" dirty="0" smtClean="0"/>
              <a:t>Vector Data capture: </a:t>
            </a:r>
            <a:r>
              <a:rPr lang="en-US" altLang="en-US" dirty="0" smtClean="0"/>
              <a:t>Digitizer</a:t>
            </a:r>
            <a:endParaRPr lang="en-US" altLang="en-US" dirty="0"/>
          </a:p>
        </p:txBody>
      </p:sp>
      <p:graphicFrame>
        <p:nvGraphicFramePr>
          <p:cNvPr id="30724" name="Object 4"/>
          <p:cNvGraphicFramePr>
            <a:graphicFrameLocks noChangeAspect="1"/>
          </p:cNvGraphicFramePr>
          <p:nvPr/>
        </p:nvGraphicFramePr>
        <p:xfrm>
          <a:off x="7608889" y="2309813"/>
          <a:ext cx="2924175" cy="4019550"/>
        </p:xfrm>
        <a:graphic>
          <a:graphicData uri="http://schemas.openxmlformats.org/presentationml/2006/ole">
            <mc:AlternateContent xmlns:mc="http://schemas.openxmlformats.org/markup-compatibility/2006">
              <mc:Choice xmlns:v="urn:schemas-microsoft-com:vml" Requires="v">
                <p:oleObj spid="_x0000_s1026" name="Photo Editor Photo" r:id="rId4" imgW="2924583" imgH="4019048" progId="MSPhotoEd.3">
                  <p:embed/>
                </p:oleObj>
              </mc:Choice>
              <mc:Fallback>
                <p:oleObj name="Photo Editor Photo" r:id="rId4" imgW="2924583" imgH="4019048"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8889" y="2309813"/>
                        <a:ext cx="2924175"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normAutofit fontScale="90000"/>
          </a:bodyPr>
          <a:lstStyle/>
          <a:p>
            <a:pPr>
              <a:lnSpc>
                <a:spcPct val="150000"/>
              </a:lnSpc>
              <a:spcBef>
                <a:spcPts val="0"/>
              </a:spcBef>
              <a:spcAft>
                <a:spcPts val="1200"/>
              </a:spcAft>
              <a:defRPr/>
            </a:pPr>
            <a:r>
              <a:rPr lang="en-US" altLang="en-US" dirty="0"/>
              <a:t>Data Preparation </a:t>
            </a:r>
            <a:br>
              <a:rPr lang="en-US" altLang="en-US" dirty="0"/>
            </a:br>
            <a:r>
              <a:rPr lang="en-US" altLang="en-US" dirty="0"/>
              <a:t>and </a:t>
            </a:r>
            <a:br>
              <a:rPr lang="en-US" altLang="en-US" dirty="0"/>
            </a:br>
            <a:r>
              <a:rPr lang="en-US" altLang="en-US" dirty="0"/>
              <a:t>Integration</a:t>
            </a:r>
            <a:endParaRPr lang="en-US" dirty="0"/>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103188"/>
            <a:ext cx="9144000" cy="609600"/>
          </a:xfrm>
        </p:spPr>
        <p:txBody>
          <a:bodyPr>
            <a:normAutofit fontScale="90000"/>
          </a:bodyPr>
          <a:lstStyle/>
          <a:p>
            <a:pPr>
              <a:defRPr/>
            </a:pPr>
            <a:r>
              <a:rPr lang="en-US" altLang="en-US" dirty="0" smtClean="0"/>
              <a:t>Necessary </a:t>
            </a:r>
            <a:r>
              <a:rPr lang="en-US" altLang="en-US" dirty="0"/>
              <a:t>steps</a:t>
            </a:r>
          </a:p>
        </p:txBody>
      </p:sp>
      <p:sp>
        <p:nvSpPr>
          <p:cNvPr id="6147" name="Rectangle 3"/>
          <p:cNvSpPr>
            <a:spLocks noGrp="1" noChangeArrowheads="1"/>
          </p:cNvSpPr>
          <p:nvPr>
            <p:ph type="body" idx="1"/>
          </p:nvPr>
        </p:nvSpPr>
        <p:spPr>
          <a:xfrm>
            <a:off x="2027239" y="944564"/>
            <a:ext cx="8497887" cy="4160837"/>
          </a:xfrm>
        </p:spPr>
        <p:txBody>
          <a:bodyPr>
            <a:normAutofit fontScale="77500" lnSpcReduction="20000"/>
          </a:bodyPr>
          <a:lstStyle/>
          <a:p>
            <a:pPr marL="457200" indent="-457200">
              <a:spcAft>
                <a:spcPts val="1200"/>
              </a:spcAft>
              <a:buFont typeface="+mj-lt"/>
              <a:buAutoNum type="arabicParenR"/>
              <a:defRPr/>
            </a:pPr>
            <a:r>
              <a:rPr lang="en-US" altLang="en-US" dirty="0"/>
              <a:t>Geocoding: assigning  geo-coordinates to points</a:t>
            </a:r>
          </a:p>
          <a:p>
            <a:pPr marL="822960">
              <a:spcAft>
                <a:spcPts val="1200"/>
              </a:spcAft>
              <a:buFont typeface="Wingdings" panose="05000000000000000000" pitchFamily="2" charset="2"/>
              <a:buChar char="ü"/>
              <a:defRPr/>
            </a:pPr>
            <a:r>
              <a:rPr lang="en-US" altLang="en-US" sz="2400" dirty="0"/>
              <a:t>most basic form of spatial data entry</a:t>
            </a:r>
          </a:p>
          <a:p>
            <a:pPr marL="457200" indent="-457200">
              <a:spcAft>
                <a:spcPts val="1200"/>
              </a:spcAft>
              <a:buFont typeface="+mj-lt"/>
              <a:buAutoNum type="arabicParenR" startAt="2"/>
              <a:defRPr/>
            </a:pPr>
            <a:r>
              <a:rPr lang="en-US" altLang="en-US" dirty="0"/>
              <a:t>data media conversion</a:t>
            </a:r>
          </a:p>
          <a:p>
            <a:pPr marL="822960">
              <a:spcAft>
                <a:spcPts val="600"/>
              </a:spcAft>
              <a:buFont typeface="Wingdings" panose="05000000000000000000" pitchFamily="2" charset="2"/>
              <a:buChar char="ü"/>
              <a:defRPr/>
            </a:pPr>
            <a:r>
              <a:rPr lang="en-US" altLang="en-US" sz="2400" dirty="0"/>
              <a:t>Scanning</a:t>
            </a:r>
          </a:p>
          <a:p>
            <a:pPr marL="822960">
              <a:spcAft>
                <a:spcPts val="600"/>
              </a:spcAft>
              <a:buFont typeface="Wingdings" panose="05000000000000000000" pitchFamily="2" charset="2"/>
              <a:buChar char="ü"/>
              <a:defRPr/>
            </a:pPr>
            <a:r>
              <a:rPr lang="en-US" altLang="en-US" sz="2400" dirty="0"/>
              <a:t>digitizing</a:t>
            </a:r>
          </a:p>
          <a:p>
            <a:pPr marL="457200" indent="-457200">
              <a:spcAft>
                <a:spcPts val="1200"/>
              </a:spcAft>
              <a:buFont typeface="+mj-lt"/>
              <a:buAutoNum type="arabicParenR" startAt="3"/>
              <a:defRPr/>
            </a:pPr>
            <a:r>
              <a:rPr lang="en-US" altLang="en-US" dirty="0"/>
              <a:t>data format conversion</a:t>
            </a:r>
          </a:p>
          <a:p>
            <a:pPr marL="822960">
              <a:spcAft>
                <a:spcPts val="1200"/>
              </a:spcAft>
              <a:buFont typeface="Wingdings" panose="05000000000000000000" pitchFamily="2" charset="2"/>
              <a:buChar char="ü"/>
              <a:defRPr/>
            </a:pPr>
            <a:r>
              <a:rPr lang="en-US" altLang="en-US" sz="2400" dirty="0"/>
              <a:t>raster &amp; vector</a:t>
            </a:r>
          </a:p>
          <a:p>
            <a:pPr marL="457200" indent="-457200">
              <a:spcAft>
                <a:spcPts val="1200"/>
              </a:spcAft>
              <a:buFont typeface="+mj-lt"/>
              <a:buAutoNum type="arabicParenR" startAt="4"/>
              <a:defRPr/>
            </a:pPr>
            <a:r>
              <a:rPr lang="en-US" altLang="en-US" dirty="0"/>
              <a:t>data reduction</a:t>
            </a:r>
          </a:p>
          <a:p>
            <a:pPr marL="457200" indent="-457200">
              <a:spcAft>
                <a:spcPts val="1200"/>
              </a:spcAft>
              <a:buFont typeface="+mj-lt"/>
              <a:buAutoNum type="arabicParenR" startAt="4"/>
              <a:defRPr/>
            </a:pPr>
            <a:r>
              <a:rPr lang="en-US" altLang="en-US" dirty="0"/>
              <a:t>Topology, error detection and topological editing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500"/>
                                        <p:tgtEl>
                                          <p:spTgt spid="61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fade">
                                      <p:cBhvr>
                                        <p:cTn id="32" dur="500"/>
                                        <p:tgtEl>
                                          <p:spTgt spid="614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fade">
                                      <p:cBhvr>
                                        <p:cTn id="37" dur="500"/>
                                        <p:tgtEl>
                                          <p:spTgt spid="614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fade">
                                      <p:cBhvr>
                                        <p:cTn id="42" dur="500"/>
                                        <p:tgtEl>
                                          <p:spTgt spid="614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147">
                                            <p:txEl>
                                              <p:pRg st="8" end="8"/>
                                            </p:txEl>
                                          </p:spTgt>
                                        </p:tgtEl>
                                        <p:attrNameLst>
                                          <p:attrName>style.visibility</p:attrName>
                                        </p:attrNameLst>
                                      </p:cBhvr>
                                      <p:to>
                                        <p:strVal val="visible"/>
                                      </p:to>
                                    </p:set>
                                    <p:animEffect transition="in" filter="fade">
                                      <p:cBhvr>
                                        <p:cTn id="47"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103188"/>
            <a:ext cx="9144000" cy="609600"/>
          </a:xfrm>
        </p:spPr>
        <p:txBody>
          <a:bodyPr>
            <a:normAutofit fontScale="90000"/>
          </a:bodyPr>
          <a:lstStyle/>
          <a:p>
            <a:pPr>
              <a:defRPr/>
            </a:pPr>
            <a:r>
              <a:rPr lang="en-US" altLang="en-US" dirty="0" smtClean="0"/>
              <a:t>Necessary </a:t>
            </a:r>
            <a:r>
              <a:rPr lang="en-US" altLang="en-US" dirty="0"/>
              <a:t>steps</a:t>
            </a:r>
          </a:p>
        </p:txBody>
      </p:sp>
      <p:sp>
        <p:nvSpPr>
          <p:cNvPr id="6147" name="Rectangle 3"/>
          <p:cNvSpPr>
            <a:spLocks noGrp="1" noChangeArrowheads="1"/>
          </p:cNvSpPr>
          <p:nvPr>
            <p:ph type="body" idx="1"/>
          </p:nvPr>
        </p:nvSpPr>
        <p:spPr>
          <a:xfrm>
            <a:off x="1943100" y="1089025"/>
            <a:ext cx="8305800" cy="4160838"/>
          </a:xfrm>
        </p:spPr>
        <p:txBody>
          <a:bodyPr/>
          <a:lstStyle/>
          <a:p>
            <a:pPr marL="457200" indent="-457200">
              <a:spcAft>
                <a:spcPts val="1200"/>
              </a:spcAft>
              <a:buFont typeface="+mj-lt"/>
              <a:buAutoNum type="arabicParenR" startAt="6"/>
              <a:defRPr/>
            </a:pPr>
            <a:r>
              <a:rPr lang="en-US" altLang="en-US" dirty="0"/>
              <a:t>rectification and registration (one on top of the other)</a:t>
            </a:r>
          </a:p>
          <a:p>
            <a:pPr marL="822960">
              <a:spcAft>
                <a:spcPts val="1200"/>
              </a:spcAft>
              <a:buFont typeface="Wingdings" panose="05000000000000000000" pitchFamily="2" charset="2"/>
              <a:buChar char="ü"/>
              <a:defRPr/>
            </a:pPr>
            <a:r>
              <a:rPr lang="en-US" altLang="en-US" sz="2000" dirty="0"/>
              <a:t>overlaying sheets and referencing to the real world</a:t>
            </a:r>
          </a:p>
          <a:p>
            <a:pPr marL="457200" indent="-457200">
              <a:spcAft>
                <a:spcPts val="1200"/>
              </a:spcAft>
              <a:buFont typeface="+mj-lt"/>
              <a:buAutoNum type="arabicParenR" startAt="7"/>
              <a:defRPr/>
            </a:pPr>
            <a:r>
              <a:rPr lang="en-US" altLang="en-US" dirty="0"/>
              <a:t>edge matching  &amp; image adjustment (side by side)</a:t>
            </a:r>
          </a:p>
          <a:p>
            <a:pPr marL="822960">
              <a:spcAft>
                <a:spcPts val="1200"/>
              </a:spcAft>
              <a:buFont typeface="Wingdings" panose="05000000000000000000" pitchFamily="2" charset="2"/>
              <a:buChar char="ü"/>
              <a:defRPr/>
            </a:pPr>
            <a:r>
              <a:rPr lang="en-US" altLang="en-US" sz="2000" dirty="0"/>
              <a:t>linking &amp; balancing adjacent sheets </a:t>
            </a:r>
          </a:p>
          <a:p>
            <a:pPr marL="457200" indent="-457200">
              <a:spcAft>
                <a:spcPts val="1200"/>
              </a:spcAft>
              <a:buFont typeface="+mj-lt"/>
              <a:buAutoNum type="arabicParenR" startAt="8"/>
              <a:defRPr/>
            </a:pPr>
            <a:r>
              <a:rPr lang="en-US" altLang="en-US" dirty="0"/>
              <a:t>interpolation</a:t>
            </a:r>
          </a:p>
          <a:p>
            <a:pPr marL="457200" indent="-457200">
              <a:spcAft>
                <a:spcPts val="1200"/>
              </a:spcAft>
              <a:buFont typeface="+mj-lt"/>
              <a:buAutoNum type="arabicParenR" startAt="9"/>
              <a:defRPr/>
            </a:pPr>
            <a:r>
              <a:rPr lang="en-US" altLang="en-US" dirty="0"/>
              <a:t>conflation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500"/>
                                        <p:tgtEl>
                                          <p:spTgt spid="61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fade">
                                      <p:cBhvr>
                                        <p:cTn id="32" dur="5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88913"/>
            <a:ext cx="9144000" cy="908050"/>
          </a:xfrm>
        </p:spPr>
        <p:txBody>
          <a:bodyPr/>
          <a:lstStyle/>
          <a:p>
            <a:pPr>
              <a:defRPr/>
            </a:pPr>
            <a:r>
              <a:rPr lang="en-US" b="0" dirty="0" smtClean="0"/>
              <a:t>Step 1: </a:t>
            </a:r>
            <a:r>
              <a:rPr lang="en-US" altLang="en-US" dirty="0"/>
              <a:t>Geocoding</a:t>
            </a:r>
          </a:p>
        </p:txBody>
      </p:sp>
      <p:sp>
        <p:nvSpPr>
          <p:cNvPr id="320515" name="Rectangle 3"/>
          <p:cNvSpPr>
            <a:spLocks noGrp="1" noChangeArrowheads="1"/>
          </p:cNvSpPr>
          <p:nvPr>
            <p:ph type="body" idx="1"/>
          </p:nvPr>
        </p:nvSpPr>
        <p:spPr>
          <a:xfrm>
            <a:off x="2027239" y="1700214"/>
            <a:ext cx="8137525" cy="3997325"/>
          </a:xfrm>
        </p:spPr>
        <p:txBody>
          <a:bodyPr/>
          <a:lstStyle/>
          <a:p>
            <a:pPr>
              <a:spcAft>
                <a:spcPts val="1800"/>
              </a:spcAft>
              <a:defRPr/>
            </a:pPr>
            <a:r>
              <a:rPr lang="en-US" altLang="en-US" dirty="0"/>
              <a:t>Assigning spatial coordinates to point data</a:t>
            </a:r>
          </a:p>
          <a:p>
            <a:pPr>
              <a:spcAft>
                <a:spcPts val="1800"/>
              </a:spcAft>
              <a:defRPr/>
            </a:pPr>
            <a:r>
              <a:rPr lang="en-US" altLang="en-US" i="1" u="sng" dirty="0"/>
              <a:t>Address Matching</a:t>
            </a:r>
            <a:r>
              <a:rPr lang="en-US" altLang="en-US" dirty="0"/>
              <a:t>:</a:t>
            </a:r>
          </a:p>
          <a:p>
            <a:pPr marL="937260" indent="-457200">
              <a:spcAft>
                <a:spcPts val="1800"/>
              </a:spcAft>
              <a:buFont typeface="Wingdings" panose="05000000000000000000" pitchFamily="2" charset="2"/>
              <a:buChar char="ü"/>
              <a:defRPr/>
            </a:pPr>
            <a:r>
              <a:rPr lang="en-US" altLang="en-US" sz="2400" dirty="0"/>
              <a:t>assigns spatial coordinates (explicit location) to addresses (implicit location)</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88913"/>
            <a:ext cx="9144000" cy="908050"/>
          </a:xfrm>
        </p:spPr>
        <p:txBody>
          <a:bodyPr/>
          <a:lstStyle/>
          <a:p>
            <a:pPr>
              <a:defRPr/>
            </a:pPr>
            <a:r>
              <a:rPr lang="en-US" b="0" dirty="0" smtClean="0"/>
              <a:t>Step 2: </a:t>
            </a:r>
            <a:r>
              <a:rPr lang="en-US" altLang="en-US" dirty="0" smtClean="0"/>
              <a:t>Data Media Conversion</a:t>
            </a:r>
            <a:endParaRPr lang="en-US" altLang="en-US" dirty="0"/>
          </a:p>
        </p:txBody>
      </p:sp>
      <p:sp>
        <p:nvSpPr>
          <p:cNvPr id="320515" name="Rectangle 3"/>
          <p:cNvSpPr>
            <a:spLocks noGrp="1" noChangeArrowheads="1"/>
          </p:cNvSpPr>
          <p:nvPr>
            <p:ph type="body" idx="1"/>
          </p:nvPr>
        </p:nvSpPr>
        <p:spPr>
          <a:xfrm>
            <a:off x="2027239" y="1700214"/>
            <a:ext cx="8137525" cy="3997325"/>
          </a:xfrm>
        </p:spPr>
        <p:txBody>
          <a:bodyPr>
            <a:normAutofit fontScale="92500" lnSpcReduction="10000"/>
          </a:bodyPr>
          <a:lstStyle/>
          <a:p>
            <a:pPr>
              <a:spcAft>
                <a:spcPts val="1800"/>
              </a:spcAft>
              <a:defRPr/>
            </a:pPr>
            <a:r>
              <a:rPr lang="en-US" altLang="en-US" dirty="0"/>
              <a:t>Scanning</a:t>
            </a:r>
          </a:p>
          <a:p>
            <a:pPr marL="822960">
              <a:spcAft>
                <a:spcPts val="600"/>
              </a:spcAft>
              <a:buFont typeface="Wingdings" panose="05000000000000000000" pitchFamily="2" charset="2"/>
              <a:buChar char="ü"/>
              <a:defRPr/>
            </a:pPr>
            <a:r>
              <a:rPr lang="en-US" altLang="en-US" sz="2400" dirty="0"/>
              <a:t>Produces  “dumb” </a:t>
            </a:r>
            <a:r>
              <a:rPr lang="en-US" altLang="en-US" sz="2400" u="sng" dirty="0"/>
              <a:t>raster </a:t>
            </a:r>
            <a:r>
              <a:rPr lang="en-US" altLang="en-US" sz="2400" dirty="0"/>
              <a:t>data</a:t>
            </a:r>
          </a:p>
          <a:p>
            <a:pPr marL="822960" lvl="1" indent="-342900">
              <a:spcAft>
                <a:spcPts val="600"/>
              </a:spcAft>
              <a:buClr>
                <a:schemeClr val="hlink"/>
              </a:buClr>
              <a:buFont typeface="Wingdings" panose="05000000000000000000" pitchFamily="2" charset="2"/>
              <a:buChar char="ü"/>
              <a:defRPr/>
            </a:pPr>
            <a:r>
              <a:rPr lang="en-US" altLang="en-US" dirty="0"/>
              <a:t>scan resolution depends on price!</a:t>
            </a:r>
          </a:p>
          <a:p>
            <a:pPr marL="480060" lvl="1" indent="0">
              <a:spcAft>
                <a:spcPts val="600"/>
              </a:spcAft>
              <a:buClr>
                <a:schemeClr val="hlink"/>
              </a:buClr>
              <a:buNone/>
              <a:defRPr/>
            </a:pPr>
            <a:endParaRPr lang="en-US" altLang="en-US" dirty="0"/>
          </a:p>
          <a:p>
            <a:pPr>
              <a:spcAft>
                <a:spcPts val="1800"/>
              </a:spcAft>
              <a:defRPr/>
            </a:pPr>
            <a:r>
              <a:rPr lang="en-US" altLang="en-US" dirty="0"/>
              <a:t>Digitizing</a:t>
            </a:r>
          </a:p>
          <a:p>
            <a:pPr marL="822960" indent="-457200">
              <a:spcAft>
                <a:spcPts val="600"/>
              </a:spcAft>
              <a:buFont typeface="Wingdings" panose="05000000000000000000" pitchFamily="2" charset="2"/>
              <a:buChar char="ü"/>
              <a:defRPr/>
            </a:pPr>
            <a:r>
              <a:rPr lang="en-US" altLang="en-US" sz="2400" dirty="0"/>
              <a:t>Applied to map or aerial photo</a:t>
            </a:r>
          </a:p>
          <a:p>
            <a:pPr marL="822960" indent="-457200">
              <a:spcAft>
                <a:spcPts val="600"/>
              </a:spcAft>
              <a:buFont typeface="Wingdings" panose="05000000000000000000" pitchFamily="2" charset="2"/>
              <a:buChar char="ü"/>
              <a:defRPr/>
            </a:pPr>
            <a:r>
              <a:rPr lang="en-US" altLang="en-US" sz="2400" dirty="0"/>
              <a:t>essentially a</a:t>
            </a:r>
            <a:r>
              <a:rPr lang="en-US" altLang="en-US" sz="2400" u="sng" dirty="0"/>
              <a:t> vector </a:t>
            </a:r>
            <a:r>
              <a:rPr lang="en-US" altLang="en-US" sz="2400" dirty="0"/>
              <a:t>approach</a:t>
            </a:r>
          </a:p>
          <a:p>
            <a:pPr marL="822960" indent="-457200">
              <a:spcAft>
                <a:spcPts val="600"/>
              </a:spcAft>
              <a:buFont typeface="Wingdings" panose="05000000000000000000" pitchFamily="2" charset="2"/>
              <a:buChar char="ü"/>
              <a:defRPr/>
            </a:pPr>
            <a:r>
              <a:rPr lang="en-US" altLang="en-US" sz="2400" dirty="0"/>
              <a:t>map errors transferred to GIS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20515">
                                            <p:txEl>
                                              <p:pRg st="2" end="2"/>
                                            </p:txEl>
                                          </p:spTgt>
                                        </p:tgtEl>
                                        <p:attrNameLst>
                                          <p:attrName>style.visibility</p:attrName>
                                        </p:attrNameLst>
                                      </p:cBhvr>
                                      <p:to>
                                        <p:strVal val="visible"/>
                                      </p:to>
                                    </p:set>
                                    <p:animEffect transition="in" filter="fade">
                                      <p:cBhvr>
                                        <p:cTn id="15" dur="500"/>
                                        <p:tgtEl>
                                          <p:spTgt spid="3205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0515">
                                            <p:txEl>
                                              <p:pRg st="4" end="4"/>
                                            </p:txEl>
                                          </p:spTgt>
                                        </p:tgtEl>
                                        <p:attrNameLst>
                                          <p:attrName>style.visibility</p:attrName>
                                        </p:attrNameLst>
                                      </p:cBhvr>
                                      <p:to>
                                        <p:strVal val="visible"/>
                                      </p:to>
                                    </p:set>
                                    <p:animEffect transition="in" filter="fade">
                                      <p:cBhvr>
                                        <p:cTn id="20" dur="500"/>
                                        <p:tgtEl>
                                          <p:spTgt spid="320515">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0515">
                                            <p:txEl>
                                              <p:pRg st="5" end="5"/>
                                            </p:txEl>
                                          </p:spTgt>
                                        </p:tgtEl>
                                        <p:attrNameLst>
                                          <p:attrName>style.visibility</p:attrName>
                                        </p:attrNameLst>
                                      </p:cBhvr>
                                      <p:to>
                                        <p:strVal val="visible"/>
                                      </p:to>
                                    </p:set>
                                    <p:animEffect transition="in" filter="fade">
                                      <p:cBhvr>
                                        <p:cTn id="25" dur="500"/>
                                        <p:tgtEl>
                                          <p:spTgt spid="320515">
                                            <p:txEl>
                                              <p:pRg st="5" end="5"/>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20515">
                                            <p:txEl>
                                              <p:pRg st="6" end="6"/>
                                            </p:txEl>
                                          </p:spTgt>
                                        </p:tgtEl>
                                        <p:attrNameLst>
                                          <p:attrName>style.visibility</p:attrName>
                                        </p:attrNameLst>
                                      </p:cBhvr>
                                      <p:to>
                                        <p:strVal val="visible"/>
                                      </p:to>
                                    </p:set>
                                    <p:animEffect transition="in" filter="fade">
                                      <p:cBhvr>
                                        <p:cTn id="30" dur="500"/>
                                        <p:tgtEl>
                                          <p:spTgt spid="320515">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0515">
                                            <p:txEl>
                                              <p:pRg st="7" end="7"/>
                                            </p:txEl>
                                          </p:spTgt>
                                        </p:tgtEl>
                                        <p:attrNameLst>
                                          <p:attrName>style.visibility</p:attrName>
                                        </p:attrNameLst>
                                      </p:cBhvr>
                                      <p:to>
                                        <p:strVal val="visible"/>
                                      </p:to>
                                    </p:set>
                                    <p:animEffect transition="in" filter="fade">
                                      <p:cBhvr>
                                        <p:cTn id="35" dur="500"/>
                                        <p:tgtEl>
                                          <p:spTgt spid="3205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88913"/>
            <a:ext cx="9144000" cy="908050"/>
          </a:xfrm>
        </p:spPr>
        <p:txBody>
          <a:bodyPr/>
          <a:lstStyle/>
          <a:p>
            <a:pPr>
              <a:defRPr/>
            </a:pPr>
            <a:r>
              <a:rPr lang="en-US" b="0" dirty="0" smtClean="0"/>
              <a:t>Step 3: </a:t>
            </a:r>
            <a:r>
              <a:rPr lang="en-US" altLang="en-US" dirty="0" smtClean="0"/>
              <a:t>Data Format Conversion</a:t>
            </a:r>
            <a:endParaRPr lang="en-US" altLang="en-US" dirty="0"/>
          </a:p>
        </p:txBody>
      </p:sp>
      <p:sp>
        <p:nvSpPr>
          <p:cNvPr id="320515" name="Rectangle 3"/>
          <p:cNvSpPr>
            <a:spLocks noGrp="1" noChangeArrowheads="1"/>
          </p:cNvSpPr>
          <p:nvPr>
            <p:ph type="body" idx="1"/>
          </p:nvPr>
        </p:nvSpPr>
        <p:spPr>
          <a:xfrm>
            <a:off x="2027239" y="1700214"/>
            <a:ext cx="8137525" cy="3997325"/>
          </a:xfrm>
        </p:spPr>
        <p:txBody>
          <a:bodyPr/>
          <a:lstStyle/>
          <a:p>
            <a:pPr>
              <a:spcAft>
                <a:spcPts val="1800"/>
              </a:spcAft>
            </a:pPr>
            <a:r>
              <a:rPr lang="en-US" altLang="en-US"/>
              <a:t>Vector to Vector</a:t>
            </a:r>
          </a:p>
          <a:p>
            <a:pPr>
              <a:spcAft>
                <a:spcPts val="1800"/>
              </a:spcAft>
            </a:pPr>
            <a:r>
              <a:rPr lang="en-US" altLang="en-US"/>
              <a:t>Raster to Raster</a:t>
            </a:r>
          </a:p>
          <a:p>
            <a:pPr>
              <a:spcAft>
                <a:spcPts val="1800"/>
              </a:spcAft>
            </a:pPr>
            <a:r>
              <a:rPr lang="en-US" altLang="en-US"/>
              <a:t>Vector to Raster</a:t>
            </a:r>
          </a:p>
          <a:p>
            <a:pPr>
              <a:spcAft>
                <a:spcPts val="1800"/>
              </a:spcAft>
            </a:pPr>
            <a:r>
              <a:rPr lang="en-US" altLang="en-US"/>
              <a:t>Raster to Vector</a:t>
            </a:r>
            <a:endParaRPr lang="en-US" altLang="en-US" sz="2400"/>
          </a:p>
        </p:txBody>
      </p:sp>
      <p:grpSp>
        <p:nvGrpSpPr>
          <p:cNvPr id="4" name="Group 11"/>
          <p:cNvGrpSpPr>
            <a:grpSpLocks/>
          </p:cNvGrpSpPr>
          <p:nvPr/>
        </p:nvGrpSpPr>
        <p:grpSpPr bwMode="auto">
          <a:xfrm>
            <a:off x="7678738" y="1268414"/>
            <a:ext cx="2976562" cy="1585913"/>
            <a:chOff x="4128" y="224"/>
            <a:chExt cx="1672" cy="999"/>
          </a:xfrm>
        </p:grpSpPr>
        <p:sp>
          <p:nvSpPr>
            <p:cNvPr id="39941" name="Rectangle 5"/>
            <p:cNvSpPr>
              <a:spLocks noChangeArrowheads="1"/>
            </p:cNvSpPr>
            <p:nvPr/>
          </p:nvSpPr>
          <p:spPr bwMode="auto">
            <a:xfrm>
              <a:off x="4608" y="480"/>
              <a:ext cx="816" cy="48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942" name="Line 6"/>
            <p:cNvSpPr>
              <a:spLocks noChangeShapeType="1"/>
            </p:cNvSpPr>
            <p:nvPr/>
          </p:nvSpPr>
          <p:spPr bwMode="auto">
            <a:xfrm>
              <a:off x="4998" y="288"/>
              <a:ext cx="0" cy="67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3" name="Line 7"/>
            <p:cNvSpPr>
              <a:spLocks noChangeShapeType="1"/>
            </p:cNvSpPr>
            <p:nvPr/>
          </p:nvSpPr>
          <p:spPr bwMode="auto">
            <a:xfrm>
              <a:off x="4128" y="720"/>
              <a:ext cx="12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4" name="Text Box 8"/>
            <p:cNvSpPr txBox="1">
              <a:spLocks noChangeArrowheads="1"/>
            </p:cNvSpPr>
            <p:nvPr/>
          </p:nvSpPr>
          <p:spPr bwMode="auto">
            <a:xfrm>
              <a:off x="4128" y="528"/>
              <a:ext cx="509"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vector</a:t>
              </a:r>
            </a:p>
            <a:p>
              <a:pPr>
                <a:spcBef>
                  <a:spcPct val="0"/>
                </a:spcBef>
                <a:buClrTx/>
                <a:buFontTx/>
                <a:buNone/>
              </a:pPr>
              <a:r>
                <a:rPr lang="en-US" altLang="en-US" sz="1800" b="0"/>
                <a:t>raster</a:t>
              </a:r>
            </a:p>
          </p:txBody>
        </p:sp>
        <p:sp>
          <p:nvSpPr>
            <p:cNvPr id="39945" name="Text Box 9"/>
            <p:cNvSpPr txBox="1">
              <a:spLocks noChangeArrowheads="1"/>
            </p:cNvSpPr>
            <p:nvPr/>
          </p:nvSpPr>
          <p:spPr bwMode="auto">
            <a:xfrm>
              <a:off x="4495" y="224"/>
              <a:ext cx="13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Vector  raster</a:t>
              </a:r>
              <a:endParaRPr lang="en-US" altLang="en-US" sz="1600" b="0"/>
            </a:p>
          </p:txBody>
        </p:sp>
        <p:sp>
          <p:nvSpPr>
            <p:cNvPr id="39946" name="Text Box 10"/>
            <p:cNvSpPr txBox="1">
              <a:spLocks noChangeArrowheads="1"/>
            </p:cNvSpPr>
            <p:nvPr/>
          </p:nvSpPr>
          <p:spPr bwMode="auto">
            <a:xfrm>
              <a:off x="4597" y="1010"/>
              <a:ext cx="88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4 possibilities</a:t>
              </a:r>
            </a:p>
          </p:txBody>
        </p:sp>
      </p:gr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0" end="0"/>
                                            </p:txEl>
                                          </p:spTgt>
                                        </p:tgtEl>
                                        <p:attrNameLst>
                                          <p:attrName>style.visibility</p:attrName>
                                        </p:attrNameLst>
                                      </p:cBhvr>
                                      <p:to>
                                        <p:strVal val="visible"/>
                                      </p:to>
                                    </p:set>
                                    <p:animEffect transition="in" filter="fade">
                                      <p:cBhvr>
                                        <p:cTn id="12" dur="500"/>
                                        <p:tgtEl>
                                          <p:spTgt spid="3205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1" end="1"/>
                                            </p:txEl>
                                          </p:spTgt>
                                        </p:tgtEl>
                                        <p:attrNameLst>
                                          <p:attrName>style.visibility</p:attrName>
                                        </p:attrNameLst>
                                      </p:cBhvr>
                                      <p:to>
                                        <p:strVal val="visible"/>
                                      </p:to>
                                    </p:set>
                                    <p:animEffect transition="in" filter="fade">
                                      <p:cBhvr>
                                        <p:cTn id="17" dur="500"/>
                                        <p:tgtEl>
                                          <p:spTgt spid="32051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2" end="2"/>
                                            </p:txEl>
                                          </p:spTgt>
                                        </p:tgtEl>
                                        <p:attrNameLst>
                                          <p:attrName>style.visibility</p:attrName>
                                        </p:attrNameLst>
                                      </p:cBhvr>
                                      <p:to>
                                        <p:strVal val="visible"/>
                                      </p:to>
                                    </p:set>
                                    <p:animEffect transition="in" filter="fade">
                                      <p:cBhvr>
                                        <p:cTn id="22" dur="500"/>
                                        <p:tgtEl>
                                          <p:spTgt spid="32051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3" end="3"/>
                                            </p:txEl>
                                          </p:spTgt>
                                        </p:tgtEl>
                                        <p:attrNameLst>
                                          <p:attrName>style.visibility</p:attrName>
                                        </p:attrNameLst>
                                      </p:cBhvr>
                                      <p:to>
                                        <p:strVal val="visible"/>
                                      </p:to>
                                    </p:set>
                                    <p:animEffect transition="in" filter="fade">
                                      <p:cBhvr>
                                        <p:cTn id="27" dur="500"/>
                                        <p:tgtEl>
                                          <p:spTgt spid="320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altLang="en-US" sz="4000"/>
              <a:t>Vector to Raster</a:t>
            </a:r>
            <a:r>
              <a:rPr lang="en-US" altLang="en-US"/>
              <a:t> Conversion</a:t>
            </a:r>
            <a:br>
              <a:rPr lang="en-US" altLang="en-US"/>
            </a:br>
            <a:endParaRPr lang="en-US" altLang="en-US"/>
          </a:p>
        </p:txBody>
      </p:sp>
      <p:sp>
        <p:nvSpPr>
          <p:cNvPr id="15655" name="Rectangle 295"/>
          <p:cNvSpPr>
            <a:spLocks noChangeArrowheads="1"/>
          </p:cNvSpPr>
          <p:nvPr/>
        </p:nvSpPr>
        <p:spPr bwMode="auto">
          <a:xfrm>
            <a:off x="7505700" y="1417638"/>
            <a:ext cx="27051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Diagonal Line</a:t>
            </a:r>
          </a:p>
          <a:p>
            <a:pPr>
              <a:spcBef>
                <a:spcPct val="0"/>
              </a:spcBef>
              <a:buClrTx/>
              <a:buFontTx/>
              <a:buNone/>
            </a:pPr>
            <a:r>
              <a:rPr lang="en-US" altLang="en-US" sz="1800" b="0"/>
              <a:t>(more problemmatic)</a:t>
            </a:r>
          </a:p>
        </p:txBody>
      </p:sp>
      <p:grpSp>
        <p:nvGrpSpPr>
          <p:cNvPr id="5" name="Group 4"/>
          <p:cNvGrpSpPr>
            <a:grpSpLocks/>
          </p:cNvGrpSpPr>
          <p:nvPr/>
        </p:nvGrpSpPr>
        <p:grpSpPr bwMode="auto">
          <a:xfrm>
            <a:off x="1905001" y="2635251"/>
            <a:ext cx="1006475" cy="2989263"/>
            <a:chOff x="212725" y="3104964"/>
            <a:chExt cx="1006475" cy="2988332"/>
          </a:xfrm>
        </p:grpSpPr>
        <p:sp>
          <p:nvSpPr>
            <p:cNvPr id="40972" name="Line 380"/>
            <p:cNvSpPr>
              <a:spLocks noChangeShapeType="1"/>
            </p:cNvSpPr>
            <p:nvPr/>
          </p:nvSpPr>
          <p:spPr bwMode="auto">
            <a:xfrm>
              <a:off x="1219200" y="3104964"/>
              <a:ext cx="0" cy="2988332"/>
            </a:xfrm>
            <a:prstGeom prst="line">
              <a:avLst/>
            </a:prstGeom>
            <a:noFill/>
            <a:ln w="539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3" name="Rectangle 381"/>
            <p:cNvSpPr>
              <a:spLocks noChangeArrowheads="1"/>
            </p:cNvSpPr>
            <p:nvPr/>
          </p:nvSpPr>
          <p:spPr bwMode="auto">
            <a:xfrm>
              <a:off x="232726" y="321429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1800" b="0"/>
                <a:t>Vector</a:t>
              </a:r>
            </a:p>
          </p:txBody>
        </p:sp>
        <p:sp>
          <p:nvSpPr>
            <p:cNvPr id="40974" name="Rectangle 382"/>
            <p:cNvSpPr>
              <a:spLocks noChangeArrowheads="1"/>
            </p:cNvSpPr>
            <p:nvPr/>
          </p:nvSpPr>
          <p:spPr bwMode="auto">
            <a:xfrm>
              <a:off x="212725" y="5377666"/>
              <a:ext cx="930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1800" b="0"/>
                <a:t>Raster</a:t>
              </a:r>
            </a:p>
          </p:txBody>
        </p:sp>
      </p:grpSp>
      <p:grpSp>
        <p:nvGrpSpPr>
          <p:cNvPr id="6" name="Group 5"/>
          <p:cNvGrpSpPr>
            <a:grpSpLocks/>
          </p:cNvGrpSpPr>
          <p:nvPr/>
        </p:nvGrpSpPr>
        <p:grpSpPr bwMode="auto">
          <a:xfrm>
            <a:off x="3249614" y="1557338"/>
            <a:ext cx="1844675" cy="4362450"/>
            <a:chOff x="1557333" y="2027236"/>
            <a:chExt cx="1844997" cy="4362609"/>
          </a:xfrm>
        </p:grpSpPr>
        <p:sp>
          <p:nvSpPr>
            <p:cNvPr id="40970" name="Rectangle 379"/>
            <p:cNvSpPr>
              <a:spLocks noChangeArrowheads="1"/>
            </p:cNvSpPr>
            <p:nvPr/>
          </p:nvSpPr>
          <p:spPr bwMode="auto">
            <a:xfrm>
              <a:off x="1802130" y="2027236"/>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1800" b="0"/>
                <a:t>Point</a:t>
              </a:r>
            </a:p>
          </p:txBody>
        </p:sp>
        <p:pic>
          <p:nvPicPr>
            <p:cNvPr id="4097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7333" y="2779870"/>
              <a:ext cx="158115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Group 6"/>
          <p:cNvGrpSpPr>
            <a:grpSpLocks/>
          </p:cNvGrpSpPr>
          <p:nvPr/>
        </p:nvGrpSpPr>
        <p:grpSpPr bwMode="auto">
          <a:xfrm>
            <a:off x="5146675" y="1557338"/>
            <a:ext cx="2273300" cy="4495800"/>
            <a:chOff x="3454397" y="2027236"/>
            <a:chExt cx="2274565" cy="4495960"/>
          </a:xfrm>
        </p:grpSpPr>
        <p:sp>
          <p:nvSpPr>
            <p:cNvPr id="40968" name="Rectangle 294"/>
            <p:cNvSpPr>
              <a:spLocks noChangeArrowheads="1"/>
            </p:cNvSpPr>
            <p:nvPr/>
          </p:nvSpPr>
          <p:spPr bwMode="auto">
            <a:xfrm>
              <a:off x="3454397" y="2027236"/>
              <a:ext cx="227456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1800" b="0"/>
                <a:t>Orthogonal Line</a:t>
              </a:r>
            </a:p>
          </p:txBody>
        </p:sp>
        <p:pic>
          <p:nvPicPr>
            <p:cNvPr id="40969"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54397" y="2646521"/>
              <a:ext cx="2105025"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546975" y="2179639"/>
            <a:ext cx="17526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5655"/>
                                        </p:tgtEl>
                                        <p:attrNameLst>
                                          <p:attrName>style.visibility</p:attrName>
                                        </p:attrNameLst>
                                      </p:cBhvr>
                                      <p:to>
                                        <p:strVal val="visible"/>
                                      </p:to>
                                    </p:set>
                                    <p:animEffect transition="in" filter="randombar(horizontal)">
                                      <p:cBhvr>
                                        <p:cTn id="22" dur="500"/>
                                        <p:tgtEl>
                                          <p:spTgt spid="15655"/>
                                        </p:tgtEl>
                                      </p:cBhvr>
                                    </p:animEffect>
                                  </p:childTnLst>
                                </p:cTn>
                              </p:par>
                              <p:par>
                                <p:cTn id="23" presetID="14" presetClass="entr" presetSubtype="1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5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70" name="Group 14"/>
          <p:cNvGrpSpPr>
            <a:grpSpLocks/>
          </p:cNvGrpSpPr>
          <p:nvPr/>
        </p:nvGrpSpPr>
        <p:grpSpPr bwMode="auto">
          <a:xfrm>
            <a:off x="7320136" y="2456892"/>
            <a:ext cx="1054100" cy="1054100"/>
            <a:chOff x="3748" y="2068"/>
            <a:chExt cx="664" cy="664"/>
          </a:xfrm>
          <a:solidFill>
            <a:schemeClr val="tx1"/>
          </a:solidFill>
        </p:grpSpPr>
        <p:sp>
          <p:nvSpPr>
            <p:cNvPr id="19458" name="Rectangle 2"/>
            <p:cNvSpPr>
              <a:spLocks noChangeArrowheads="1"/>
            </p:cNvSpPr>
            <p:nvPr/>
          </p:nvSpPr>
          <p:spPr bwMode="auto">
            <a:xfrm>
              <a:off x="3748" y="2068"/>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59" name="Rectangle 3"/>
            <p:cNvSpPr>
              <a:spLocks noChangeArrowheads="1"/>
            </p:cNvSpPr>
            <p:nvPr/>
          </p:nvSpPr>
          <p:spPr bwMode="auto">
            <a:xfrm>
              <a:off x="3844" y="2164"/>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0" name="Rectangle 4"/>
            <p:cNvSpPr>
              <a:spLocks noChangeArrowheads="1"/>
            </p:cNvSpPr>
            <p:nvPr/>
          </p:nvSpPr>
          <p:spPr bwMode="auto">
            <a:xfrm>
              <a:off x="3940" y="2164"/>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1" name="Rectangle 5"/>
            <p:cNvSpPr>
              <a:spLocks noChangeArrowheads="1"/>
            </p:cNvSpPr>
            <p:nvPr/>
          </p:nvSpPr>
          <p:spPr bwMode="auto">
            <a:xfrm>
              <a:off x="3940" y="2260"/>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2" name="Rectangle 6"/>
            <p:cNvSpPr>
              <a:spLocks noChangeArrowheads="1"/>
            </p:cNvSpPr>
            <p:nvPr/>
          </p:nvSpPr>
          <p:spPr bwMode="auto">
            <a:xfrm>
              <a:off x="3844" y="2068"/>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3" name="Rectangle 7"/>
            <p:cNvSpPr>
              <a:spLocks noChangeArrowheads="1"/>
            </p:cNvSpPr>
            <p:nvPr/>
          </p:nvSpPr>
          <p:spPr bwMode="auto">
            <a:xfrm>
              <a:off x="4036" y="2356"/>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4" name="Rectangle 8"/>
            <p:cNvSpPr>
              <a:spLocks noChangeArrowheads="1"/>
            </p:cNvSpPr>
            <p:nvPr/>
          </p:nvSpPr>
          <p:spPr bwMode="auto">
            <a:xfrm>
              <a:off x="4036" y="2452"/>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5" name="Rectangle 9"/>
            <p:cNvSpPr>
              <a:spLocks noChangeArrowheads="1"/>
            </p:cNvSpPr>
            <p:nvPr/>
          </p:nvSpPr>
          <p:spPr bwMode="auto">
            <a:xfrm>
              <a:off x="4132" y="2452"/>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6" name="Rectangle 10"/>
            <p:cNvSpPr>
              <a:spLocks noChangeArrowheads="1"/>
            </p:cNvSpPr>
            <p:nvPr/>
          </p:nvSpPr>
          <p:spPr bwMode="auto">
            <a:xfrm>
              <a:off x="4132" y="2548"/>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7" name="Rectangle 11"/>
            <p:cNvSpPr>
              <a:spLocks noChangeArrowheads="1"/>
            </p:cNvSpPr>
            <p:nvPr/>
          </p:nvSpPr>
          <p:spPr bwMode="auto">
            <a:xfrm>
              <a:off x="4228" y="2548"/>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8" name="Rectangle 12"/>
            <p:cNvSpPr>
              <a:spLocks noChangeArrowheads="1"/>
            </p:cNvSpPr>
            <p:nvPr/>
          </p:nvSpPr>
          <p:spPr bwMode="auto">
            <a:xfrm>
              <a:off x="4228" y="2644"/>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69" name="Rectangle 13"/>
            <p:cNvSpPr>
              <a:spLocks noChangeArrowheads="1"/>
            </p:cNvSpPr>
            <p:nvPr/>
          </p:nvSpPr>
          <p:spPr bwMode="auto">
            <a:xfrm>
              <a:off x="4324" y="2644"/>
              <a:ext cx="88" cy="88"/>
            </a:xfrm>
            <a:prstGeom prst="rect">
              <a:avLst/>
            </a:prstGeom>
            <a:grpFill/>
            <a:ln w="12700">
              <a:solidFill>
                <a:schemeClr val="tx2">
                  <a:lumMod val="1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19471" name="Rectangle 15"/>
          <p:cNvSpPr>
            <a:spLocks noGrp="1" noChangeArrowheads="1"/>
          </p:cNvSpPr>
          <p:nvPr>
            <p:ph type="title"/>
          </p:nvPr>
        </p:nvSpPr>
        <p:spPr/>
        <p:txBody>
          <a:bodyPr/>
          <a:lstStyle/>
          <a:p>
            <a:pPr>
              <a:defRPr/>
            </a:pPr>
            <a:r>
              <a:rPr lang="en-US" altLang="en-US" dirty="0"/>
              <a:t>Raster to Vector Conversion</a:t>
            </a:r>
            <a:br>
              <a:rPr lang="en-US" altLang="en-US" dirty="0"/>
            </a:br>
            <a:r>
              <a:rPr lang="en-US" altLang="en-US" i="1" dirty="0"/>
              <a:t>Skeletonizing</a:t>
            </a:r>
          </a:p>
        </p:txBody>
      </p:sp>
      <p:grpSp>
        <p:nvGrpSpPr>
          <p:cNvPr id="19500" name="Group 44"/>
          <p:cNvGrpSpPr>
            <a:grpSpLocks/>
          </p:cNvGrpSpPr>
          <p:nvPr/>
        </p:nvGrpSpPr>
        <p:grpSpPr bwMode="auto">
          <a:xfrm>
            <a:off x="5719936" y="2456892"/>
            <a:ext cx="1358900" cy="1054100"/>
            <a:chOff x="2740" y="2068"/>
            <a:chExt cx="856" cy="664"/>
          </a:xfrm>
          <a:solidFill>
            <a:schemeClr val="tx1"/>
          </a:solidFill>
        </p:grpSpPr>
        <p:sp>
          <p:nvSpPr>
            <p:cNvPr id="19472" name="Rectangle 16"/>
            <p:cNvSpPr>
              <a:spLocks noChangeArrowheads="1"/>
            </p:cNvSpPr>
            <p:nvPr/>
          </p:nvSpPr>
          <p:spPr bwMode="auto">
            <a:xfrm>
              <a:off x="3124" y="226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nvGrpSpPr>
            <p:cNvPr id="19499" name="Group 43"/>
            <p:cNvGrpSpPr>
              <a:grpSpLocks/>
            </p:cNvGrpSpPr>
            <p:nvPr/>
          </p:nvGrpSpPr>
          <p:grpSpPr bwMode="auto">
            <a:xfrm>
              <a:off x="2740" y="2068"/>
              <a:ext cx="856" cy="664"/>
              <a:chOff x="2740" y="2068"/>
              <a:chExt cx="856" cy="664"/>
            </a:xfrm>
            <a:grpFill/>
          </p:grpSpPr>
          <p:sp>
            <p:nvSpPr>
              <p:cNvPr id="19473" name="Rectangle 17"/>
              <p:cNvSpPr>
                <a:spLocks noChangeArrowheads="1"/>
              </p:cNvSpPr>
              <p:nvPr/>
            </p:nvSpPr>
            <p:spPr bwMode="auto">
              <a:xfrm>
                <a:off x="2740" y="206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4" name="Rectangle 18"/>
              <p:cNvSpPr>
                <a:spLocks noChangeArrowheads="1"/>
              </p:cNvSpPr>
              <p:nvPr/>
            </p:nvSpPr>
            <p:spPr bwMode="auto">
              <a:xfrm>
                <a:off x="3028" y="235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5" name="Rectangle 19"/>
              <p:cNvSpPr>
                <a:spLocks noChangeArrowheads="1"/>
              </p:cNvSpPr>
              <p:nvPr/>
            </p:nvSpPr>
            <p:spPr bwMode="auto">
              <a:xfrm>
                <a:off x="3220" y="264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6" name="Rectangle 20"/>
              <p:cNvSpPr>
                <a:spLocks noChangeArrowheads="1"/>
              </p:cNvSpPr>
              <p:nvPr/>
            </p:nvSpPr>
            <p:spPr bwMode="auto">
              <a:xfrm>
                <a:off x="3220" y="235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7" name="Rectangle 21"/>
              <p:cNvSpPr>
                <a:spLocks noChangeArrowheads="1"/>
              </p:cNvSpPr>
              <p:nvPr/>
            </p:nvSpPr>
            <p:spPr bwMode="auto">
              <a:xfrm>
                <a:off x="3028" y="245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8" name="Rectangle 22"/>
              <p:cNvSpPr>
                <a:spLocks noChangeArrowheads="1"/>
              </p:cNvSpPr>
              <p:nvPr/>
            </p:nvSpPr>
            <p:spPr bwMode="auto">
              <a:xfrm>
                <a:off x="3316" y="245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79" name="Rectangle 23"/>
              <p:cNvSpPr>
                <a:spLocks noChangeArrowheads="1"/>
              </p:cNvSpPr>
              <p:nvPr/>
            </p:nvSpPr>
            <p:spPr bwMode="auto">
              <a:xfrm>
                <a:off x="3124" y="254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nvGrpSpPr>
              <p:cNvPr id="19492" name="Group 36"/>
              <p:cNvGrpSpPr>
                <a:grpSpLocks/>
              </p:cNvGrpSpPr>
              <p:nvPr/>
            </p:nvGrpSpPr>
            <p:grpSpPr bwMode="auto">
              <a:xfrm>
                <a:off x="2836" y="2068"/>
                <a:ext cx="664" cy="664"/>
                <a:chOff x="2836" y="2068"/>
                <a:chExt cx="664" cy="664"/>
              </a:xfrm>
              <a:grpFill/>
            </p:grpSpPr>
            <p:sp>
              <p:nvSpPr>
                <p:cNvPr id="19480" name="Rectangle 24"/>
                <p:cNvSpPr>
                  <a:spLocks noChangeArrowheads="1"/>
                </p:cNvSpPr>
                <p:nvPr/>
              </p:nvSpPr>
              <p:spPr bwMode="auto">
                <a:xfrm>
                  <a:off x="2836" y="206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1" name="Rectangle 25"/>
                <p:cNvSpPr>
                  <a:spLocks noChangeArrowheads="1"/>
                </p:cNvSpPr>
                <p:nvPr/>
              </p:nvSpPr>
              <p:spPr bwMode="auto">
                <a:xfrm>
                  <a:off x="2932" y="216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2" name="Rectangle 26"/>
                <p:cNvSpPr>
                  <a:spLocks noChangeArrowheads="1"/>
                </p:cNvSpPr>
                <p:nvPr/>
              </p:nvSpPr>
              <p:spPr bwMode="auto">
                <a:xfrm>
                  <a:off x="3028" y="216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3" name="Rectangle 27"/>
                <p:cNvSpPr>
                  <a:spLocks noChangeArrowheads="1"/>
                </p:cNvSpPr>
                <p:nvPr/>
              </p:nvSpPr>
              <p:spPr bwMode="auto">
                <a:xfrm>
                  <a:off x="3028" y="226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4" name="Rectangle 28"/>
                <p:cNvSpPr>
                  <a:spLocks noChangeArrowheads="1"/>
                </p:cNvSpPr>
                <p:nvPr/>
              </p:nvSpPr>
              <p:spPr bwMode="auto">
                <a:xfrm>
                  <a:off x="2932" y="206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5" name="Rectangle 29"/>
                <p:cNvSpPr>
                  <a:spLocks noChangeArrowheads="1"/>
                </p:cNvSpPr>
                <p:nvPr/>
              </p:nvSpPr>
              <p:spPr bwMode="auto">
                <a:xfrm>
                  <a:off x="3124" y="235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6" name="Rectangle 30"/>
                <p:cNvSpPr>
                  <a:spLocks noChangeArrowheads="1"/>
                </p:cNvSpPr>
                <p:nvPr/>
              </p:nvSpPr>
              <p:spPr bwMode="auto">
                <a:xfrm>
                  <a:off x="3124" y="245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7" name="Rectangle 31"/>
                <p:cNvSpPr>
                  <a:spLocks noChangeArrowheads="1"/>
                </p:cNvSpPr>
                <p:nvPr/>
              </p:nvSpPr>
              <p:spPr bwMode="auto">
                <a:xfrm>
                  <a:off x="3220" y="245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8" name="Rectangle 32"/>
                <p:cNvSpPr>
                  <a:spLocks noChangeArrowheads="1"/>
                </p:cNvSpPr>
                <p:nvPr/>
              </p:nvSpPr>
              <p:spPr bwMode="auto">
                <a:xfrm>
                  <a:off x="3220" y="254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89" name="Rectangle 33"/>
                <p:cNvSpPr>
                  <a:spLocks noChangeArrowheads="1"/>
                </p:cNvSpPr>
                <p:nvPr/>
              </p:nvSpPr>
              <p:spPr bwMode="auto">
                <a:xfrm>
                  <a:off x="3316" y="254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0" name="Rectangle 34"/>
                <p:cNvSpPr>
                  <a:spLocks noChangeArrowheads="1"/>
                </p:cNvSpPr>
                <p:nvPr/>
              </p:nvSpPr>
              <p:spPr bwMode="auto">
                <a:xfrm>
                  <a:off x="3316" y="264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1" name="Rectangle 35"/>
                <p:cNvSpPr>
                  <a:spLocks noChangeArrowheads="1"/>
                </p:cNvSpPr>
                <p:nvPr/>
              </p:nvSpPr>
              <p:spPr bwMode="auto">
                <a:xfrm>
                  <a:off x="3412" y="264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19493" name="Rectangle 37"/>
              <p:cNvSpPr>
                <a:spLocks noChangeArrowheads="1"/>
              </p:cNvSpPr>
              <p:nvPr/>
            </p:nvSpPr>
            <p:spPr bwMode="auto">
              <a:xfrm>
                <a:off x="2836" y="216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4" name="Rectangle 38"/>
              <p:cNvSpPr>
                <a:spLocks noChangeArrowheads="1"/>
              </p:cNvSpPr>
              <p:nvPr/>
            </p:nvSpPr>
            <p:spPr bwMode="auto">
              <a:xfrm>
                <a:off x="3028" y="206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5" name="Rectangle 39"/>
              <p:cNvSpPr>
                <a:spLocks noChangeArrowheads="1"/>
              </p:cNvSpPr>
              <p:nvPr/>
            </p:nvSpPr>
            <p:spPr bwMode="auto">
              <a:xfrm>
                <a:off x="3124" y="216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6" name="Rectangle 40"/>
              <p:cNvSpPr>
                <a:spLocks noChangeArrowheads="1"/>
              </p:cNvSpPr>
              <p:nvPr/>
            </p:nvSpPr>
            <p:spPr bwMode="auto">
              <a:xfrm>
                <a:off x="2932" y="226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7" name="Rectangle 41"/>
              <p:cNvSpPr>
                <a:spLocks noChangeArrowheads="1"/>
              </p:cNvSpPr>
              <p:nvPr/>
            </p:nvSpPr>
            <p:spPr bwMode="auto">
              <a:xfrm>
                <a:off x="3508" y="264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498" name="Rectangle 42"/>
              <p:cNvSpPr>
                <a:spLocks noChangeArrowheads="1"/>
              </p:cNvSpPr>
              <p:nvPr/>
            </p:nvSpPr>
            <p:spPr bwMode="auto">
              <a:xfrm>
                <a:off x="3412" y="254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grpSp>
        <p:nvGrpSpPr>
          <p:cNvPr id="19544" name="Group 88"/>
          <p:cNvGrpSpPr>
            <a:grpSpLocks/>
          </p:cNvGrpSpPr>
          <p:nvPr/>
        </p:nvGrpSpPr>
        <p:grpSpPr bwMode="auto">
          <a:xfrm>
            <a:off x="3814936" y="2533092"/>
            <a:ext cx="1511300" cy="1054100"/>
            <a:chOff x="1540" y="2116"/>
            <a:chExt cx="952" cy="664"/>
          </a:xfrm>
          <a:solidFill>
            <a:schemeClr val="tx1"/>
          </a:solidFill>
        </p:grpSpPr>
        <p:sp>
          <p:nvSpPr>
            <p:cNvPr id="19501" name="Rectangle 45"/>
            <p:cNvSpPr>
              <a:spLocks noChangeArrowheads="1"/>
            </p:cNvSpPr>
            <p:nvPr/>
          </p:nvSpPr>
          <p:spPr bwMode="auto">
            <a:xfrm>
              <a:off x="2116" y="230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nvGrpSpPr>
            <p:cNvPr id="19543" name="Group 87"/>
            <p:cNvGrpSpPr>
              <a:grpSpLocks/>
            </p:cNvGrpSpPr>
            <p:nvPr/>
          </p:nvGrpSpPr>
          <p:grpSpPr bwMode="auto">
            <a:xfrm>
              <a:off x="1540" y="2116"/>
              <a:ext cx="952" cy="664"/>
              <a:chOff x="1540" y="2116"/>
              <a:chExt cx="952" cy="664"/>
            </a:xfrm>
            <a:grpFill/>
          </p:grpSpPr>
          <p:grpSp>
            <p:nvGrpSpPr>
              <p:cNvPr id="19530" name="Group 74"/>
              <p:cNvGrpSpPr>
                <a:grpSpLocks/>
              </p:cNvGrpSpPr>
              <p:nvPr/>
            </p:nvGrpSpPr>
            <p:grpSpPr bwMode="auto">
              <a:xfrm>
                <a:off x="1636" y="2116"/>
                <a:ext cx="856" cy="664"/>
                <a:chOff x="1636" y="2116"/>
                <a:chExt cx="856" cy="664"/>
              </a:xfrm>
              <a:grpFill/>
            </p:grpSpPr>
            <p:sp>
              <p:nvSpPr>
                <p:cNvPr id="19502" name="Rectangle 46"/>
                <p:cNvSpPr>
                  <a:spLocks noChangeArrowheads="1"/>
                </p:cNvSpPr>
                <p:nvPr/>
              </p:nvSpPr>
              <p:spPr bwMode="auto">
                <a:xfrm>
                  <a:off x="2020" y="230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nvGrpSpPr>
                <p:cNvPr id="19529" name="Group 73"/>
                <p:cNvGrpSpPr>
                  <a:grpSpLocks/>
                </p:cNvGrpSpPr>
                <p:nvPr/>
              </p:nvGrpSpPr>
              <p:grpSpPr bwMode="auto">
                <a:xfrm>
                  <a:off x="1636" y="2116"/>
                  <a:ext cx="856" cy="664"/>
                  <a:chOff x="1636" y="2116"/>
                  <a:chExt cx="856" cy="664"/>
                </a:xfrm>
                <a:grpFill/>
              </p:grpSpPr>
              <p:sp>
                <p:nvSpPr>
                  <p:cNvPr id="19503" name="Rectangle 47"/>
                  <p:cNvSpPr>
                    <a:spLocks noChangeArrowheads="1"/>
                  </p:cNvSpPr>
                  <p:nvPr/>
                </p:nvSpPr>
                <p:spPr bwMode="auto">
                  <a:xfrm>
                    <a:off x="1636"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4" name="Rectangle 48"/>
                  <p:cNvSpPr>
                    <a:spLocks noChangeArrowheads="1"/>
                  </p:cNvSpPr>
                  <p:nvPr/>
                </p:nvSpPr>
                <p:spPr bwMode="auto">
                  <a:xfrm>
                    <a:off x="1924" y="240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5" name="Rectangle 49"/>
                  <p:cNvSpPr>
                    <a:spLocks noChangeArrowheads="1"/>
                  </p:cNvSpPr>
                  <p:nvPr/>
                </p:nvSpPr>
                <p:spPr bwMode="auto">
                  <a:xfrm>
                    <a:off x="2116" y="269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6" name="Rectangle 50"/>
                  <p:cNvSpPr>
                    <a:spLocks noChangeArrowheads="1"/>
                  </p:cNvSpPr>
                  <p:nvPr/>
                </p:nvSpPr>
                <p:spPr bwMode="auto">
                  <a:xfrm>
                    <a:off x="2116" y="240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7" name="Rectangle 51"/>
                  <p:cNvSpPr>
                    <a:spLocks noChangeArrowheads="1"/>
                  </p:cNvSpPr>
                  <p:nvPr/>
                </p:nvSpPr>
                <p:spPr bwMode="auto">
                  <a:xfrm>
                    <a:off x="1924"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8" name="Rectangle 52"/>
                  <p:cNvSpPr>
                    <a:spLocks noChangeArrowheads="1"/>
                  </p:cNvSpPr>
                  <p:nvPr/>
                </p:nvSpPr>
                <p:spPr bwMode="auto">
                  <a:xfrm>
                    <a:off x="2212"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09" name="Rectangle 53"/>
                  <p:cNvSpPr>
                    <a:spLocks noChangeArrowheads="1"/>
                  </p:cNvSpPr>
                  <p:nvPr/>
                </p:nvSpPr>
                <p:spPr bwMode="auto">
                  <a:xfrm>
                    <a:off x="2020"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nvGrpSpPr>
                  <p:cNvPr id="19522" name="Group 66"/>
                  <p:cNvGrpSpPr>
                    <a:grpSpLocks/>
                  </p:cNvGrpSpPr>
                  <p:nvPr/>
                </p:nvGrpSpPr>
                <p:grpSpPr bwMode="auto">
                  <a:xfrm>
                    <a:off x="1732" y="2116"/>
                    <a:ext cx="664" cy="664"/>
                    <a:chOff x="1732" y="2116"/>
                    <a:chExt cx="664" cy="664"/>
                  </a:xfrm>
                  <a:grpFill/>
                </p:grpSpPr>
                <p:sp>
                  <p:nvSpPr>
                    <p:cNvPr id="19510" name="Rectangle 54"/>
                    <p:cNvSpPr>
                      <a:spLocks noChangeArrowheads="1"/>
                    </p:cNvSpPr>
                    <p:nvPr/>
                  </p:nvSpPr>
                  <p:spPr bwMode="auto">
                    <a:xfrm>
                      <a:off x="1732"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1" name="Rectangle 55"/>
                    <p:cNvSpPr>
                      <a:spLocks noChangeArrowheads="1"/>
                    </p:cNvSpPr>
                    <p:nvPr/>
                  </p:nvSpPr>
                  <p:spPr bwMode="auto">
                    <a:xfrm>
                      <a:off x="1828"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2" name="Rectangle 56"/>
                    <p:cNvSpPr>
                      <a:spLocks noChangeArrowheads="1"/>
                    </p:cNvSpPr>
                    <p:nvPr/>
                  </p:nvSpPr>
                  <p:spPr bwMode="auto">
                    <a:xfrm>
                      <a:off x="1924"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3" name="Rectangle 57"/>
                    <p:cNvSpPr>
                      <a:spLocks noChangeArrowheads="1"/>
                    </p:cNvSpPr>
                    <p:nvPr/>
                  </p:nvSpPr>
                  <p:spPr bwMode="auto">
                    <a:xfrm>
                      <a:off x="1924" y="230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4" name="Rectangle 58"/>
                    <p:cNvSpPr>
                      <a:spLocks noChangeArrowheads="1"/>
                    </p:cNvSpPr>
                    <p:nvPr/>
                  </p:nvSpPr>
                  <p:spPr bwMode="auto">
                    <a:xfrm>
                      <a:off x="1828"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5" name="Rectangle 59"/>
                    <p:cNvSpPr>
                      <a:spLocks noChangeArrowheads="1"/>
                    </p:cNvSpPr>
                    <p:nvPr/>
                  </p:nvSpPr>
                  <p:spPr bwMode="auto">
                    <a:xfrm>
                      <a:off x="2020" y="240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6" name="Rectangle 60"/>
                    <p:cNvSpPr>
                      <a:spLocks noChangeArrowheads="1"/>
                    </p:cNvSpPr>
                    <p:nvPr/>
                  </p:nvSpPr>
                  <p:spPr bwMode="auto">
                    <a:xfrm>
                      <a:off x="2020"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7" name="Rectangle 61"/>
                    <p:cNvSpPr>
                      <a:spLocks noChangeArrowheads="1"/>
                    </p:cNvSpPr>
                    <p:nvPr/>
                  </p:nvSpPr>
                  <p:spPr bwMode="auto">
                    <a:xfrm>
                      <a:off x="2116"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8" name="Rectangle 62"/>
                    <p:cNvSpPr>
                      <a:spLocks noChangeArrowheads="1"/>
                    </p:cNvSpPr>
                    <p:nvPr/>
                  </p:nvSpPr>
                  <p:spPr bwMode="auto">
                    <a:xfrm>
                      <a:off x="2116"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19" name="Rectangle 63"/>
                    <p:cNvSpPr>
                      <a:spLocks noChangeArrowheads="1"/>
                    </p:cNvSpPr>
                    <p:nvPr/>
                  </p:nvSpPr>
                  <p:spPr bwMode="auto">
                    <a:xfrm>
                      <a:off x="2212"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0" name="Rectangle 64"/>
                    <p:cNvSpPr>
                      <a:spLocks noChangeArrowheads="1"/>
                    </p:cNvSpPr>
                    <p:nvPr/>
                  </p:nvSpPr>
                  <p:spPr bwMode="auto">
                    <a:xfrm>
                      <a:off x="2212" y="269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1" name="Rectangle 65"/>
                    <p:cNvSpPr>
                      <a:spLocks noChangeArrowheads="1"/>
                    </p:cNvSpPr>
                    <p:nvPr/>
                  </p:nvSpPr>
                  <p:spPr bwMode="auto">
                    <a:xfrm>
                      <a:off x="2308" y="269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19523" name="Rectangle 67"/>
                  <p:cNvSpPr>
                    <a:spLocks noChangeArrowheads="1"/>
                  </p:cNvSpPr>
                  <p:nvPr/>
                </p:nvSpPr>
                <p:spPr bwMode="auto">
                  <a:xfrm>
                    <a:off x="1732"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4" name="Rectangle 68"/>
                  <p:cNvSpPr>
                    <a:spLocks noChangeArrowheads="1"/>
                  </p:cNvSpPr>
                  <p:nvPr/>
                </p:nvSpPr>
                <p:spPr bwMode="auto">
                  <a:xfrm>
                    <a:off x="1924"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5" name="Rectangle 69"/>
                  <p:cNvSpPr>
                    <a:spLocks noChangeArrowheads="1"/>
                  </p:cNvSpPr>
                  <p:nvPr/>
                </p:nvSpPr>
                <p:spPr bwMode="auto">
                  <a:xfrm>
                    <a:off x="2020"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6" name="Rectangle 70"/>
                  <p:cNvSpPr>
                    <a:spLocks noChangeArrowheads="1"/>
                  </p:cNvSpPr>
                  <p:nvPr/>
                </p:nvSpPr>
                <p:spPr bwMode="auto">
                  <a:xfrm>
                    <a:off x="1828" y="230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7" name="Rectangle 71"/>
                  <p:cNvSpPr>
                    <a:spLocks noChangeArrowheads="1"/>
                  </p:cNvSpPr>
                  <p:nvPr/>
                </p:nvSpPr>
                <p:spPr bwMode="auto">
                  <a:xfrm>
                    <a:off x="2404" y="269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28" name="Rectangle 72"/>
                  <p:cNvSpPr>
                    <a:spLocks noChangeArrowheads="1"/>
                  </p:cNvSpPr>
                  <p:nvPr/>
                </p:nvSpPr>
                <p:spPr bwMode="auto">
                  <a:xfrm>
                    <a:off x="2308"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sp>
            <p:nvSpPr>
              <p:cNvPr id="19531" name="Rectangle 75"/>
              <p:cNvSpPr>
                <a:spLocks noChangeArrowheads="1"/>
              </p:cNvSpPr>
              <p:nvPr/>
            </p:nvSpPr>
            <p:spPr bwMode="auto">
              <a:xfrm>
                <a:off x="2404"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2" name="Rectangle 76"/>
              <p:cNvSpPr>
                <a:spLocks noChangeArrowheads="1"/>
              </p:cNvSpPr>
              <p:nvPr/>
            </p:nvSpPr>
            <p:spPr bwMode="auto">
              <a:xfrm>
                <a:off x="1924" y="259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3" name="Rectangle 77"/>
              <p:cNvSpPr>
                <a:spLocks noChangeArrowheads="1"/>
              </p:cNvSpPr>
              <p:nvPr/>
            </p:nvSpPr>
            <p:spPr bwMode="auto">
              <a:xfrm>
                <a:off x="2020" y="269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4" name="Rectangle 78"/>
              <p:cNvSpPr>
                <a:spLocks noChangeArrowheads="1"/>
              </p:cNvSpPr>
              <p:nvPr/>
            </p:nvSpPr>
            <p:spPr bwMode="auto">
              <a:xfrm>
                <a:off x="2308"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5" name="Rectangle 79"/>
              <p:cNvSpPr>
                <a:spLocks noChangeArrowheads="1"/>
              </p:cNvSpPr>
              <p:nvPr/>
            </p:nvSpPr>
            <p:spPr bwMode="auto">
              <a:xfrm>
                <a:off x="1828" y="2500"/>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6" name="Rectangle 80"/>
              <p:cNvSpPr>
                <a:spLocks noChangeArrowheads="1"/>
              </p:cNvSpPr>
              <p:nvPr/>
            </p:nvSpPr>
            <p:spPr bwMode="auto">
              <a:xfrm>
                <a:off x="2212" y="240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7" name="Rectangle 81"/>
              <p:cNvSpPr>
                <a:spLocks noChangeArrowheads="1"/>
              </p:cNvSpPr>
              <p:nvPr/>
            </p:nvSpPr>
            <p:spPr bwMode="auto">
              <a:xfrm>
                <a:off x="1828" y="2404"/>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8" name="Rectangle 82"/>
              <p:cNvSpPr>
                <a:spLocks noChangeArrowheads="1"/>
              </p:cNvSpPr>
              <p:nvPr/>
            </p:nvSpPr>
            <p:spPr bwMode="auto">
              <a:xfrm>
                <a:off x="1732" y="2308"/>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39" name="Rectangle 83"/>
              <p:cNvSpPr>
                <a:spLocks noChangeArrowheads="1"/>
              </p:cNvSpPr>
              <p:nvPr/>
            </p:nvSpPr>
            <p:spPr bwMode="auto">
              <a:xfrm>
                <a:off x="2116"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40" name="Rectangle 84"/>
              <p:cNvSpPr>
                <a:spLocks noChangeArrowheads="1"/>
              </p:cNvSpPr>
              <p:nvPr/>
            </p:nvSpPr>
            <p:spPr bwMode="auto">
              <a:xfrm>
                <a:off x="1636" y="2212"/>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41" name="Rectangle 85"/>
              <p:cNvSpPr>
                <a:spLocks noChangeArrowheads="1"/>
              </p:cNvSpPr>
              <p:nvPr/>
            </p:nvSpPr>
            <p:spPr bwMode="auto">
              <a:xfrm>
                <a:off x="1540"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9542" name="Rectangle 86"/>
              <p:cNvSpPr>
                <a:spLocks noChangeArrowheads="1"/>
              </p:cNvSpPr>
              <p:nvPr/>
            </p:nvSpPr>
            <p:spPr bwMode="auto">
              <a:xfrm>
                <a:off x="2020" y="2116"/>
                <a:ext cx="88" cy="88"/>
              </a:xfrm>
              <a:prstGeom prst="rect">
                <a:avLst/>
              </a:prstGeom>
              <a:grpFill/>
              <a:ln w="127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sp>
        <p:nvSpPr>
          <p:cNvPr id="19545" name="Line 89"/>
          <p:cNvSpPr>
            <a:spLocks noChangeShapeType="1"/>
          </p:cNvSpPr>
          <p:nvPr/>
        </p:nvSpPr>
        <p:spPr bwMode="auto">
          <a:xfrm>
            <a:off x="4576763" y="4079875"/>
            <a:ext cx="3657600" cy="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46" name="Text Box 90"/>
          <p:cNvSpPr txBox="1">
            <a:spLocks noChangeArrowheads="1"/>
          </p:cNvSpPr>
          <p:nvPr/>
        </p:nvSpPr>
        <p:spPr bwMode="auto">
          <a:xfrm>
            <a:off x="1524000" y="5410201"/>
            <a:ext cx="8839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For example, go to: </a:t>
            </a:r>
            <a:r>
              <a:rPr lang="en-US" altLang="en-US" sz="1800" b="0">
                <a:hlinkClick r:id="rId3"/>
              </a:rPr>
              <a:t>http://www.cosc.canterbury.ac.nz/people/mukundan/covn/Thin.html</a:t>
            </a:r>
            <a:endParaRPr lang="en-US" altLang="en-US" sz="1800" b="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9544"/>
                                        </p:tgtEl>
                                        <p:attrNameLst>
                                          <p:attrName>style.visibility</p:attrName>
                                        </p:attrNameLst>
                                      </p:cBhvr>
                                      <p:to>
                                        <p:strVal val="visible"/>
                                      </p:to>
                                    </p:set>
                                    <p:animEffect transition="in" filter="randombar(horizontal)">
                                      <p:cBhvr>
                                        <p:cTn id="7" dur="500"/>
                                        <p:tgtEl>
                                          <p:spTgt spid="19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9500"/>
                                        </p:tgtEl>
                                        <p:attrNameLst>
                                          <p:attrName>style.visibility</p:attrName>
                                        </p:attrNameLst>
                                      </p:cBhvr>
                                      <p:to>
                                        <p:strVal val="visible"/>
                                      </p:to>
                                    </p:set>
                                    <p:animEffect transition="in" filter="randombar(horizontal)">
                                      <p:cBhvr>
                                        <p:cTn id="12" dur="500"/>
                                        <p:tgtEl>
                                          <p:spTgt spid="195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9470"/>
                                        </p:tgtEl>
                                        <p:attrNameLst>
                                          <p:attrName>style.visibility</p:attrName>
                                        </p:attrNameLst>
                                      </p:cBhvr>
                                      <p:to>
                                        <p:strVal val="visible"/>
                                      </p:to>
                                    </p:set>
                                    <p:animEffect transition="in" filter="randombar(horizontal)">
                                      <p:cBhvr>
                                        <p:cTn id="17" dur="500"/>
                                        <p:tgtEl>
                                          <p:spTgt spid="194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9545"/>
                                        </p:tgtEl>
                                        <p:attrNameLst>
                                          <p:attrName>style.visibility</p:attrName>
                                        </p:attrNameLst>
                                      </p:cBhvr>
                                      <p:to>
                                        <p:strVal val="visible"/>
                                      </p:to>
                                    </p:set>
                                    <p:animEffect transition="in" filter="randombar(horizontal)">
                                      <p:cBhvr>
                                        <p:cTn id="22" dur="500"/>
                                        <p:tgtEl>
                                          <p:spTgt spid="195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546"/>
                                        </p:tgtEl>
                                        <p:attrNameLst>
                                          <p:attrName>style.visibility</p:attrName>
                                        </p:attrNameLst>
                                      </p:cBhvr>
                                      <p:to>
                                        <p:strVal val="visible"/>
                                      </p:to>
                                    </p:set>
                                    <p:animEffect transition="in" filter="fade">
                                      <p:cBhvr>
                                        <p:cTn id="27" dur="500"/>
                                        <p:tgtEl>
                                          <p:spTgt spid="19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45" grpId="0" animBg="1"/>
      <p:bldP spid="1954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828800" y="381000"/>
            <a:ext cx="8534400" cy="533400"/>
          </a:xfrm>
        </p:spPr>
        <p:txBody>
          <a:bodyPr/>
          <a:lstStyle/>
          <a:p>
            <a:pPr>
              <a:defRPr/>
            </a:pPr>
            <a:r>
              <a:rPr lang="en-US" altLang="en-US" sz="2800"/>
              <a:t>Data Format Conversion Implementation in ArcGIS 9</a:t>
            </a:r>
          </a:p>
        </p:txBody>
      </p:sp>
      <p:graphicFrame>
        <p:nvGraphicFramePr>
          <p:cNvPr id="67653" name="Group 69"/>
          <p:cNvGraphicFramePr>
            <a:graphicFrameLocks noGrp="1"/>
          </p:cNvGraphicFramePr>
          <p:nvPr/>
        </p:nvGraphicFramePr>
        <p:xfrm>
          <a:off x="2819400" y="1600201"/>
          <a:ext cx="7696200" cy="4748648"/>
        </p:xfrm>
        <a:graphic>
          <a:graphicData uri="http://schemas.openxmlformats.org/drawingml/2006/table">
            <a:tbl>
              <a:tblPr/>
              <a:tblGrid>
                <a:gridCol w="3733800"/>
                <a:gridCol w="3962400"/>
              </a:tblGrid>
              <a:tr h="2358868">
                <a:tc>
                  <a:txBody>
                    <a:bodyPr/>
                    <a:lstStyle>
                      <a:lvl1pPr>
                        <a:spcBef>
                          <a:spcPct val="20000"/>
                        </a:spcBef>
                        <a:buSzPct val="100000"/>
                        <a:defRPr sz="2800">
                          <a:solidFill>
                            <a:schemeClr val="tx1"/>
                          </a:solidFill>
                          <a:latin typeface="Times New Roman" panose="02020603050405020304" pitchFamily="18" charset="0"/>
                        </a:defRPr>
                      </a:lvl1pPr>
                      <a:lvl2pPr>
                        <a:spcBef>
                          <a:spcPct val="20000"/>
                        </a:spcBef>
                        <a:buSzPct val="100000"/>
                        <a:defRPr sz="2400">
                          <a:solidFill>
                            <a:schemeClr val="tx1"/>
                          </a:solidFill>
                          <a:latin typeface="Times New Roman" panose="02020603050405020304" pitchFamily="18" charset="0"/>
                        </a:defRPr>
                      </a:lvl2pPr>
                      <a:lvl3pPr>
                        <a:spcBef>
                          <a:spcPct val="20000"/>
                        </a:spcBef>
                        <a:buSzPct val="100000"/>
                        <a:defRPr sz="2000">
                          <a:solidFill>
                            <a:schemeClr val="tx1"/>
                          </a:solidFill>
                          <a:latin typeface="Times New Roman" panose="02020603050405020304" pitchFamily="18"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Pct val="100000"/>
                        <a:buFontTx/>
                        <a:buNone/>
                        <a:tabLst/>
                      </a:pPr>
                      <a:r>
                        <a:rPr kumimoji="0" lang="en-US" altLang="en-US" sz="1600" b="0" i="0" u="none" strike="noStrike" cap="none" normalizeH="0" baseline="0" dirty="0" err="1" smtClean="0">
                          <a:ln>
                            <a:noFill/>
                          </a:ln>
                          <a:solidFill>
                            <a:schemeClr val="tx1"/>
                          </a:solidFill>
                          <a:effectLst/>
                          <a:latin typeface="Times New Roman" panose="02020603050405020304" pitchFamily="18" charset="0"/>
                        </a:rPr>
                        <a:t>Arctoolbox</a:t>
                      </a:r>
                      <a:r>
                        <a:rPr kumimoji="0" lang="en-US" altLang="en-US" sz="1600" b="0" i="0" u="none" strike="noStrike" cap="none" normalizeH="0" baseline="0" dirty="0" smtClean="0">
                          <a:ln>
                            <a:noFill/>
                          </a:ln>
                          <a:solidFill>
                            <a:schemeClr val="tx1"/>
                          </a:solidFill>
                          <a:effectLst/>
                          <a:latin typeface="Times New Roman" panose="02020603050405020304" pitchFamily="18" charset="0"/>
                        </a:rPr>
                        <a:t>&gt;Conversion Tools&gt;To Raster&gt; </a:t>
                      </a:r>
                      <a:r>
                        <a:rPr kumimoji="0" lang="en-US" altLang="en-US" sz="1600" b="1" i="1" u="none" strike="noStrike" cap="none" normalizeH="0" baseline="0" dirty="0" smtClean="0">
                          <a:ln>
                            <a:noFill/>
                          </a:ln>
                          <a:solidFill>
                            <a:schemeClr val="tx1"/>
                          </a:solidFill>
                          <a:effectLst/>
                          <a:latin typeface="Times New Roman" panose="02020603050405020304" pitchFamily="18" charset="0"/>
                        </a:rPr>
                        <a:t>Raster To Other (multiple)</a:t>
                      </a:r>
                      <a:endParaRPr kumimoji="0" lang="en-US" altLang="en-US" sz="2800" b="1"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rPr>
                        <a:t>Converts one or more raster dataset formats supported by ArcGIS to a GRID, IMAGINE, TIFF, or geodatabase raster dataset format</a:t>
                      </a:r>
                    </a:p>
                    <a:p>
                      <a:pPr marL="0" marR="0" lvl="0" indent="0" algn="l" defTabSz="914400" rtl="0" eaLnBrk="0" fontAlgn="base" latinLnBrk="0" hangingPunct="0">
                        <a:lnSpc>
                          <a:spcPct val="100000"/>
                        </a:lnSpc>
                        <a:spcBef>
                          <a:spcPct val="0"/>
                        </a:spcBef>
                        <a:spcAft>
                          <a:spcPct val="0"/>
                        </a:spcAft>
                        <a:buClrTx/>
                        <a:buSzPct val="100000"/>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rPr>
                        <a:t>Can also be accomplished thru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rPr>
                        <a:t>ArcCatalog</a:t>
                      </a:r>
                      <a:r>
                        <a:rPr kumimoji="0" lang="en-US" altLang="en-US" sz="1400" b="1" i="0" u="none" strike="noStrike" cap="none" normalizeH="0" baseline="0" dirty="0" smtClean="0">
                          <a:ln>
                            <a:noFill/>
                          </a:ln>
                          <a:solidFill>
                            <a:schemeClr val="tx1"/>
                          </a:solidFill>
                          <a:effectLst/>
                          <a:latin typeface="Times New Roman" panose="02020603050405020304" pitchFamily="18" charset="0"/>
                        </a:rPr>
                        <a:t>, Export</a:t>
                      </a:r>
                      <a:r>
                        <a:rPr kumimoji="0" lang="en-US" altLang="en-US" sz="1400" b="0" i="0" u="none" strike="noStrike" cap="none" normalizeH="0" baseline="0" dirty="0" smtClean="0">
                          <a:ln>
                            <a:noFill/>
                          </a:ln>
                          <a:solidFill>
                            <a:schemeClr val="tx1"/>
                          </a:solidFill>
                          <a:effectLst/>
                          <a:latin typeface="Times New Roman" panose="02020603050405020304" pitchFamily="18" charset="0"/>
                        </a:rPr>
                        <a:t> function</a:t>
                      </a:r>
                    </a:p>
                  </a:txBody>
                  <a:tcPr marT="45686" marB="4568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SzPct val="100000"/>
                        <a:defRPr sz="2800">
                          <a:solidFill>
                            <a:schemeClr val="tx1"/>
                          </a:solidFill>
                          <a:latin typeface="Times New Roman" panose="02020603050405020304" pitchFamily="18" charset="0"/>
                        </a:defRPr>
                      </a:lvl1pPr>
                      <a:lvl2pPr>
                        <a:spcBef>
                          <a:spcPct val="20000"/>
                        </a:spcBef>
                        <a:buSzPct val="100000"/>
                        <a:defRPr sz="2400">
                          <a:solidFill>
                            <a:schemeClr val="tx1"/>
                          </a:solidFill>
                          <a:latin typeface="Times New Roman" panose="02020603050405020304" pitchFamily="18" charset="0"/>
                        </a:defRPr>
                      </a:lvl2pPr>
                      <a:lvl3pPr>
                        <a:spcBef>
                          <a:spcPct val="20000"/>
                        </a:spcBef>
                        <a:buSzPct val="100000"/>
                        <a:defRPr sz="2000">
                          <a:solidFill>
                            <a:schemeClr val="tx1"/>
                          </a:solidFill>
                          <a:latin typeface="Times New Roman" panose="02020603050405020304" pitchFamily="18"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0" i="0" u="none" strike="noStrike" cap="none" normalizeH="0" baseline="0" dirty="0" err="1" smtClean="0">
                          <a:ln>
                            <a:noFill/>
                          </a:ln>
                          <a:solidFill>
                            <a:schemeClr val="tx1"/>
                          </a:solidFill>
                          <a:effectLst/>
                          <a:latin typeface="Times New Roman" panose="02020603050405020304" pitchFamily="18" charset="0"/>
                        </a:rPr>
                        <a:t>Arctoolbox</a:t>
                      </a:r>
                      <a:r>
                        <a:rPr kumimoji="0" lang="en-US" altLang="en-US" sz="1600" b="0" i="0" u="none" strike="noStrike" cap="none" normalizeH="0" baseline="0" dirty="0" smtClean="0">
                          <a:ln>
                            <a:noFill/>
                          </a:ln>
                          <a:solidFill>
                            <a:schemeClr val="tx1"/>
                          </a:solidFill>
                          <a:effectLst/>
                          <a:latin typeface="Times New Roman" panose="02020603050405020304" pitchFamily="18" charset="0"/>
                        </a:rPr>
                        <a:t>&gt;Conversion Tools&gt;From Raster&gt; </a:t>
                      </a:r>
                      <a:r>
                        <a:rPr kumimoji="0" lang="en-US" altLang="en-US" sz="1600" b="1" i="1" u="none" strike="noStrike" cap="none" normalizeH="0" baseline="0" dirty="0" smtClean="0">
                          <a:ln>
                            <a:noFill/>
                          </a:ln>
                          <a:solidFill>
                            <a:schemeClr val="tx1"/>
                          </a:solidFill>
                          <a:effectLst/>
                          <a:latin typeface="Times New Roman" panose="02020603050405020304" pitchFamily="18" charset="0"/>
                        </a:rPr>
                        <a:t>Raster to Point</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1" i="1" u="none" strike="noStrike" cap="none" normalizeH="0" baseline="0" dirty="0" smtClean="0">
                          <a:ln>
                            <a:noFill/>
                          </a:ln>
                          <a:solidFill>
                            <a:schemeClr val="tx1"/>
                          </a:solidFill>
                          <a:effectLst/>
                          <a:latin typeface="Times New Roman" panose="02020603050405020304" pitchFamily="18" charset="0"/>
                        </a:rPr>
                        <a:t>Raster to Polygon</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1" i="1" u="none" strike="noStrike" cap="none" normalizeH="0" baseline="0" dirty="0" smtClean="0">
                          <a:ln>
                            <a:noFill/>
                          </a:ln>
                          <a:solidFill>
                            <a:schemeClr val="tx1"/>
                          </a:solidFill>
                          <a:effectLst/>
                          <a:latin typeface="Times New Roman" panose="02020603050405020304" pitchFamily="18" charset="0"/>
                        </a:rPr>
                        <a:t>Raster to </a:t>
                      </a:r>
                      <a:r>
                        <a:rPr kumimoji="0" lang="en-US" altLang="en-US" sz="1600" b="1" i="1" u="none" strike="noStrike" cap="none" normalizeH="0" baseline="0" dirty="0" err="1" smtClean="0">
                          <a:ln>
                            <a:noFill/>
                          </a:ln>
                          <a:solidFill>
                            <a:schemeClr val="tx1"/>
                          </a:solidFill>
                          <a:effectLst/>
                          <a:latin typeface="Times New Roman" panose="02020603050405020304" pitchFamily="18" charset="0"/>
                        </a:rPr>
                        <a:t>PolyLine</a:t>
                      </a:r>
                      <a:endParaRPr kumimoji="0" lang="en-US" altLang="en-US" sz="1600" b="1" i="1"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rPr>
                        <a:t>Converts  raster datasets in GRID, IMAGINE, or TIFF formats to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rPr>
                        <a:t>shapefiles</a:t>
                      </a:r>
                      <a:r>
                        <a:rPr kumimoji="0" lang="en-US" altLang="en-US" sz="1400" b="0" i="0" u="none" strike="noStrike" cap="none" normalizeH="0" baseline="0" dirty="0" smtClean="0">
                          <a:ln>
                            <a:noFill/>
                          </a:ln>
                          <a:solidFill>
                            <a:schemeClr val="tx1"/>
                          </a:solidFill>
                          <a:effectLst/>
                          <a:latin typeface="Times New Roman" panose="02020603050405020304" pitchFamily="18" charset="0"/>
                        </a:rPr>
                        <a:t> or feature classes.</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1" u="none" strike="noStrike" cap="none" normalizeH="0" baseline="0" dirty="0" smtClean="0">
                          <a:ln>
                            <a:noFill/>
                          </a:ln>
                          <a:solidFill>
                            <a:schemeClr val="tx1"/>
                          </a:solidFill>
                          <a:effectLst/>
                          <a:latin typeface="Times New Roman" panose="02020603050405020304" pitchFamily="18" charset="0"/>
                        </a:rPr>
                        <a:t>       Results may not be what you expect!</a:t>
                      </a:r>
                      <a:endParaRPr kumimoji="0" lang="en-US" altLang="en-US" sz="1400" b="0"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rPr>
                        <a:t>Can also be accomplished thru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rPr>
                        <a:t>ArcCatalog</a:t>
                      </a:r>
                      <a:r>
                        <a:rPr kumimoji="0" lang="en-US" altLang="en-US" sz="1400" b="1" i="0" u="none" strike="noStrike" cap="none" normalizeH="0" baseline="0" dirty="0" smtClean="0">
                          <a:ln>
                            <a:noFill/>
                          </a:ln>
                          <a:solidFill>
                            <a:schemeClr val="tx1"/>
                          </a:solidFill>
                          <a:effectLst/>
                          <a:latin typeface="Times New Roman" panose="02020603050405020304" pitchFamily="18" charset="0"/>
                        </a:rPr>
                        <a:t>, Export</a:t>
                      </a:r>
                      <a:r>
                        <a:rPr kumimoji="0" lang="en-US" altLang="en-US" sz="1400" b="0" i="0" u="none" strike="noStrike" cap="none" normalizeH="0" baseline="0" dirty="0" smtClean="0">
                          <a:ln>
                            <a:noFill/>
                          </a:ln>
                          <a:solidFill>
                            <a:schemeClr val="tx1"/>
                          </a:solidFill>
                          <a:effectLst/>
                          <a:latin typeface="Times New Roman" panose="02020603050405020304" pitchFamily="18" charset="0"/>
                        </a:rPr>
                        <a:t> function</a:t>
                      </a:r>
                    </a:p>
                  </a:txBody>
                  <a:tcPr marT="45686" marB="4568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389345">
                <a:tc>
                  <a:txBody>
                    <a:bodyPr/>
                    <a:lstStyle>
                      <a:lvl1pPr>
                        <a:spcBef>
                          <a:spcPct val="20000"/>
                        </a:spcBef>
                        <a:buSzPct val="100000"/>
                        <a:defRPr sz="2800">
                          <a:solidFill>
                            <a:schemeClr val="tx1"/>
                          </a:solidFill>
                          <a:latin typeface="Times New Roman" panose="02020603050405020304" pitchFamily="18" charset="0"/>
                        </a:defRPr>
                      </a:lvl1pPr>
                      <a:lvl2pPr>
                        <a:spcBef>
                          <a:spcPct val="20000"/>
                        </a:spcBef>
                        <a:buSzPct val="100000"/>
                        <a:defRPr sz="2400">
                          <a:solidFill>
                            <a:schemeClr val="tx1"/>
                          </a:solidFill>
                          <a:latin typeface="Times New Roman" panose="02020603050405020304" pitchFamily="18" charset="0"/>
                        </a:defRPr>
                      </a:lvl2pPr>
                      <a:lvl3pPr>
                        <a:spcBef>
                          <a:spcPct val="20000"/>
                        </a:spcBef>
                        <a:buSzPct val="100000"/>
                        <a:defRPr sz="2000">
                          <a:solidFill>
                            <a:schemeClr val="tx1"/>
                          </a:solidFill>
                          <a:latin typeface="Times New Roman" panose="02020603050405020304" pitchFamily="18"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0" i="0" u="none" strike="noStrike" cap="none" normalizeH="0" baseline="0" smtClean="0">
                          <a:ln>
                            <a:noFill/>
                          </a:ln>
                          <a:solidFill>
                            <a:schemeClr val="tx1"/>
                          </a:solidFill>
                          <a:effectLst/>
                          <a:latin typeface="Times New Roman" panose="02020603050405020304" pitchFamily="18" charset="0"/>
                        </a:rPr>
                        <a:t>Arctoolbox&gt;Conversion Tools&gt;To Raster&gt; </a:t>
                      </a:r>
                      <a:r>
                        <a:rPr kumimoji="0" lang="en-US" altLang="en-US" sz="1600" b="1" i="1" u="none" strike="noStrike" cap="none" normalizeH="0" baseline="0" smtClean="0">
                          <a:ln>
                            <a:noFill/>
                          </a:ln>
                          <a:solidFill>
                            <a:schemeClr val="tx1"/>
                          </a:solidFill>
                          <a:effectLst/>
                          <a:latin typeface="Times New Roman" panose="02020603050405020304" pitchFamily="18" charset="0"/>
                        </a:rPr>
                        <a:t>Feature to Raster</a:t>
                      </a: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altLang="en-US" sz="1600" b="1" i="1" u="none" strike="noStrike" cap="none" normalizeH="0" baseline="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rPr>
                        <a:t>Converts any shapefile, coverage, or geodatabase feature class containing point, line, or polygon features to a raster dataset</a:t>
                      </a:r>
                      <a:r>
                        <a:rPr kumimoji="0" lang="en-US" altLang="en-US" sz="1000" b="0" i="0" u="none" strike="noStrike" cap="none" normalizeH="0" baseline="0" smtClean="0">
                          <a:ln>
                            <a:noFill/>
                          </a:ln>
                          <a:solidFill>
                            <a:schemeClr val="tx1"/>
                          </a:solidFill>
                          <a:effectLst/>
                          <a:latin typeface="Times New Roman" panose="02020603050405020304" pitchFamily="18" charset="0"/>
                        </a:rPr>
                        <a:t>                                                </a:t>
                      </a: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altLang="en-US" sz="1000" b="0" i="0" u="none" strike="noStrike" cap="none" normalizeH="0" baseline="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altLang="en-US" sz="1000" b="0" i="0" u="none" strike="noStrike" cap="none" normalizeH="0" baseline="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rPr>
                        <a:t>Can also be accomplished thru </a:t>
                      </a:r>
                      <a:r>
                        <a:rPr kumimoji="0" lang="en-US" altLang="en-US" sz="1400" b="1" i="0" u="none" strike="noStrike" cap="none" normalizeH="0" baseline="0" smtClean="0">
                          <a:ln>
                            <a:noFill/>
                          </a:ln>
                          <a:solidFill>
                            <a:schemeClr val="tx1"/>
                          </a:solidFill>
                          <a:effectLst/>
                          <a:latin typeface="Times New Roman" panose="02020603050405020304" pitchFamily="18" charset="0"/>
                        </a:rPr>
                        <a:t>ArcCatalog, Export</a:t>
                      </a:r>
                      <a:r>
                        <a:rPr kumimoji="0" lang="en-US" altLang="en-US" sz="1400" b="0" i="0" u="none" strike="noStrike" cap="none" normalizeH="0" baseline="0" smtClean="0">
                          <a:ln>
                            <a:noFill/>
                          </a:ln>
                          <a:solidFill>
                            <a:schemeClr val="tx1"/>
                          </a:solidFill>
                          <a:effectLst/>
                          <a:latin typeface="Times New Roman" panose="02020603050405020304" pitchFamily="18" charset="0"/>
                        </a:rPr>
                        <a:t> function.</a:t>
                      </a:r>
                    </a:p>
                  </a:txBody>
                  <a:tcPr marT="45686" marB="4568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SzPct val="100000"/>
                        <a:defRPr sz="2800">
                          <a:solidFill>
                            <a:schemeClr val="tx1"/>
                          </a:solidFill>
                          <a:latin typeface="Times New Roman" panose="02020603050405020304" pitchFamily="18" charset="0"/>
                        </a:defRPr>
                      </a:lvl1pPr>
                      <a:lvl2pPr>
                        <a:spcBef>
                          <a:spcPct val="20000"/>
                        </a:spcBef>
                        <a:buSzPct val="100000"/>
                        <a:defRPr sz="2400">
                          <a:solidFill>
                            <a:schemeClr val="tx1"/>
                          </a:solidFill>
                          <a:latin typeface="Times New Roman" panose="02020603050405020304" pitchFamily="18" charset="0"/>
                        </a:defRPr>
                      </a:lvl2pPr>
                      <a:lvl3pPr>
                        <a:spcBef>
                          <a:spcPct val="20000"/>
                        </a:spcBef>
                        <a:buSzPct val="100000"/>
                        <a:defRPr sz="2000">
                          <a:solidFill>
                            <a:schemeClr val="tx1"/>
                          </a:solidFill>
                          <a:latin typeface="Times New Roman" panose="02020603050405020304" pitchFamily="18"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0" i="0" u="none" strike="noStrike" cap="none" normalizeH="0" baseline="0" smtClean="0">
                          <a:ln>
                            <a:noFill/>
                          </a:ln>
                          <a:solidFill>
                            <a:schemeClr val="tx1"/>
                          </a:solidFill>
                          <a:effectLst/>
                          <a:latin typeface="Times New Roman" panose="02020603050405020304" pitchFamily="18" charset="0"/>
                        </a:rPr>
                        <a:t>Use </a:t>
                      </a:r>
                      <a:r>
                        <a:rPr kumimoji="0" lang="en-US" altLang="en-US" sz="1600" b="1" i="0" u="none" strike="noStrike" cap="none" normalizeH="0" baseline="0" smtClean="0">
                          <a:ln>
                            <a:noFill/>
                          </a:ln>
                          <a:solidFill>
                            <a:schemeClr val="tx1"/>
                          </a:solidFill>
                          <a:effectLst/>
                          <a:latin typeface="Times New Roman" panose="02020603050405020304" pitchFamily="18" charset="0"/>
                        </a:rPr>
                        <a:t>ArcCatalog, </a:t>
                      </a:r>
                      <a:r>
                        <a:rPr kumimoji="0" lang="en-US" altLang="en-US" sz="1600" b="1" i="1" u="none" strike="noStrike" cap="none" normalizeH="0" baseline="0" smtClean="0">
                          <a:ln>
                            <a:noFill/>
                          </a:ln>
                          <a:solidFill>
                            <a:schemeClr val="tx1"/>
                          </a:solidFill>
                          <a:effectLst/>
                          <a:latin typeface="Times New Roman" panose="02020603050405020304" pitchFamily="18" charset="0"/>
                        </a:rPr>
                        <a:t>Export</a:t>
                      </a:r>
                      <a:r>
                        <a:rPr kumimoji="0" lang="en-US" altLang="en-US" sz="1600" b="0" i="0" u="none" strike="noStrike" cap="none" normalizeH="0" baseline="0" smtClean="0">
                          <a:ln>
                            <a:noFill/>
                          </a:ln>
                          <a:solidFill>
                            <a:schemeClr val="tx1"/>
                          </a:solidFill>
                          <a:effectLst/>
                          <a:latin typeface="Times New Roman" panose="02020603050405020304" pitchFamily="18" charset="0"/>
                        </a:rPr>
                        <a:t> function for conversions between shapefiles, gdb feature classes, coverages and CAD</a:t>
                      </a: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altLang="en-US" sz="1600" b="0" i="0" u="none" strike="noStrike" cap="none" normalizeH="0" baseline="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600" b="0" i="0" u="none" strike="noStrike" cap="none" normalizeH="0" baseline="0" smtClean="0">
                          <a:ln>
                            <a:noFill/>
                          </a:ln>
                          <a:solidFill>
                            <a:schemeClr val="tx1"/>
                          </a:solidFill>
                          <a:effectLst/>
                          <a:latin typeface="Times New Roman" panose="02020603050405020304" pitchFamily="18" charset="0"/>
                        </a:rPr>
                        <a:t>ArcGIS </a:t>
                      </a:r>
                      <a:r>
                        <a:rPr kumimoji="0" lang="en-US" altLang="en-US" sz="1600" b="0" i="1" u="none" strike="noStrike" cap="none" normalizeH="0" baseline="0" smtClean="0">
                          <a:ln>
                            <a:noFill/>
                          </a:ln>
                          <a:solidFill>
                            <a:schemeClr val="tx1"/>
                          </a:solidFill>
                          <a:effectLst/>
                          <a:latin typeface="Times New Roman" panose="02020603050405020304" pitchFamily="18" charset="0"/>
                        </a:rPr>
                        <a:t>Data Interoperability</a:t>
                      </a:r>
                      <a:r>
                        <a:rPr kumimoji="0" lang="en-US" altLang="en-US" sz="1600" b="0" i="0" u="none" strike="noStrike" cap="none" normalizeH="0" baseline="0" smtClean="0">
                          <a:ln>
                            <a:noFill/>
                          </a:ln>
                          <a:solidFill>
                            <a:schemeClr val="tx1"/>
                          </a:solidFill>
                          <a:effectLst/>
                          <a:latin typeface="Times New Roman" panose="02020603050405020304" pitchFamily="18" charset="0"/>
                        </a:rPr>
                        <a:t> Extension</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rPr>
                        <a:t>for the most comprehensive set of conversions</a:t>
                      </a:r>
                      <a:r>
                        <a:rPr kumimoji="0" lang="en-US" altLang="en-US" sz="1800" b="0" i="0" u="none" strike="noStrike" cap="none" normalizeH="0" baseline="0" smtClean="0">
                          <a:ln>
                            <a:noFill/>
                          </a:ln>
                          <a:solidFill>
                            <a:schemeClr val="tx1"/>
                          </a:solidFill>
                          <a:effectLst/>
                          <a:latin typeface="Times New Roman" panose="02020603050405020304" pitchFamily="18" charset="0"/>
                        </a:rPr>
                        <a:t> </a:t>
                      </a:r>
                    </a:p>
                  </a:txBody>
                  <a:tcPr marT="45686" marB="4568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5070" name="Line 41"/>
          <p:cNvSpPr>
            <a:spLocks noChangeShapeType="1"/>
          </p:cNvSpPr>
          <p:nvPr/>
        </p:nvSpPr>
        <p:spPr bwMode="auto">
          <a:xfrm flipV="1">
            <a:off x="6553200" y="990600"/>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1" name="Line 42"/>
          <p:cNvSpPr>
            <a:spLocks noChangeShapeType="1"/>
          </p:cNvSpPr>
          <p:nvPr/>
        </p:nvSpPr>
        <p:spPr bwMode="auto">
          <a:xfrm flipH="1">
            <a:off x="1828800" y="3962400"/>
            <a:ext cx="990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2" name="Text Box 43"/>
          <p:cNvSpPr txBox="1">
            <a:spLocks noChangeArrowheads="1"/>
          </p:cNvSpPr>
          <p:nvPr/>
        </p:nvSpPr>
        <p:spPr bwMode="auto">
          <a:xfrm>
            <a:off x="4038600" y="1066800"/>
            <a:ext cx="12646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To Raster</a:t>
            </a:r>
          </a:p>
        </p:txBody>
      </p:sp>
      <p:sp>
        <p:nvSpPr>
          <p:cNvPr id="45073" name="Text Box 44"/>
          <p:cNvSpPr txBox="1">
            <a:spLocks noChangeArrowheads="1"/>
          </p:cNvSpPr>
          <p:nvPr/>
        </p:nvSpPr>
        <p:spPr bwMode="auto">
          <a:xfrm>
            <a:off x="1752600" y="2743201"/>
            <a:ext cx="9255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From</a:t>
            </a:r>
          </a:p>
          <a:p>
            <a:pPr>
              <a:spcBef>
                <a:spcPct val="0"/>
              </a:spcBef>
              <a:buClrTx/>
              <a:buFontTx/>
              <a:buNone/>
            </a:pPr>
            <a:r>
              <a:rPr lang="en-US" altLang="en-US" sz="1800" b="0"/>
              <a:t>Raster</a:t>
            </a:r>
          </a:p>
        </p:txBody>
      </p:sp>
      <p:sp>
        <p:nvSpPr>
          <p:cNvPr id="45074" name="Text Box 45"/>
          <p:cNvSpPr txBox="1">
            <a:spLocks noChangeArrowheads="1"/>
          </p:cNvSpPr>
          <p:nvPr/>
        </p:nvSpPr>
        <p:spPr bwMode="auto">
          <a:xfrm>
            <a:off x="1676400" y="4572001"/>
            <a:ext cx="9171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From</a:t>
            </a:r>
          </a:p>
          <a:p>
            <a:pPr>
              <a:spcBef>
                <a:spcPct val="0"/>
              </a:spcBef>
              <a:buClrTx/>
              <a:buFontTx/>
              <a:buNone/>
            </a:pPr>
            <a:r>
              <a:rPr lang="en-US" altLang="en-US" sz="1800" b="0"/>
              <a:t>Vector</a:t>
            </a:r>
          </a:p>
        </p:txBody>
      </p:sp>
      <p:sp>
        <p:nvSpPr>
          <p:cNvPr id="45075" name="Text Box 46"/>
          <p:cNvSpPr txBox="1">
            <a:spLocks noChangeArrowheads="1"/>
          </p:cNvSpPr>
          <p:nvPr/>
        </p:nvSpPr>
        <p:spPr bwMode="auto">
          <a:xfrm>
            <a:off x="7543801" y="990600"/>
            <a:ext cx="12562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To Vector</a:t>
            </a:r>
          </a:p>
        </p:txBody>
      </p:sp>
      <p:sp>
        <p:nvSpPr>
          <p:cNvPr id="45076" name="Rectangle 70"/>
          <p:cNvSpPr>
            <a:spLocks noChangeArrowheads="1"/>
          </p:cNvSpPr>
          <p:nvPr/>
        </p:nvSpPr>
        <p:spPr bwMode="auto">
          <a:xfrm>
            <a:off x="6934200" y="3276600"/>
            <a:ext cx="2667000" cy="1524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1"/>
            <a:ext cx="9144000" cy="765175"/>
          </a:xfrm>
        </p:spPr>
        <p:txBody>
          <a:bodyPr/>
          <a:lstStyle/>
          <a:p>
            <a:pPr>
              <a:defRPr/>
            </a:pPr>
            <a:r>
              <a:rPr lang="en-US" b="0" dirty="0" smtClean="0"/>
              <a:t>Step 4: </a:t>
            </a:r>
            <a:r>
              <a:rPr lang="en-US" altLang="en-US" dirty="0" smtClean="0"/>
              <a:t>Data Reduction</a:t>
            </a:r>
            <a:endParaRPr lang="en-US" altLang="en-US" dirty="0"/>
          </a:p>
        </p:txBody>
      </p:sp>
      <p:sp>
        <p:nvSpPr>
          <p:cNvPr id="320515" name="Rectangle 3"/>
          <p:cNvSpPr>
            <a:spLocks noGrp="1" noChangeArrowheads="1"/>
          </p:cNvSpPr>
          <p:nvPr>
            <p:ph type="body" idx="1"/>
          </p:nvPr>
        </p:nvSpPr>
        <p:spPr>
          <a:xfrm>
            <a:off x="2027239" y="765175"/>
            <a:ext cx="8137525" cy="4140200"/>
          </a:xfrm>
        </p:spPr>
        <p:txBody>
          <a:bodyPr>
            <a:normAutofit fontScale="70000" lnSpcReduction="20000"/>
          </a:bodyPr>
          <a:lstStyle/>
          <a:p>
            <a:pPr>
              <a:spcAft>
                <a:spcPts val="600"/>
              </a:spcAft>
              <a:defRPr/>
            </a:pPr>
            <a:r>
              <a:rPr lang="en-US" altLang="en-US" dirty="0"/>
              <a:t>Why?</a:t>
            </a:r>
          </a:p>
          <a:p>
            <a:pPr marL="822960">
              <a:spcAft>
                <a:spcPts val="600"/>
              </a:spcAft>
              <a:buFont typeface="Wingdings" panose="05000000000000000000" pitchFamily="2" charset="2"/>
              <a:buChar char="ü"/>
              <a:defRPr/>
            </a:pPr>
            <a:r>
              <a:rPr lang="en-US" altLang="en-US" sz="2400" dirty="0"/>
              <a:t>conserve space</a:t>
            </a:r>
          </a:p>
          <a:p>
            <a:pPr marL="1188720">
              <a:spcAft>
                <a:spcPts val="600"/>
              </a:spcAft>
              <a:buFont typeface="Wingdings" panose="05000000000000000000" pitchFamily="2" charset="2"/>
              <a:buChar char="§"/>
              <a:defRPr/>
            </a:pPr>
            <a:r>
              <a:rPr lang="en-US" altLang="en-US" sz="2000" dirty="0"/>
              <a:t>Disk in past / bandwidth today</a:t>
            </a:r>
          </a:p>
          <a:p>
            <a:pPr marL="822960">
              <a:spcAft>
                <a:spcPts val="600"/>
              </a:spcAft>
              <a:buFont typeface="Wingdings" panose="05000000000000000000" pitchFamily="2" charset="2"/>
              <a:buChar char="ü"/>
              <a:defRPr/>
            </a:pPr>
            <a:r>
              <a:rPr lang="en-US" altLang="en-US" sz="2400" dirty="0"/>
              <a:t>conserve time</a:t>
            </a:r>
          </a:p>
          <a:p>
            <a:pPr marL="1188720">
              <a:spcAft>
                <a:spcPts val="600"/>
              </a:spcAft>
              <a:buFont typeface="Wingdings" panose="05000000000000000000" pitchFamily="2" charset="2"/>
              <a:buChar char="§"/>
              <a:defRPr/>
            </a:pPr>
            <a:r>
              <a:rPr lang="en-US" altLang="en-US" sz="2000" dirty="0"/>
              <a:t>reduce processing time (batch) / speed response time (interactive)</a:t>
            </a:r>
          </a:p>
          <a:p>
            <a:pPr>
              <a:spcAft>
                <a:spcPts val="600"/>
              </a:spcAft>
              <a:defRPr/>
            </a:pPr>
            <a:r>
              <a:rPr lang="en-US" altLang="en-US" dirty="0"/>
              <a:t>Resampling (raster data)</a:t>
            </a:r>
          </a:p>
          <a:p>
            <a:pPr marL="822960">
              <a:spcAft>
                <a:spcPts val="600"/>
              </a:spcAft>
              <a:buFont typeface="Wingdings" panose="05000000000000000000" pitchFamily="2" charset="2"/>
              <a:buChar char="ü"/>
              <a:defRPr/>
            </a:pPr>
            <a:r>
              <a:rPr lang="en-US" altLang="en-US" sz="2400" dirty="0"/>
              <a:t>‘average’ the 4 values in a 2by2 neighborhood </a:t>
            </a:r>
          </a:p>
          <a:p>
            <a:pPr marL="822960">
              <a:spcAft>
                <a:spcPts val="600"/>
              </a:spcAft>
              <a:buFont typeface="Wingdings" panose="05000000000000000000" pitchFamily="2" charset="2"/>
              <a:buChar char="ü"/>
              <a:defRPr/>
            </a:pPr>
            <a:r>
              <a:rPr lang="en-US" altLang="en-US" sz="2400" dirty="0"/>
              <a:t>use this 1 value in a single cell occupying the location of the 4 original cells</a:t>
            </a:r>
          </a:p>
          <a:p>
            <a:pPr marL="822960">
              <a:spcAft>
                <a:spcPts val="600"/>
              </a:spcAft>
              <a:buFont typeface="Wingdings" panose="05000000000000000000" pitchFamily="2" charset="2"/>
              <a:buChar char="ü"/>
              <a:defRPr/>
            </a:pPr>
            <a:r>
              <a:rPr lang="en-US" altLang="en-US" sz="2400" dirty="0"/>
              <a:t>use mean for interval data;  rules required for ordinal or nominal data</a:t>
            </a:r>
          </a:p>
          <a:p>
            <a:pPr marL="822960">
              <a:spcAft>
                <a:spcPts val="600"/>
              </a:spcAft>
              <a:buFont typeface="Wingdings" panose="05000000000000000000" pitchFamily="2" charset="2"/>
              <a:buChar char="ü"/>
              <a:defRPr/>
            </a:pPr>
            <a:r>
              <a:rPr lang="en-US" altLang="en-US" sz="2400" dirty="0"/>
              <a:t>not transitive!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500"/>
                                        <p:tgtEl>
                                          <p:spTgt spid="320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500"/>
                                        <p:tgtEl>
                                          <p:spTgt spid="320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0515">
                                            <p:txEl>
                                              <p:pRg st="5" end="5"/>
                                            </p:txEl>
                                          </p:spTgt>
                                        </p:tgtEl>
                                        <p:attrNameLst>
                                          <p:attrName>style.visibility</p:attrName>
                                        </p:attrNameLst>
                                      </p:cBhvr>
                                      <p:to>
                                        <p:strVal val="visible"/>
                                      </p:to>
                                    </p:set>
                                    <p:animEffect transition="in" filter="fade">
                                      <p:cBhvr>
                                        <p:cTn id="32" dur="500"/>
                                        <p:tgtEl>
                                          <p:spTgt spid="320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0515">
                                            <p:txEl>
                                              <p:pRg st="6" end="6"/>
                                            </p:txEl>
                                          </p:spTgt>
                                        </p:tgtEl>
                                        <p:attrNameLst>
                                          <p:attrName>style.visibility</p:attrName>
                                        </p:attrNameLst>
                                      </p:cBhvr>
                                      <p:to>
                                        <p:strVal val="visible"/>
                                      </p:to>
                                    </p:set>
                                    <p:animEffect transition="in" filter="fade">
                                      <p:cBhvr>
                                        <p:cTn id="37" dur="500"/>
                                        <p:tgtEl>
                                          <p:spTgt spid="3205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0515">
                                            <p:txEl>
                                              <p:pRg st="7" end="7"/>
                                            </p:txEl>
                                          </p:spTgt>
                                        </p:tgtEl>
                                        <p:attrNameLst>
                                          <p:attrName>style.visibility</p:attrName>
                                        </p:attrNameLst>
                                      </p:cBhvr>
                                      <p:to>
                                        <p:strVal val="visible"/>
                                      </p:to>
                                    </p:set>
                                    <p:animEffect transition="in" filter="fade">
                                      <p:cBhvr>
                                        <p:cTn id="42" dur="500"/>
                                        <p:tgtEl>
                                          <p:spTgt spid="3205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20515">
                                            <p:txEl>
                                              <p:pRg st="8" end="8"/>
                                            </p:txEl>
                                          </p:spTgt>
                                        </p:tgtEl>
                                        <p:attrNameLst>
                                          <p:attrName>style.visibility</p:attrName>
                                        </p:attrNameLst>
                                      </p:cBhvr>
                                      <p:to>
                                        <p:strVal val="visible"/>
                                      </p:to>
                                    </p:set>
                                    <p:animEffect transition="in" filter="fade">
                                      <p:cBhvr>
                                        <p:cTn id="47" dur="500"/>
                                        <p:tgtEl>
                                          <p:spTgt spid="32051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0515">
                                            <p:txEl>
                                              <p:pRg st="9" end="9"/>
                                            </p:txEl>
                                          </p:spTgt>
                                        </p:tgtEl>
                                        <p:attrNameLst>
                                          <p:attrName>style.visibility</p:attrName>
                                        </p:attrNameLst>
                                      </p:cBhvr>
                                      <p:to>
                                        <p:strVal val="visible"/>
                                      </p:to>
                                    </p:set>
                                    <p:animEffect transition="in" filter="fade">
                                      <p:cBhvr>
                                        <p:cTn id="52" dur="500"/>
                                        <p:tgtEl>
                                          <p:spTgt spid="3205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1524000" y="0"/>
            <a:ext cx="9144000" cy="908050"/>
          </a:xfrm>
        </p:spPr>
        <p:txBody>
          <a:bodyPr/>
          <a:lstStyle/>
          <a:p>
            <a:pPr>
              <a:defRPr/>
            </a:pPr>
            <a:r>
              <a:rPr lang="en-US" b="0" dirty="0" smtClean="0"/>
              <a:t>Step 4: </a:t>
            </a:r>
            <a:r>
              <a:rPr lang="en-US" altLang="en-US" dirty="0" smtClean="0"/>
              <a:t>Data Reduction</a:t>
            </a:r>
            <a:endParaRPr lang="en-US" altLang="en-US" dirty="0"/>
          </a:p>
        </p:txBody>
      </p:sp>
      <p:sp>
        <p:nvSpPr>
          <p:cNvPr id="320515" name="Rectangle 3"/>
          <p:cNvSpPr>
            <a:spLocks noGrp="1" noChangeArrowheads="1"/>
          </p:cNvSpPr>
          <p:nvPr>
            <p:ph type="body" idx="1"/>
          </p:nvPr>
        </p:nvSpPr>
        <p:spPr>
          <a:xfrm>
            <a:off x="2027239" y="5013325"/>
            <a:ext cx="8137525" cy="1404938"/>
          </a:xfrm>
        </p:spPr>
        <p:txBody>
          <a:bodyPr>
            <a:normAutofit lnSpcReduction="10000"/>
          </a:bodyPr>
          <a:lstStyle/>
          <a:p>
            <a:pPr>
              <a:spcAft>
                <a:spcPts val="600"/>
              </a:spcAft>
              <a:defRPr/>
            </a:pPr>
            <a:r>
              <a:rPr lang="en-US" altLang="en-US" dirty="0"/>
              <a:t>Why?</a:t>
            </a:r>
          </a:p>
          <a:p>
            <a:pPr marL="822960">
              <a:spcAft>
                <a:spcPts val="600"/>
              </a:spcAft>
              <a:buFont typeface="Wingdings" panose="05000000000000000000" pitchFamily="2" charset="2"/>
              <a:buChar char="ü"/>
              <a:defRPr/>
            </a:pPr>
            <a:r>
              <a:rPr lang="en-US" altLang="en-US" sz="2400" dirty="0"/>
              <a:t>conserve space</a:t>
            </a:r>
          </a:p>
          <a:p>
            <a:pPr marL="1188720">
              <a:spcAft>
                <a:spcPts val="600"/>
              </a:spcAft>
              <a:buFont typeface="Wingdings" panose="05000000000000000000" pitchFamily="2" charset="2"/>
              <a:buChar char="§"/>
              <a:defRPr/>
            </a:pPr>
            <a:r>
              <a:rPr lang="en-US" altLang="en-US" sz="2000" dirty="0"/>
              <a:t>Disk in past / bandwidth today</a:t>
            </a:r>
          </a:p>
        </p:txBody>
      </p:sp>
      <p:grpSp>
        <p:nvGrpSpPr>
          <p:cNvPr id="13" name="Group 58"/>
          <p:cNvGrpSpPr>
            <a:grpSpLocks/>
          </p:cNvGrpSpPr>
          <p:nvPr/>
        </p:nvGrpSpPr>
        <p:grpSpPr bwMode="auto">
          <a:xfrm rot="10800000">
            <a:off x="6348413" y="1128713"/>
            <a:ext cx="1066800" cy="2011362"/>
            <a:chOff x="3077" y="1497"/>
            <a:chExt cx="751" cy="1555"/>
          </a:xfrm>
        </p:grpSpPr>
        <p:sp>
          <p:nvSpPr>
            <p:cNvPr id="48148" name="AutoShape 59"/>
            <p:cNvSpPr>
              <a:spLocks noChangeArrowheads="1"/>
            </p:cNvSpPr>
            <p:nvPr/>
          </p:nvSpPr>
          <p:spPr bwMode="auto">
            <a:xfrm>
              <a:off x="3077" y="1497"/>
              <a:ext cx="569" cy="406"/>
            </a:xfrm>
            <a:prstGeom prst="parallelogram">
              <a:avLst>
                <a:gd name="adj" fmla="val 3503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49" name="AutoShape 60"/>
            <p:cNvSpPr>
              <a:spLocks noChangeArrowheads="1"/>
            </p:cNvSpPr>
            <p:nvPr/>
          </p:nvSpPr>
          <p:spPr bwMode="auto">
            <a:xfrm>
              <a:off x="3149" y="2025"/>
              <a:ext cx="569" cy="406"/>
            </a:xfrm>
            <a:prstGeom prst="parallelogram">
              <a:avLst>
                <a:gd name="adj" fmla="val 3503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50" name="Line 61"/>
            <p:cNvSpPr>
              <a:spLocks noChangeShapeType="1"/>
            </p:cNvSpPr>
            <p:nvPr/>
          </p:nvSpPr>
          <p:spPr bwMode="auto">
            <a:xfrm>
              <a:off x="3242" y="2211"/>
              <a:ext cx="427"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1" name="Line 62"/>
            <p:cNvSpPr>
              <a:spLocks noChangeShapeType="1"/>
            </p:cNvSpPr>
            <p:nvPr/>
          </p:nvSpPr>
          <p:spPr bwMode="auto">
            <a:xfrm flipH="1">
              <a:off x="3360" y="2039"/>
              <a:ext cx="150" cy="415"/>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152" name="Group 63"/>
            <p:cNvGrpSpPr>
              <a:grpSpLocks/>
            </p:cNvGrpSpPr>
            <p:nvPr/>
          </p:nvGrpSpPr>
          <p:grpSpPr bwMode="auto">
            <a:xfrm>
              <a:off x="3210" y="2597"/>
              <a:ext cx="618" cy="455"/>
              <a:chOff x="3028" y="2404"/>
              <a:chExt cx="583" cy="422"/>
            </a:xfrm>
          </p:grpSpPr>
          <p:sp>
            <p:nvSpPr>
              <p:cNvPr id="48153" name="AutoShape 64"/>
              <p:cNvSpPr>
                <a:spLocks noChangeArrowheads="1"/>
              </p:cNvSpPr>
              <p:nvPr/>
            </p:nvSpPr>
            <p:spPr bwMode="auto">
              <a:xfrm>
                <a:off x="3028" y="2404"/>
                <a:ext cx="583" cy="401"/>
              </a:xfrm>
              <a:prstGeom prst="parallelogram">
                <a:avLst>
                  <a:gd name="adj" fmla="val 3634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54" name="Line 65"/>
              <p:cNvSpPr>
                <a:spLocks noChangeShapeType="1"/>
              </p:cNvSpPr>
              <p:nvPr/>
            </p:nvSpPr>
            <p:spPr bwMode="auto">
              <a:xfrm>
                <a:off x="3112" y="2596"/>
                <a:ext cx="43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5" name="Line 66"/>
              <p:cNvSpPr>
                <a:spLocks noChangeShapeType="1"/>
              </p:cNvSpPr>
              <p:nvPr/>
            </p:nvSpPr>
            <p:spPr bwMode="auto">
              <a:xfrm flipH="1">
                <a:off x="3244" y="2417"/>
                <a:ext cx="154" cy="40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6" name="Line 67"/>
              <p:cNvSpPr>
                <a:spLocks noChangeShapeType="1"/>
              </p:cNvSpPr>
              <p:nvPr/>
            </p:nvSpPr>
            <p:spPr bwMode="auto">
              <a:xfrm flipH="1">
                <a:off x="3354" y="2404"/>
                <a:ext cx="143" cy="40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7" name="Line 68"/>
              <p:cNvSpPr>
                <a:spLocks noChangeShapeType="1"/>
              </p:cNvSpPr>
              <p:nvPr/>
            </p:nvSpPr>
            <p:spPr bwMode="auto">
              <a:xfrm flipH="1">
                <a:off x="3143" y="2416"/>
                <a:ext cx="143" cy="40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8" name="Line 69"/>
              <p:cNvSpPr>
                <a:spLocks noChangeShapeType="1"/>
              </p:cNvSpPr>
              <p:nvPr/>
            </p:nvSpPr>
            <p:spPr bwMode="auto">
              <a:xfrm>
                <a:off x="3142" y="2496"/>
                <a:ext cx="43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9" name="Line 70"/>
              <p:cNvSpPr>
                <a:spLocks noChangeShapeType="1"/>
              </p:cNvSpPr>
              <p:nvPr/>
            </p:nvSpPr>
            <p:spPr bwMode="auto">
              <a:xfrm>
                <a:off x="3074" y="2697"/>
                <a:ext cx="43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6" name="Text Box 72"/>
          <p:cNvSpPr txBox="1">
            <a:spLocks noChangeArrowheads="1"/>
          </p:cNvSpPr>
          <p:nvPr/>
        </p:nvSpPr>
        <p:spPr bwMode="auto">
          <a:xfrm>
            <a:off x="7415213" y="1296989"/>
            <a:ext cx="74411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16 bytes</a:t>
            </a:r>
          </a:p>
        </p:txBody>
      </p:sp>
      <p:sp>
        <p:nvSpPr>
          <p:cNvPr id="27" name="Text Box 73"/>
          <p:cNvSpPr txBox="1">
            <a:spLocks noChangeArrowheads="1"/>
          </p:cNvSpPr>
          <p:nvPr/>
        </p:nvSpPr>
        <p:spPr bwMode="auto">
          <a:xfrm>
            <a:off x="7500939" y="2049464"/>
            <a:ext cx="66236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4 bytes</a:t>
            </a:r>
          </a:p>
        </p:txBody>
      </p:sp>
      <p:sp>
        <p:nvSpPr>
          <p:cNvPr id="28" name="Text Box 74"/>
          <p:cNvSpPr txBox="1">
            <a:spLocks noChangeArrowheads="1"/>
          </p:cNvSpPr>
          <p:nvPr/>
        </p:nvSpPr>
        <p:spPr bwMode="auto">
          <a:xfrm>
            <a:off x="7720014" y="2716214"/>
            <a:ext cx="59503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1 byte</a:t>
            </a:r>
          </a:p>
        </p:txBody>
      </p:sp>
      <p:grpSp>
        <p:nvGrpSpPr>
          <p:cNvPr id="29" name="Group 71"/>
          <p:cNvGrpSpPr>
            <a:grpSpLocks/>
          </p:cNvGrpSpPr>
          <p:nvPr/>
        </p:nvGrpSpPr>
        <p:grpSpPr bwMode="auto">
          <a:xfrm>
            <a:off x="2603500" y="1114425"/>
            <a:ext cx="990600" cy="776288"/>
            <a:chOff x="384" y="2928"/>
            <a:chExt cx="624" cy="489"/>
          </a:xfrm>
        </p:grpSpPr>
        <p:sp>
          <p:nvSpPr>
            <p:cNvPr id="48141" name="Rectangle 35"/>
            <p:cNvSpPr>
              <a:spLocks noChangeArrowheads="1"/>
            </p:cNvSpPr>
            <p:nvPr/>
          </p:nvSpPr>
          <p:spPr bwMode="auto">
            <a:xfrm>
              <a:off x="384" y="2937"/>
              <a:ext cx="624" cy="48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42" name="Line 36"/>
            <p:cNvSpPr>
              <a:spLocks noChangeShapeType="1"/>
            </p:cNvSpPr>
            <p:nvPr/>
          </p:nvSpPr>
          <p:spPr bwMode="auto">
            <a:xfrm>
              <a:off x="672" y="2937"/>
              <a:ext cx="0"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43" name="Line 37"/>
            <p:cNvSpPr>
              <a:spLocks noChangeShapeType="1"/>
            </p:cNvSpPr>
            <p:nvPr/>
          </p:nvSpPr>
          <p:spPr bwMode="auto">
            <a:xfrm>
              <a:off x="384" y="3177"/>
              <a:ext cx="62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44" name="Text Box 38"/>
            <p:cNvSpPr txBox="1">
              <a:spLocks noChangeArrowheads="1"/>
            </p:cNvSpPr>
            <p:nvPr/>
          </p:nvSpPr>
          <p:spPr bwMode="auto">
            <a:xfrm>
              <a:off x="470" y="2928"/>
              <a:ext cx="19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3</a:t>
              </a:r>
            </a:p>
          </p:txBody>
        </p:sp>
        <p:sp>
          <p:nvSpPr>
            <p:cNvPr id="48145" name="Text Box 39"/>
            <p:cNvSpPr txBox="1">
              <a:spLocks noChangeArrowheads="1"/>
            </p:cNvSpPr>
            <p:nvPr/>
          </p:nvSpPr>
          <p:spPr bwMode="auto">
            <a:xfrm>
              <a:off x="432" y="3177"/>
              <a:ext cx="19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2</a:t>
              </a:r>
            </a:p>
          </p:txBody>
        </p:sp>
        <p:sp>
          <p:nvSpPr>
            <p:cNvPr id="48146" name="Text Box 40"/>
            <p:cNvSpPr txBox="1">
              <a:spLocks noChangeArrowheads="1"/>
            </p:cNvSpPr>
            <p:nvPr/>
          </p:nvSpPr>
          <p:spPr bwMode="auto">
            <a:xfrm>
              <a:off x="768" y="3177"/>
              <a:ext cx="19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4</a:t>
              </a:r>
            </a:p>
          </p:txBody>
        </p:sp>
        <p:sp>
          <p:nvSpPr>
            <p:cNvPr id="48147" name="Text Box 41"/>
            <p:cNvSpPr txBox="1">
              <a:spLocks noChangeArrowheads="1"/>
            </p:cNvSpPr>
            <p:nvPr/>
          </p:nvSpPr>
          <p:spPr bwMode="auto">
            <a:xfrm>
              <a:off x="768" y="2937"/>
              <a:ext cx="19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7</a:t>
              </a:r>
            </a:p>
          </p:txBody>
        </p:sp>
      </p:grpSp>
      <p:grpSp>
        <p:nvGrpSpPr>
          <p:cNvPr id="37" name="Group 36"/>
          <p:cNvGrpSpPr>
            <a:grpSpLocks/>
          </p:cNvGrpSpPr>
          <p:nvPr/>
        </p:nvGrpSpPr>
        <p:grpSpPr bwMode="auto">
          <a:xfrm>
            <a:off x="2530475" y="2689225"/>
            <a:ext cx="990600" cy="762000"/>
            <a:chOff x="609600" y="5562600"/>
            <a:chExt cx="990600" cy="762000"/>
          </a:xfrm>
        </p:grpSpPr>
        <p:sp>
          <p:nvSpPr>
            <p:cNvPr id="48139" name="Rectangle 42"/>
            <p:cNvSpPr>
              <a:spLocks noChangeArrowheads="1"/>
            </p:cNvSpPr>
            <p:nvPr/>
          </p:nvSpPr>
          <p:spPr bwMode="auto">
            <a:xfrm>
              <a:off x="609600" y="5562600"/>
              <a:ext cx="990600" cy="7620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40" name="Text Box 43"/>
            <p:cNvSpPr txBox="1">
              <a:spLocks noChangeArrowheads="1"/>
            </p:cNvSpPr>
            <p:nvPr/>
          </p:nvSpPr>
          <p:spPr bwMode="auto">
            <a:xfrm>
              <a:off x="990600" y="5791200"/>
              <a:ext cx="31451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4</a:t>
              </a:r>
            </a:p>
          </p:txBody>
        </p:sp>
      </p:grpSp>
      <p:cxnSp>
        <p:nvCxnSpPr>
          <p:cNvPr id="3" name="Straight Arrow Connector 2"/>
          <p:cNvCxnSpPr/>
          <p:nvPr/>
        </p:nvCxnSpPr>
        <p:spPr>
          <a:xfrm>
            <a:off x="3060700" y="1890714"/>
            <a:ext cx="0" cy="77787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500"/>
                                        <p:tgtEl>
                                          <p:spTgt spid="320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500"/>
                                        <p:tgtEl>
                                          <p:spTgt spid="320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500"/>
                                        <p:tgtEl>
                                          <p:spTgt spid="320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randombar(horizontal)">
                                      <p:cBhvr>
                                        <p:cTn id="22" dur="5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randombar(horizontal)">
                                      <p:cBhvr>
                                        <p:cTn id="32" dur="500"/>
                                        <p:tgtEl>
                                          <p:spTgt spid="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randombar(horizontal)">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P spid="26" grpId="0"/>
      <p:bldP spid="27" grpId="0"/>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524000" y="152400"/>
            <a:ext cx="9144000" cy="609600"/>
          </a:xfrm>
        </p:spPr>
        <p:txBody>
          <a:bodyPr>
            <a:normAutofit fontScale="90000"/>
          </a:bodyPr>
          <a:lstStyle/>
          <a:p>
            <a:pPr>
              <a:defRPr/>
            </a:pPr>
            <a:r>
              <a:rPr lang="en-US" altLang="en-US" b="0" dirty="0" smtClean="0"/>
              <a:t>Step 5: </a:t>
            </a:r>
            <a:r>
              <a:rPr lang="en-US" altLang="en-US" dirty="0" smtClean="0"/>
              <a:t>Error detection &amp; </a:t>
            </a:r>
            <a:r>
              <a:rPr lang="en-US" altLang="en-US" dirty="0"/>
              <a:t>removal</a:t>
            </a:r>
          </a:p>
        </p:txBody>
      </p:sp>
      <p:sp>
        <p:nvSpPr>
          <p:cNvPr id="31747" name="Rectangle 3"/>
          <p:cNvSpPr>
            <a:spLocks noGrp="1" noChangeArrowheads="1"/>
          </p:cNvSpPr>
          <p:nvPr>
            <p:ph type="body" idx="1"/>
          </p:nvPr>
        </p:nvSpPr>
        <p:spPr>
          <a:xfrm>
            <a:off x="1919288" y="1016001"/>
            <a:ext cx="8748712" cy="4968875"/>
          </a:xfrm>
          <a:noFill/>
        </p:spPr>
        <p:txBody>
          <a:bodyPr/>
          <a:lstStyle/>
          <a:p>
            <a:pPr>
              <a:spcAft>
                <a:spcPts val="1200"/>
              </a:spcAft>
            </a:pPr>
            <a:r>
              <a:rPr lang="en-US" altLang="en-US"/>
              <a:t>GIS packages commonly use topological structure checking to detect errors  </a:t>
            </a:r>
          </a:p>
          <a:p>
            <a:pPr>
              <a:spcAft>
                <a:spcPts val="1200"/>
              </a:spcAft>
            </a:pPr>
            <a:r>
              <a:rPr lang="en-US" altLang="en-US"/>
              <a:t>Editing based on node snapping used to correct errors: moving a feature so its coordinates correspond exactly with another’s</a:t>
            </a:r>
          </a:p>
          <a:p>
            <a:pPr>
              <a:spcAft>
                <a:spcPts val="1200"/>
              </a:spcAft>
            </a:pPr>
            <a:r>
              <a:rPr lang="en-US" altLang="en-US"/>
              <a:t>snapping conducted based on tolerances -- snap if  within  1 foot, for example</a:t>
            </a:r>
          </a:p>
          <a:p>
            <a:pPr>
              <a:spcAft>
                <a:spcPts val="1200"/>
              </a:spcAft>
            </a:pPr>
            <a:r>
              <a:rPr lang="en-US" altLang="en-US"/>
              <a:t>Care must always be taken to assure that topological “cleaning” does not itself introduce errors (e.g. snapping nodes  and lines together which shouldn’t be)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fade">
                                      <p:cBhvr>
                                        <p:cTn id="17" dur="500"/>
                                        <p:tgtEl>
                                          <p:spTgt spid="317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fade">
                                      <p:cBhvr>
                                        <p:cTn id="22" dur="5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524000" y="63500"/>
            <a:ext cx="9144000" cy="762000"/>
          </a:xfrm>
        </p:spPr>
        <p:txBody>
          <a:bodyPr/>
          <a:lstStyle/>
          <a:p>
            <a:pPr>
              <a:defRPr/>
            </a:pPr>
            <a:r>
              <a:rPr lang="en-US" altLang="en-US" dirty="0" smtClean="0"/>
              <a:t>common </a:t>
            </a:r>
            <a:r>
              <a:rPr lang="en-US" altLang="en-US" dirty="0"/>
              <a:t>problems</a:t>
            </a:r>
          </a:p>
        </p:txBody>
      </p:sp>
      <p:grpSp>
        <p:nvGrpSpPr>
          <p:cNvPr id="29705" name="Group 9"/>
          <p:cNvGrpSpPr>
            <a:grpSpLocks/>
          </p:cNvGrpSpPr>
          <p:nvPr/>
        </p:nvGrpSpPr>
        <p:grpSpPr bwMode="auto">
          <a:xfrm>
            <a:off x="3248026" y="1058863"/>
            <a:ext cx="1368425" cy="215900"/>
            <a:chOff x="3268" y="1252"/>
            <a:chExt cx="862" cy="136"/>
          </a:xfrm>
        </p:grpSpPr>
        <p:sp>
          <p:nvSpPr>
            <p:cNvPr id="51243" name="Rectangle 7"/>
            <p:cNvSpPr>
              <a:spLocks noChangeArrowheads="1"/>
            </p:cNvSpPr>
            <p:nvPr/>
          </p:nvSpPr>
          <p:spPr bwMode="auto">
            <a:xfrm>
              <a:off x="3268" y="1252"/>
              <a:ext cx="136" cy="1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44" name="Line 8"/>
            <p:cNvSpPr>
              <a:spLocks noChangeShapeType="1"/>
            </p:cNvSpPr>
            <p:nvPr/>
          </p:nvSpPr>
          <p:spPr bwMode="auto">
            <a:xfrm>
              <a:off x="3410" y="1320"/>
              <a:ext cx="72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9711" name="Group 15"/>
          <p:cNvGrpSpPr>
            <a:grpSpLocks/>
          </p:cNvGrpSpPr>
          <p:nvPr/>
        </p:nvGrpSpPr>
        <p:grpSpPr bwMode="auto">
          <a:xfrm>
            <a:off x="3257550" y="1579563"/>
            <a:ext cx="1295400" cy="304800"/>
            <a:chOff x="3360" y="2064"/>
            <a:chExt cx="816" cy="192"/>
          </a:xfrm>
        </p:grpSpPr>
        <p:sp>
          <p:nvSpPr>
            <p:cNvPr id="51241" name="Line 13"/>
            <p:cNvSpPr>
              <a:spLocks noChangeShapeType="1"/>
            </p:cNvSpPr>
            <p:nvPr/>
          </p:nvSpPr>
          <p:spPr bwMode="auto">
            <a:xfrm>
              <a:off x="3360" y="2160"/>
              <a:ext cx="81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42" name="Line 14"/>
            <p:cNvSpPr>
              <a:spLocks noChangeShapeType="1"/>
            </p:cNvSpPr>
            <p:nvPr/>
          </p:nvSpPr>
          <p:spPr bwMode="auto">
            <a:xfrm>
              <a:off x="3792" y="2064"/>
              <a:ext cx="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9727" name="Group 31"/>
          <p:cNvGrpSpPr>
            <a:grpSpLocks/>
          </p:cNvGrpSpPr>
          <p:nvPr/>
        </p:nvGrpSpPr>
        <p:grpSpPr bwMode="auto">
          <a:xfrm>
            <a:off x="3336925" y="2112963"/>
            <a:ext cx="1136650" cy="298450"/>
            <a:chOff x="3600" y="2356"/>
            <a:chExt cx="716" cy="188"/>
          </a:xfrm>
        </p:grpSpPr>
        <p:sp>
          <p:nvSpPr>
            <p:cNvPr id="51238" name="Rectangle 6"/>
            <p:cNvSpPr>
              <a:spLocks noChangeArrowheads="1"/>
            </p:cNvSpPr>
            <p:nvPr/>
          </p:nvSpPr>
          <p:spPr bwMode="auto">
            <a:xfrm>
              <a:off x="4180" y="2356"/>
              <a:ext cx="136" cy="1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39" name="Line 16"/>
            <p:cNvSpPr>
              <a:spLocks noChangeShapeType="1"/>
            </p:cNvSpPr>
            <p:nvPr/>
          </p:nvSpPr>
          <p:spPr bwMode="auto">
            <a:xfrm>
              <a:off x="3600" y="2448"/>
              <a:ext cx="57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40" name="Line 17"/>
            <p:cNvSpPr>
              <a:spLocks noChangeShapeType="1"/>
            </p:cNvSpPr>
            <p:nvPr/>
          </p:nvSpPr>
          <p:spPr bwMode="auto">
            <a:xfrm>
              <a:off x="3936" y="2400"/>
              <a:ext cx="0" cy="14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9728" name="Group 32"/>
          <p:cNvGrpSpPr>
            <a:grpSpLocks/>
          </p:cNvGrpSpPr>
          <p:nvPr/>
        </p:nvGrpSpPr>
        <p:grpSpPr bwMode="auto">
          <a:xfrm>
            <a:off x="3448050" y="2646363"/>
            <a:ext cx="990600" cy="381000"/>
            <a:chOff x="4224" y="2592"/>
            <a:chExt cx="624" cy="240"/>
          </a:xfrm>
        </p:grpSpPr>
        <p:sp>
          <p:nvSpPr>
            <p:cNvPr id="51235" name="Rectangle 5"/>
            <p:cNvSpPr>
              <a:spLocks noChangeArrowheads="1"/>
            </p:cNvSpPr>
            <p:nvPr/>
          </p:nvSpPr>
          <p:spPr bwMode="auto">
            <a:xfrm>
              <a:off x="4612" y="2644"/>
              <a:ext cx="136" cy="1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36" name="Line 18"/>
            <p:cNvSpPr>
              <a:spLocks noChangeShapeType="1"/>
            </p:cNvSpPr>
            <p:nvPr/>
          </p:nvSpPr>
          <p:spPr bwMode="auto">
            <a:xfrm>
              <a:off x="4848" y="2592"/>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37" name="Line 19"/>
            <p:cNvSpPr>
              <a:spLocks noChangeShapeType="1"/>
            </p:cNvSpPr>
            <p:nvPr/>
          </p:nvSpPr>
          <p:spPr bwMode="auto">
            <a:xfrm>
              <a:off x="4224" y="2736"/>
              <a:ext cx="38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 name="Group 6"/>
          <p:cNvGrpSpPr>
            <a:grpSpLocks/>
          </p:cNvGrpSpPr>
          <p:nvPr/>
        </p:nvGrpSpPr>
        <p:grpSpPr bwMode="auto">
          <a:xfrm>
            <a:off x="3752850" y="3849689"/>
            <a:ext cx="547688" cy="420687"/>
            <a:chOff x="1897316" y="4021262"/>
            <a:chExt cx="547688" cy="420688"/>
          </a:xfrm>
        </p:grpSpPr>
        <p:sp>
          <p:nvSpPr>
            <p:cNvPr id="51233" name="Rectangle 22"/>
            <p:cNvSpPr>
              <a:spLocks noChangeArrowheads="1"/>
            </p:cNvSpPr>
            <p:nvPr/>
          </p:nvSpPr>
          <p:spPr bwMode="auto">
            <a:xfrm>
              <a:off x="1897316" y="4141912"/>
              <a:ext cx="215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34" name="Freeform 25"/>
            <p:cNvSpPr>
              <a:spLocks/>
            </p:cNvSpPr>
            <p:nvPr/>
          </p:nvSpPr>
          <p:spPr bwMode="auto">
            <a:xfrm>
              <a:off x="1967166" y="4021262"/>
              <a:ext cx="477838" cy="420688"/>
            </a:xfrm>
            <a:custGeom>
              <a:avLst/>
              <a:gdLst>
                <a:gd name="T0" fmla="*/ 0 w 301"/>
                <a:gd name="T1" fmla="*/ 2147483646 h 265"/>
                <a:gd name="T2" fmla="*/ 2147483646 w 301"/>
                <a:gd name="T3" fmla="*/ 2147483646 h 265"/>
                <a:gd name="T4" fmla="*/ 2147483646 w 301"/>
                <a:gd name="T5" fmla="*/ 2147483646 h 265"/>
                <a:gd name="T6" fmla="*/ 2147483646 w 301"/>
                <a:gd name="T7" fmla="*/ 2147483646 h 265"/>
                <a:gd name="T8" fmla="*/ 2147483646 w 301"/>
                <a:gd name="T9" fmla="*/ 0 h 265"/>
                <a:gd name="T10" fmla="*/ 2147483646 w 301"/>
                <a:gd name="T11" fmla="*/ 0 h 265"/>
                <a:gd name="T12" fmla="*/ 2147483646 w 301"/>
                <a:gd name="T13" fmla="*/ 0 h 265"/>
                <a:gd name="T14" fmla="*/ 2147483646 w 301"/>
                <a:gd name="T15" fmla="*/ 0 h 265"/>
                <a:gd name="T16" fmla="*/ 2147483646 w 301"/>
                <a:gd name="T17" fmla="*/ 2147483646 h 265"/>
                <a:gd name="T18" fmla="*/ 2147483646 w 301"/>
                <a:gd name="T19" fmla="*/ 2147483646 h 265"/>
                <a:gd name="T20" fmla="*/ 2147483646 w 301"/>
                <a:gd name="T21" fmla="*/ 2147483646 h 265"/>
                <a:gd name="T22" fmla="*/ 2147483646 w 301"/>
                <a:gd name="T23" fmla="*/ 2147483646 h 265"/>
                <a:gd name="T24" fmla="*/ 2147483646 w 301"/>
                <a:gd name="T25" fmla="*/ 2147483646 h 265"/>
                <a:gd name="T26" fmla="*/ 2147483646 w 301"/>
                <a:gd name="T27" fmla="*/ 2147483646 h 265"/>
                <a:gd name="T28" fmla="*/ 2147483646 w 301"/>
                <a:gd name="T29" fmla="*/ 2147483646 h 265"/>
                <a:gd name="T30" fmla="*/ 2147483646 w 301"/>
                <a:gd name="T31" fmla="*/ 2147483646 h 265"/>
                <a:gd name="T32" fmla="*/ 2147483646 w 301"/>
                <a:gd name="T33" fmla="*/ 2147483646 h 265"/>
                <a:gd name="T34" fmla="*/ 2147483646 w 301"/>
                <a:gd name="T35" fmla="*/ 2147483646 h 265"/>
                <a:gd name="T36" fmla="*/ 2147483646 w 301"/>
                <a:gd name="T37" fmla="*/ 2147483646 h 265"/>
                <a:gd name="T38" fmla="*/ 2147483646 w 301"/>
                <a:gd name="T39" fmla="*/ 2147483646 h 265"/>
                <a:gd name="T40" fmla="*/ 2147483646 w 301"/>
                <a:gd name="T41" fmla="*/ 2147483646 h 265"/>
                <a:gd name="T42" fmla="*/ 2147483646 w 301"/>
                <a:gd name="T43" fmla="*/ 2147483646 h 265"/>
                <a:gd name="T44" fmla="*/ 2147483646 w 301"/>
                <a:gd name="T45" fmla="*/ 2147483646 h 265"/>
                <a:gd name="T46" fmla="*/ 0 w 301"/>
                <a:gd name="T47" fmla="*/ 2147483646 h 265"/>
                <a:gd name="T48" fmla="*/ 2147483646 w 301"/>
                <a:gd name="T49" fmla="*/ 2147483646 h 2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01" h="265">
                  <a:moveTo>
                    <a:pt x="0" y="72"/>
                  </a:moveTo>
                  <a:lnTo>
                    <a:pt x="12" y="36"/>
                  </a:lnTo>
                  <a:lnTo>
                    <a:pt x="48" y="12"/>
                  </a:lnTo>
                  <a:lnTo>
                    <a:pt x="84" y="12"/>
                  </a:lnTo>
                  <a:lnTo>
                    <a:pt x="120" y="0"/>
                  </a:lnTo>
                  <a:lnTo>
                    <a:pt x="156" y="0"/>
                  </a:lnTo>
                  <a:lnTo>
                    <a:pt x="192" y="0"/>
                  </a:lnTo>
                  <a:lnTo>
                    <a:pt x="228" y="0"/>
                  </a:lnTo>
                  <a:lnTo>
                    <a:pt x="264" y="24"/>
                  </a:lnTo>
                  <a:lnTo>
                    <a:pt x="288" y="60"/>
                  </a:lnTo>
                  <a:lnTo>
                    <a:pt x="288" y="96"/>
                  </a:lnTo>
                  <a:lnTo>
                    <a:pt x="300" y="132"/>
                  </a:lnTo>
                  <a:lnTo>
                    <a:pt x="300" y="168"/>
                  </a:lnTo>
                  <a:lnTo>
                    <a:pt x="300" y="204"/>
                  </a:lnTo>
                  <a:lnTo>
                    <a:pt x="288" y="240"/>
                  </a:lnTo>
                  <a:lnTo>
                    <a:pt x="252" y="252"/>
                  </a:lnTo>
                  <a:lnTo>
                    <a:pt x="216" y="264"/>
                  </a:lnTo>
                  <a:lnTo>
                    <a:pt x="180" y="264"/>
                  </a:lnTo>
                  <a:lnTo>
                    <a:pt x="144" y="264"/>
                  </a:lnTo>
                  <a:lnTo>
                    <a:pt x="108" y="264"/>
                  </a:lnTo>
                  <a:lnTo>
                    <a:pt x="72" y="264"/>
                  </a:lnTo>
                  <a:lnTo>
                    <a:pt x="36" y="252"/>
                  </a:lnTo>
                  <a:lnTo>
                    <a:pt x="24" y="216"/>
                  </a:lnTo>
                  <a:lnTo>
                    <a:pt x="0" y="216"/>
                  </a:lnTo>
                  <a:lnTo>
                    <a:pt x="48" y="216"/>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733" name="Group 37"/>
          <p:cNvGrpSpPr>
            <a:grpSpLocks/>
          </p:cNvGrpSpPr>
          <p:nvPr/>
        </p:nvGrpSpPr>
        <p:grpSpPr bwMode="auto">
          <a:xfrm>
            <a:off x="4365625" y="5295901"/>
            <a:ext cx="336550" cy="841375"/>
            <a:chOff x="3144" y="3528"/>
            <a:chExt cx="217" cy="649"/>
          </a:xfrm>
        </p:grpSpPr>
        <p:sp>
          <p:nvSpPr>
            <p:cNvPr id="51231" name="Freeform 27"/>
            <p:cNvSpPr>
              <a:spLocks/>
            </p:cNvSpPr>
            <p:nvPr/>
          </p:nvSpPr>
          <p:spPr bwMode="auto">
            <a:xfrm>
              <a:off x="3168" y="3600"/>
              <a:ext cx="48" cy="565"/>
            </a:xfrm>
            <a:custGeom>
              <a:avLst/>
              <a:gdLst>
                <a:gd name="T0" fmla="*/ 0 w 157"/>
                <a:gd name="T1" fmla="*/ 0 h 565"/>
                <a:gd name="T2" fmla="*/ 0 w 157"/>
                <a:gd name="T3" fmla="*/ 12 h 565"/>
                <a:gd name="T4" fmla="*/ 0 w 157"/>
                <a:gd name="T5" fmla="*/ 48 h 565"/>
                <a:gd name="T6" fmla="*/ 0 w 157"/>
                <a:gd name="T7" fmla="*/ 84 h 565"/>
                <a:gd name="T8" fmla="*/ 0 w 157"/>
                <a:gd name="T9" fmla="*/ 120 h 565"/>
                <a:gd name="T10" fmla="*/ 0 w 157"/>
                <a:gd name="T11" fmla="*/ 156 h 565"/>
                <a:gd name="T12" fmla="*/ 0 w 157"/>
                <a:gd name="T13" fmla="*/ 192 h 565"/>
                <a:gd name="T14" fmla="*/ 0 w 157"/>
                <a:gd name="T15" fmla="*/ 228 h 565"/>
                <a:gd name="T16" fmla="*/ 0 w 157"/>
                <a:gd name="T17" fmla="*/ 264 h 565"/>
                <a:gd name="T18" fmla="*/ 0 w 157"/>
                <a:gd name="T19" fmla="*/ 300 h 565"/>
                <a:gd name="T20" fmla="*/ 0 w 157"/>
                <a:gd name="T21" fmla="*/ 336 h 565"/>
                <a:gd name="T22" fmla="*/ 0 w 157"/>
                <a:gd name="T23" fmla="*/ 372 h 565"/>
                <a:gd name="T24" fmla="*/ 0 w 157"/>
                <a:gd name="T25" fmla="*/ 408 h 565"/>
                <a:gd name="T26" fmla="*/ 0 w 157"/>
                <a:gd name="T27" fmla="*/ 432 h 565"/>
                <a:gd name="T28" fmla="*/ 0 w 157"/>
                <a:gd name="T29" fmla="*/ 468 h 565"/>
                <a:gd name="T30" fmla="*/ 0 w 157"/>
                <a:gd name="T31" fmla="*/ 480 h 565"/>
                <a:gd name="T32" fmla="*/ 0 w 157"/>
                <a:gd name="T33" fmla="*/ 516 h 565"/>
                <a:gd name="T34" fmla="*/ 0 w 157"/>
                <a:gd name="T35" fmla="*/ 528 h 565"/>
                <a:gd name="T36" fmla="*/ 0 w 157"/>
                <a:gd name="T37" fmla="*/ 564 h 5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57" h="565">
                  <a:moveTo>
                    <a:pt x="0" y="0"/>
                  </a:moveTo>
                  <a:lnTo>
                    <a:pt x="36" y="12"/>
                  </a:lnTo>
                  <a:lnTo>
                    <a:pt x="60" y="48"/>
                  </a:lnTo>
                  <a:lnTo>
                    <a:pt x="96" y="84"/>
                  </a:lnTo>
                  <a:lnTo>
                    <a:pt x="108" y="120"/>
                  </a:lnTo>
                  <a:lnTo>
                    <a:pt x="132" y="156"/>
                  </a:lnTo>
                  <a:lnTo>
                    <a:pt x="144" y="192"/>
                  </a:lnTo>
                  <a:lnTo>
                    <a:pt x="156" y="228"/>
                  </a:lnTo>
                  <a:lnTo>
                    <a:pt x="156" y="264"/>
                  </a:lnTo>
                  <a:lnTo>
                    <a:pt x="156" y="300"/>
                  </a:lnTo>
                  <a:lnTo>
                    <a:pt x="156" y="336"/>
                  </a:lnTo>
                  <a:lnTo>
                    <a:pt x="156" y="372"/>
                  </a:lnTo>
                  <a:lnTo>
                    <a:pt x="156" y="408"/>
                  </a:lnTo>
                  <a:lnTo>
                    <a:pt x="120" y="432"/>
                  </a:lnTo>
                  <a:lnTo>
                    <a:pt x="108" y="468"/>
                  </a:lnTo>
                  <a:lnTo>
                    <a:pt x="72" y="480"/>
                  </a:lnTo>
                  <a:lnTo>
                    <a:pt x="60" y="516"/>
                  </a:lnTo>
                  <a:lnTo>
                    <a:pt x="24" y="528"/>
                  </a:lnTo>
                  <a:lnTo>
                    <a:pt x="0" y="56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32" name="Freeform 28"/>
            <p:cNvSpPr>
              <a:spLocks/>
            </p:cNvSpPr>
            <p:nvPr/>
          </p:nvSpPr>
          <p:spPr bwMode="auto">
            <a:xfrm>
              <a:off x="3144" y="3528"/>
              <a:ext cx="217" cy="649"/>
            </a:xfrm>
            <a:custGeom>
              <a:avLst/>
              <a:gdLst>
                <a:gd name="T0" fmla="*/ 216 w 217"/>
                <a:gd name="T1" fmla="*/ 24 h 649"/>
                <a:gd name="T2" fmla="*/ 180 w 217"/>
                <a:gd name="T3" fmla="*/ 0 h 649"/>
                <a:gd name="T4" fmla="*/ 144 w 217"/>
                <a:gd name="T5" fmla="*/ 12 h 649"/>
                <a:gd name="T6" fmla="*/ 108 w 217"/>
                <a:gd name="T7" fmla="*/ 36 h 649"/>
                <a:gd name="T8" fmla="*/ 96 w 217"/>
                <a:gd name="T9" fmla="*/ 72 h 649"/>
                <a:gd name="T10" fmla="*/ 60 w 217"/>
                <a:gd name="T11" fmla="*/ 96 h 649"/>
                <a:gd name="T12" fmla="*/ 36 w 217"/>
                <a:gd name="T13" fmla="*/ 132 h 649"/>
                <a:gd name="T14" fmla="*/ 12 w 217"/>
                <a:gd name="T15" fmla="*/ 168 h 649"/>
                <a:gd name="T16" fmla="*/ 0 w 217"/>
                <a:gd name="T17" fmla="*/ 204 h 649"/>
                <a:gd name="T18" fmla="*/ 0 w 217"/>
                <a:gd name="T19" fmla="*/ 240 h 649"/>
                <a:gd name="T20" fmla="*/ 0 w 217"/>
                <a:gd name="T21" fmla="*/ 276 h 649"/>
                <a:gd name="T22" fmla="*/ 0 w 217"/>
                <a:gd name="T23" fmla="*/ 312 h 649"/>
                <a:gd name="T24" fmla="*/ 0 w 217"/>
                <a:gd name="T25" fmla="*/ 348 h 649"/>
                <a:gd name="T26" fmla="*/ 0 w 217"/>
                <a:gd name="T27" fmla="*/ 384 h 649"/>
                <a:gd name="T28" fmla="*/ 0 w 217"/>
                <a:gd name="T29" fmla="*/ 420 h 649"/>
                <a:gd name="T30" fmla="*/ 0 w 217"/>
                <a:gd name="T31" fmla="*/ 456 h 649"/>
                <a:gd name="T32" fmla="*/ 0 w 217"/>
                <a:gd name="T33" fmla="*/ 492 h 649"/>
                <a:gd name="T34" fmla="*/ 12 w 217"/>
                <a:gd name="T35" fmla="*/ 528 h 649"/>
                <a:gd name="T36" fmla="*/ 24 w 217"/>
                <a:gd name="T37" fmla="*/ 564 h 649"/>
                <a:gd name="T38" fmla="*/ 36 w 217"/>
                <a:gd name="T39" fmla="*/ 600 h 649"/>
                <a:gd name="T40" fmla="*/ 60 w 217"/>
                <a:gd name="T41" fmla="*/ 636 h 649"/>
                <a:gd name="T42" fmla="*/ 72 w 217"/>
                <a:gd name="T43" fmla="*/ 648 h 64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17" h="649">
                  <a:moveTo>
                    <a:pt x="216" y="24"/>
                  </a:moveTo>
                  <a:lnTo>
                    <a:pt x="180" y="0"/>
                  </a:lnTo>
                  <a:lnTo>
                    <a:pt x="144" y="12"/>
                  </a:lnTo>
                  <a:lnTo>
                    <a:pt x="108" y="36"/>
                  </a:lnTo>
                  <a:lnTo>
                    <a:pt x="96" y="72"/>
                  </a:lnTo>
                  <a:lnTo>
                    <a:pt x="60" y="96"/>
                  </a:lnTo>
                  <a:lnTo>
                    <a:pt x="36" y="132"/>
                  </a:lnTo>
                  <a:lnTo>
                    <a:pt x="12" y="168"/>
                  </a:lnTo>
                  <a:lnTo>
                    <a:pt x="0" y="204"/>
                  </a:lnTo>
                  <a:lnTo>
                    <a:pt x="0" y="240"/>
                  </a:lnTo>
                  <a:lnTo>
                    <a:pt x="0" y="276"/>
                  </a:lnTo>
                  <a:lnTo>
                    <a:pt x="0" y="312"/>
                  </a:lnTo>
                  <a:lnTo>
                    <a:pt x="0" y="348"/>
                  </a:lnTo>
                  <a:lnTo>
                    <a:pt x="0" y="384"/>
                  </a:lnTo>
                  <a:lnTo>
                    <a:pt x="0" y="420"/>
                  </a:lnTo>
                  <a:lnTo>
                    <a:pt x="0" y="456"/>
                  </a:lnTo>
                  <a:lnTo>
                    <a:pt x="0" y="492"/>
                  </a:lnTo>
                  <a:lnTo>
                    <a:pt x="12" y="528"/>
                  </a:lnTo>
                  <a:lnTo>
                    <a:pt x="24" y="564"/>
                  </a:lnTo>
                  <a:lnTo>
                    <a:pt x="36" y="600"/>
                  </a:lnTo>
                  <a:lnTo>
                    <a:pt x="60" y="636"/>
                  </a:lnTo>
                  <a:lnTo>
                    <a:pt x="72" y="648"/>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731" name="Group 35"/>
          <p:cNvGrpSpPr>
            <a:grpSpLocks/>
          </p:cNvGrpSpPr>
          <p:nvPr/>
        </p:nvGrpSpPr>
        <p:grpSpPr bwMode="auto">
          <a:xfrm>
            <a:off x="2641600" y="3300413"/>
            <a:ext cx="1968500" cy="215900"/>
            <a:chOff x="3024" y="2112"/>
            <a:chExt cx="1240" cy="136"/>
          </a:xfrm>
        </p:grpSpPr>
        <p:sp>
          <p:nvSpPr>
            <p:cNvPr id="51226" name="Rectangle 20"/>
            <p:cNvSpPr>
              <a:spLocks noChangeArrowheads="1"/>
            </p:cNvSpPr>
            <p:nvPr/>
          </p:nvSpPr>
          <p:spPr bwMode="auto">
            <a:xfrm>
              <a:off x="3600" y="2112"/>
              <a:ext cx="136" cy="136"/>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27" name="Rectangle 21"/>
            <p:cNvSpPr>
              <a:spLocks noChangeArrowheads="1"/>
            </p:cNvSpPr>
            <p:nvPr/>
          </p:nvSpPr>
          <p:spPr bwMode="auto">
            <a:xfrm>
              <a:off x="3024" y="2112"/>
              <a:ext cx="136" cy="1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28" name="Line 23"/>
            <p:cNvSpPr>
              <a:spLocks noChangeShapeType="1"/>
            </p:cNvSpPr>
            <p:nvPr/>
          </p:nvSpPr>
          <p:spPr bwMode="auto">
            <a:xfrm>
              <a:off x="3164" y="2204"/>
              <a:ext cx="43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9" name="Line 24"/>
            <p:cNvSpPr>
              <a:spLocks noChangeShapeType="1"/>
            </p:cNvSpPr>
            <p:nvPr/>
          </p:nvSpPr>
          <p:spPr bwMode="auto">
            <a:xfrm>
              <a:off x="3740" y="2204"/>
              <a:ext cx="38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30" name="Rectangle 34"/>
            <p:cNvSpPr>
              <a:spLocks noChangeArrowheads="1"/>
            </p:cNvSpPr>
            <p:nvPr/>
          </p:nvSpPr>
          <p:spPr bwMode="auto">
            <a:xfrm>
              <a:off x="4128" y="2112"/>
              <a:ext cx="136" cy="1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grpSp>
        <p:nvGrpSpPr>
          <p:cNvPr id="29741" name="Group 45"/>
          <p:cNvGrpSpPr>
            <a:grpSpLocks/>
          </p:cNvGrpSpPr>
          <p:nvPr/>
        </p:nvGrpSpPr>
        <p:grpSpPr bwMode="auto">
          <a:xfrm>
            <a:off x="2705100" y="5443538"/>
            <a:ext cx="1905000" cy="1143000"/>
            <a:chOff x="2592" y="3216"/>
            <a:chExt cx="1200" cy="720"/>
          </a:xfrm>
        </p:grpSpPr>
        <p:sp>
          <p:nvSpPr>
            <p:cNvPr id="51224" name="Freeform 40"/>
            <p:cNvSpPr>
              <a:spLocks/>
            </p:cNvSpPr>
            <p:nvPr/>
          </p:nvSpPr>
          <p:spPr bwMode="auto">
            <a:xfrm>
              <a:off x="2592" y="3456"/>
              <a:ext cx="1200" cy="480"/>
            </a:xfrm>
            <a:custGeom>
              <a:avLst/>
              <a:gdLst>
                <a:gd name="T0" fmla="*/ 0 w 1200"/>
                <a:gd name="T1" fmla="*/ 480 h 480"/>
                <a:gd name="T2" fmla="*/ 336 w 1200"/>
                <a:gd name="T3" fmla="*/ 432 h 480"/>
                <a:gd name="T4" fmla="*/ 528 w 1200"/>
                <a:gd name="T5" fmla="*/ 0 h 480"/>
                <a:gd name="T6" fmla="*/ 480 w 1200"/>
                <a:gd name="T7" fmla="*/ 432 h 480"/>
                <a:gd name="T8" fmla="*/ 1200 w 1200"/>
                <a:gd name="T9" fmla="*/ 480 h 4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 h="480">
                  <a:moveTo>
                    <a:pt x="0" y="480"/>
                  </a:moveTo>
                  <a:lnTo>
                    <a:pt x="336" y="432"/>
                  </a:lnTo>
                  <a:lnTo>
                    <a:pt x="528" y="0"/>
                  </a:lnTo>
                  <a:lnTo>
                    <a:pt x="480" y="432"/>
                  </a:lnTo>
                  <a:lnTo>
                    <a:pt x="1200" y="480"/>
                  </a:lnTo>
                </a:path>
              </a:pathLst>
            </a:custGeom>
            <a:noFill/>
            <a:ln w="12700"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25" name="Line 44"/>
            <p:cNvSpPr>
              <a:spLocks noChangeShapeType="1"/>
            </p:cNvSpPr>
            <p:nvPr/>
          </p:nvSpPr>
          <p:spPr bwMode="auto">
            <a:xfrm flipV="1">
              <a:off x="3120" y="3216"/>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 name="Group 8"/>
          <p:cNvGrpSpPr>
            <a:grpSpLocks/>
          </p:cNvGrpSpPr>
          <p:nvPr/>
        </p:nvGrpSpPr>
        <p:grpSpPr bwMode="auto">
          <a:xfrm>
            <a:off x="3581400" y="4564063"/>
            <a:ext cx="687388" cy="609600"/>
            <a:chOff x="1897316" y="4554662"/>
            <a:chExt cx="687388" cy="609600"/>
          </a:xfrm>
        </p:grpSpPr>
        <p:sp>
          <p:nvSpPr>
            <p:cNvPr id="51221" name="Freeform 26"/>
            <p:cNvSpPr>
              <a:spLocks/>
            </p:cNvSpPr>
            <p:nvPr/>
          </p:nvSpPr>
          <p:spPr bwMode="auto">
            <a:xfrm>
              <a:off x="2049716" y="4554662"/>
              <a:ext cx="534988" cy="609600"/>
            </a:xfrm>
            <a:custGeom>
              <a:avLst/>
              <a:gdLst>
                <a:gd name="T0" fmla="*/ 0 w 337"/>
                <a:gd name="T1" fmla="*/ 2147483646 h 337"/>
                <a:gd name="T2" fmla="*/ 2147483646 w 337"/>
                <a:gd name="T3" fmla="*/ 0 h 337"/>
                <a:gd name="T4" fmla="*/ 2147483646 w 337"/>
                <a:gd name="T5" fmla="*/ 0 h 337"/>
                <a:gd name="T6" fmla="*/ 2147483646 w 337"/>
                <a:gd name="T7" fmla="*/ 0 h 337"/>
                <a:gd name="T8" fmla="*/ 2147483646 w 337"/>
                <a:gd name="T9" fmla="*/ 0 h 337"/>
                <a:gd name="T10" fmla="*/ 2147483646 w 337"/>
                <a:gd name="T11" fmla="*/ 0 h 337"/>
                <a:gd name="T12" fmla="*/ 2147483646 w 337"/>
                <a:gd name="T13" fmla="*/ 0 h 337"/>
                <a:gd name="T14" fmla="*/ 2147483646 w 337"/>
                <a:gd name="T15" fmla="*/ 2147483646 h 337"/>
                <a:gd name="T16" fmla="*/ 2147483646 w 337"/>
                <a:gd name="T17" fmla="*/ 2147483646 h 337"/>
                <a:gd name="T18" fmla="*/ 2147483646 w 337"/>
                <a:gd name="T19" fmla="*/ 2147483646 h 337"/>
                <a:gd name="T20" fmla="*/ 2147483646 w 337"/>
                <a:gd name="T21" fmla="*/ 2147483646 h 337"/>
                <a:gd name="T22" fmla="*/ 2147483646 w 337"/>
                <a:gd name="T23" fmla="*/ 2147483646 h 337"/>
                <a:gd name="T24" fmla="*/ 2147483646 w 337"/>
                <a:gd name="T25" fmla="*/ 2147483646 h 337"/>
                <a:gd name="T26" fmla="*/ 2147483646 w 337"/>
                <a:gd name="T27" fmla="*/ 2147483646 h 337"/>
                <a:gd name="T28" fmla="*/ 2147483646 w 337"/>
                <a:gd name="T29" fmla="*/ 2147483646 h 337"/>
                <a:gd name="T30" fmla="*/ 2147483646 w 337"/>
                <a:gd name="T31" fmla="*/ 2147483646 h 337"/>
                <a:gd name="T32" fmla="*/ 2147483646 w 337"/>
                <a:gd name="T33" fmla="*/ 2147483646 h 337"/>
                <a:gd name="T34" fmla="*/ 2147483646 w 337"/>
                <a:gd name="T35" fmla="*/ 2147483646 h 337"/>
                <a:gd name="T36" fmla="*/ 2147483646 w 337"/>
                <a:gd name="T37" fmla="*/ 2147483646 h 337"/>
                <a:gd name="T38" fmla="*/ 2147483646 w 337"/>
                <a:gd name="T39" fmla="*/ 2147483646 h 337"/>
                <a:gd name="T40" fmla="*/ 2147483646 w 337"/>
                <a:gd name="T41" fmla="*/ 2147483646 h 337"/>
                <a:gd name="T42" fmla="*/ 2147483646 w 337"/>
                <a:gd name="T43" fmla="*/ 2147483646 h 337"/>
                <a:gd name="T44" fmla="*/ 2147483646 w 337"/>
                <a:gd name="T45" fmla="*/ 2147483646 h 337"/>
                <a:gd name="T46" fmla="*/ 2147483646 w 337"/>
                <a:gd name="T47" fmla="*/ 2147483646 h 337"/>
                <a:gd name="T48" fmla="*/ 2147483646 w 337"/>
                <a:gd name="T49" fmla="*/ 2147483646 h 337"/>
                <a:gd name="T50" fmla="*/ 0 w 337"/>
                <a:gd name="T51" fmla="*/ 2147483646 h 337"/>
                <a:gd name="T52" fmla="*/ 0 w 337"/>
                <a:gd name="T53" fmla="*/ 2147483646 h 337"/>
                <a:gd name="T54" fmla="*/ 0 w 337"/>
                <a:gd name="T55" fmla="*/ 2147483646 h 33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37" h="337">
                  <a:moveTo>
                    <a:pt x="0" y="36"/>
                  </a:moveTo>
                  <a:lnTo>
                    <a:pt x="24" y="0"/>
                  </a:lnTo>
                  <a:lnTo>
                    <a:pt x="60" y="0"/>
                  </a:lnTo>
                  <a:lnTo>
                    <a:pt x="108" y="0"/>
                  </a:lnTo>
                  <a:lnTo>
                    <a:pt x="144" y="0"/>
                  </a:lnTo>
                  <a:lnTo>
                    <a:pt x="180" y="0"/>
                  </a:lnTo>
                  <a:lnTo>
                    <a:pt x="216" y="0"/>
                  </a:lnTo>
                  <a:lnTo>
                    <a:pt x="252" y="12"/>
                  </a:lnTo>
                  <a:lnTo>
                    <a:pt x="288" y="48"/>
                  </a:lnTo>
                  <a:lnTo>
                    <a:pt x="312" y="84"/>
                  </a:lnTo>
                  <a:lnTo>
                    <a:pt x="324" y="120"/>
                  </a:lnTo>
                  <a:lnTo>
                    <a:pt x="336" y="156"/>
                  </a:lnTo>
                  <a:lnTo>
                    <a:pt x="336" y="192"/>
                  </a:lnTo>
                  <a:lnTo>
                    <a:pt x="336" y="228"/>
                  </a:lnTo>
                  <a:lnTo>
                    <a:pt x="336" y="264"/>
                  </a:lnTo>
                  <a:lnTo>
                    <a:pt x="336" y="300"/>
                  </a:lnTo>
                  <a:lnTo>
                    <a:pt x="324" y="336"/>
                  </a:lnTo>
                  <a:lnTo>
                    <a:pt x="288" y="336"/>
                  </a:lnTo>
                  <a:lnTo>
                    <a:pt x="240" y="336"/>
                  </a:lnTo>
                  <a:lnTo>
                    <a:pt x="204" y="336"/>
                  </a:lnTo>
                  <a:lnTo>
                    <a:pt x="156" y="336"/>
                  </a:lnTo>
                  <a:lnTo>
                    <a:pt x="120" y="336"/>
                  </a:lnTo>
                  <a:lnTo>
                    <a:pt x="84" y="336"/>
                  </a:lnTo>
                  <a:lnTo>
                    <a:pt x="48" y="336"/>
                  </a:lnTo>
                  <a:lnTo>
                    <a:pt x="12" y="300"/>
                  </a:lnTo>
                  <a:lnTo>
                    <a:pt x="0" y="264"/>
                  </a:lnTo>
                  <a:lnTo>
                    <a:pt x="0" y="228"/>
                  </a:lnTo>
                  <a:lnTo>
                    <a:pt x="0" y="192"/>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22" name="Rectangle 46"/>
            <p:cNvSpPr>
              <a:spLocks noChangeArrowheads="1"/>
            </p:cNvSpPr>
            <p:nvPr/>
          </p:nvSpPr>
          <p:spPr bwMode="auto">
            <a:xfrm>
              <a:off x="1973516" y="4554662"/>
              <a:ext cx="215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1223" name="Rectangle 47"/>
            <p:cNvSpPr>
              <a:spLocks noChangeArrowheads="1"/>
            </p:cNvSpPr>
            <p:nvPr/>
          </p:nvSpPr>
          <p:spPr bwMode="auto">
            <a:xfrm>
              <a:off x="1897316" y="4859462"/>
              <a:ext cx="215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sp>
        <p:nvSpPr>
          <p:cNvPr id="2" name="Rectangle 1"/>
          <p:cNvSpPr>
            <a:spLocks noChangeArrowheads="1"/>
          </p:cNvSpPr>
          <p:nvPr/>
        </p:nvSpPr>
        <p:spPr bwMode="auto">
          <a:xfrm>
            <a:off x="4781551" y="981076"/>
            <a:ext cx="49307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dangling arc (node missing at one end)</a:t>
            </a:r>
          </a:p>
        </p:txBody>
      </p:sp>
      <p:sp>
        <p:nvSpPr>
          <p:cNvPr id="3" name="Rectangle 2"/>
          <p:cNvSpPr>
            <a:spLocks noChangeArrowheads="1"/>
          </p:cNvSpPr>
          <p:nvPr/>
        </p:nvSpPr>
        <p:spPr bwMode="auto">
          <a:xfrm>
            <a:off x="4792664" y="1543050"/>
            <a:ext cx="53482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No node at arc intersection (overpass?)</a:t>
            </a:r>
          </a:p>
        </p:txBody>
      </p:sp>
      <p:sp>
        <p:nvSpPr>
          <p:cNvPr id="4" name="Rectangle 3"/>
          <p:cNvSpPr>
            <a:spLocks noChangeArrowheads="1"/>
          </p:cNvSpPr>
          <p:nvPr/>
        </p:nvSpPr>
        <p:spPr bwMode="auto">
          <a:xfrm>
            <a:off x="4792664" y="2036763"/>
            <a:ext cx="3640137"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Overshoot (or missing node)?</a:t>
            </a:r>
          </a:p>
        </p:txBody>
      </p:sp>
      <p:sp>
        <p:nvSpPr>
          <p:cNvPr id="5" name="Rectangle 4"/>
          <p:cNvSpPr>
            <a:spLocks noChangeArrowheads="1"/>
          </p:cNvSpPr>
          <p:nvPr/>
        </p:nvSpPr>
        <p:spPr bwMode="auto">
          <a:xfrm>
            <a:off x="4702176" y="2584450"/>
            <a:ext cx="1700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 undershoot?</a:t>
            </a:r>
          </a:p>
        </p:txBody>
      </p:sp>
      <p:sp>
        <p:nvSpPr>
          <p:cNvPr id="6" name="Rectangle 5"/>
          <p:cNvSpPr>
            <a:spLocks noChangeArrowheads="1"/>
          </p:cNvSpPr>
          <p:nvPr/>
        </p:nvSpPr>
        <p:spPr bwMode="auto">
          <a:xfrm>
            <a:off x="4702175" y="3221038"/>
            <a:ext cx="5957888"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pseudo node (but perhaps road surface changes)</a:t>
            </a:r>
          </a:p>
        </p:txBody>
      </p:sp>
      <p:sp>
        <p:nvSpPr>
          <p:cNvPr id="8" name="Rectangle 7"/>
          <p:cNvSpPr>
            <a:spLocks noChangeArrowheads="1"/>
          </p:cNvSpPr>
          <p:nvPr/>
        </p:nvSpPr>
        <p:spPr bwMode="auto">
          <a:xfrm>
            <a:off x="4702175" y="3759200"/>
            <a:ext cx="3811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 pseudo arc (connects to itself)</a:t>
            </a:r>
          </a:p>
        </p:txBody>
      </p:sp>
      <p:sp>
        <p:nvSpPr>
          <p:cNvPr id="10" name="Rectangle 9"/>
          <p:cNvSpPr>
            <a:spLocks noChangeArrowheads="1"/>
          </p:cNvSpPr>
          <p:nvPr/>
        </p:nvSpPr>
        <p:spPr bwMode="auto">
          <a:xfrm>
            <a:off x="4819650" y="4660901"/>
            <a:ext cx="17462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open polygon</a:t>
            </a:r>
          </a:p>
        </p:txBody>
      </p:sp>
      <p:sp>
        <p:nvSpPr>
          <p:cNvPr id="11" name="Rectangle 10"/>
          <p:cNvSpPr>
            <a:spLocks noChangeArrowheads="1"/>
          </p:cNvSpPr>
          <p:nvPr/>
        </p:nvSpPr>
        <p:spPr bwMode="auto">
          <a:xfrm>
            <a:off x="4832351" y="5519738"/>
            <a:ext cx="18335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buClrTx/>
              <a:buFontTx/>
              <a:buNone/>
            </a:pPr>
            <a:r>
              <a:rPr lang="en-US" altLang="en-US" sz="1800" b="0"/>
              <a:t>Sliver polygon</a:t>
            </a:r>
          </a:p>
        </p:txBody>
      </p:sp>
      <p:sp>
        <p:nvSpPr>
          <p:cNvPr id="12" name="Rectangle 11"/>
          <p:cNvSpPr>
            <a:spLocks noChangeArrowheads="1"/>
          </p:cNvSpPr>
          <p:nvPr/>
        </p:nvSpPr>
        <p:spPr bwMode="auto">
          <a:xfrm>
            <a:off x="4740275" y="6099175"/>
            <a:ext cx="69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 gap</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randombar(horizontal)">
                                      <p:cBhvr>
                                        <p:cTn id="7" dur="500"/>
                                        <p:tgtEl>
                                          <p:spTgt spid="297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9711"/>
                                        </p:tgtEl>
                                        <p:attrNameLst>
                                          <p:attrName>style.visibility</p:attrName>
                                        </p:attrNameLst>
                                      </p:cBhvr>
                                      <p:to>
                                        <p:strVal val="visible"/>
                                      </p:to>
                                    </p:set>
                                    <p:animEffect transition="in" filter="randombar(horizontal)">
                                      <p:cBhvr>
                                        <p:cTn id="17" dur="500"/>
                                        <p:tgtEl>
                                          <p:spTgt spid="297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29727"/>
                                        </p:tgtEl>
                                        <p:attrNameLst>
                                          <p:attrName>style.visibility</p:attrName>
                                        </p:attrNameLst>
                                      </p:cBhvr>
                                      <p:to>
                                        <p:strVal val="visible"/>
                                      </p:to>
                                    </p:set>
                                    <p:animEffect transition="in" filter="randombar(horizontal)">
                                      <p:cBhvr>
                                        <p:cTn id="27" dur="500"/>
                                        <p:tgtEl>
                                          <p:spTgt spid="297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9728"/>
                                        </p:tgtEl>
                                        <p:attrNameLst>
                                          <p:attrName>style.visibility</p:attrName>
                                        </p:attrNameLst>
                                      </p:cBhvr>
                                      <p:to>
                                        <p:strVal val="visible"/>
                                      </p:to>
                                    </p:set>
                                    <p:animEffect transition="in" filter="randombar(horizontal)">
                                      <p:cBhvr>
                                        <p:cTn id="37" dur="500"/>
                                        <p:tgtEl>
                                          <p:spTgt spid="297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nodeType="clickEffect">
                                  <p:stCondLst>
                                    <p:cond delay="0"/>
                                  </p:stCondLst>
                                  <p:childTnLst>
                                    <p:set>
                                      <p:cBhvr>
                                        <p:cTn id="46" dur="1" fill="hold">
                                          <p:stCondLst>
                                            <p:cond delay="0"/>
                                          </p:stCondLst>
                                        </p:cTn>
                                        <p:tgtEl>
                                          <p:spTgt spid="29731"/>
                                        </p:tgtEl>
                                        <p:attrNameLst>
                                          <p:attrName>style.visibility</p:attrName>
                                        </p:attrNameLst>
                                      </p:cBhvr>
                                      <p:to>
                                        <p:strVal val="visible"/>
                                      </p:to>
                                    </p:set>
                                    <p:animEffect transition="in" filter="randombar(horizontal)">
                                      <p:cBhvr>
                                        <p:cTn id="47" dur="500"/>
                                        <p:tgtEl>
                                          <p:spTgt spid="2973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randombar(horizontal)">
                                      <p:cBhvr>
                                        <p:cTn id="57" dur="500"/>
                                        <p:tgtEl>
                                          <p:spTgt spid="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500"/>
                                        <p:tgtEl>
                                          <p:spTgt spid="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randombar(horizontal)">
                                      <p:cBhvr>
                                        <p:cTn id="67" dur="500"/>
                                        <p:tgtEl>
                                          <p:spTgt spid="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500"/>
                                        <p:tgtEl>
                                          <p:spTgt spid="1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4" presetClass="entr" presetSubtype="10" fill="hold" nodeType="clickEffect">
                                  <p:stCondLst>
                                    <p:cond delay="0"/>
                                  </p:stCondLst>
                                  <p:childTnLst>
                                    <p:set>
                                      <p:cBhvr>
                                        <p:cTn id="76" dur="1" fill="hold">
                                          <p:stCondLst>
                                            <p:cond delay="0"/>
                                          </p:stCondLst>
                                        </p:cTn>
                                        <p:tgtEl>
                                          <p:spTgt spid="29733"/>
                                        </p:tgtEl>
                                        <p:attrNameLst>
                                          <p:attrName>style.visibility</p:attrName>
                                        </p:attrNameLst>
                                      </p:cBhvr>
                                      <p:to>
                                        <p:strVal val="visible"/>
                                      </p:to>
                                    </p:set>
                                    <p:animEffect transition="in" filter="randombar(horizontal)">
                                      <p:cBhvr>
                                        <p:cTn id="77" dur="500"/>
                                        <p:tgtEl>
                                          <p:spTgt spid="2973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fade">
                                      <p:cBhvr>
                                        <p:cTn id="82" dur="500"/>
                                        <p:tgtEl>
                                          <p:spTgt spid="1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4" presetClass="entr" presetSubtype="10" fill="hold" nodeType="clickEffect">
                                  <p:stCondLst>
                                    <p:cond delay="0"/>
                                  </p:stCondLst>
                                  <p:childTnLst>
                                    <p:set>
                                      <p:cBhvr>
                                        <p:cTn id="86" dur="1" fill="hold">
                                          <p:stCondLst>
                                            <p:cond delay="0"/>
                                          </p:stCondLst>
                                        </p:cTn>
                                        <p:tgtEl>
                                          <p:spTgt spid="29741"/>
                                        </p:tgtEl>
                                        <p:attrNameLst>
                                          <p:attrName>style.visibility</p:attrName>
                                        </p:attrNameLst>
                                      </p:cBhvr>
                                      <p:to>
                                        <p:strVal val="visible"/>
                                      </p:to>
                                    </p:set>
                                    <p:animEffect transition="in" filter="randombar(horizontal)">
                                      <p:cBhvr>
                                        <p:cTn id="87" dur="500"/>
                                        <p:tgtEl>
                                          <p:spTgt spid="2974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fade">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8" grpId="0"/>
      <p:bldP spid="10" grpId="0"/>
      <p:bldP spid="11"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24000" y="6351"/>
            <a:ext cx="9144000" cy="784225"/>
          </a:xfrm>
        </p:spPr>
        <p:txBody>
          <a:bodyPr/>
          <a:lstStyle/>
          <a:p>
            <a:pPr algn="just">
              <a:defRPr/>
            </a:pPr>
            <a:r>
              <a:rPr lang="en-US" sz="3200" dirty="0"/>
              <a:t>Step 6: Rectification and Registration</a:t>
            </a:r>
            <a:endParaRPr lang="en-US" sz="2400" dirty="0"/>
          </a:p>
        </p:txBody>
      </p:sp>
      <p:sp>
        <p:nvSpPr>
          <p:cNvPr id="21507" name="Rectangle 3"/>
          <p:cNvSpPr>
            <a:spLocks noGrp="1" noChangeArrowheads="1"/>
          </p:cNvSpPr>
          <p:nvPr>
            <p:ph sz="half" idx="1"/>
          </p:nvPr>
        </p:nvSpPr>
        <p:spPr>
          <a:xfrm>
            <a:off x="1836738" y="1016001"/>
            <a:ext cx="8615362" cy="4284663"/>
          </a:xfrm>
        </p:spPr>
        <p:txBody>
          <a:bodyPr>
            <a:noAutofit/>
          </a:bodyPr>
          <a:lstStyle/>
          <a:p>
            <a:pPr algn="just">
              <a:spcAft>
                <a:spcPts val="600"/>
              </a:spcAft>
              <a:defRPr/>
            </a:pPr>
            <a:r>
              <a:rPr lang="en-US" b="0" i="1" dirty="0" smtClean="0">
                <a:latin typeface="+mj-lt"/>
              </a:rPr>
              <a:t>Rectification: </a:t>
            </a:r>
            <a:r>
              <a:rPr lang="en-US" b="0" dirty="0" smtClean="0">
                <a:latin typeface="+mj-lt"/>
              </a:rPr>
              <a:t>Rearrangement of location of objects to correspond to a specific reference system.</a:t>
            </a:r>
          </a:p>
          <a:p>
            <a:pPr marL="0" indent="0" algn="just">
              <a:buNone/>
              <a:defRPr/>
            </a:pPr>
            <a:endParaRPr lang="en-US" b="0" dirty="0" smtClean="0">
              <a:latin typeface="+mj-lt"/>
            </a:endParaRPr>
          </a:p>
          <a:p>
            <a:pPr algn="just">
              <a:defRPr/>
            </a:pPr>
            <a:r>
              <a:rPr lang="en-US" b="0" i="1" dirty="0" smtClean="0">
                <a:latin typeface="+mj-lt"/>
              </a:rPr>
              <a:t>Registration: </a:t>
            </a:r>
            <a:r>
              <a:rPr lang="en-US" b="0" dirty="0" smtClean="0">
                <a:latin typeface="+mj-lt"/>
              </a:rPr>
              <a:t>Rearrangement of location of objects of one set so they correspond with those of another, without reference to a specific reference system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fade">
                                      <p:cBhvr>
                                        <p:cTn id="12" dur="500"/>
                                        <p:tgtEl>
                                          <p:spTgt spid="215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24000" y="115889"/>
            <a:ext cx="9144000" cy="903287"/>
          </a:xfrm>
        </p:spPr>
        <p:txBody>
          <a:bodyPr/>
          <a:lstStyle/>
          <a:p>
            <a:pPr algn="just">
              <a:defRPr/>
            </a:pPr>
            <a:r>
              <a:rPr lang="en-US" sz="3200" dirty="0"/>
              <a:t>Step 6: Rectification and Registration</a:t>
            </a:r>
            <a:endParaRPr lang="en-US" sz="2400" dirty="0"/>
          </a:p>
        </p:txBody>
      </p:sp>
      <p:sp>
        <p:nvSpPr>
          <p:cNvPr id="21508" name="Rectangle 4"/>
          <p:cNvSpPr>
            <a:spLocks noGrp="1" noChangeArrowheads="1"/>
          </p:cNvSpPr>
          <p:nvPr>
            <p:ph sz="half" idx="2"/>
          </p:nvPr>
        </p:nvSpPr>
        <p:spPr>
          <a:xfrm>
            <a:off x="2090739" y="1412875"/>
            <a:ext cx="8010525" cy="3816350"/>
          </a:xfrm>
        </p:spPr>
        <p:txBody>
          <a:bodyPr>
            <a:noAutofit/>
          </a:bodyPr>
          <a:lstStyle/>
          <a:p>
            <a:pPr algn="just">
              <a:spcAft>
                <a:spcPts val="600"/>
              </a:spcAft>
              <a:defRPr/>
            </a:pPr>
            <a:r>
              <a:rPr lang="en-US" sz="2400" dirty="0">
                <a:latin typeface="+mj-lt"/>
              </a:rPr>
              <a:t>Two Methods:</a:t>
            </a:r>
          </a:p>
          <a:p>
            <a:pPr marL="457200" indent="-457200" algn="just">
              <a:spcAft>
                <a:spcPts val="600"/>
              </a:spcAft>
              <a:buFont typeface="+mj-lt"/>
              <a:buAutoNum type="arabicParenR"/>
              <a:defRPr/>
            </a:pPr>
            <a:r>
              <a:rPr lang="en-US" sz="2400" dirty="0">
                <a:latin typeface="+mj-lt"/>
              </a:rPr>
              <a:t>homogeneous transformation via </a:t>
            </a:r>
            <a:r>
              <a:rPr lang="en-US" sz="2400" i="1" dirty="0">
                <a:latin typeface="+mj-lt"/>
              </a:rPr>
              <a:t>rotation, translation, scaling, skewing</a:t>
            </a:r>
          </a:p>
          <a:p>
            <a:pPr marL="822960" algn="just">
              <a:spcAft>
                <a:spcPts val="600"/>
              </a:spcAft>
              <a:buFont typeface="Wingdings" panose="05000000000000000000" pitchFamily="2" charset="2"/>
              <a:buChar char="ü"/>
              <a:defRPr/>
            </a:pPr>
            <a:r>
              <a:rPr lang="en-US" sz="2400" dirty="0">
                <a:latin typeface="+mj-lt"/>
              </a:rPr>
              <a:t>used for map projection and similar conversions</a:t>
            </a:r>
          </a:p>
          <a:p>
            <a:pPr marL="457200" indent="-457200" algn="just">
              <a:spcAft>
                <a:spcPts val="600"/>
              </a:spcAft>
              <a:buFont typeface="+mj-lt"/>
              <a:buAutoNum type="arabicParenR" startAt="2"/>
              <a:defRPr/>
            </a:pPr>
            <a:r>
              <a:rPr lang="en-US" sz="2400" dirty="0">
                <a:latin typeface="+mj-lt"/>
              </a:rPr>
              <a:t>differential transformation via </a:t>
            </a:r>
            <a:r>
              <a:rPr lang="en-US" sz="2400" i="1" dirty="0">
                <a:latin typeface="+mj-lt"/>
              </a:rPr>
              <a:t>rubber sheeting</a:t>
            </a:r>
          </a:p>
          <a:p>
            <a:pPr marL="822960" algn="just">
              <a:spcAft>
                <a:spcPts val="600"/>
              </a:spcAft>
              <a:buFont typeface="Wingdings" panose="05000000000000000000" pitchFamily="2" charset="2"/>
              <a:buChar char="ü"/>
              <a:defRPr/>
            </a:pPr>
            <a:r>
              <a:rPr lang="en-US" sz="2400" dirty="0">
                <a:latin typeface="+mj-lt"/>
              </a:rPr>
              <a:t>used to correctly position distorted images or scanned maps or documents</a:t>
            </a:r>
          </a:p>
          <a:p>
            <a:pPr algn="just">
              <a:lnSpc>
                <a:spcPct val="90000"/>
              </a:lnSpc>
              <a:defRPr/>
            </a:pPr>
            <a:endParaRPr lang="en-US" sz="2400"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Effect transition="in" filter="fade">
                                      <p:cBhvr>
                                        <p:cTn id="7" dur="500"/>
                                        <p:tgtEl>
                                          <p:spTgt spid="215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8">
                                            <p:txEl>
                                              <p:pRg st="1" end="1"/>
                                            </p:txEl>
                                          </p:spTgt>
                                        </p:tgtEl>
                                        <p:attrNameLst>
                                          <p:attrName>style.visibility</p:attrName>
                                        </p:attrNameLst>
                                      </p:cBhvr>
                                      <p:to>
                                        <p:strVal val="visible"/>
                                      </p:to>
                                    </p:set>
                                    <p:animEffect transition="in" filter="fade">
                                      <p:cBhvr>
                                        <p:cTn id="12" dur="500"/>
                                        <p:tgtEl>
                                          <p:spTgt spid="2150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8">
                                            <p:txEl>
                                              <p:pRg st="2" end="2"/>
                                            </p:txEl>
                                          </p:spTgt>
                                        </p:tgtEl>
                                        <p:attrNameLst>
                                          <p:attrName>style.visibility</p:attrName>
                                        </p:attrNameLst>
                                      </p:cBhvr>
                                      <p:to>
                                        <p:strVal val="visible"/>
                                      </p:to>
                                    </p:set>
                                    <p:animEffect transition="in" filter="fade">
                                      <p:cBhvr>
                                        <p:cTn id="17" dur="500"/>
                                        <p:tgtEl>
                                          <p:spTgt spid="2150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8">
                                            <p:txEl>
                                              <p:pRg st="3" end="3"/>
                                            </p:txEl>
                                          </p:spTgt>
                                        </p:tgtEl>
                                        <p:attrNameLst>
                                          <p:attrName>style.visibility</p:attrName>
                                        </p:attrNameLst>
                                      </p:cBhvr>
                                      <p:to>
                                        <p:strVal val="visible"/>
                                      </p:to>
                                    </p:set>
                                    <p:animEffect transition="in" filter="fade">
                                      <p:cBhvr>
                                        <p:cTn id="22" dur="500"/>
                                        <p:tgtEl>
                                          <p:spTgt spid="2150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508">
                                            <p:txEl>
                                              <p:pRg st="4" end="4"/>
                                            </p:txEl>
                                          </p:spTgt>
                                        </p:tgtEl>
                                        <p:attrNameLst>
                                          <p:attrName>style.visibility</p:attrName>
                                        </p:attrNameLst>
                                      </p:cBhvr>
                                      <p:to>
                                        <p:strVal val="visible"/>
                                      </p:to>
                                    </p:set>
                                    <p:animEffect transition="in" filter="fade">
                                      <p:cBhvr>
                                        <p:cTn id="27" dur="500"/>
                                        <p:tgtEl>
                                          <p:spTgt spid="2150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524000" y="0"/>
            <a:ext cx="9144000" cy="762000"/>
          </a:xfrm>
        </p:spPr>
        <p:txBody>
          <a:bodyPr>
            <a:normAutofit/>
          </a:bodyPr>
          <a:lstStyle/>
          <a:p>
            <a:pPr>
              <a:defRPr/>
            </a:pPr>
            <a:r>
              <a:rPr lang="en-US" sz="2800" dirty="0"/>
              <a:t>Step 7: Edge Matching</a:t>
            </a:r>
            <a:endParaRPr lang="en-US" sz="2400" dirty="0"/>
          </a:p>
        </p:txBody>
      </p:sp>
      <p:sp>
        <p:nvSpPr>
          <p:cNvPr id="24579" name="Rectangle 3"/>
          <p:cNvSpPr>
            <a:spLocks noGrp="1" noChangeArrowheads="1"/>
          </p:cNvSpPr>
          <p:nvPr>
            <p:ph sz="half" idx="1"/>
          </p:nvPr>
        </p:nvSpPr>
        <p:spPr>
          <a:xfrm>
            <a:off x="1905000" y="838200"/>
            <a:ext cx="5189538" cy="5791200"/>
          </a:xfrm>
        </p:spPr>
        <p:txBody>
          <a:bodyPr/>
          <a:lstStyle/>
          <a:p>
            <a:pPr>
              <a:lnSpc>
                <a:spcPct val="80000"/>
              </a:lnSpc>
              <a:defRPr/>
            </a:pPr>
            <a:r>
              <a:rPr lang="en-US" b="0" dirty="0" smtClean="0"/>
              <a:t>Process</a:t>
            </a:r>
          </a:p>
          <a:p>
            <a:pPr marL="822960">
              <a:lnSpc>
                <a:spcPct val="80000"/>
              </a:lnSpc>
              <a:buFont typeface="Wingdings" panose="05000000000000000000" pitchFamily="2" charset="2"/>
              <a:buChar char="ü"/>
              <a:defRPr/>
            </a:pPr>
            <a:r>
              <a:rPr lang="en-US" sz="2400" dirty="0"/>
              <a:t>required for topo. consistency even if features line-up visually</a:t>
            </a:r>
          </a:p>
          <a:p>
            <a:pPr>
              <a:lnSpc>
                <a:spcPct val="80000"/>
              </a:lnSpc>
              <a:defRPr/>
            </a:pPr>
            <a:r>
              <a:rPr lang="en-US" b="0" dirty="0" smtClean="0"/>
              <a:t>Issues</a:t>
            </a:r>
          </a:p>
          <a:p>
            <a:pPr marL="822960">
              <a:lnSpc>
                <a:spcPct val="80000"/>
              </a:lnSpc>
              <a:buFont typeface="Wingdings" panose="05000000000000000000" pitchFamily="2" charset="2"/>
              <a:buChar char="ü"/>
              <a:defRPr/>
            </a:pPr>
            <a:r>
              <a:rPr lang="en-US" sz="2400" dirty="0"/>
              <a:t>acceptable tolerance before ‘further investigation’ of mismatch</a:t>
            </a:r>
          </a:p>
          <a:p>
            <a:pPr marL="822960">
              <a:lnSpc>
                <a:spcPct val="80000"/>
              </a:lnSpc>
              <a:buFont typeface="Wingdings" panose="05000000000000000000" pitchFamily="2" charset="2"/>
              <a:buChar char="ü"/>
              <a:defRPr/>
            </a:pPr>
            <a:r>
              <a:rPr lang="en-US" sz="2400" dirty="0"/>
              <a:t>‘how far back’ to go on  sheet(s) with adjustments for mismatch</a:t>
            </a:r>
            <a:endParaRPr lang="en-US" b="0" dirty="0" smtClean="0"/>
          </a:p>
          <a:p>
            <a:pPr>
              <a:lnSpc>
                <a:spcPct val="80000"/>
              </a:lnSpc>
              <a:defRPr/>
            </a:pPr>
            <a:r>
              <a:rPr lang="en-US" b="0" dirty="0" smtClean="0"/>
              <a:t>Causes of mismatch</a:t>
            </a:r>
          </a:p>
          <a:p>
            <a:pPr marL="822960">
              <a:lnSpc>
                <a:spcPct val="80000"/>
              </a:lnSpc>
              <a:buFont typeface="Wingdings" panose="05000000000000000000" pitchFamily="2" charset="2"/>
              <a:buChar char="ü"/>
              <a:defRPr/>
            </a:pPr>
            <a:r>
              <a:rPr lang="en-US" sz="2400" dirty="0"/>
              <a:t>paper map shrinkage/expansion</a:t>
            </a:r>
          </a:p>
          <a:p>
            <a:pPr marL="822960">
              <a:lnSpc>
                <a:spcPct val="80000"/>
              </a:lnSpc>
              <a:buFont typeface="Wingdings" panose="05000000000000000000" pitchFamily="2" charset="2"/>
              <a:buChar char="ü"/>
              <a:defRPr/>
            </a:pPr>
            <a:r>
              <a:rPr lang="en-US" sz="2400" dirty="0"/>
              <a:t>errors from digitizing/scanning</a:t>
            </a:r>
          </a:p>
        </p:txBody>
      </p:sp>
      <p:sp>
        <p:nvSpPr>
          <p:cNvPr id="57348" name="Rectangle 4"/>
          <p:cNvSpPr>
            <a:spLocks noGrp="1" noChangeArrowheads="1"/>
          </p:cNvSpPr>
          <p:nvPr>
            <p:ph sz="half" idx="2"/>
          </p:nvPr>
        </p:nvSpPr>
        <p:spPr>
          <a:xfrm>
            <a:off x="7280275" y="1016001"/>
            <a:ext cx="3086100" cy="722313"/>
          </a:xfrm>
        </p:spPr>
        <p:txBody>
          <a:bodyPr/>
          <a:lstStyle/>
          <a:p>
            <a:pPr>
              <a:buFontTx/>
              <a:buNone/>
            </a:pPr>
            <a:r>
              <a:rPr lang="en-US" altLang="en-US" sz="1600"/>
              <a:t>Corresponding features fail to match on two sheets:</a:t>
            </a:r>
          </a:p>
        </p:txBody>
      </p:sp>
      <p:sp>
        <p:nvSpPr>
          <p:cNvPr id="57349" name="Freeform 5"/>
          <p:cNvSpPr>
            <a:spLocks/>
          </p:cNvSpPr>
          <p:nvPr/>
        </p:nvSpPr>
        <p:spPr bwMode="auto">
          <a:xfrm>
            <a:off x="7315200" y="6096000"/>
            <a:ext cx="1588" cy="1588"/>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7350" name="Group 21"/>
          <p:cNvGrpSpPr>
            <a:grpSpLocks/>
          </p:cNvGrpSpPr>
          <p:nvPr/>
        </p:nvGrpSpPr>
        <p:grpSpPr bwMode="auto">
          <a:xfrm>
            <a:off x="7031038" y="-1881188"/>
            <a:ext cx="3346450" cy="5553076"/>
            <a:chOff x="3124" y="3408"/>
            <a:chExt cx="2108" cy="5552842"/>
          </a:xfrm>
        </p:grpSpPr>
        <p:sp>
          <p:nvSpPr>
            <p:cNvPr id="57352" name="Rectangle 6"/>
            <p:cNvSpPr>
              <a:spLocks noChangeArrowheads="1"/>
            </p:cNvSpPr>
            <p:nvPr/>
          </p:nvSpPr>
          <p:spPr bwMode="auto">
            <a:xfrm>
              <a:off x="3124" y="3511550"/>
              <a:ext cx="904"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7353" name="Freeform 7"/>
            <p:cNvSpPr>
              <a:spLocks/>
            </p:cNvSpPr>
            <p:nvPr/>
          </p:nvSpPr>
          <p:spPr bwMode="auto">
            <a:xfrm>
              <a:off x="3539" y="3708400"/>
              <a:ext cx="498" cy="465138"/>
            </a:xfrm>
            <a:custGeom>
              <a:avLst/>
              <a:gdLst>
                <a:gd name="T0" fmla="*/ 493 w 498"/>
                <a:gd name="T1" fmla="*/ 2147483646 h 293"/>
                <a:gd name="T2" fmla="*/ 439 w 498"/>
                <a:gd name="T3" fmla="*/ 0 h 293"/>
                <a:gd name="T4" fmla="*/ 395 w 498"/>
                <a:gd name="T5" fmla="*/ 0 h 293"/>
                <a:gd name="T6" fmla="*/ 351 w 498"/>
                <a:gd name="T7" fmla="*/ 0 h 293"/>
                <a:gd name="T8" fmla="*/ 307 w 498"/>
                <a:gd name="T9" fmla="*/ 0 h 293"/>
                <a:gd name="T10" fmla="*/ 263 w 498"/>
                <a:gd name="T11" fmla="*/ 0 h 293"/>
                <a:gd name="T12" fmla="*/ 219 w 498"/>
                <a:gd name="T13" fmla="*/ 0 h 293"/>
                <a:gd name="T14" fmla="*/ 175 w 498"/>
                <a:gd name="T15" fmla="*/ 0 h 293"/>
                <a:gd name="T16" fmla="*/ 131 w 498"/>
                <a:gd name="T17" fmla="*/ 0 h 293"/>
                <a:gd name="T18" fmla="*/ 87 w 498"/>
                <a:gd name="T19" fmla="*/ 0 h 293"/>
                <a:gd name="T20" fmla="*/ 43 w 498"/>
                <a:gd name="T21" fmla="*/ 0 h 293"/>
                <a:gd name="T22" fmla="*/ 14 w 498"/>
                <a:gd name="T23" fmla="*/ 2147483646 h 293"/>
                <a:gd name="T24" fmla="*/ 0 w 498"/>
                <a:gd name="T25" fmla="*/ 2147483646 h 293"/>
                <a:gd name="T26" fmla="*/ 0 w 498"/>
                <a:gd name="T27" fmla="*/ 2147483646 h 293"/>
                <a:gd name="T28" fmla="*/ 0 w 498"/>
                <a:gd name="T29" fmla="*/ 2147483646 h 293"/>
                <a:gd name="T30" fmla="*/ 0 w 498"/>
                <a:gd name="T31" fmla="*/ 2147483646 h 293"/>
                <a:gd name="T32" fmla="*/ 43 w 498"/>
                <a:gd name="T33" fmla="*/ 2147483646 h 293"/>
                <a:gd name="T34" fmla="*/ 87 w 498"/>
                <a:gd name="T35" fmla="*/ 2147483646 h 293"/>
                <a:gd name="T36" fmla="*/ 131 w 498"/>
                <a:gd name="T37" fmla="*/ 2147483646 h 293"/>
                <a:gd name="T38" fmla="*/ 175 w 498"/>
                <a:gd name="T39" fmla="*/ 2147483646 h 293"/>
                <a:gd name="T40" fmla="*/ 219 w 498"/>
                <a:gd name="T41" fmla="*/ 2147483646 h 293"/>
                <a:gd name="T42" fmla="*/ 263 w 498"/>
                <a:gd name="T43" fmla="*/ 2147483646 h 293"/>
                <a:gd name="T44" fmla="*/ 307 w 498"/>
                <a:gd name="T45" fmla="*/ 2147483646 h 293"/>
                <a:gd name="T46" fmla="*/ 351 w 498"/>
                <a:gd name="T47" fmla="*/ 2147483646 h 293"/>
                <a:gd name="T48" fmla="*/ 395 w 498"/>
                <a:gd name="T49" fmla="*/ 2147483646 h 293"/>
                <a:gd name="T50" fmla="*/ 439 w 498"/>
                <a:gd name="T51" fmla="*/ 2147483646 h 293"/>
                <a:gd name="T52" fmla="*/ 497 w 498"/>
                <a:gd name="T53" fmla="*/ 2147483646 h 293"/>
                <a:gd name="T54" fmla="*/ 453 w 498"/>
                <a:gd name="T55" fmla="*/ 2147483646 h 29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8"/>
                <a:gd name="T85" fmla="*/ 0 h 293"/>
                <a:gd name="T86" fmla="*/ 498 w 498"/>
                <a:gd name="T87" fmla="*/ 293 h 29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8" h="293">
                  <a:moveTo>
                    <a:pt x="493" y="16"/>
                  </a:moveTo>
                  <a:lnTo>
                    <a:pt x="439" y="0"/>
                  </a:lnTo>
                  <a:lnTo>
                    <a:pt x="395" y="0"/>
                  </a:lnTo>
                  <a:lnTo>
                    <a:pt x="351" y="0"/>
                  </a:lnTo>
                  <a:lnTo>
                    <a:pt x="307" y="0"/>
                  </a:lnTo>
                  <a:lnTo>
                    <a:pt x="263" y="0"/>
                  </a:lnTo>
                  <a:lnTo>
                    <a:pt x="219" y="0"/>
                  </a:lnTo>
                  <a:lnTo>
                    <a:pt x="175" y="0"/>
                  </a:lnTo>
                  <a:lnTo>
                    <a:pt x="131" y="0"/>
                  </a:lnTo>
                  <a:lnTo>
                    <a:pt x="87" y="0"/>
                  </a:lnTo>
                  <a:lnTo>
                    <a:pt x="43" y="0"/>
                  </a:lnTo>
                  <a:lnTo>
                    <a:pt x="14" y="44"/>
                  </a:lnTo>
                  <a:lnTo>
                    <a:pt x="0" y="102"/>
                  </a:lnTo>
                  <a:lnTo>
                    <a:pt x="0" y="146"/>
                  </a:lnTo>
                  <a:lnTo>
                    <a:pt x="0" y="190"/>
                  </a:lnTo>
                  <a:lnTo>
                    <a:pt x="0" y="234"/>
                  </a:lnTo>
                  <a:lnTo>
                    <a:pt x="43" y="278"/>
                  </a:lnTo>
                  <a:lnTo>
                    <a:pt x="87" y="278"/>
                  </a:lnTo>
                  <a:lnTo>
                    <a:pt x="131" y="292"/>
                  </a:lnTo>
                  <a:lnTo>
                    <a:pt x="175" y="292"/>
                  </a:lnTo>
                  <a:lnTo>
                    <a:pt x="219" y="292"/>
                  </a:lnTo>
                  <a:lnTo>
                    <a:pt x="263" y="292"/>
                  </a:lnTo>
                  <a:lnTo>
                    <a:pt x="307" y="292"/>
                  </a:lnTo>
                  <a:lnTo>
                    <a:pt x="351" y="292"/>
                  </a:lnTo>
                  <a:lnTo>
                    <a:pt x="395" y="292"/>
                  </a:lnTo>
                  <a:lnTo>
                    <a:pt x="439" y="292"/>
                  </a:lnTo>
                  <a:lnTo>
                    <a:pt x="497" y="278"/>
                  </a:lnTo>
                  <a:lnTo>
                    <a:pt x="453" y="278"/>
                  </a:lnTo>
                </a:path>
              </a:pathLst>
            </a:custGeom>
            <a:solidFill>
              <a:schemeClr val="bg2"/>
            </a:solidFill>
            <a:ln w="12700" cap="rnd">
              <a:solidFill>
                <a:schemeClr val="tx1"/>
              </a:solidFill>
              <a:round/>
              <a:headEnd type="none" w="sm" len="sm"/>
              <a:tailEnd type="none" w="sm" len="sm"/>
            </a:ln>
          </p:spPr>
          <p:txBody>
            <a:bodyPr/>
            <a:lstStyle/>
            <a:p>
              <a:endParaRPr lang="en-US"/>
            </a:p>
          </p:txBody>
        </p:sp>
        <p:sp>
          <p:nvSpPr>
            <p:cNvPr id="57354" name="Line 8"/>
            <p:cNvSpPr>
              <a:spLocks noChangeShapeType="1"/>
            </p:cNvSpPr>
            <p:nvPr/>
          </p:nvSpPr>
          <p:spPr bwMode="auto">
            <a:xfrm>
              <a:off x="3312" y="4267200"/>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7355" name="Rectangle 10"/>
            <p:cNvSpPr>
              <a:spLocks noChangeArrowheads="1"/>
            </p:cNvSpPr>
            <p:nvPr/>
          </p:nvSpPr>
          <p:spPr bwMode="auto">
            <a:xfrm>
              <a:off x="4328" y="3511550"/>
              <a:ext cx="904"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7356" name="Freeform 11"/>
            <p:cNvSpPr>
              <a:spLocks/>
            </p:cNvSpPr>
            <p:nvPr/>
          </p:nvSpPr>
          <p:spPr bwMode="auto">
            <a:xfrm>
              <a:off x="4320" y="3600450"/>
              <a:ext cx="498" cy="465138"/>
            </a:xfrm>
            <a:custGeom>
              <a:avLst/>
              <a:gdLst>
                <a:gd name="T0" fmla="*/ 3 w 498"/>
                <a:gd name="T1" fmla="*/ 2147483646 h 293"/>
                <a:gd name="T2" fmla="*/ 58 w 498"/>
                <a:gd name="T3" fmla="*/ 2147483646 h 293"/>
                <a:gd name="T4" fmla="*/ 102 w 498"/>
                <a:gd name="T5" fmla="*/ 2147483646 h 293"/>
                <a:gd name="T6" fmla="*/ 146 w 498"/>
                <a:gd name="T7" fmla="*/ 2147483646 h 293"/>
                <a:gd name="T8" fmla="*/ 190 w 498"/>
                <a:gd name="T9" fmla="*/ 2147483646 h 293"/>
                <a:gd name="T10" fmla="*/ 234 w 498"/>
                <a:gd name="T11" fmla="*/ 2147483646 h 293"/>
                <a:gd name="T12" fmla="*/ 278 w 498"/>
                <a:gd name="T13" fmla="*/ 2147483646 h 293"/>
                <a:gd name="T14" fmla="*/ 322 w 498"/>
                <a:gd name="T15" fmla="*/ 2147483646 h 293"/>
                <a:gd name="T16" fmla="*/ 366 w 498"/>
                <a:gd name="T17" fmla="*/ 2147483646 h 293"/>
                <a:gd name="T18" fmla="*/ 410 w 498"/>
                <a:gd name="T19" fmla="*/ 2147483646 h 293"/>
                <a:gd name="T20" fmla="*/ 454 w 498"/>
                <a:gd name="T21" fmla="*/ 2147483646 h 293"/>
                <a:gd name="T22" fmla="*/ 483 w 498"/>
                <a:gd name="T23" fmla="*/ 2147483646 h 293"/>
                <a:gd name="T24" fmla="*/ 497 w 498"/>
                <a:gd name="T25" fmla="*/ 2147483646 h 293"/>
                <a:gd name="T26" fmla="*/ 497 w 498"/>
                <a:gd name="T27" fmla="*/ 2147483646 h 293"/>
                <a:gd name="T28" fmla="*/ 497 w 498"/>
                <a:gd name="T29" fmla="*/ 2147483646 h 293"/>
                <a:gd name="T30" fmla="*/ 497 w 498"/>
                <a:gd name="T31" fmla="*/ 2147483646 h 293"/>
                <a:gd name="T32" fmla="*/ 454 w 498"/>
                <a:gd name="T33" fmla="*/ 2147483646 h 293"/>
                <a:gd name="T34" fmla="*/ 410 w 498"/>
                <a:gd name="T35" fmla="*/ 2147483646 h 293"/>
                <a:gd name="T36" fmla="*/ 366 w 498"/>
                <a:gd name="T37" fmla="*/ 0 h 293"/>
                <a:gd name="T38" fmla="*/ 322 w 498"/>
                <a:gd name="T39" fmla="*/ 0 h 293"/>
                <a:gd name="T40" fmla="*/ 278 w 498"/>
                <a:gd name="T41" fmla="*/ 0 h 293"/>
                <a:gd name="T42" fmla="*/ 234 w 498"/>
                <a:gd name="T43" fmla="*/ 0 h 293"/>
                <a:gd name="T44" fmla="*/ 190 w 498"/>
                <a:gd name="T45" fmla="*/ 0 h 293"/>
                <a:gd name="T46" fmla="*/ 146 w 498"/>
                <a:gd name="T47" fmla="*/ 0 h 293"/>
                <a:gd name="T48" fmla="*/ 102 w 498"/>
                <a:gd name="T49" fmla="*/ 0 h 293"/>
                <a:gd name="T50" fmla="*/ 58 w 498"/>
                <a:gd name="T51" fmla="*/ 0 h 293"/>
                <a:gd name="T52" fmla="*/ 0 w 498"/>
                <a:gd name="T53" fmla="*/ 2147483646 h 293"/>
                <a:gd name="T54" fmla="*/ 44 w 498"/>
                <a:gd name="T55" fmla="*/ 2147483646 h 29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8"/>
                <a:gd name="T85" fmla="*/ 0 h 293"/>
                <a:gd name="T86" fmla="*/ 498 w 498"/>
                <a:gd name="T87" fmla="*/ 293 h 29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8" h="293">
                  <a:moveTo>
                    <a:pt x="3" y="276"/>
                  </a:moveTo>
                  <a:lnTo>
                    <a:pt x="58" y="292"/>
                  </a:lnTo>
                  <a:lnTo>
                    <a:pt x="102" y="292"/>
                  </a:lnTo>
                  <a:lnTo>
                    <a:pt x="146" y="292"/>
                  </a:lnTo>
                  <a:lnTo>
                    <a:pt x="190" y="292"/>
                  </a:lnTo>
                  <a:lnTo>
                    <a:pt x="234" y="292"/>
                  </a:lnTo>
                  <a:lnTo>
                    <a:pt x="278" y="292"/>
                  </a:lnTo>
                  <a:lnTo>
                    <a:pt x="322" y="292"/>
                  </a:lnTo>
                  <a:lnTo>
                    <a:pt x="366" y="292"/>
                  </a:lnTo>
                  <a:lnTo>
                    <a:pt x="410" y="292"/>
                  </a:lnTo>
                  <a:lnTo>
                    <a:pt x="454" y="292"/>
                  </a:lnTo>
                  <a:lnTo>
                    <a:pt x="483" y="248"/>
                  </a:lnTo>
                  <a:lnTo>
                    <a:pt x="497" y="190"/>
                  </a:lnTo>
                  <a:lnTo>
                    <a:pt x="497" y="146"/>
                  </a:lnTo>
                  <a:lnTo>
                    <a:pt x="497" y="102"/>
                  </a:lnTo>
                  <a:lnTo>
                    <a:pt x="497" y="58"/>
                  </a:lnTo>
                  <a:lnTo>
                    <a:pt x="454" y="14"/>
                  </a:lnTo>
                  <a:lnTo>
                    <a:pt x="410" y="14"/>
                  </a:lnTo>
                  <a:lnTo>
                    <a:pt x="366" y="0"/>
                  </a:lnTo>
                  <a:lnTo>
                    <a:pt x="322" y="0"/>
                  </a:lnTo>
                  <a:lnTo>
                    <a:pt x="278" y="0"/>
                  </a:lnTo>
                  <a:lnTo>
                    <a:pt x="234" y="0"/>
                  </a:lnTo>
                  <a:lnTo>
                    <a:pt x="190" y="0"/>
                  </a:lnTo>
                  <a:lnTo>
                    <a:pt x="146" y="0"/>
                  </a:lnTo>
                  <a:lnTo>
                    <a:pt x="102" y="0"/>
                  </a:lnTo>
                  <a:lnTo>
                    <a:pt x="58" y="0"/>
                  </a:lnTo>
                  <a:lnTo>
                    <a:pt x="0" y="14"/>
                  </a:lnTo>
                  <a:lnTo>
                    <a:pt x="44" y="14"/>
                  </a:lnTo>
                </a:path>
              </a:pathLst>
            </a:custGeom>
            <a:solidFill>
              <a:schemeClr val="bg2"/>
            </a:solidFill>
            <a:ln w="12700" cap="rnd">
              <a:solidFill>
                <a:schemeClr val="tx1"/>
              </a:solidFill>
              <a:round/>
              <a:headEnd type="none" w="sm" len="sm"/>
              <a:tailEnd type="none" w="sm" len="sm"/>
            </a:ln>
          </p:spPr>
          <p:txBody>
            <a:bodyPr/>
            <a:lstStyle/>
            <a:p>
              <a:endParaRPr lang="en-US"/>
            </a:p>
          </p:txBody>
        </p:sp>
        <p:sp>
          <p:nvSpPr>
            <p:cNvPr id="57357" name="Line 12"/>
            <p:cNvSpPr>
              <a:spLocks noChangeShapeType="1"/>
            </p:cNvSpPr>
            <p:nvPr/>
          </p:nvSpPr>
          <p:spPr bwMode="auto">
            <a:xfrm>
              <a:off x="4320" y="4343400"/>
              <a:ext cx="57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7358" name="Rectangle 13"/>
            <p:cNvSpPr>
              <a:spLocks noChangeArrowheads="1"/>
            </p:cNvSpPr>
            <p:nvPr/>
          </p:nvSpPr>
          <p:spPr bwMode="auto">
            <a:xfrm>
              <a:off x="4280" y="4654550"/>
              <a:ext cx="904"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7359" name="Freeform 14"/>
            <p:cNvSpPr>
              <a:spLocks/>
            </p:cNvSpPr>
            <p:nvPr/>
          </p:nvSpPr>
          <p:spPr bwMode="auto">
            <a:xfrm>
              <a:off x="4272" y="4743450"/>
              <a:ext cx="498" cy="465138"/>
            </a:xfrm>
            <a:custGeom>
              <a:avLst/>
              <a:gdLst>
                <a:gd name="T0" fmla="*/ 3 w 498"/>
                <a:gd name="T1" fmla="*/ 2147483646 h 293"/>
                <a:gd name="T2" fmla="*/ 58 w 498"/>
                <a:gd name="T3" fmla="*/ 2147483646 h 293"/>
                <a:gd name="T4" fmla="*/ 102 w 498"/>
                <a:gd name="T5" fmla="*/ 2147483646 h 293"/>
                <a:gd name="T6" fmla="*/ 146 w 498"/>
                <a:gd name="T7" fmla="*/ 2147483646 h 293"/>
                <a:gd name="T8" fmla="*/ 190 w 498"/>
                <a:gd name="T9" fmla="*/ 2147483646 h 293"/>
                <a:gd name="T10" fmla="*/ 234 w 498"/>
                <a:gd name="T11" fmla="*/ 2147483646 h 293"/>
                <a:gd name="T12" fmla="*/ 278 w 498"/>
                <a:gd name="T13" fmla="*/ 2147483646 h 293"/>
                <a:gd name="T14" fmla="*/ 322 w 498"/>
                <a:gd name="T15" fmla="*/ 2147483646 h 293"/>
                <a:gd name="T16" fmla="*/ 366 w 498"/>
                <a:gd name="T17" fmla="*/ 2147483646 h 293"/>
                <a:gd name="T18" fmla="*/ 410 w 498"/>
                <a:gd name="T19" fmla="*/ 2147483646 h 293"/>
                <a:gd name="T20" fmla="*/ 454 w 498"/>
                <a:gd name="T21" fmla="*/ 2147483646 h 293"/>
                <a:gd name="T22" fmla="*/ 483 w 498"/>
                <a:gd name="T23" fmla="*/ 2147483646 h 293"/>
                <a:gd name="T24" fmla="*/ 497 w 498"/>
                <a:gd name="T25" fmla="*/ 2147483646 h 293"/>
                <a:gd name="T26" fmla="*/ 497 w 498"/>
                <a:gd name="T27" fmla="*/ 2147483646 h 293"/>
                <a:gd name="T28" fmla="*/ 497 w 498"/>
                <a:gd name="T29" fmla="*/ 2147483646 h 293"/>
                <a:gd name="T30" fmla="*/ 497 w 498"/>
                <a:gd name="T31" fmla="*/ 2147483646 h 293"/>
                <a:gd name="T32" fmla="*/ 454 w 498"/>
                <a:gd name="T33" fmla="*/ 2147483646 h 293"/>
                <a:gd name="T34" fmla="*/ 410 w 498"/>
                <a:gd name="T35" fmla="*/ 2147483646 h 293"/>
                <a:gd name="T36" fmla="*/ 366 w 498"/>
                <a:gd name="T37" fmla="*/ 0 h 293"/>
                <a:gd name="T38" fmla="*/ 322 w 498"/>
                <a:gd name="T39" fmla="*/ 0 h 293"/>
                <a:gd name="T40" fmla="*/ 278 w 498"/>
                <a:gd name="T41" fmla="*/ 0 h 293"/>
                <a:gd name="T42" fmla="*/ 234 w 498"/>
                <a:gd name="T43" fmla="*/ 0 h 293"/>
                <a:gd name="T44" fmla="*/ 190 w 498"/>
                <a:gd name="T45" fmla="*/ 0 h 293"/>
                <a:gd name="T46" fmla="*/ 146 w 498"/>
                <a:gd name="T47" fmla="*/ 0 h 293"/>
                <a:gd name="T48" fmla="*/ 102 w 498"/>
                <a:gd name="T49" fmla="*/ 0 h 293"/>
                <a:gd name="T50" fmla="*/ 58 w 498"/>
                <a:gd name="T51" fmla="*/ 0 h 293"/>
                <a:gd name="T52" fmla="*/ 0 w 498"/>
                <a:gd name="T53" fmla="*/ 2147483646 h 293"/>
                <a:gd name="T54" fmla="*/ 44 w 498"/>
                <a:gd name="T55" fmla="*/ 2147483646 h 29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8"/>
                <a:gd name="T85" fmla="*/ 0 h 293"/>
                <a:gd name="T86" fmla="*/ 498 w 498"/>
                <a:gd name="T87" fmla="*/ 293 h 29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8" h="293">
                  <a:moveTo>
                    <a:pt x="3" y="276"/>
                  </a:moveTo>
                  <a:lnTo>
                    <a:pt x="58" y="292"/>
                  </a:lnTo>
                  <a:lnTo>
                    <a:pt x="102" y="292"/>
                  </a:lnTo>
                  <a:lnTo>
                    <a:pt x="146" y="292"/>
                  </a:lnTo>
                  <a:lnTo>
                    <a:pt x="190" y="292"/>
                  </a:lnTo>
                  <a:lnTo>
                    <a:pt x="234" y="292"/>
                  </a:lnTo>
                  <a:lnTo>
                    <a:pt x="278" y="292"/>
                  </a:lnTo>
                  <a:lnTo>
                    <a:pt x="322" y="292"/>
                  </a:lnTo>
                  <a:lnTo>
                    <a:pt x="366" y="292"/>
                  </a:lnTo>
                  <a:lnTo>
                    <a:pt x="410" y="292"/>
                  </a:lnTo>
                  <a:lnTo>
                    <a:pt x="454" y="292"/>
                  </a:lnTo>
                  <a:lnTo>
                    <a:pt x="483" y="248"/>
                  </a:lnTo>
                  <a:lnTo>
                    <a:pt x="497" y="190"/>
                  </a:lnTo>
                  <a:lnTo>
                    <a:pt x="497" y="146"/>
                  </a:lnTo>
                  <a:lnTo>
                    <a:pt x="497" y="102"/>
                  </a:lnTo>
                  <a:lnTo>
                    <a:pt x="497" y="58"/>
                  </a:lnTo>
                  <a:lnTo>
                    <a:pt x="454" y="14"/>
                  </a:lnTo>
                  <a:lnTo>
                    <a:pt x="410" y="14"/>
                  </a:lnTo>
                  <a:lnTo>
                    <a:pt x="366" y="0"/>
                  </a:lnTo>
                  <a:lnTo>
                    <a:pt x="322" y="0"/>
                  </a:lnTo>
                  <a:lnTo>
                    <a:pt x="278" y="0"/>
                  </a:lnTo>
                  <a:lnTo>
                    <a:pt x="234" y="0"/>
                  </a:lnTo>
                  <a:lnTo>
                    <a:pt x="190" y="0"/>
                  </a:lnTo>
                  <a:lnTo>
                    <a:pt x="146" y="0"/>
                  </a:lnTo>
                  <a:lnTo>
                    <a:pt x="102" y="0"/>
                  </a:lnTo>
                  <a:lnTo>
                    <a:pt x="58" y="0"/>
                  </a:lnTo>
                  <a:lnTo>
                    <a:pt x="0" y="14"/>
                  </a:lnTo>
                  <a:lnTo>
                    <a:pt x="44" y="14"/>
                  </a:lnTo>
                </a:path>
              </a:pathLst>
            </a:custGeom>
            <a:solidFill>
              <a:schemeClr val="bg2"/>
            </a:solidFill>
            <a:ln w="12700" cap="rnd">
              <a:solidFill>
                <a:schemeClr val="tx1"/>
              </a:solidFill>
              <a:round/>
              <a:headEnd type="none" w="sm" len="sm"/>
              <a:tailEnd type="none" w="sm" len="sm"/>
            </a:ln>
          </p:spPr>
          <p:txBody>
            <a:bodyPr/>
            <a:lstStyle/>
            <a:p>
              <a:endParaRPr lang="en-US"/>
            </a:p>
          </p:txBody>
        </p:sp>
        <p:sp>
          <p:nvSpPr>
            <p:cNvPr id="57360" name="Line 15"/>
            <p:cNvSpPr>
              <a:spLocks noChangeShapeType="1"/>
            </p:cNvSpPr>
            <p:nvPr/>
          </p:nvSpPr>
          <p:spPr bwMode="auto">
            <a:xfrm>
              <a:off x="4272" y="5486400"/>
              <a:ext cx="57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7361" name="Rectangle 16"/>
            <p:cNvSpPr>
              <a:spLocks noChangeArrowheads="1"/>
            </p:cNvSpPr>
            <p:nvPr/>
          </p:nvSpPr>
          <p:spPr bwMode="auto">
            <a:xfrm>
              <a:off x="3364" y="4654550"/>
              <a:ext cx="904"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7362" name="Freeform 17"/>
            <p:cNvSpPr>
              <a:spLocks/>
            </p:cNvSpPr>
            <p:nvPr/>
          </p:nvSpPr>
          <p:spPr bwMode="auto">
            <a:xfrm>
              <a:off x="3779" y="4851400"/>
              <a:ext cx="498" cy="465138"/>
            </a:xfrm>
            <a:custGeom>
              <a:avLst/>
              <a:gdLst>
                <a:gd name="T0" fmla="*/ 493 w 498"/>
                <a:gd name="T1" fmla="*/ 2147483646 h 293"/>
                <a:gd name="T2" fmla="*/ 439 w 498"/>
                <a:gd name="T3" fmla="*/ 0 h 293"/>
                <a:gd name="T4" fmla="*/ 395 w 498"/>
                <a:gd name="T5" fmla="*/ 0 h 293"/>
                <a:gd name="T6" fmla="*/ 351 w 498"/>
                <a:gd name="T7" fmla="*/ 0 h 293"/>
                <a:gd name="T8" fmla="*/ 307 w 498"/>
                <a:gd name="T9" fmla="*/ 0 h 293"/>
                <a:gd name="T10" fmla="*/ 263 w 498"/>
                <a:gd name="T11" fmla="*/ 0 h 293"/>
                <a:gd name="T12" fmla="*/ 219 w 498"/>
                <a:gd name="T13" fmla="*/ 0 h 293"/>
                <a:gd name="T14" fmla="*/ 175 w 498"/>
                <a:gd name="T15" fmla="*/ 0 h 293"/>
                <a:gd name="T16" fmla="*/ 131 w 498"/>
                <a:gd name="T17" fmla="*/ 0 h 293"/>
                <a:gd name="T18" fmla="*/ 87 w 498"/>
                <a:gd name="T19" fmla="*/ 0 h 293"/>
                <a:gd name="T20" fmla="*/ 43 w 498"/>
                <a:gd name="T21" fmla="*/ 0 h 293"/>
                <a:gd name="T22" fmla="*/ 14 w 498"/>
                <a:gd name="T23" fmla="*/ 2147483646 h 293"/>
                <a:gd name="T24" fmla="*/ 0 w 498"/>
                <a:gd name="T25" fmla="*/ 2147483646 h 293"/>
                <a:gd name="T26" fmla="*/ 0 w 498"/>
                <a:gd name="T27" fmla="*/ 2147483646 h 293"/>
                <a:gd name="T28" fmla="*/ 0 w 498"/>
                <a:gd name="T29" fmla="*/ 2147483646 h 293"/>
                <a:gd name="T30" fmla="*/ 0 w 498"/>
                <a:gd name="T31" fmla="*/ 2147483646 h 293"/>
                <a:gd name="T32" fmla="*/ 43 w 498"/>
                <a:gd name="T33" fmla="*/ 2147483646 h 293"/>
                <a:gd name="T34" fmla="*/ 87 w 498"/>
                <a:gd name="T35" fmla="*/ 2147483646 h 293"/>
                <a:gd name="T36" fmla="*/ 131 w 498"/>
                <a:gd name="T37" fmla="*/ 2147483646 h 293"/>
                <a:gd name="T38" fmla="*/ 175 w 498"/>
                <a:gd name="T39" fmla="*/ 2147483646 h 293"/>
                <a:gd name="T40" fmla="*/ 219 w 498"/>
                <a:gd name="T41" fmla="*/ 2147483646 h 293"/>
                <a:gd name="T42" fmla="*/ 263 w 498"/>
                <a:gd name="T43" fmla="*/ 2147483646 h 293"/>
                <a:gd name="T44" fmla="*/ 307 w 498"/>
                <a:gd name="T45" fmla="*/ 2147483646 h 293"/>
                <a:gd name="T46" fmla="*/ 351 w 498"/>
                <a:gd name="T47" fmla="*/ 2147483646 h 293"/>
                <a:gd name="T48" fmla="*/ 395 w 498"/>
                <a:gd name="T49" fmla="*/ 2147483646 h 293"/>
                <a:gd name="T50" fmla="*/ 439 w 498"/>
                <a:gd name="T51" fmla="*/ 2147483646 h 293"/>
                <a:gd name="T52" fmla="*/ 497 w 498"/>
                <a:gd name="T53" fmla="*/ 2147483646 h 293"/>
                <a:gd name="T54" fmla="*/ 453 w 498"/>
                <a:gd name="T55" fmla="*/ 2147483646 h 29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8"/>
                <a:gd name="T85" fmla="*/ 0 h 293"/>
                <a:gd name="T86" fmla="*/ 498 w 498"/>
                <a:gd name="T87" fmla="*/ 293 h 29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8" h="293">
                  <a:moveTo>
                    <a:pt x="493" y="16"/>
                  </a:moveTo>
                  <a:lnTo>
                    <a:pt x="439" y="0"/>
                  </a:lnTo>
                  <a:lnTo>
                    <a:pt x="395" y="0"/>
                  </a:lnTo>
                  <a:lnTo>
                    <a:pt x="351" y="0"/>
                  </a:lnTo>
                  <a:lnTo>
                    <a:pt x="307" y="0"/>
                  </a:lnTo>
                  <a:lnTo>
                    <a:pt x="263" y="0"/>
                  </a:lnTo>
                  <a:lnTo>
                    <a:pt x="219" y="0"/>
                  </a:lnTo>
                  <a:lnTo>
                    <a:pt x="175" y="0"/>
                  </a:lnTo>
                  <a:lnTo>
                    <a:pt x="131" y="0"/>
                  </a:lnTo>
                  <a:lnTo>
                    <a:pt x="87" y="0"/>
                  </a:lnTo>
                  <a:lnTo>
                    <a:pt x="43" y="0"/>
                  </a:lnTo>
                  <a:lnTo>
                    <a:pt x="14" y="44"/>
                  </a:lnTo>
                  <a:lnTo>
                    <a:pt x="0" y="102"/>
                  </a:lnTo>
                  <a:lnTo>
                    <a:pt x="0" y="146"/>
                  </a:lnTo>
                  <a:lnTo>
                    <a:pt x="0" y="190"/>
                  </a:lnTo>
                  <a:lnTo>
                    <a:pt x="0" y="234"/>
                  </a:lnTo>
                  <a:lnTo>
                    <a:pt x="43" y="278"/>
                  </a:lnTo>
                  <a:lnTo>
                    <a:pt x="87" y="278"/>
                  </a:lnTo>
                  <a:lnTo>
                    <a:pt x="131" y="292"/>
                  </a:lnTo>
                  <a:lnTo>
                    <a:pt x="175" y="292"/>
                  </a:lnTo>
                  <a:lnTo>
                    <a:pt x="219" y="292"/>
                  </a:lnTo>
                  <a:lnTo>
                    <a:pt x="263" y="292"/>
                  </a:lnTo>
                  <a:lnTo>
                    <a:pt x="307" y="292"/>
                  </a:lnTo>
                  <a:lnTo>
                    <a:pt x="351" y="292"/>
                  </a:lnTo>
                  <a:lnTo>
                    <a:pt x="395" y="292"/>
                  </a:lnTo>
                  <a:lnTo>
                    <a:pt x="439" y="292"/>
                  </a:lnTo>
                  <a:lnTo>
                    <a:pt x="497" y="278"/>
                  </a:lnTo>
                  <a:lnTo>
                    <a:pt x="453" y="278"/>
                  </a:lnTo>
                </a:path>
              </a:pathLst>
            </a:custGeom>
            <a:solidFill>
              <a:schemeClr val="bg2"/>
            </a:solidFill>
            <a:ln w="12700" cap="rnd">
              <a:solidFill>
                <a:schemeClr val="tx1"/>
              </a:solidFill>
              <a:round/>
              <a:headEnd type="none" w="sm" len="sm"/>
              <a:tailEnd type="none" w="sm" len="sm"/>
            </a:ln>
          </p:spPr>
          <p:txBody>
            <a:bodyPr/>
            <a:lstStyle/>
            <a:p>
              <a:endParaRPr lang="en-US"/>
            </a:p>
          </p:txBody>
        </p:sp>
        <p:sp>
          <p:nvSpPr>
            <p:cNvPr id="57363" name="Line 18"/>
            <p:cNvSpPr>
              <a:spLocks noChangeShapeType="1"/>
            </p:cNvSpPr>
            <p:nvPr/>
          </p:nvSpPr>
          <p:spPr bwMode="auto">
            <a:xfrm>
              <a:off x="3552" y="3408"/>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57351" name="Rectangle 20"/>
          <p:cNvSpPr>
            <a:spLocks noChangeArrowheads="1"/>
          </p:cNvSpPr>
          <p:nvPr/>
        </p:nvSpPr>
        <p:spPr bwMode="auto">
          <a:xfrm>
            <a:off x="7145338" y="3678239"/>
            <a:ext cx="35369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Edge matching in this example</a:t>
            </a:r>
          </a:p>
          <a:p>
            <a:pPr>
              <a:spcBef>
                <a:spcPct val="0"/>
              </a:spcBef>
              <a:buClrTx/>
              <a:buFontTx/>
              <a:buNone/>
            </a:pPr>
            <a:r>
              <a:rPr lang="en-US" altLang="en-US" sz="1600" b="0"/>
              <a:t>would require ‘further research’</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348">
                                            <p:txEl>
                                              <p:pRg st="0" end="0"/>
                                            </p:txEl>
                                          </p:spTgt>
                                        </p:tgtEl>
                                        <p:attrNameLst>
                                          <p:attrName>style.visibility</p:attrName>
                                        </p:attrNameLst>
                                      </p:cBhvr>
                                      <p:to>
                                        <p:strVal val="visible"/>
                                      </p:to>
                                    </p:set>
                                    <p:animEffect transition="in" filter="fade">
                                      <p:cBhvr>
                                        <p:cTn id="7" dur="500"/>
                                        <p:tgtEl>
                                          <p:spTgt spid="573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7350"/>
                                        </p:tgtEl>
                                        <p:attrNameLst>
                                          <p:attrName>style.visibility</p:attrName>
                                        </p:attrNameLst>
                                      </p:cBhvr>
                                      <p:to>
                                        <p:strVal val="visible"/>
                                      </p:to>
                                    </p:set>
                                    <p:animEffect transition="in" filter="randombar(horizontal)">
                                      <p:cBhvr>
                                        <p:cTn id="12" dur="500"/>
                                        <p:tgtEl>
                                          <p:spTgt spid="573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7351"/>
                                        </p:tgtEl>
                                        <p:attrNameLst>
                                          <p:attrName>style.visibility</p:attrName>
                                        </p:attrNameLst>
                                      </p:cBhvr>
                                      <p:to>
                                        <p:strVal val="visible"/>
                                      </p:to>
                                    </p:set>
                                    <p:animEffect transition="in" filter="fade">
                                      <p:cBhvr>
                                        <p:cTn id="17" dur="500"/>
                                        <p:tgtEl>
                                          <p:spTgt spid="573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79">
                                            <p:txEl>
                                              <p:pRg st="0" end="0"/>
                                            </p:txEl>
                                          </p:spTgt>
                                        </p:tgtEl>
                                        <p:attrNameLst>
                                          <p:attrName>style.visibility</p:attrName>
                                        </p:attrNameLst>
                                      </p:cBhvr>
                                      <p:to>
                                        <p:strVal val="visible"/>
                                      </p:to>
                                    </p:set>
                                    <p:animEffect transition="in" filter="fade">
                                      <p:cBhvr>
                                        <p:cTn id="22" dur="500"/>
                                        <p:tgtEl>
                                          <p:spTgt spid="2457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579">
                                            <p:txEl>
                                              <p:pRg st="1" end="1"/>
                                            </p:txEl>
                                          </p:spTgt>
                                        </p:tgtEl>
                                        <p:attrNameLst>
                                          <p:attrName>style.visibility</p:attrName>
                                        </p:attrNameLst>
                                      </p:cBhvr>
                                      <p:to>
                                        <p:strVal val="visible"/>
                                      </p:to>
                                    </p:set>
                                    <p:animEffect transition="in" filter="fade">
                                      <p:cBhvr>
                                        <p:cTn id="27" dur="500"/>
                                        <p:tgtEl>
                                          <p:spTgt spid="24579">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579">
                                            <p:txEl>
                                              <p:pRg st="2" end="2"/>
                                            </p:txEl>
                                          </p:spTgt>
                                        </p:tgtEl>
                                        <p:attrNameLst>
                                          <p:attrName>style.visibility</p:attrName>
                                        </p:attrNameLst>
                                      </p:cBhvr>
                                      <p:to>
                                        <p:strVal val="visible"/>
                                      </p:to>
                                    </p:set>
                                    <p:animEffect transition="in" filter="fade">
                                      <p:cBhvr>
                                        <p:cTn id="32" dur="500"/>
                                        <p:tgtEl>
                                          <p:spTgt spid="24579">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579">
                                            <p:txEl>
                                              <p:pRg st="3" end="3"/>
                                            </p:txEl>
                                          </p:spTgt>
                                        </p:tgtEl>
                                        <p:attrNameLst>
                                          <p:attrName>style.visibility</p:attrName>
                                        </p:attrNameLst>
                                      </p:cBhvr>
                                      <p:to>
                                        <p:strVal val="visible"/>
                                      </p:to>
                                    </p:set>
                                    <p:animEffect transition="in" filter="fade">
                                      <p:cBhvr>
                                        <p:cTn id="37" dur="500"/>
                                        <p:tgtEl>
                                          <p:spTgt spid="24579">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579">
                                            <p:txEl>
                                              <p:pRg st="4" end="4"/>
                                            </p:txEl>
                                          </p:spTgt>
                                        </p:tgtEl>
                                        <p:attrNameLst>
                                          <p:attrName>style.visibility</p:attrName>
                                        </p:attrNameLst>
                                      </p:cBhvr>
                                      <p:to>
                                        <p:strVal val="visible"/>
                                      </p:to>
                                    </p:set>
                                    <p:animEffect transition="in" filter="fade">
                                      <p:cBhvr>
                                        <p:cTn id="42" dur="500"/>
                                        <p:tgtEl>
                                          <p:spTgt spid="24579">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579">
                                            <p:txEl>
                                              <p:pRg st="5" end="5"/>
                                            </p:txEl>
                                          </p:spTgt>
                                        </p:tgtEl>
                                        <p:attrNameLst>
                                          <p:attrName>style.visibility</p:attrName>
                                        </p:attrNameLst>
                                      </p:cBhvr>
                                      <p:to>
                                        <p:strVal val="visible"/>
                                      </p:to>
                                    </p:set>
                                    <p:animEffect transition="in" filter="fade">
                                      <p:cBhvr>
                                        <p:cTn id="47" dur="500"/>
                                        <p:tgtEl>
                                          <p:spTgt spid="24579">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4579">
                                            <p:txEl>
                                              <p:pRg st="6" end="6"/>
                                            </p:txEl>
                                          </p:spTgt>
                                        </p:tgtEl>
                                        <p:attrNameLst>
                                          <p:attrName>style.visibility</p:attrName>
                                        </p:attrNameLst>
                                      </p:cBhvr>
                                      <p:to>
                                        <p:strVal val="visible"/>
                                      </p:to>
                                    </p:set>
                                    <p:animEffect transition="in" filter="fade">
                                      <p:cBhvr>
                                        <p:cTn id="52" dur="500"/>
                                        <p:tgtEl>
                                          <p:spTgt spid="24579">
                                            <p:txEl>
                                              <p:pRg st="6" end="6"/>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4579">
                                            <p:txEl>
                                              <p:pRg st="7" end="7"/>
                                            </p:txEl>
                                          </p:spTgt>
                                        </p:tgtEl>
                                        <p:attrNameLst>
                                          <p:attrName>style.visibility</p:attrName>
                                        </p:attrNameLst>
                                      </p:cBhvr>
                                      <p:to>
                                        <p:strVal val="visible"/>
                                      </p:to>
                                    </p:set>
                                    <p:animEffect transition="in" filter="fade">
                                      <p:cBhvr>
                                        <p:cTn id="57" dur="500"/>
                                        <p:tgtEl>
                                          <p:spTgt spid="245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57348" grpId="0" build="p"/>
      <p:bldP spid="573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524000" y="0"/>
            <a:ext cx="9144000" cy="762000"/>
          </a:xfrm>
        </p:spPr>
        <p:txBody>
          <a:bodyPr/>
          <a:lstStyle/>
          <a:p>
            <a:pPr>
              <a:defRPr/>
            </a:pPr>
            <a:r>
              <a:rPr lang="en-US" altLang="en-US" b="0" dirty="0" smtClean="0"/>
              <a:t>Step 8: </a:t>
            </a:r>
            <a:r>
              <a:rPr lang="en-US" altLang="en-US" dirty="0" smtClean="0"/>
              <a:t>Interpolation</a:t>
            </a:r>
            <a:endParaRPr lang="en-US" altLang="en-US" i="1" dirty="0"/>
          </a:p>
        </p:txBody>
      </p:sp>
      <p:sp>
        <p:nvSpPr>
          <p:cNvPr id="41987" name="Rectangle 3"/>
          <p:cNvSpPr>
            <a:spLocks noGrp="1" noChangeArrowheads="1"/>
          </p:cNvSpPr>
          <p:nvPr>
            <p:ph type="body" sz="half" idx="1"/>
          </p:nvPr>
        </p:nvSpPr>
        <p:spPr>
          <a:xfrm>
            <a:off x="1524000" y="762000"/>
            <a:ext cx="3810000" cy="4114800"/>
          </a:xfrm>
          <a:noFill/>
        </p:spPr>
        <p:txBody>
          <a:bodyPr/>
          <a:lstStyle/>
          <a:p>
            <a:r>
              <a:rPr lang="en-US" altLang="en-US" sz="2400"/>
              <a:t>estimating values for locations with no data based on:</a:t>
            </a:r>
          </a:p>
          <a:p>
            <a:pPr lvl="1"/>
            <a:r>
              <a:rPr lang="en-US" altLang="en-US" sz="2000"/>
              <a:t>known values, </a:t>
            </a:r>
            <a:r>
              <a:rPr lang="en-US" altLang="en-US" sz="2000" i="1"/>
              <a:t>and </a:t>
            </a:r>
            <a:endParaRPr lang="en-US" altLang="en-US" sz="2000"/>
          </a:p>
          <a:p>
            <a:pPr lvl="1"/>
            <a:r>
              <a:rPr lang="en-US" altLang="en-US" sz="2000"/>
              <a:t>understanding of spatial behavior of phenomena</a:t>
            </a:r>
          </a:p>
          <a:p>
            <a:r>
              <a:rPr lang="en-US" altLang="en-US" sz="2400"/>
              <a:t>generally, should assign more importance to closer known values than those further away</a:t>
            </a:r>
          </a:p>
        </p:txBody>
      </p:sp>
      <p:sp>
        <p:nvSpPr>
          <p:cNvPr id="41988" name="Rectangle 4"/>
          <p:cNvSpPr>
            <a:spLocks noGrp="1" noChangeArrowheads="1"/>
          </p:cNvSpPr>
          <p:nvPr>
            <p:ph type="body" sz="half" idx="2"/>
          </p:nvPr>
        </p:nvSpPr>
        <p:spPr>
          <a:xfrm>
            <a:off x="4876800" y="990600"/>
            <a:ext cx="3810000" cy="4114800"/>
          </a:xfrm>
          <a:noFill/>
        </p:spPr>
        <p:txBody>
          <a:bodyPr/>
          <a:lstStyle/>
          <a:p>
            <a:pPr>
              <a:lnSpc>
                <a:spcPct val="90000"/>
              </a:lnSpc>
            </a:pPr>
            <a:r>
              <a:rPr lang="en-US" altLang="en-US" sz="2000"/>
              <a:t>weighting functions</a:t>
            </a:r>
          </a:p>
          <a:p>
            <a:pPr lvl="1">
              <a:lnSpc>
                <a:spcPct val="90000"/>
              </a:lnSpc>
            </a:pPr>
            <a:r>
              <a:rPr lang="en-US" altLang="en-US" sz="1800" i="1"/>
              <a:t>average</a:t>
            </a:r>
            <a:r>
              <a:rPr lang="en-US" altLang="en-US" sz="1800"/>
              <a:t> closest </a:t>
            </a:r>
            <a:r>
              <a:rPr lang="en-US" altLang="en-US" sz="1800" i="1"/>
              <a:t>n </a:t>
            </a:r>
            <a:r>
              <a:rPr lang="en-US" altLang="en-US" sz="1800"/>
              <a:t>(2?) points </a:t>
            </a:r>
          </a:p>
          <a:p>
            <a:pPr lvl="2">
              <a:lnSpc>
                <a:spcPct val="90000"/>
              </a:lnSpc>
            </a:pPr>
            <a:r>
              <a:rPr lang="en-US" altLang="en-US" b="0" smtClean="0"/>
              <a:t>ignores distance</a:t>
            </a:r>
          </a:p>
          <a:p>
            <a:pPr lvl="1">
              <a:lnSpc>
                <a:spcPct val="90000"/>
              </a:lnSpc>
            </a:pPr>
            <a:r>
              <a:rPr lang="en-US" altLang="en-US" sz="1800"/>
              <a:t>fit</a:t>
            </a:r>
            <a:r>
              <a:rPr lang="en-US" altLang="en-US" sz="1800" i="1"/>
              <a:t> line </a:t>
            </a:r>
            <a:r>
              <a:rPr lang="en-US" altLang="en-US" sz="1800"/>
              <a:t>between closest 2 </a:t>
            </a:r>
          </a:p>
          <a:p>
            <a:pPr lvl="1">
              <a:lnSpc>
                <a:spcPct val="90000"/>
              </a:lnSpc>
            </a:pPr>
            <a:r>
              <a:rPr lang="en-US" altLang="en-US" sz="1800"/>
              <a:t>fit</a:t>
            </a:r>
            <a:r>
              <a:rPr lang="en-US" altLang="en-US" sz="1800" i="1"/>
              <a:t> surface</a:t>
            </a:r>
            <a:r>
              <a:rPr lang="en-US" altLang="en-US" sz="1800"/>
              <a:t> between closest 3 </a:t>
            </a:r>
          </a:p>
          <a:p>
            <a:pPr>
              <a:lnSpc>
                <a:spcPct val="90000"/>
              </a:lnSpc>
            </a:pPr>
            <a:r>
              <a:rPr lang="en-US" altLang="en-US" sz="2000"/>
              <a:t>trend surface approaches</a:t>
            </a:r>
          </a:p>
          <a:p>
            <a:pPr lvl="1">
              <a:lnSpc>
                <a:spcPct val="90000"/>
              </a:lnSpc>
            </a:pPr>
            <a:r>
              <a:rPr lang="en-US" altLang="en-US" sz="1800"/>
              <a:t>one high order polynomial</a:t>
            </a:r>
          </a:p>
          <a:p>
            <a:pPr lvl="2">
              <a:lnSpc>
                <a:spcPct val="90000"/>
              </a:lnSpc>
            </a:pPr>
            <a:r>
              <a:rPr lang="en-US" altLang="en-US" sz="1800"/>
              <a:t>oscillation a problem</a:t>
            </a:r>
          </a:p>
          <a:p>
            <a:pPr lvl="1">
              <a:lnSpc>
                <a:spcPct val="90000"/>
              </a:lnSpc>
            </a:pPr>
            <a:r>
              <a:rPr lang="en-US" altLang="en-US" sz="1800"/>
              <a:t>finite element approach: </a:t>
            </a:r>
            <a:br>
              <a:rPr lang="en-US" altLang="en-US" sz="1800"/>
            </a:br>
            <a:r>
              <a:rPr lang="en-US" altLang="en-US" sz="1800"/>
              <a:t>fit separate polynomials for each local area</a:t>
            </a:r>
          </a:p>
          <a:p>
            <a:pPr lvl="1">
              <a:lnSpc>
                <a:spcPct val="90000"/>
              </a:lnSpc>
            </a:pPr>
            <a:r>
              <a:rPr lang="en-US" altLang="en-US" sz="1800"/>
              <a:t>kriging:  uses correlations of values with  distance</a:t>
            </a:r>
          </a:p>
        </p:txBody>
      </p:sp>
      <p:grpSp>
        <p:nvGrpSpPr>
          <p:cNvPr id="3" name="Group 2"/>
          <p:cNvGrpSpPr>
            <a:grpSpLocks/>
          </p:cNvGrpSpPr>
          <p:nvPr/>
        </p:nvGrpSpPr>
        <p:grpSpPr bwMode="auto">
          <a:xfrm>
            <a:off x="8458201" y="1981200"/>
            <a:ext cx="1959727" cy="3352800"/>
            <a:chOff x="6934200" y="1981200"/>
            <a:chExt cx="1959727" cy="3352800"/>
          </a:xfrm>
        </p:grpSpPr>
        <p:sp>
          <p:nvSpPr>
            <p:cNvPr id="59399" name="Line 22"/>
            <p:cNvSpPr>
              <a:spLocks noChangeShapeType="1"/>
            </p:cNvSpPr>
            <p:nvPr/>
          </p:nvSpPr>
          <p:spPr bwMode="auto">
            <a:xfrm>
              <a:off x="6934200" y="3505200"/>
              <a:ext cx="381000" cy="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0" name="Line 33"/>
            <p:cNvSpPr>
              <a:spLocks noChangeShapeType="1"/>
            </p:cNvSpPr>
            <p:nvPr/>
          </p:nvSpPr>
          <p:spPr bwMode="auto">
            <a:xfrm>
              <a:off x="7010400" y="3962400"/>
              <a:ext cx="609600" cy="4572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9401" name="Group 1"/>
            <p:cNvGrpSpPr>
              <a:grpSpLocks/>
            </p:cNvGrpSpPr>
            <p:nvPr/>
          </p:nvGrpSpPr>
          <p:grpSpPr bwMode="auto">
            <a:xfrm>
              <a:off x="7391400" y="1981200"/>
              <a:ext cx="1502527" cy="3352800"/>
              <a:chOff x="7391400" y="1981200"/>
              <a:chExt cx="1502527" cy="3352800"/>
            </a:xfrm>
          </p:grpSpPr>
          <p:sp>
            <p:nvSpPr>
              <p:cNvPr id="59402" name="Line 5"/>
              <p:cNvSpPr>
                <a:spLocks noChangeShapeType="1"/>
              </p:cNvSpPr>
              <p:nvPr/>
            </p:nvSpPr>
            <p:spPr bwMode="auto">
              <a:xfrm>
                <a:off x="7391400" y="3124200"/>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9403" name="Group 36"/>
              <p:cNvGrpSpPr>
                <a:grpSpLocks/>
              </p:cNvGrpSpPr>
              <p:nvPr/>
            </p:nvGrpSpPr>
            <p:grpSpPr bwMode="auto">
              <a:xfrm>
                <a:off x="7391400" y="3352800"/>
                <a:ext cx="1295400" cy="685800"/>
                <a:chOff x="4656" y="2112"/>
                <a:chExt cx="816" cy="432"/>
              </a:xfrm>
            </p:grpSpPr>
            <p:sp>
              <p:nvSpPr>
                <p:cNvPr id="59419" name="Line 11"/>
                <p:cNvSpPr>
                  <a:spLocks noChangeShapeType="1"/>
                </p:cNvSpPr>
                <p:nvPr/>
              </p:nvSpPr>
              <p:spPr bwMode="auto">
                <a:xfrm>
                  <a:off x="4656" y="2544"/>
                  <a:ext cx="816" cy="0"/>
                </a:xfrm>
                <a:prstGeom prst="line">
                  <a:avLst/>
                </a:prstGeom>
                <a:noFill/>
                <a:ln w="31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0" name="Line 12"/>
                <p:cNvSpPr>
                  <a:spLocks noChangeShapeType="1"/>
                </p:cNvSpPr>
                <p:nvPr/>
              </p:nvSpPr>
              <p:spPr bwMode="auto">
                <a:xfrm>
                  <a:off x="4656" y="2112"/>
                  <a:ext cx="0" cy="432"/>
                </a:xfrm>
                <a:prstGeom prst="line">
                  <a:avLst/>
                </a:prstGeom>
                <a:noFill/>
                <a:ln w="31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1" name="Line 13"/>
                <p:cNvSpPr>
                  <a:spLocks noChangeShapeType="1"/>
                </p:cNvSpPr>
                <p:nvPr/>
              </p:nvSpPr>
              <p:spPr bwMode="auto">
                <a:xfrm>
                  <a:off x="5328" y="2352"/>
                  <a:ext cx="0" cy="192"/>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2" name="Line 15"/>
                <p:cNvSpPr>
                  <a:spLocks noChangeShapeType="1"/>
                </p:cNvSpPr>
                <p:nvPr/>
              </p:nvSpPr>
              <p:spPr bwMode="auto">
                <a:xfrm>
                  <a:off x="4656" y="2112"/>
                  <a:ext cx="672" cy="24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3" name="Line 16"/>
                <p:cNvSpPr>
                  <a:spLocks noChangeShapeType="1"/>
                </p:cNvSpPr>
                <p:nvPr/>
              </p:nvSpPr>
              <p:spPr bwMode="auto">
                <a:xfrm flipV="1">
                  <a:off x="4800" y="2160"/>
                  <a:ext cx="0" cy="38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4" name="Line 18"/>
                <p:cNvSpPr>
                  <a:spLocks noChangeShapeType="1"/>
                </p:cNvSpPr>
                <p:nvPr/>
              </p:nvSpPr>
              <p:spPr bwMode="auto">
                <a:xfrm>
                  <a:off x="5088" y="2256"/>
                  <a:ext cx="0" cy="288"/>
                </a:xfrm>
                <a:prstGeom prst="line">
                  <a:avLst/>
                </a:prstGeom>
                <a:noFill/>
                <a:ln w="5715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9404" name="Line 25"/>
              <p:cNvSpPr>
                <a:spLocks noChangeShapeType="1"/>
              </p:cNvSpPr>
              <p:nvPr/>
            </p:nvSpPr>
            <p:spPr bwMode="auto">
              <a:xfrm rot="19640353" flipH="1">
                <a:off x="8001000" y="2209800"/>
                <a:ext cx="152400" cy="2286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5" name="Text Box 26"/>
              <p:cNvSpPr txBox="1">
                <a:spLocks noChangeArrowheads="1"/>
              </p:cNvSpPr>
              <p:nvPr/>
            </p:nvSpPr>
            <p:spPr bwMode="auto">
              <a:xfrm>
                <a:off x="7391400" y="1981200"/>
                <a:ext cx="15025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200" b="0"/>
                  <a:t>Estimated values</a:t>
                </a:r>
                <a:endParaRPr lang="en-US" altLang="en-US" sz="1000" b="0"/>
              </a:p>
            </p:txBody>
          </p:sp>
          <p:grpSp>
            <p:nvGrpSpPr>
              <p:cNvPr id="59406" name="Group 37"/>
              <p:cNvGrpSpPr>
                <a:grpSpLocks/>
              </p:cNvGrpSpPr>
              <p:nvPr/>
            </p:nvGrpSpPr>
            <p:grpSpPr bwMode="auto">
              <a:xfrm>
                <a:off x="7772400" y="4343400"/>
                <a:ext cx="914400" cy="990600"/>
                <a:chOff x="4896" y="2736"/>
                <a:chExt cx="576" cy="624"/>
              </a:xfrm>
            </p:grpSpPr>
            <p:sp>
              <p:nvSpPr>
                <p:cNvPr id="59413" name="Line 27"/>
                <p:cNvSpPr>
                  <a:spLocks noChangeShapeType="1"/>
                </p:cNvSpPr>
                <p:nvPr/>
              </p:nvSpPr>
              <p:spPr bwMode="auto">
                <a:xfrm>
                  <a:off x="4896" y="2832"/>
                  <a:ext cx="0" cy="38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4" name="Line 28"/>
                <p:cNvSpPr>
                  <a:spLocks noChangeShapeType="1"/>
                </p:cNvSpPr>
                <p:nvPr/>
              </p:nvSpPr>
              <p:spPr bwMode="auto">
                <a:xfrm>
                  <a:off x="5328" y="2736"/>
                  <a:ext cx="0"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5" name="Line 29"/>
                <p:cNvSpPr>
                  <a:spLocks noChangeShapeType="1"/>
                </p:cNvSpPr>
                <p:nvPr/>
              </p:nvSpPr>
              <p:spPr bwMode="auto">
                <a:xfrm>
                  <a:off x="5472" y="3216"/>
                  <a:ext cx="0" cy="1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6" name="Line 30"/>
                <p:cNvSpPr>
                  <a:spLocks noChangeShapeType="1"/>
                </p:cNvSpPr>
                <p:nvPr/>
              </p:nvSpPr>
              <p:spPr bwMode="auto">
                <a:xfrm flipH="1">
                  <a:off x="4896" y="2736"/>
                  <a:ext cx="4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7" name="Line 31"/>
                <p:cNvSpPr>
                  <a:spLocks noChangeShapeType="1"/>
                </p:cNvSpPr>
                <p:nvPr/>
              </p:nvSpPr>
              <p:spPr bwMode="auto">
                <a:xfrm>
                  <a:off x="4896" y="2832"/>
                  <a:ext cx="57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8" name="Line 32"/>
                <p:cNvSpPr>
                  <a:spLocks noChangeShapeType="1"/>
                </p:cNvSpPr>
                <p:nvPr/>
              </p:nvSpPr>
              <p:spPr bwMode="auto">
                <a:xfrm>
                  <a:off x="5328" y="2736"/>
                  <a:ext cx="144"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9407" name="Group 35"/>
              <p:cNvGrpSpPr>
                <a:grpSpLocks/>
              </p:cNvGrpSpPr>
              <p:nvPr/>
            </p:nvGrpSpPr>
            <p:grpSpPr bwMode="auto">
              <a:xfrm>
                <a:off x="7391400" y="2438400"/>
                <a:ext cx="1066800" cy="685800"/>
                <a:chOff x="4656" y="1536"/>
                <a:chExt cx="672" cy="432"/>
              </a:xfrm>
            </p:grpSpPr>
            <p:sp>
              <p:nvSpPr>
                <p:cNvPr id="59408" name="Line 6"/>
                <p:cNvSpPr>
                  <a:spLocks noChangeShapeType="1"/>
                </p:cNvSpPr>
                <p:nvPr/>
              </p:nvSpPr>
              <p:spPr bwMode="auto">
                <a:xfrm>
                  <a:off x="4656" y="1536"/>
                  <a:ext cx="0"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9" name="Line 7"/>
                <p:cNvSpPr>
                  <a:spLocks noChangeShapeType="1"/>
                </p:cNvSpPr>
                <p:nvPr/>
              </p:nvSpPr>
              <p:spPr bwMode="auto">
                <a:xfrm>
                  <a:off x="5328" y="1776"/>
                  <a:ext cx="0" cy="19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Line 9"/>
                <p:cNvSpPr>
                  <a:spLocks noChangeShapeType="1"/>
                </p:cNvSpPr>
                <p:nvPr/>
              </p:nvSpPr>
              <p:spPr bwMode="auto">
                <a:xfrm>
                  <a:off x="4656" y="1680"/>
                  <a:ext cx="672"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1" name="Line 19"/>
                <p:cNvSpPr>
                  <a:spLocks noChangeShapeType="1"/>
                </p:cNvSpPr>
                <p:nvPr/>
              </p:nvSpPr>
              <p:spPr bwMode="auto">
                <a:xfrm>
                  <a:off x="5088" y="1680"/>
                  <a:ext cx="0" cy="288"/>
                </a:xfrm>
                <a:prstGeom prst="line">
                  <a:avLst/>
                </a:prstGeom>
                <a:noFill/>
                <a:ln w="508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2" name="Line 34"/>
                <p:cNvSpPr>
                  <a:spLocks noChangeShapeType="1"/>
                </p:cNvSpPr>
                <p:nvPr/>
              </p:nvSpPr>
              <p:spPr bwMode="auto">
                <a:xfrm flipV="1">
                  <a:off x="4800" y="1584"/>
                  <a:ext cx="0" cy="38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42022" name="Text Box 38"/>
          <p:cNvSpPr txBox="1">
            <a:spLocks noChangeArrowheads="1"/>
          </p:cNvSpPr>
          <p:nvPr/>
        </p:nvSpPr>
        <p:spPr bwMode="auto">
          <a:xfrm>
            <a:off x="2286001" y="6172200"/>
            <a:ext cx="99485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i="1"/>
              <a:t>Implemented in ArcGIS 9 via </a:t>
            </a:r>
            <a:r>
              <a:rPr lang="en-US" altLang="en-US" sz="1800" i="1"/>
              <a:t>ArcToolbox&gt;Spatial Analyst Tools&gt;Interpolation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fade">
                                      <p:cBhvr>
                                        <p:cTn id="7" dur="500"/>
                                        <p:tgtEl>
                                          <p:spTgt spid="4198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987">
                                            <p:txEl>
                                              <p:pRg st="1" end="1"/>
                                            </p:txEl>
                                          </p:spTgt>
                                        </p:tgtEl>
                                        <p:attrNameLst>
                                          <p:attrName>style.visibility</p:attrName>
                                        </p:attrNameLst>
                                      </p:cBhvr>
                                      <p:to>
                                        <p:strVal val="visible"/>
                                      </p:to>
                                    </p:set>
                                    <p:animEffect transition="in" filter="fade">
                                      <p:cBhvr>
                                        <p:cTn id="10" dur="500"/>
                                        <p:tgtEl>
                                          <p:spTgt spid="4198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animEffect transition="in" filter="fade">
                                      <p:cBhvr>
                                        <p:cTn id="13" dur="500"/>
                                        <p:tgtEl>
                                          <p:spTgt spid="4198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1987">
                                            <p:txEl>
                                              <p:pRg st="3" end="3"/>
                                            </p:txEl>
                                          </p:spTgt>
                                        </p:tgtEl>
                                        <p:attrNameLst>
                                          <p:attrName>style.visibility</p:attrName>
                                        </p:attrNameLst>
                                      </p:cBhvr>
                                      <p:to>
                                        <p:strVal val="visible"/>
                                      </p:to>
                                    </p:set>
                                    <p:animEffect transition="in" filter="fade">
                                      <p:cBhvr>
                                        <p:cTn id="18" dur="500"/>
                                        <p:tgtEl>
                                          <p:spTgt spid="4198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988">
                                            <p:txEl>
                                              <p:pRg st="0" end="0"/>
                                            </p:txEl>
                                          </p:spTgt>
                                        </p:tgtEl>
                                        <p:attrNameLst>
                                          <p:attrName>style.visibility</p:attrName>
                                        </p:attrNameLst>
                                      </p:cBhvr>
                                      <p:to>
                                        <p:strVal val="visible"/>
                                      </p:to>
                                    </p:set>
                                    <p:animEffect transition="in" filter="fade">
                                      <p:cBhvr>
                                        <p:cTn id="23" dur="500"/>
                                        <p:tgtEl>
                                          <p:spTgt spid="41988">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988">
                                            <p:txEl>
                                              <p:pRg st="1" end="1"/>
                                            </p:txEl>
                                          </p:spTgt>
                                        </p:tgtEl>
                                        <p:attrNameLst>
                                          <p:attrName>style.visibility</p:attrName>
                                        </p:attrNameLst>
                                      </p:cBhvr>
                                      <p:to>
                                        <p:strVal val="visible"/>
                                      </p:to>
                                    </p:set>
                                    <p:animEffect transition="in" filter="fade">
                                      <p:cBhvr>
                                        <p:cTn id="26" dur="500"/>
                                        <p:tgtEl>
                                          <p:spTgt spid="41988">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1988">
                                            <p:txEl>
                                              <p:pRg st="2" end="2"/>
                                            </p:txEl>
                                          </p:spTgt>
                                        </p:tgtEl>
                                        <p:attrNameLst>
                                          <p:attrName>style.visibility</p:attrName>
                                        </p:attrNameLst>
                                      </p:cBhvr>
                                      <p:to>
                                        <p:strVal val="visible"/>
                                      </p:to>
                                    </p:set>
                                    <p:animEffect transition="in" filter="fade">
                                      <p:cBhvr>
                                        <p:cTn id="29" dur="500"/>
                                        <p:tgtEl>
                                          <p:spTgt spid="41988">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988">
                                            <p:txEl>
                                              <p:pRg st="3" end="3"/>
                                            </p:txEl>
                                          </p:spTgt>
                                        </p:tgtEl>
                                        <p:attrNameLst>
                                          <p:attrName>style.visibility</p:attrName>
                                        </p:attrNameLst>
                                      </p:cBhvr>
                                      <p:to>
                                        <p:strVal val="visible"/>
                                      </p:to>
                                    </p:set>
                                    <p:animEffect transition="in" filter="fade">
                                      <p:cBhvr>
                                        <p:cTn id="32" dur="500"/>
                                        <p:tgtEl>
                                          <p:spTgt spid="41988">
                                            <p:txEl>
                                              <p:pRg st="3" end="3"/>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988">
                                            <p:txEl>
                                              <p:pRg st="4" end="4"/>
                                            </p:txEl>
                                          </p:spTgt>
                                        </p:tgtEl>
                                        <p:attrNameLst>
                                          <p:attrName>style.visibility</p:attrName>
                                        </p:attrNameLst>
                                      </p:cBhvr>
                                      <p:to>
                                        <p:strVal val="visible"/>
                                      </p:to>
                                    </p:set>
                                    <p:animEffect transition="in" filter="fade">
                                      <p:cBhvr>
                                        <p:cTn id="35" dur="500"/>
                                        <p:tgtEl>
                                          <p:spTgt spid="41988">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1988">
                                            <p:txEl>
                                              <p:pRg st="5" end="5"/>
                                            </p:txEl>
                                          </p:spTgt>
                                        </p:tgtEl>
                                        <p:attrNameLst>
                                          <p:attrName>style.visibility</p:attrName>
                                        </p:attrNameLst>
                                      </p:cBhvr>
                                      <p:to>
                                        <p:strVal val="visible"/>
                                      </p:to>
                                    </p:set>
                                    <p:animEffect transition="in" filter="fade">
                                      <p:cBhvr>
                                        <p:cTn id="40" dur="500"/>
                                        <p:tgtEl>
                                          <p:spTgt spid="41988">
                                            <p:txEl>
                                              <p:pRg st="5" end="5"/>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1988">
                                            <p:txEl>
                                              <p:pRg st="6" end="6"/>
                                            </p:txEl>
                                          </p:spTgt>
                                        </p:tgtEl>
                                        <p:attrNameLst>
                                          <p:attrName>style.visibility</p:attrName>
                                        </p:attrNameLst>
                                      </p:cBhvr>
                                      <p:to>
                                        <p:strVal val="visible"/>
                                      </p:to>
                                    </p:set>
                                    <p:animEffect transition="in" filter="fade">
                                      <p:cBhvr>
                                        <p:cTn id="43" dur="500"/>
                                        <p:tgtEl>
                                          <p:spTgt spid="41988">
                                            <p:txEl>
                                              <p:pRg st="6" end="6"/>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1988">
                                            <p:txEl>
                                              <p:pRg st="7" end="7"/>
                                            </p:txEl>
                                          </p:spTgt>
                                        </p:tgtEl>
                                        <p:attrNameLst>
                                          <p:attrName>style.visibility</p:attrName>
                                        </p:attrNameLst>
                                      </p:cBhvr>
                                      <p:to>
                                        <p:strVal val="visible"/>
                                      </p:to>
                                    </p:set>
                                    <p:animEffect transition="in" filter="fade">
                                      <p:cBhvr>
                                        <p:cTn id="46" dur="500"/>
                                        <p:tgtEl>
                                          <p:spTgt spid="41988">
                                            <p:txEl>
                                              <p:pRg st="7" end="7"/>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1988">
                                            <p:txEl>
                                              <p:pRg st="8" end="8"/>
                                            </p:txEl>
                                          </p:spTgt>
                                        </p:tgtEl>
                                        <p:attrNameLst>
                                          <p:attrName>style.visibility</p:attrName>
                                        </p:attrNameLst>
                                      </p:cBhvr>
                                      <p:to>
                                        <p:strVal val="visible"/>
                                      </p:to>
                                    </p:set>
                                    <p:animEffect transition="in" filter="fade">
                                      <p:cBhvr>
                                        <p:cTn id="49" dur="500"/>
                                        <p:tgtEl>
                                          <p:spTgt spid="41988">
                                            <p:txEl>
                                              <p:pRg st="8" end="8"/>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988">
                                            <p:txEl>
                                              <p:pRg st="9" end="9"/>
                                            </p:txEl>
                                          </p:spTgt>
                                        </p:tgtEl>
                                        <p:attrNameLst>
                                          <p:attrName>style.visibility</p:attrName>
                                        </p:attrNameLst>
                                      </p:cBhvr>
                                      <p:to>
                                        <p:strVal val="visible"/>
                                      </p:to>
                                    </p:set>
                                    <p:animEffect transition="in" filter="fade">
                                      <p:cBhvr>
                                        <p:cTn id="52" dur="500"/>
                                        <p:tgtEl>
                                          <p:spTgt spid="41988">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randombar(horizontal)">
                                      <p:cBhvr>
                                        <p:cTn id="57" dur="5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2022"/>
                                        </p:tgtEl>
                                        <p:attrNameLst>
                                          <p:attrName>style.visibility</p:attrName>
                                        </p:attrNameLst>
                                      </p:cBhvr>
                                      <p:to>
                                        <p:strVal val="visible"/>
                                      </p:to>
                                    </p:set>
                                    <p:animEffect transition="in" filter="fade">
                                      <p:cBhvr>
                                        <p:cTn id="62" dur="500"/>
                                        <p:tgtEl>
                                          <p:spTgt spid="42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P spid="41988" grpId="0" build="p"/>
      <p:bldP spid="420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0" y="0"/>
            <a:ext cx="9251950" cy="838200"/>
          </a:xfrm>
        </p:spPr>
        <p:txBody>
          <a:bodyPr/>
          <a:lstStyle/>
          <a:p>
            <a:pPr>
              <a:defRPr/>
            </a:pPr>
            <a:r>
              <a:rPr lang="en-US" altLang="en-US" b="0" dirty="0" smtClean="0"/>
              <a:t>Step 9: </a:t>
            </a:r>
            <a:r>
              <a:rPr lang="en-US" altLang="en-US" dirty="0" smtClean="0"/>
              <a:t>Conflation</a:t>
            </a:r>
            <a:endParaRPr lang="en-US" altLang="en-US" dirty="0"/>
          </a:p>
        </p:txBody>
      </p:sp>
      <p:sp>
        <p:nvSpPr>
          <p:cNvPr id="44035" name="Rectangle 3"/>
          <p:cNvSpPr>
            <a:spLocks noGrp="1" noChangeArrowheads="1"/>
          </p:cNvSpPr>
          <p:nvPr>
            <p:ph type="body" idx="1"/>
          </p:nvPr>
        </p:nvSpPr>
        <p:spPr>
          <a:xfrm>
            <a:off x="1919289" y="990600"/>
            <a:ext cx="8605837" cy="6096000"/>
          </a:xfrm>
          <a:noFill/>
        </p:spPr>
        <p:txBody>
          <a:bodyPr/>
          <a:lstStyle/>
          <a:p>
            <a:pPr>
              <a:lnSpc>
                <a:spcPct val="90000"/>
              </a:lnSpc>
            </a:pPr>
            <a:r>
              <a:rPr lang="en-US" altLang="en-US" sz="2000"/>
              <a:t>create new master coverage from the best spatial </a:t>
            </a:r>
            <a:r>
              <a:rPr lang="en-US" altLang="en-US" sz="2000" u="sng"/>
              <a:t>and</a:t>
            </a:r>
            <a:r>
              <a:rPr lang="en-US" altLang="en-US" sz="2000"/>
              <a:t> attribute qualities of two or more source coverages</a:t>
            </a:r>
          </a:p>
          <a:p>
            <a:pPr lvl="1">
              <a:lnSpc>
                <a:spcPct val="90000"/>
              </a:lnSpc>
            </a:pPr>
            <a:r>
              <a:rPr lang="en-US" altLang="en-US" sz="1800"/>
              <a:t>combine multiple coverages into one to simplify support</a:t>
            </a:r>
          </a:p>
          <a:p>
            <a:pPr lvl="1">
              <a:lnSpc>
                <a:spcPct val="90000"/>
              </a:lnSpc>
            </a:pPr>
            <a:r>
              <a:rPr lang="en-US" altLang="en-US" sz="1800"/>
              <a:t>updated data  obtained (e.g. new TIGER file) but need to preserve enhancements made to earlier version</a:t>
            </a:r>
          </a:p>
          <a:p>
            <a:pPr lvl="1">
              <a:lnSpc>
                <a:spcPct val="90000"/>
              </a:lnSpc>
            </a:pPr>
            <a:r>
              <a:rPr lang="en-US" altLang="en-US" sz="1800"/>
              <a:t>two groups modify a single file, then need to recreate single version which preserves mods</a:t>
            </a:r>
          </a:p>
          <a:p>
            <a:pPr>
              <a:lnSpc>
                <a:spcPct val="90000"/>
              </a:lnSpc>
            </a:pPr>
            <a:r>
              <a:rPr lang="en-US" altLang="en-US" sz="2000"/>
              <a:t>create new master coverage from quality spatial data in one source and quality attribute data in another</a:t>
            </a:r>
          </a:p>
          <a:p>
            <a:pPr lvl="1">
              <a:lnSpc>
                <a:spcPct val="90000"/>
              </a:lnSpc>
            </a:pPr>
            <a:r>
              <a:rPr lang="en-US" altLang="en-US" sz="2000"/>
              <a:t>somewhat narrower definition</a:t>
            </a:r>
            <a:endParaRPr lang="en-US" altLang="en-US"/>
          </a:p>
          <a:p>
            <a:pPr>
              <a:lnSpc>
                <a:spcPct val="90000"/>
              </a:lnSpc>
            </a:pPr>
            <a:r>
              <a:rPr lang="en-US" altLang="en-US" sz="2000"/>
              <a:t>Depending on the situation, can  require application of a variety of processing tools and can be labor intensive:</a:t>
            </a:r>
          </a:p>
          <a:p>
            <a:pPr>
              <a:lnSpc>
                <a:spcPct val="90000"/>
              </a:lnSpc>
            </a:pPr>
            <a:r>
              <a:rPr lang="en-US" altLang="en-US" sz="2000"/>
              <a:t>Approaches  available within ArcGIS 9 include </a:t>
            </a:r>
          </a:p>
          <a:p>
            <a:pPr lvl="1">
              <a:lnSpc>
                <a:spcPct val="90000"/>
              </a:lnSpc>
            </a:pPr>
            <a:r>
              <a:rPr lang="en-US" altLang="en-US" sz="1800"/>
              <a:t>Spatial Adjustment toolbar, specifically </a:t>
            </a:r>
            <a:r>
              <a:rPr lang="en-US" altLang="en-US" sz="1800" i="1"/>
              <a:t>attribute transfer tool</a:t>
            </a:r>
          </a:p>
          <a:p>
            <a:pPr lvl="1">
              <a:lnSpc>
                <a:spcPct val="90000"/>
              </a:lnSpc>
            </a:pPr>
            <a:r>
              <a:rPr lang="en-US" altLang="en-US" sz="1800"/>
              <a:t>ArcToolbox&gt;Analysis Tools&gt;Overlay&gt;</a:t>
            </a:r>
            <a:r>
              <a:rPr lang="en-US" altLang="en-US" sz="1800" i="1"/>
              <a:t>Update</a:t>
            </a:r>
          </a:p>
          <a:p>
            <a:pPr>
              <a:lnSpc>
                <a:spcPct val="90000"/>
              </a:lnSpc>
            </a:pPr>
            <a:r>
              <a:rPr lang="en-US" altLang="en-US" sz="2000"/>
              <a:t>other add-ins available such as </a:t>
            </a:r>
          </a:p>
          <a:p>
            <a:pPr lvl="2">
              <a:lnSpc>
                <a:spcPct val="90000"/>
              </a:lnSpc>
            </a:pPr>
            <a:r>
              <a:rPr lang="en-US" altLang="en-US" sz="1600"/>
              <a:t>MapMerge from ESEA, Mountain View CA for ArcGIS</a:t>
            </a:r>
          </a:p>
          <a:p>
            <a:pPr lvl="2">
              <a:lnSpc>
                <a:spcPct val="90000"/>
              </a:lnSpc>
            </a:pPr>
            <a:r>
              <a:rPr lang="en-US" altLang="en-US" sz="1600"/>
              <a:t>GIS/T-Conflate for transportation applications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fade">
                                      <p:cBhvr>
                                        <p:cTn id="7" dur="500"/>
                                        <p:tgtEl>
                                          <p:spTgt spid="4403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035">
                                            <p:txEl>
                                              <p:pRg st="1" end="1"/>
                                            </p:txEl>
                                          </p:spTgt>
                                        </p:tgtEl>
                                        <p:attrNameLst>
                                          <p:attrName>style.visibility</p:attrName>
                                        </p:attrNameLst>
                                      </p:cBhvr>
                                      <p:to>
                                        <p:strVal val="visible"/>
                                      </p:to>
                                    </p:set>
                                    <p:animEffect transition="in" filter="fade">
                                      <p:cBhvr>
                                        <p:cTn id="10" dur="500"/>
                                        <p:tgtEl>
                                          <p:spTgt spid="4403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animEffect transition="in" filter="fade">
                                      <p:cBhvr>
                                        <p:cTn id="13" dur="500"/>
                                        <p:tgtEl>
                                          <p:spTgt spid="4403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035">
                                            <p:txEl>
                                              <p:pRg st="3" end="3"/>
                                            </p:txEl>
                                          </p:spTgt>
                                        </p:tgtEl>
                                        <p:attrNameLst>
                                          <p:attrName>style.visibility</p:attrName>
                                        </p:attrNameLst>
                                      </p:cBhvr>
                                      <p:to>
                                        <p:strVal val="visible"/>
                                      </p:to>
                                    </p:set>
                                    <p:animEffect transition="in" filter="fade">
                                      <p:cBhvr>
                                        <p:cTn id="16" dur="500"/>
                                        <p:tgtEl>
                                          <p:spTgt spid="4403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4035">
                                            <p:txEl>
                                              <p:pRg st="4" end="4"/>
                                            </p:txEl>
                                          </p:spTgt>
                                        </p:tgtEl>
                                        <p:attrNameLst>
                                          <p:attrName>style.visibility</p:attrName>
                                        </p:attrNameLst>
                                      </p:cBhvr>
                                      <p:to>
                                        <p:strVal val="visible"/>
                                      </p:to>
                                    </p:set>
                                    <p:animEffect transition="in" filter="fade">
                                      <p:cBhvr>
                                        <p:cTn id="21" dur="500"/>
                                        <p:tgtEl>
                                          <p:spTgt spid="4403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4035">
                                            <p:txEl>
                                              <p:pRg st="5" end="5"/>
                                            </p:txEl>
                                          </p:spTgt>
                                        </p:tgtEl>
                                        <p:attrNameLst>
                                          <p:attrName>style.visibility</p:attrName>
                                        </p:attrNameLst>
                                      </p:cBhvr>
                                      <p:to>
                                        <p:strVal val="visible"/>
                                      </p:to>
                                    </p:set>
                                    <p:animEffect transition="in" filter="fade">
                                      <p:cBhvr>
                                        <p:cTn id="24" dur="500"/>
                                        <p:tgtEl>
                                          <p:spTgt spid="44035">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4035">
                                            <p:txEl>
                                              <p:pRg st="6" end="6"/>
                                            </p:txEl>
                                          </p:spTgt>
                                        </p:tgtEl>
                                        <p:attrNameLst>
                                          <p:attrName>style.visibility</p:attrName>
                                        </p:attrNameLst>
                                      </p:cBhvr>
                                      <p:to>
                                        <p:strVal val="visible"/>
                                      </p:to>
                                    </p:set>
                                    <p:animEffect transition="in" filter="fade">
                                      <p:cBhvr>
                                        <p:cTn id="29" dur="500"/>
                                        <p:tgtEl>
                                          <p:spTgt spid="44035">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4035">
                                            <p:txEl>
                                              <p:pRg st="7" end="7"/>
                                            </p:txEl>
                                          </p:spTgt>
                                        </p:tgtEl>
                                        <p:attrNameLst>
                                          <p:attrName>style.visibility</p:attrName>
                                        </p:attrNameLst>
                                      </p:cBhvr>
                                      <p:to>
                                        <p:strVal val="visible"/>
                                      </p:to>
                                    </p:set>
                                    <p:animEffect transition="in" filter="fade">
                                      <p:cBhvr>
                                        <p:cTn id="34" dur="500"/>
                                        <p:tgtEl>
                                          <p:spTgt spid="44035">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4035">
                                            <p:txEl>
                                              <p:pRg st="8" end="8"/>
                                            </p:txEl>
                                          </p:spTgt>
                                        </p:tgtEl>
                                        <p:attrNameLst>
                                          <p:attrName>style.visibility</p:attrName>
                                        </p:attrNameLst>
                                      </p:cBhvr>
                                      <p:to>
                                        <p:strVal val="visible"/>
                                      </p:to>
                                    </p:set>
                                    <p:animEffect transition="in" filter="fade">
                                      <p:cBhvr>
                                        <p:cTn id="37" dur="500"/>
                                        <p:tgtEl>
                                          <p:spTgt spid="44035">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4035">
                                            <p:txEl>
                                              <p:pRg st="9" end="9"/>
                                            </p:txEl>
                                          </p:spTgt>
                                        </p:tgtEl>
                                        <p:attrNameLst>
                                          <p:attrName>style.visibility</p:attrName>
                                        </p:attrNameLst>
                                      </p:cBhvr>
                                      <p:to>
                                        <p:strVal val="visible"/>
                                      </p:to>
                                    </p:set>
                                    <p:animEffect transition="in" filter="fade">
                                      <p:cBhvr>
                                        <p:cTn id="40" dur="500"/>
                                        <p:tgtEl>
                                          <p:spTgt spid="44035">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4035">
                                            <p:txEl>
                                              <p:pRg st="10" end="10"/>
                                            </p:txEl>
                                          </p:spTgt>
                                        </p:tgtEl>
                                        <p:attrNameLst>
                                          <p:attrName>style.visibility</p:attrName>
                                        </p:attrNameLst>
                                      </p:cBhvr>
                                      <p:to>
                                        <p:strVal val="visible"/>
                                      </p:to>
                                    </p:set>
                                    <p:animEffect transition="in" filter="fade">
                                      <p:cBhvr>
                                        <p:cTn id="45" dur="500"/>
                                        <p:tgtEl>
                                          <p:spTgt spid="44035">
                                            <p:txEl>
                                              <p:pRg st="10" end="1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4035">
                                            <p:txEl>
                                              <p:pRg st="11" end="11"/>
                                            </p:txEl>
                                          </p:spTgt>
                                        </p:tgtEl>
                                        <p:attrNameLst>
                                          <p:attrName>style.visibility</p:attrName>
                                        </p:attrNameLst>
                                      </p:cBhvr>
                                      <p:to>
                                        <p:strVal val="visible"/>
                                      </p:to>
                                    </p:set>
                                    <p:animEffect transition="in" filter="fade">
                                      <p:cBhvr>
                                        <p:cTn id="48" dur="500"/>
                                        <p:tgtEl>
                                          <p:spTgt spid="44035">
                                            <p:txEl>
                                              <p:pRg st="11" end="1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4035">
                                            <p:txEl>
                                              <p:pRg st="12" end="12"/>
                                            </p:txEl>
                                          </p:spTgt>
                                        </p:tgtEl>
                                        <p:attrNameLst>
                                          <p:attrName>style.visibility</p:attrName>
                                        </p:attrNameLst>
                                      </p:cBhvr>
                                      <p:to>
                                        <p:strVal val="visible"/>
                                      </p:to>
                                    </p:set>
                                    <p:animEffect transition="in" filter="fade">
                                      <p:cBhvr>
                                        <p:cTn id="51" dur="500"/>
                                        <p:tgtEl>
                                          <p:spTgt spid="4403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normAutofit fontScale="90000"/>
          </a:bodyPr>
          <a:lstStyle/>
          <a:p>
            <a:pPr>
              <a:lnSpc>
                <a:spcPct val="150000"/>
              </a:lnSpc>
              <a:spcAft>
                <a:spcPts val="1200"/>
              </a:spcAft>
              <a:defRPr/>
            </a:pPr>
            <a:r>
              <a:rPr lang="en-US" altLang="en-US" dirty="0"/>
              <a:t>Map projection </a:t>
            </a:r>
            <a:br>
              <a:rPr lang="en-US" altLang="en-US" dirty="0"/>
            </a:br>
            <a:r>
              <a:rPr lang="en-US" altLang="en-US" dirty="0"/>
              <a:t>and </a:t>
            </a:r>
            <a:br>
              <a:rPr lang="en-US" altLang="en-US" dirty="0"/>
            </a:br>
            <a:r>
              <a:rPr lang="en-US" altLang="en-US" dirty="0"/>
              <a:t>Spatial reference</a:t>
            </a:r>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lstStyle/>
          <a:p>
            <a:pPr>
              <a:lnSpc>
                <a:spcPct val="150000"/>
              </a:lnSpc>
              <a:spcAft>
                <a:spcPts val="1200"/>
              </a:spcAft>
              <a:defRPr/>
            </a:pPr>
            <a:r>
              <a:rPr lang="en-US" altLang="en-US" dirty="0"/>
              <a:t>Map projection </a:t>
            </a:r>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0" y="0"/>
            <a:ext cx="9251950" cy="838200"/>
          </a:xfrm>
        </p:spPr>
        <p:txBody>
          <a:bodyPr/>
          <a:lstStyle/>
          <a:p>
            <a:pPr>
              <a:defRPr/>
            </a:pPr>
            <a:r>
              <a:rPr lang="en-US" altLang="en-US" dirty="0" smtClean="0"/>
              <a:t>Map Projection</a:t>
            </a:r>
            <a:endParaRPr lang="en-US" altLang="en-US" dirty="0"/>
          </a:p>
        </p:txBody>
      </p:sp>
      <p:sp>
        <p:nvSpPr>
          <p:cNvPr id="44035" name="Rectangle 3"/>
          <p:cNvSpPr>
            <a:spLocks noGrp="1" noChangeArrowheads="1"/>
          </p:cNvSpPr>
          <p:nvPr>
            <p:ph type="body" idx="1"/>
          </p:nvPr>
        </p:nvSpPr>
        <p:spPr>
          <a:xfrm>
            <a:off x="1524000" y="990600"/>
            <a:ext cx="5329238" cy="6096000"/>
          </a:xfrm>
        </p:spPr>
        <p:txBody>
          <a:bodyPr/>
          <a:lstStyle/>
          <a:p>
            <a:pPr>
              <a:defRPr/>
            </a:pPr>
            <a:r>
              <a:rPr lang="en-US" sz="2400" dirty="0"/>
              <a:t>Every dataset has a coordinate system, which is used to integrate it with other geographic data layers within a common coordinate framework such as a map.</a:t>
            </a:r>
          </a:p>
          <a:p>
            <a:pPr>
              <a:defRPr/>
            </a:pPr>
            <a:r>
              <a:rPr lang="de-DE" altLang="en-US" sz="2400" dirty="0"/>
              <a:t>A map projection is defined by</a:t>
            </a:r>
          </a:p>
          <a:p>
            <a:pPr marL="822960">
              <a:buFont typeface="Wingdings" panose="05000000000000000000" pitchFamily="2" charset="2"/>
              <a:buChar char="ü"/>
              <a:defRPr/>
            </a:pPr>
            <a:r>
              <a:rPr lang="de-DE" altLang="en-US" sz="2000" dirty="0"/>
              <a:t>name of projection</a:t>
            </a:r>
          </a:p>
          <a:p>
            <a:pPr marL="822960">
              <a:buFont typeface="Wingdings" panose="05000000000000000000" pitchFamily="2" charset="2"/>
              <a:buChar char="ü"/>
              <a:defRPr/>
            </a:pPr>
            <a:r>
              <a:rPr lang="de-DE" altLang="en-US" sz="2000" dirty="0"/>
              <a:t>type of projection (e.g. </a:t>
            </a:r>
            <a:r>
              <a:rPr lang="de-DE" altLang="en-US" sz="2000" i="1" dirty="0"/>
              <a:t>cylindrical </a:t>
            </a:r>
            <a:r>
              <a:rPr lang="de-DE" altLang="en-US" sz="2000" dirty="0"/>
              <a:t>- using different reference bodies)</a:t>
            </a:r>
          </a:p>
          <a:p>
            <a:pPr marL="822960">
              <a:buFont typeface="Wingdings" panose="05000000000000000000" pitchFamily="2" charset="2"/>
              <a:buChar char="ü"/>
              <a:defRPr/>
            </a:pPr>
            <a:r>
              <a:rPr lang="de-DE" altLang="en-US" sz="2000" dirty="0"/>
              <a:t>description (applicable parameters depend on type of projection)</a:t>
            </a:r>
          </a:p>
          <a:p>
            <a:pPr marL="822960">
              <a:buFont typeface="Wingdings" panose="05000000000000000000" pitchFamily="2" charset="2"/>
              <a:buChar char="ü"/>
              <a:defRPr/>
            </a:pPr>
            <a:r>
              <a:rPr lang="de-DE" altLang="en-US" sz="2000" dirty="0"/>
              <a:t>ellipsoid / datum parameters</a:t>
            </a:r>
          </a:p>
          <a:p>
            <a:pPr>
              <a:defRPr/>
            </a:pPr>
            <a:endParaRPr lang="en-US" altLang="en-US" sz="2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59600" y="1341438"/>
            <a:ext cx="3665538"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fade">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fade">
                                      <p:cBhvr>
                                        <p:cTn id="12" dur="500"/>
                                        <p:tgtEl>
                                          <p:spTgt spid="44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fade">
                                      <p:cBhvr>
                                        <p:cTn id="17" dur="500"/>
                                        <p:tgtEl>
                                          <p:spTgt spid="440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Effect transition="in" filter="fade">
                                      <p:cBhvr>
                                        <p:cTn id="22" dur="500"/>
                                        <p:tgtEl>
                                          <p:spTgt spid="440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Effect transition="in" filter="fade">
                                      <p:cBhvr>
                                        <p:cTn id="27" dur="500"/>
                                        <p:tgtEl>
                                          <p:spTgt spid="440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Effect transition="in" filter="fade">
                                      <p:cBhvr>
                                        <p:cTn id="32" dur="500"/>
                                        <p:tgtEl>
                                          <p:spTgt spid="440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randombar(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0" y="225425"/>
            <a:ext cx="9144000" cy="558800"/>
          </a:xfrm>
        </p:spPr>
        <p:txBody>
          <a:bodyPr>
            <a:noAutofit/>
          </a:bodyPr>
          <a:lstStyle/>
          <a:p>
            <a:pPr>
              <a:defRPr/>
            </a:pPr>
            <a:r>
              <a:rPr lang="en-US" altLang="en-US" dirty="0" smtClean="0">
                <a:cs typeface="Times New Roman" pitchFamily="18" charset="0"/>
              </a:rPr>
              <a:t>Map Projection</a:t>
            </a:r>
          </a:p>
        </p:txBody>
      </p:sp>
      <p:sp>
        <p:nvSpPr>
          <p:cNvPr id="8195" name="Rectangle 3"/>
          <p:cNvSpPr>
            <a:spLocks noGrp="1" noChangeArrowheads="1"/>
          </p:cNvSpPr>
          <p:nvPr>
            <p:ph idx="1"/>
          </p:nvPr>
        </p:nvSpPr>
        <p:spPr>
          <a:xfrm>
            <a:off x="1666876" y="1219200"/>
            <a:ext cx="6638925" cy="4800600"/>
          </a:xfrm>
        </p:spPr>
        <p:txBody>
          <a:bodyPr/>
          <a:lstStyle/>
          <a:p>
            <a:pPr>
              <a:spcAft>
                <a:spcPts val="1200"/>
              </a:spcAft>
              <a:defRPr/>
            </a:pPr>
            <a:r>
              <a:rPr lang="en-US" altLang="en-US" dirty="0">
                <a:latin typeface="+mj-lt"/>
                <a:cs typeface="Times New Roman" pitchFamily="18" charset="0"/>
              </a:rPr>
              <a:t>is a mathematical formula for representing the curved surface of the earth on a flat map.</a:t>
            </a:r>
          </a:p>
          <a:p>
            <a:pPr>
              <a:spcAft>
                <a:spcPts val="1200"/>
              </a:spcAft>
              <a:defRPr/>
            </a:pPr>
            <a:r>
              <a:rPr lang="en-US" dirty="0"/>
              <a:t>Every projection has its own set of advantages &amp; disadvantages.</a:t>
            </a:r>
          </a:p>
          <a:p>
            <a:pPr>
              <a:spcAft>
                <a:spcPts val="1200"/>
              </a:spcAft>
              <a:defRPr/>
            </a:pPr>
            <a:r>
              <a:rPr lang="en-US" dirty="0"/>
              <a:t>There is </a:t>
            </a:r>
            <a:r>
              <a:rPr lang="en-US" dirty="0">
                <a:solidFill>
                  <a:srgbClr val="FFFF66"/>
                </a:solidFill>
              </a:rPr>
              <a:t>no "best" projection</a:t>
            </a:r>
            <a:r>
              <a:rPr lang="en-US" dirty="0"/>
              <a:t>.</a:t>
            </a:r>
          </a:p>
          <a:p>
            <a:pPr>
              <a:spcAft>
                <a:spcPts val="1200"/>
              </a:spcAft>
              <a:defRPr/>
            </a:pPr>
            <a:r>
              <a:rPr lang="en-US" dirty="0"/>
              <a:t>Mapmakers and mathematicians have devised almost </a:t>
            </a:r>
            <a:r>
              <a:rPr lang="en-US" dirty="0">
                <a:solidFill>
                  <a:srgbClr val="FFFF66"/>
                </a:solidFill>
              </a:rPr>
              <a:t>limitless ways</a:t>
            </a:r>
            <a:r>
              <a:rPr lang="en-US" dirty="0"/>
              <a:t> to project the image of the globe onto a flat surface (paper). </a:t>
            </a:r>
          </a:p>
        </p:txBody>
      </p:sp>
      <p:pic>
        <p:nvPicPr>
          <p:cNvPr id="69636" name="Picture 4" descr="T3_proj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9151" y="2378075"/>
            <a:ext cx="21939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0" y="4763"/>
            <a:ext cx="9144000" cy="558800"/>
          </a:xfrm>
        </p:spPr>
        <p:txBody>
          <a:bodyPr>
            <a:noAutofit/>
          </a:bodyPr>
          <a:lstStyle/>
          <a:p>
            <a:pPr>
              <a:defRPr/>
            </a:pPr>
            <a:r>
              <a:rPr lang="en-US" altLang="en-US" dirty="0" smtClean="0">
                <a:cs typeface="Times New Roman" pitchFamily="18" charset="0"/>
              </a:rPr>
              <a:t>Map Projection</a:t>
            </a:r>
          </a:p>
        </p:txBody>
      </p:sp>
      <p:sp>
        <p:nvSpPr>
          <p:cNvPr id="8195" name="Rectangle 3"/>
          <p:cNvSpPr>
            <a:spLocks noGrp="1" noChangeArrowheads="1"/>
          </p:cNvSpPr>
          <p:nvPr>
            <p:ph idx="1"/>
          </p:nvPr>
        </p:nvSpPr>
        <p:spPr>
          <a:xfrm>
            <a:off x="1666876" y="836614"/>
            <a:ext cx="8785225" cy="5761037"/>
          </a:xfrm>
        </p:spPr>
        <p:txBody>
          <a:bodyPr/>
          <a:lstStyle/>
          <a:p>
            <a:pPr>
              <a:defRPr/>
            </a:pPr>
            <a:r>
              <a:rPr lang="en-GB" dirty="0"/>
              <a:t>The creation of a map projection involves three steps:</a:t>
            </a:r>
            <a:endParaRPr lang="en-US" dirty="0"/>
          </a:p>
          <a:p>
            <a:pPr marL="822960">
              <a:defRPr/>
            </a:pPr>
            <a:r>
              <a:rPr lang="en-GB" sz="2400" dirty="0"/>
              <a:t>Selection of a model for the shape of the Earth:</a:t>
            </a:r>
          </a:p>
          <a:p>
            <a:pPr marL="1188720">
              <a:defRPr/>
            </a:pPr>
            <a:r>
              <a:rPr lang="en-GB" sz="2000" dirty="0"/>
              <a:t>usually choosing between a </a:t>
            </a:r>
            <a:r>
              <a:rPr lang="en-GB" sz="2000" i="1" u="sng" dirty="0"/>
              <a:t>sphere</a:t>
            </a:r>
            <a:r>
              <a:rPr lang="en-GB" sz="2000" dirty="0"/>
              <a:t>, </a:t>
            </a:r>
            <a:r>
              <a:rPr lang="en-GB" sz="2000" i="1" u="sng" dirty="0"/>
              <a:t>ellipsoid</a:t>
            </a:r>
            <a:r>
              <a:rPr lang="en-GB" sz="2000" dirty="0"/>
              <a:t>, </a:t>
            </a:r>
            <a:r>
              <a:rPr lang="en-GB" sz="2000" i="1" u="sng" dirty="0"/>
              <a:t>geoid</a:t>
            </a:r>
            <a:r>
              <a:rPr lang="en-GB" sz="2000" dirty="0"/>
              <a:t>.</a:t>
            </a:r>
          </a:p>
          <a:p>
            <a:pPr marL="1188720">
              <a:defRPr/>
            </a:pPr>
            <a:r>
              <a:rPr lang="en-GB" sz="2000" dirty="0"/>
              <a:t>Because the Earth's actual shape is irregular, information is lost in this step.</a:t>
            </a:r>
            <a:endParaRPr lang="en-US" sz="2000" dirty="0"/>
          </a:p>
          <a:p>
            <a:pPr marL="822960">
              <a:defRPr/>
            </a:pPr>
            <a:r>
              <a:rPr lang="en-GB" sz="2400" dirty="0"/>
              <a:t>Transformation of geographic coordinates:</a:t>
            </a:r>
          </a:p>
          <a:p>
            <a:pPr marL="1188720">
              <a:defRPr/>
            </a:pPr>
            <a:r>
              <a:rPr lang="en-GB" sz="2000" dirty="0"/>
              <a:t>(long/</a:t>
            </a:r>
            <a:r>
              <a:rPr lang="en-GB" sz="2000" dirty="0" err="1"/>
              <a:t>lat</a:t>
            </a:r>
            <a:r>
              <a:rPr lang="en-GB" sz="2000" dirty="0"/>
              <a:t>) to Cartesian (x, y) or polar plane coordinates. </a:t>
            </a:r>
          </a:p>
          <a:p>
            <a:pPr marL="1188720">
              <a:defRPr/>
            </a:pPr>
            <a:r>
              <a:rPr lang="en-GB" sz="2000" dirty="0"/>
              <a:t>Cartesian coordinates normally have a simple relation to eastings and northings defined on a grid superimposed on the projection.</a:t>
            </a:r>
            <a:endParaRPr lang="en-US" sz="2000" dirty="0"/>
          </a:p>
          <a:p>
            <a:pPr marL="822960">
              <a:defRPr/>
            </a:pPr>
            <a:r>
              <a:rPr lang="en-GB" sz="2400" dirty="0"/>
              <a:t>Reduce the scale:</a:t>
            </a:r>
          </a:p>
          <a:p>
            <a:pPr marL="1188720">
              <a:defRPr/>
            </a:pPr>
            <a:r>
              <a:rPr lang="en-GB" sz="2000" dirty="0"/>
              <a:t>in manual cartography this step came second, in digital cartography it comes last</a:t>
            </a:r>
            <a:endParaRPr lang="en-US" sz="2000" dirty="0"/>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fade">
                                      <p:cBhvr>
                                        <p:cTn id="27" dur="500"/>
                                        <p:tgtEl>
                                          <p:spTgt spid="81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fade">
                                      <p:cBhvr>
                                        <p:cTn id="32" dur="500"/>
                                        <p:tgtEl>
                                          <p:spTgt spid="81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fade">
                                      <p:cBhvr>
                                        <p:cTn id="37" dur="500"/>
                                        <p:tgtEl>
                                          <p:spTgt spid="819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fade">
                                      <p:cBhvr>
                                        <p:cTn id="42" dur="500"/>
                                        <p:tgtEl>
                                          <p:spTgt spid="819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fade">
                                      <p:cBhvr>
                                        <p:cTn id="47" dur="500"/>
                                        <p:tgtEl>
                                          <p:spTgt spid="8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524001" y="104775"/>
            <a:ext cx="9053513" cy="533400"/>
          </a:xfrm>
        </p:spPr>
        <p:txBody>
          <a:bodyPr vert="horz" lIns="92075" tIns="46038" rIns="92075" bIns="46038" rtlCol="0" anchor="ctr">
            <a:normAutofit fontScale="90000"/>
          </a:bodyPr>
          <a:lstStyle/>
          <a:p>
            <a:pPr>
              <a:defRPr/>
            </a:pPr>
            <a:r>
              <a:rPr lang="en-US" altLang="en-US" dirty="0" smtClean="0"/>
              <a:t>Distortions</a:t>
            </a:r>
          </a:p>
        </p:txBody>
      </p:sp>
      <p:grpSp>
        <p:nvGrpSpPr>
          <p:cNvPr id="2" name="Group 1"/>
          <p:cNvGrpSpPr>
            <a:grpSpLocks/>
          </p:cNvGrpSpPr>
          <p:nvPr/>
        </p:nvGrpSpPr>
        <p:grpSpPr bwMode="auto">
          <a:xfrm>
            <a:off x="6180139" y="3348038"/>
            <a:ext cx="4452937" cy="3429000"/>
            <a:chOff x="4655567" y="3347950"/>
            <a:chExt cx="4452937" cy="3429000"/>
          </a:xfrm>
        </p:grpSpPr>
        <p:sp>
          <p:nvSpPr>
            <p:cNvPr id="7173" name="Rectangle 4"/>
            <p:cNvSpPr>
              <a:spLocks noChangeArrowheads="1"/>
            </p:cNvSpPr>
            <p:nvPr/>
          </p:nvSpPr>
          <p:spPr bwMode="auto">
            <a:xfrm>
              <a:off x="4823842" y="3347950"/>
              <a:ext cx="4238625" cy="3429000"/>
            </a:xfrm>
            <a:prstGeom prst="rect">
              <a:avLst/>
            </a:prstGeom>
            <a:solidFill>
              <a:schemeClr val="tx1">
                <a:lumMod val="85000"/>
              </a:schemeClr>
            </a:solidFill>
            <a:ln w="12700">
              <a:solidFill>
                <a:schemeClr val="tx1"/>
              </a:solidFill>
              <a:miter lim="800000"/>
              <a:headEnd/>
              <a:tailEnd/>
            </a:ln>
          </p:spPr>
          <p:txBody>
            <a:bodyPr wrap="none" anchor="ctr"/>
            <a:lstStyle/>
            <a:p>
              <a:pPr>
                <a:defRPr/>
              </a:pPr>
              <a:endParaRPr lang="en-US"/>
            </a:p>
          </p:txBody>
        </p:sp>
        <p:graphicFrame>
          <p:nvGraphicFramePr>
            <p:cNvPr id="73735" name="Object 2"/>
            <p:cNvGraphicFramePr>
              <a:graphicFrameLocks/>
            </p:cNvGraphicFramePr>
            <p:nvPr/>
          </p:nvGraphicFramePr>
          <p:xfrm>
            <a:off x="4655567" y="3422228"/>
            <a:ext cx="4452937" cy="2959100"/>
          </p:xfrm>
          <a:graphic>
            <a:graphicData uri="http://schemas.openxmlformats.org/presentationml/2006/ole">
              <mc:AlternateContent xmlns:mc="http://schemas.openxmlformats.org/markup-compatibility/2006">
                <mc:Choice xmlns:v="urn:schemas-microsoft-com:vml" Requires="v">
                  <p:oleObj spid="_x0000_s2050" name="Picture" r:id="rId4" imgW="2743200" imgH="1828800" progId="Word.Picture.8">
                    <p:embed/>
                  </p:oleObj>
                </mc:Choice>
                <mc:Fallback>
                  <p:oleObj name="Picture" r:id="rId4" imgW="2743200" imgH="1828800" progId="Word.Picture.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5567" y="3422228"/>
                          <a:ext cx="4452937" cy="29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46" name="Rectangle 6"/>
          <p:cNvSpPr>
            <a:spLocks noChangeArrowheads="1"/>
          </p:cNvSpPr>
          <p:nvPr/>
        </p:nvSpPr>
        <p:spPr bwMode="auto">
          <a:xfrm>
            <a:off x="2016125" y="836613"/>
            <a:ext cx="8281988" cy="3385542"/>
          </a:xfrm>
          <a:prstGeom prst="rect">
            <a:avLst/>
          </a:prstGeom>
          <a:noFill/>
          <a:ln w="12700" cap="sq">
            <a:noFill/>
            <a:miter lim="800000"/>
            <a:headEnd type="none" w="sm" len="sm"/>
            <a:tailEnd type="none" w="sm" len="sm"/>
          </a:ln>
          <a:effectLst/>
        </p:spPr>
        <p:txBody>
          <a:bodyPr>
            <a:spAutoFit/>
          </a:bodyPr>
          <a:lstStyle/>
          <a:p>
            <a:pPr marL="342900" indent="-342900">
              <a:spcBef>
                <a:spcPct val="50000"/>
              </a:spcBef>
              <a:spcAft>
                <a:spcPts val="1200"/>
              </a:spcAft>
              <a:buFont typeface="Arial" panose="020B0604020202020204" pitchFamily="34" charset="0"/>
              <a:buChar char="•"/>
              <a:defRPr/>
            </a:pPr>
            <a:r>
              <a:rPr lang="en-US" altLang="en-US" sz="2400" dirty="0"/>
              <a:t>Distortions are inherent in maps</a:t>
            </a:r>
          </a:p>
          <a:p>
            <a:pPr marL="342900" indent="-342900">
              <a:spcBef>
                <a:spcPct val="50000"/>
              </a:spcBef>
              <a:buFont typeface="Arial" panose="020B0604020202020204" pitchFamily="34" charset="0"/>
              <a:buChar char="•"/>
              <a:defRPr/>
            </a:pPr>
            <a:r>
              <a:rPr lang="en-US" altLang="en-US" sz="2400" dirty="0"/>
              <a:t>This process of flattening the earth will cause distortions in one or more of the following spatial properties:</a:t>
            </a:r>
          </a:p>
          <a:p>
            <a:pPr marL="822960" indent="-342900">
              <a:spcBef>
                <a:spcPct val="50000"/>
              </a:spcBef>
              <a:buFont typeface="Wingdings" panose="05000000000000000000" pitchFamily="2" charset="2"/>
              <a:buChar char="ü"/>
              <a:defRPr/>
            </a:pPr>
            <a:r>
              <a:rPr lang="en-US" altLang="en-US" sz="2000" dirty="0"/>
              <a:t>Distance</a:t>
            </a:r>
          </a:p>
          <a:p>
            <a:pPr marL="822960" indent="-342900">
              <a:spcBef>
                <a:spcPct val="50000"/>
              </a:spcBef>
              <a:buFont typeface="Wingdings" panose="05000000000000000000" pitchFamily="2" charset="2"/>
              <a:buChar char="ü"/>
              <a:defRPr/>
            </a:pPr>
            <a:r>
              <a:rPr lang="en-US" altLang="en-US" sz="2000" dirty="0"/>
              <a:t>Area</a:t>
            </a:r>
          </a:p>
          <a:p>
            <a:pPr marL="822960" indent="-342900">
              <a:spcBef>
                <a:spcPct val="50000"/>
              </a:spcBef>
              <a:buFont typeface="Wingdings" panose="05000000000000000000" pitchFamily="2" charset="2"/>
              <a:buChar char="ü"/>
              <a:defRPr/>
            </a:pPr>
            <a:r>
              <a:rPr lang="en-US" altLang="en-US" sz="2000" dirty="0"/>
              <a:t>Shape</a:t>
            </a:r>
          </a:p>
          <a:p>
            <a:pPr marL="822960" indent="-342900">
              <a:spcBef>
                <a:spcPct val="50000"/>
              </a:spcBef>
              <a:buFont typeface="Wingdings" panose="05000000000000000000" pitchFamily="2" charset="2"/>
              <a:buChar char="ü"/>
              <a:defRPr/>
            </a:pPr>
            <a:r>
              <a:rPr lang="en-US" altLang="en-US" sz="2000" dirty="0"/>
              <a:t>direction</a:t>
            </a:r>
            <a:endParaRPr lang="en-US" altLang="en-US" sz="2000" dirty="0">
              <a:latin typeface="+mj-lt"/>
            </a:endParaRPr>
          </a:p>
        </p:txBody>
      </p:sp>
      <p:pic>
        <p:nvPicPr>
          <p:cNvPr id="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7339" y="3352800"/>
            <a:ext cx="4791075" cy="346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6">
                                            <p:txEl>
                                              <p:pRg st="0" end="0"/>
                                            </p:txEl>
                                          </p:spTgt>
                                        </p:tgtEl>
                                        <p:attrNameLst>
                                          <p:attrName>style.visibility</p:attrName>
                                        </p:attrNameLst>
                                      </p:cBhvr>
                                      <p:to>
                                        <p:strVal val="visible"/>
                                      </p:to>
                                    </p:set>
                                    <p:animEffect transition="in" filter="fade">
                                      <p:cBhvr>
                                        <p:cTn id="7" dur="500"/>
                                        <p:tgtEl>
                                          <p:spTgt spid="102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6">
                                            <p:txEl>
                                              <p:pRg st="1" end="1"/>
                                            </p:txEl>
                                          </p:spTgt>
                                        </p:tgtEl>
                                        <p:attrNameLst>
                                          <p:attrName>style.visibility</p:attrName>
                                        </p:attrNameLst>
                                      </p:cBhvr>
                                      <p:to>
                                        <p:strVal val="visible"/>
                                      </p:to>
                                    </p:set>
                                    <p:animEffect transition="in" filter="fade">
                                      <p:cBhvr>
                                        <p:cTn id="12" dur="500"/>
                                        <p:tgtEl>
                                          <p:spTgt spid="102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6">
                                            <p:txEl>
                                              <p:pRg st="2" end="2"/>
                                            </p:txEl>
                                          </p:spTgt>
                                        </p:tgtEl>
                                        <p:attrNameLst>
                                          <p:attrName>style.visibility</p:attrName>
                                        </p:attrNameLst>
                                      </p:cBhvr>
                                      <p:to>
                                        <p:strVal val="visible"/>
                                      </p:to>
                                    </p:set>
                                    <p:animEffect transition="in" filter="fade">
                                      <p:cBhvr>
                                        <p:cTn id="17" dur="500"/>
                                        <p:tgtEl>
                                          <p:spTgt spid="1024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46">
                                            <p:txEl>
                                              <p:pRg st="3" end="3"/>
                                            </p:txEl>
                                          </p:spTgt>
                                        </p:tgtEl>
                                        <p:attrNameLst>
                                          <p:attrName>style.visibility</p:attrName>
                                        </p:attrNameLst>
                                      </p:cBhvr>
                                      <p:to>
                                        <p:strVal val="visible"/>
                                      </p:to>
                                    </p:set>
                                    <p:animEffect transition="in" filter="fade">
                                      <p:cBhvr>
                                        <p:cTn id="22" dur="500"/>
                                        <p:tgtEl>
                                          <p:spTgt spid="1024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46">
                                            <p:txEl>
                                              <p:pRg st="4" end="4"/>
                                            </p:txEl>
                                          </p:spTgt>
                                        </p:tgtEl>
                                        <p:attrNameLst>
                                          <p:attrName>style.visibility</p:attrName>
                                        </p:attrNameLst>
                                      </p:cBhvr>
                                      <p:to>
                                        <p:strVal val="visible"/>
                                      </p:to>
                                    </p:set>
                                    <p:animEffect transition="in" filter="fade">
                                      <p:cBhvr>
                                        <p:cTn id="27" dur="500"/>
                                        <p:tgtEl>
                                          <p:spTgt spid="1024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46">
                                            <p:txEl>
                                              <p:pRg st="5" end="5"/>
                                            </p:txEl>
                                          </p:spTgt>
                                        </p:tgtEl>
                                        <p:attrNameLst>
                                          <p:attrName>style.visibility</p:attrName>
                                        </p:attrNameLst>
                                      </p:cBhvr>
                                      <p:to>
                                        <p:strVal val="visible"/>
                                      </p:to>
                                    </p:set>
                                    <p:animEffect transition="in" filter="fade">
                                      <p:cBhvr>
                                        <p:cTn id="32" dur="500"/>
                                        <p:tgtEl>
                                          <p:spTgt spid="1024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randombar(horizontal)">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randombar(horizont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1524000" y="12700"/>
            <a:ext cx="9144000" cy="685800"/>
          </a:xfrm>
        </p:spPr>
        <p:txBody>
          <a:bodyPr anchor="b">
            <a:normAutofit fontScale="90000"/>
          </a:bodyPr>
          <a:lstStyle/>
          <a:p>
            <a:pPr>
              <a:defRPr/>
            </a:pPr>
            <a:r>
              <a:rPr lang="en-US" dirty="0" smtClean="0"/>
              <a:t>Map Projections Parameters</a:t>
            </a:r>
          </a:p>
        </p:txBody>
      </p:sp>
      <p:sp>
        <p:nvSpPr>
          <p:cNvPr id="28676" name="Text Box 4"/>
          <p:cNvSpPr txBox="1">
            <a:spLocks noChangeArrowheads="1"/>
          </p:cNvSpPr>
          <p:nvPr/>
        </p:nvSpPr>
        <p:spPr bwMode="auto">
          <a:xfrm>
            <a:off x="1892300" y="915988"/>
            <a:ext cx="8407400" cy="5846762"/>
          </a:xfrm>
          <a:prstGeom prst="rect">
            <a:avLst/>
          </a:prstGeom>
          <a:noFill/>
          <a:ln w="12700" cap="sq">
            <a:noFill/>
            <a:miter lim="800000"/>
            <a:headEnd type="none" w="sm" len="sm"/>
            <a:tailEnd type="none" w="sm" len="sm"/>
          </a:ln>
        </p:spPr>
        <p:txBody>
          <a:bodyPr>
            <a:spAutoFit/>
          </a:bodyPr>
          <a:lstStyle/>
          <a:p>
            <a:pPr marL="342900" indent="-342900">
              <a:buFont typeface="Arial" panose="020B0604020202020204" pitchFamily="34" charset="0"/>
              <a:buChar char="•"/>
              <a:defRPr/>
            </a:pPr>
            <a:r>
              <a:rPr lang="en-US" sz="2800" dirty="0"/>
              <a:t>Standard Line – line of tangency  - where the projection surface meets the globe</a:t>
            </a:r>
          </a:p>
          <a:p>
            <a:pPr marL="822960" indent="-342900">
              <a:buFont typeface="Wingdings" panose="05000000000000000000" pitchFamily="2" charset="2"/>
              <a:buChar char="ü"/>
              <a:defRPr/>
            </a:pPr>
            <a:r>
              <a:rPr lang="en-US" sz="2400" dirty="0">
                <a:solidFill>
                  <a:schemeClr val="hlink"/>
                </a:solidFill>
              </a:rPr>
              <a:t>No distortion at this point – increase distortion moving away</a:t>
            </a:r>
          </a:p>
          <a:p>
            <a:pPr marL="822960" indent="-342900">
              <a:buFont typeface="Wingdings" panose="05000000000000000000" pitchFamily="2" charset="2"/>
              <a:buChar char="ü"/>
              <a:defRPr/>
            </a:pPr>
            <a:r>
              <a:rPr lang="en-US" sz="2400" dirty="0"/>
              <a:t>Standard Parallel</a:t>
            </a:r>
          </a:p>
          <a:p>
            <a:pPr marL="822960" indent="-342900">
              <a:buFont typeface="Wingdings" panose="05000000000000000000" pitchFamily="2" charset="2"/>
              <a:buChar char="ü"/>
              <a:defRPr/>
            </a:pPr>
            <a:r>
              <a:rPr lang="en-US" sz="2400" dirty="0"/>
              <a:t>Standard Meridian</a:t>
            </a:r>
          </a:p>
          <a:p>
            <a:pPr marL="822960" indent="-342900">
              <a:buFont typeface="Wingdings" panose="05000000000000000000" pitchFamily="2" charset="2"/>
              <a:buChar char="ü"/>
              <a:defRPr/>
            </a:pPr>
            <a:r>
              <a:rPr lang="en-US" sz="2400" dirty="0"/>
              <a:t>More than one standard line possible</a:t>
            </a:r>
            <a:endParaRPr lang="en-US" dirty="0"/>
          </a:p>
          <a:p>
            <a:pPr marL="342900" indent="-342900">
              <a:buFont typeface="Arial" panose="020B0604020202020204" pitchFamily="34" charset="0"/>
              <a:buChar char="•"/>
              <a:defRPr/>
            </a:pPr>
            <a:r>
              <a:rPr lang="en-US" sz="2800" dirty="0"/>
              <a:t>Central Line</a:t>
            </a:r>
          </a:p>
          <a:p>
            <a:pPr marL="822960" indent="-342900">
              <a:buFont typeface="Wingdings" panose="05000000000000000000" pitchFamily="2" charset="2"/>
              <a:buChar char="ü"/>
              <a:defRPr/>
            </a:pPr>
            <a:r>
              <a:rPr lang="en-US" sz="2400" dirty="0">
                <a:solidFill>
                  <a:schemeClr val="hlink"/>
                </a:solidFill>
              </a:rPr>
              <a:t>Defines the center of the map projection</a:t>
            </a:r>
          </a:p>
          <a:p>
            <a:pPr marL="822960" indent="-342900">
              <a:buFont typeface="Wingdings" panose="05000000000000000000" pitchFamily="2" charset="2"/>
              <a:buChar char="ü"/>
              <a:defRPr/>
            </a:pPr>
            <a:r>
              <a:rPr lang="en-US" sz="2400" dirty="0"/>
              <a:t>Central parallel  - latitude of origin</a:t>
            </a:r>
          </a:p>
          <a:p>
            <a:pPr marL="822960" indent="-342900">
              <a:buFont typeface="Wingdings" panose="05000000000000000000" pitchFamily="2" charset="2"/>
              <a:buChar char="ü"/>
              <a:defRPr/>
            </a:pPr>
            <a:r>
              <a:rPr lang="en-US" sz="2400" dirty="0"/>
              <a:t>Central meridian</a:t>
            </a:r>
          </a:p>
          <a:p>
            <a:pPr marL="822960" indent="-342900">
              <a:buFont typeface="Wingdings" panose="05000000000000000000" pitchFamily="2" charset="2"/>
              <a:buChar char="ü"/>
              <a:defRPr/>
            </a:pPr>
            <a:r>
              <a:rPr lang="en-US" sz="2400" dirty="0"/>
              <a:t>Can be different from standard line</a:t>
            </a:r>
          </a:p>
          <a:p>
            <a:pPr lvl="2">
              <a:buFontTx/>
              <a:buChar char="•"/>
              <a:defRPr/>
            </a:pPr>
            <a:endParaRPr lang="en-US" dirty="0"/>
          </a:p>
          <a:p>
            <a:pPr marL="285750" indent="-285750">
              <a:buFont typeface="Arial" panose="020B0604020202020204" pitchFamily="34" charset="0"/>
              <a:buChar char="•"/>
              <a:defRPr/>
            </a:pPr>
            <a:r>
              <a:rPr lang="en-US" sz="2800" dirty="0"/>
              <a:t>False Easting –   x- coordinate value</a:t>
            </a:r>
          </a:p>
          <a:p>
            <a:pPr marL="285750" indent="-285750">
              <a:buFont typeface="Arial" panose="020B0604020202020204" pitchFamily="34" charset="0"/>
              <a:buChar char="•"/>
              <a:defRPr/>
            </a:pPr>
            <a:r>
              <a:rPr lang="en-US" sz="2800" dirty="0"/>
              <a:t>False Northing –  y- coordinate value</a:t>
            </a:r>
          </a:p>
        </p:txBody>
      </p:sp>
    </p:spTree>
  </p:cSld>
  <p:clrMapOvr>
    <a:masterClrMapping/>
  </p:clrMapOvr>
  <p:transition spd="slow">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fade">
                                      <p:cBhvr>
                                        <p:cTn id="7" dur="500"/>
                                        <p:tgtEl>
                                          <p:spTgt spid="286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676">
                                            <p:txEl>
                                              <p:pRg st="1" end="1"/>
                                            </p:txEl>
                                          </p:spTgt>
                                        </p:tgtEl>
                                        <p:attrNameLst>
                                          <p:attrName>style.visibility</p:attrName>
                                        </p:attrNameLst>
                                      </p:cBhvr>
                                      <p:to>
                                        <p:strVal val="visible"/>
                                      </p:to>
                                    </p:set>
                                    <p:animEffect transition="in" filter="fade">
                                      <p:cBhvr>
                                        <p:cTn id="12" dur="500"/>
                                        <p:tgtEl>
                                          <p:spTgt spid="2867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676">
                                            <p:txEl>
                                              <p:pRg st="2" end="2"/>
                                            </p:txEl>
                                          </p:spTgt>
                                        </p:tgtEl>
                                        <p:attrNameLst>
                                          <p:attrName>style.visibility</p:attrName>
                                        </p:attrNameLst>
                                      </p:cBhvr>
                                      <p:to>
                                        <p:strVal val="visible"/>
                                      </p:to>
                                    </p:set>
                                    <p:animEffect transition="in" filter="fade">
                                      <p:cBhvr>
                                        <p:cTn id="17" dur="500"/>
                                        <p:tgtEl>
                                          <p:spTgt spid="2867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676">
                                            <p:txEl>
                                              <p:pRg st="3" end="3"/>
                                            </p:txEl>
                                          </p:spTgt>
                                        </p:tgtEl>
                                        <p:attrNameLst>
                                          <p:attrName>style.visibility</p:attrName>
                                        </p:attrNameLst>
                                      </p:cBhvr>
                                      <p:to>
                                        <p:strVal val="visible"/>
                                      </p:to>
                                    </p:set>
                                    <p:animEffect transition="in" filter="fade">
                                      <p:cBhvr>
                                        <p:cTn id="22" dur="500"/>
                                        <p:tgtEl>
                                          <p:spTgt spid="2867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676">
                                            <p:txEl>
                                              <p:pRg st="4" end="4"/>
                                            </p:txEl>
                                          </p:spTgt>
                                        </p:tgtEl>
                                        <p:attrNameLst>
                                          <p:attrName>style.visibility</p:attrName>
                                        </p:attrNameLst>
                                      </p:cBhvr>
                                      <p:to>
                                        <p:strVal val="visible"/>
                                      </p:to>
                                    </p:set>
                                    <p:animEffect transition="in" filter="fade">
                                      <p:cBhvr>
                                        <p:cTn id="27" dur="500"/>
                                        <p:tgtEl>
                                          <p:spTgt spid="2867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676">
                                            <p:txEl>
                                              <p:pRg st="5" end="5"/>
                                            </p:txEl>
                                          </p:spTgt>
                                        </p:tgtEl>
                                        <p:attrNameLst>
                                          <p:attrName>style.visibility</p:attrName>
                                        </p:attrNameLst>
                                      </p:cBhvr>
                                      <p:to>
                                        <p:strVal val="visible"/>
                                      </p:to>
                                    </p:set>
                                    <p:animEffect transition="in" filter="fade">
                                      <p:cBhvr>
                                        <p:cTn id="32" dur="500"/>
                                        <p:tgtEl>
                                          <p:spTgt spid="2867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676">
                                            <p:txEl>
                                              <p:pRg st="6" end="6"/>
                                            </p:txEl>
                                          </p:spTgt>
                                        </p:tgtEl>
                                        <p:attrNameLst>
                                          <p:attrName>style.visibility</p:attrName>
                                        </p:attrNameLst>
                                      </p:cBhvr>
                                      <p:to>
                                        <p:strVal val="visible"/>
                                      </p:to>
                                    </p:set>
                                    <p:animEffect transition="in" filter="fade">
                                      <p:cBhvr>
                                        <p:cTn id="37" dur="500"/>
                                        <p:tgtEl>
                                          <p:spTgt spid="2867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676">
                                            <p:txEl>
                                              <p:pRg st="7" end="7"/>
                                            </p:txEl>
                                          </p:spTgt>
                                        </p:tgtEl>
                                        <p:attrNameLst>
                                          <p:attrName>style.visibility</p:attrName>
                                        </p:attrNameLst>
                                      </p:cBhvr>
                                      <p:to>
                                        <p:strVal val="visible"/>
                                      </p:to>
                                    </p:set>
                                    <p:animEffect transition="in" filter="fade">
                                      <p:cBhvr>
                                        <p:cTn id="42" dur="500"/>
                                        <p:tgtEl>
                                          <p:spTgt spid="28676">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8676">
                                            <p:txEl>
                                              <p:pRg st="8" end="8"/>
                                            </p:txEl>
                                          </p:spTgt>
                                        </p:tgtEl>
                                        <p:attrNameLst>
                                          <p:attrName>style.visibility</p:attrName>
                                        </p:attrNameLst>
                                      </p:cBhvr>
                                      <p:to>
                                        <p:strVal val="visible"/>
                                      </p:to>
                                    </p:set>
                                    <p:animEffect transition="in" filter="fade">
                                      <p:cBhvr>
                                        <p:cTn id="47" dur="500"/>
                                        <p:tgtEl>
                                          <p:spTgt spid="28676">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676">
                                            <p:txEl>
                                              <p:pRg st="9" end="9"/>
                                            </p:txEl>
                                          </p:spTgt>
                                        </p:tgtEl>
                                        <p:attrNameLst>
                                          <p:attrName>style.visibility</p:attrName>
                                        </p:attrNameLst>
                                      </p:cBhvr>
                                      <p:to>
                                        <p:strVal val="visible"/>
                                      </p:to>
                                    </p:set>
                                    <p:animEffect transition="in" filter="fade">
                                      <p:cBhvr>
                                        <p:cTn id="52" dur="500"/>
                                        <p:tgtEl>
                                          <p:spTgt spid="28676">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676">
                                            <p:txEl>
                                              <p:pRg st="11" end="11"/>
                                            </p:txEl>
                                          </p:spTgt>
                                        </p:tgtEl>
                                        <p:attrNameLst>
                                          <p:attrName>style.visibility</p:attrName>
                                        </p:attrNameLst>
                                      </p:cBhvr>
                                      <p:to>
                                        <p:strVal val="visible"/>
                                      </p:to>
                                    </p:set>
                                    <p:animEffect transition="in" filter="fade">
                                      <p:cBhvr>
                                        <p:cTn id="57" dur="500"/>
                                        <p:tgtEl>
                                          <p:spTgt spid="28676">
                                            <p:txEl>
                                              <p:pRg st="11" end="1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676">
                                            <p:txEl>
                                              <p:pRg st="12" end="12"/>
                                            </p:txEl>
                                          </p:spTgt>
                                        </p:tgtEl>
                                        <p:attrNameLst>
                                          <p:attrName>style.visibility</p:attrName>
                                        </p:attrNameLst>
                                      </p:cBhvr>
                                      <p:to>
                                        <p:strVal val="visible"/>
                                      </p:to>
                                    </p:set>
                                    <p:animEffect transition="in" filter="fade">
                                      <p:cBhvr>
                                        <p:cTn id="62" dur="500"/>
                                        <p:tgtEl>
                                          <p:spTgt spid="2867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title"/>
          </p:nvPr>
        </p:nvSpPr>
        <p:spPr>
          <a:xfrm>
            <a:off x="1524000" y="225426"/>
            <a:ext cx="9144000" cy="1139825"/>
          </a:xfrm>
        </p:spPr>
        <p:txBody>
          <a:bodyPr vert="horz" lIns="90488" tIns="44450" rIns="90488" bIns="44450" rtlCol="0" anchor="ctr">
            <a:normAutofit/>
          </a:bodyPr>
          <a:lstStyle/>
          <a:p>
            <a:pPr>
              <a:defRPr/>
            </a:pPr>
            <a:r>
              <a:rPr lang="en-US" altLang="en-US" dirty="0" smtClean="0"/>
              <a:t>Map Projections Types</a:t>
            </a:r>
          </a:p>
        </p:txBody>
      </p:sp>
      <p:sp>
        <p:nvSpPr>
          <p:cNvPr id="77827" name="Rectangle 4"/>
          <p:cNvSpPr>
            <a:spLocks noChangeArrowheads="1"/>
          </p:cNvSpPr>
          <p:nvPr/>
        </p:nvSpPr>
        <p:spPr bwMode="auto">
          <a:xfrm>
            <a:off x="1919288" y="1773238"/>
            <a:ext cx="8172450" cy="3816350"/>
          </a:xfrm>
          <a:prstGeom prst="rect">
            <a:avLst/>
          </a:prstGeom>
          <a:solidFill>
            <a:srgbClr val="C2F8FE"/>
          </a:solidFill>
          <a:ln w="12700">
            <a:solidFill>
              <a:schemeClr val="tx1"/>
            </a:solidFill>
            <a:miter lim="800000"/>
            <a:headEnd/>
            <a:tailEnd/>
          </a:ln>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aphicFrame>
        <p:nvGraphicFramePr>
          <p:cNvPr id="77828" name="Object 2"/>
          <p:cNvGraphicFramePr>
            <a:graphicFrameLocks noChangeAspect="1"/>
          </p:cNvGraphicFramePr>
          <p:nvPr/>
        </p:nvGraphicFramePr>
        <p:xfrm>
          <a:off x="2389189" y="2097089"/>
          <a:ext cx="7413625" cy="2879725"/>
        </p:xfrm>
        <a:graphic>
          <a:graphicData uri="http://schemas.openxmlformats.org/presentationml/2006/ole">
            <mc:AlternateContent xmlns:mc="http://schemas.openxmlformats.org/markup-compatibility/2006">
              <mc:Choice xmlns:v="urn:schemas-microsoft-com:vml" Requires="v">
                <p:oleObj spid="_x0000_s3074" name="Picture" r:id="rId4" imgW="4706112" imgH="1828800" progId="Word.Picture.8">
                  <p:embed/>
                </p:oleObj>
              </mc:Choice>
              <mc:Fallback>
                <p:oleObj name="Picture" r:id="rId4" imgW="4706112" imgH="182880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9189" y="2097089"/>
                        <a:ext cx="74136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cover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1531939" y="171451"/>
            <a:ext cx="1544637" cy="3371251"/>
            <a:chOff x="7640" y="171248"/>
            <a:chExt cx="1544638" cy="3370862"/>
          </a:xfrm>
        </p:grpSpPr>
        <p:pic>
          <p:nvPicPr>
            <p:cNvPr id="79896" name="Picture 4" descr="cylinder"/>
            <p:cNvPicPr>
              <a:picLocks noChangeAspect="1" noChangeArrowheads="1"/>
            </p:cNvPicPr>
            <p:nvPr/>
          </p:nvPicPr>
          <p:blipFill>
            <a:blip r:embed="rId3">
              <a:extLst>
                <a:ext uri="{28A0092B-C50C-407E-A947-70E740481C1C}">
                  <a14:useLocalDpi xmlns:a14="http://schemas.microsoft.com/office/drawing/2010/main" val="0"/>
                </a:ext>
              </a:extLst>
            </a:blip>
            <a:srcRect l="25513" r="28091" b="10692"/>
            <a:stretch>
              <a:fillRect/>
            </a:stretch>
          </p:blipFill>
          <p:spPr bwMode="auto">
            <a:xfrm>
              <a:off x="7640" y="171248"/>
              <a:ext cx="154463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7" name="Text Box 12"/>
            <p:cNvSpPr txBox="1">
              <a:spLocks noChangeArrowheads="1"/>
            </p:cNvSpPr>
            <p:nvPr/>
          </p:nvSpPr>
          <p:spPr bwMode="auto">
            <a:xfrm>
              <a:off x="49213" y="3172821"/>
              <a:ext cx="1467069" cy="36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Cylindrical </a:t>
              </a:r>
            </a:p>
          </p:txBody>
        </p:sp>
      </p:grpSp>
      <p:grpSp>
        <p:nvGrpSpPr>
          <p:cNvPr id="3" name="Group 2"/>
          <p:cNvGrpSpPr>
            <a:grpSpLocks/>
          </p:cNvGrpSpPr>
          <p:nvPr/>
        </p:nvGrpSpPr>
        <p:grpSpPr bwMode="auto">
          <a:xfrm>
            <a:off x="3208338" y="469901"/>
            <a:ext cx="2971800" cy="2983969"/>
            <a:chOff x="1684040" y="469698"/>
            <a:chExt cx="2971800" cy="2984172"/>
          </a:xfrm>
        </p:grpSpPr>
        <p:pic>
          <p:nvPicPr>
            <p:cNvPr id="79894" name="Picture 7" descr="transcyl"/>
            <p:cNvPicPr>
              <a:picLocks noChangeAspect="1" noChangeArrowheads="1"/>
            </p:cNvPicPr>
            <p:nvPr/>
          </p:nvPicPr>
          <p:blipFill>
            <a:blip r:embed="rId4">
              <a:extLst>
                <a:ext uri="{28A0092B-C50C-407E-A947-70E740481C1C}">
                  <a14:useLocalDpi xmlns:a14="http://schemas.microsoft.com/office/drawing/2010/main" val="0"/>
                </a:ext>
              </a:extLst>
            </a:blip>
            <a:srcRect t="3555" b="21777"/>
            <a:stretch>
              <a:fillRect/>
            </a:stretch>
          </p:blipFill>
          <p:spPr bwMode="auto">
            <a:xfrm rot="-517358">
              <a:off x="1684040" y="469698"/>
              <a:ext cx="29718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5" name="Text Box 13"/>
            <p:cNvSpPr txBox="1">
              <a:spLocks noChangeArrowheads="1"/>
            </p:cNvSpPr>
            <p:nvPr/>
          </p:nvSpPr>
          <p:spPr bwMode="auto">
            <a:xfrm>
              <a:off x="1704975" y="3084513"/>
              <a:ext cx="2712794" cy="36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Transverse Cylindrical</a:t>
              </a:r>
            </a:p>
          </p:txBody>
        </p:sp>
      </p:grpSp>
      <p:grpSp>
        <p:nvGrpSpPr>
          <p:cNvPr id="4" name="Group 3"/>
          <p:cNvGrpSpPr>
            <a:grpSpLocks/>
          </p:cNvGrpSpPr>
          <p:nvPr/>
        </p:nvGrpSpPr>
        <p:grpSpPr bwMode="auto">
          <a:xfrm>
            <a:off x="6119814" y="247650"/>
            <a:ext cx="2651125" cy="3206750"/>
            <a:chOff x="4595812" y="247448"/>
            <a:chExt cx="2650828" cy="3206397"/>
          </a:xfrm>
        </p:grpSpPr>
        <p:pic>
          <p:nvPicPr>
            <p:cNvPr id="79892" name="Picture 5" descr="obliqcyl"/>
            <p:cNvPicPr>
              <a:picLocks noChangeAspect="1" noChangeArrowheads="1"/>
            </p:cNvPicPr>
            <p:nvPr/>
          </p:nvPicPr>
          <p:blipFill>
            <a:blip r:embed="rId5">
              <a:extLst>
                <a:ext uri="{28A0092B-C50C-407E-A947-70E740481C1C}">
                  <a14:useLocalDpi xmlns:a14="http://schemas.microsoft.com/office/drawing/2010/main" val="0"/>
                </a:ext>
              </a:extLst>
            </a:blip>
            <a:srcRect b="11429"/>
            <a:stretch>
              <a:fillRect/>
            </a:stretch>
          </p:blipFill>
          <p:spPr bwMode="auto">
            <a:xfrm>
              <a:off x="4655840" y="247448"/>
              <a:ext cx="2590800"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3" name="Text Box 14"/>
            <p:cNvSpPr txBox="1">
              <a:spLocks noChangeArrowheads="1"/>
            </p:cNvSpPr>
            <p:nvPr/>
          </p:nvSpPr>
          <p:spPr bwMode="auto">
            <a:xfrm>
              <a:off x="4595812" y="3084513"/>
              <a:ext cx="2555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Oblique Cylindrical</a:t>
              </a:r>
            </a:p>
          </p:txBody>
        </p:sp>
      </p:grpSp>
      <p:grpSp>
        <p:nvGrpSpPr>
          <p:cNvPr id="5" name="Group 4"/>
          <p:cNvGrpSpPr>
            <a:grpSpLocks/>
          </p:cNvGrpSpPr>
          <p:nvPr/>
        </p:nvGrpSpPr>
        <p:grpSpPr bwMode="auto">
          <a:xfrm>
            <a:off x="8472490" y="225426"/>
            <a:ext cx="2257349" cy="3166575"/>
            <a:chOff x="6947694" y="225425"/>
            <a:chExt cx="2258151" cy="3167168"/>
          </a:xfrm>
        </p:grpSpPr>
        <p:pic>
          <p:nvPicPr>
            <p:cNvPr id="79890" name="Picture 6" descr="scylin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8688" y="225425"/>
              <a:ext cx="19034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1" name="Text Box 15"/>
            <p:cNvSpPr txBox="1">
              <a:spLocks noChangeArrowheads="1"/>
            </p:cNvSpPr>
            <p:nvPr/>
          </p:nvSpPr>
          <p:spPr bwMode="auto">
            <a:xfrm>
              <a:off x="6947694" y="3023192"/>
              <a:ext cx="2258151" cy="36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solidFill>
                    <a:schemeClr val="hlink"/>
                  </a:solidFill>
                </a:rPr>
                <a:t>Secant Cylindrical</a:t>
              </a:r>
            </a:p>
          </p:txBody>
        </p:sp>
      </p:grpSp>
      <p:grpSp>
        <p:nvGrpSpPr>
          <p:cNvPr id="6" name="Group 5"/>
          <p:cNvGrpSpPr>
            <a:grpSpLocks/>
          </p:cNvGrpSpPr>
          <p:nvPr/>
        </p:nvGrpSpPr>
        <p:grpSpPr bwMode="auto">
          <a:xfrm>
            <a:off x="1524000" y="3657600"/>
            <a:ext cx="1747838" cy="3058558"/>
            <a:chOff x="0" y="3657600"/>
            <a:chExt cx="1747838" cy="3058558"/>
          </a:xfrm>
        </p:grpSpPr>
        <p:pic>
          <p:nvPicPr>
            <p:cNvPr id="79888" name="Picture 8" descr="cone"/>
            <p:cNvPicPr>
              <a:picLocks noChangeAspect="1" noChangeArrowheads="1"/>
            </p:cNvPicPr>
            <p:nvPr/>
          </p:nvPicPr>
          <p:blipFill>
            <a:blip r:embed="rId7">
              <a:extLst>
                <a:ext uri="{28A0092B-C50C-407E-A947-70E740481C1C}">
                  <a14:useLocalDpi xmlns:a14="http://schemas.microsoft.com/office/drawing/2010/main" val="0"/>
                </a:ext>
              </a:extLst>
            </a:blip>
            <a:srcRect l="20027" t="5554" r="16551" b="13889"/>
            <a:stretch>
              <a:fillRect/>
            </a:stretch>
          </p:blipFill>
          <p:spPr bwMode="auto">
            <a:xfrm>
              <a:off x="0" y="3657600"/>
              <a:ext cx="17478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9" name="Text Box 16"/>
            <p:cNvSpPr txBox="1">
              <a:spLocks noChangeArrowheads="1"/>
            </p:cNvSpPr>
            <p:nvPr/>
          </p:nvSpPr>
          <p:spPr bwMode="auto">
            <a:xfrm>
              <a:off x="203200" y="6346826"/>
              <a:ext cx="1018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Conical</a:t>
              </a:r>
            </a:p>
          </p:txBody>
        </p:sp>
      </p:grpSp>
      <p:grpSp>
        <p:nvGrpSpPr>
          <p:cNvPr id="7" name="Group 6"/>
          <p:cNvGrpSpPr>
            <a:grpSpLocks/>
          </p:cNvGrpSpPr>
          <p:nvPr/>
        </p:nvGrpSpPr>
        <p:grpSpPr bwMode="auto">
          <a:xfrm>
            <a:off x="3868739" y="3505200"/>
            <a:ext cx="1890261" cy="3279132"/>
            <a:chOff x="2345233" y="3505200"/>
            <a:chExt cx="1889734" cy="3278338"/>
          </a:xfrm>
        </p:grpSpPr>
        <p:pic>
          <p:nvPicPr>
            <p:cNvPr id="79886" name="Picture 10" descr="scone"/>
            <p:cNvPicPr>
              <a:picLocks noChangeAspect="1" noChangeArrowheads="1"/>
            </p:cNvPicPr>
            <p:nvPr/>
          </p:nvPicPr>
          <p:blipFill>
            <a:blip r:embed="rId8">
              <a:extLst>
                <a:ext uri="{28A0092B-C50C-407E-A947-70E740481C1C}">
                  <a14:useLocalDpi xmlns:a14="http://schemas.microsoft.com/office/drawing/2010/main" val="0"/>
                </a:ext>
              </a:extLst>
            </a:blip>
            <a:srcRect l="17647" t="2777" r="18823" b="11111"/>
            <a:stretch>
              <a:fillRect/>
            </a:stretch>
          </p:blipFill>
          <p:spPr bwMode="auto">
            <a:xfrm>
              <a:off x="2438400" y="3505200"/>
              <a:ext cx="168116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7" name="Text Box 17"/>
            <p:cNvSpPr txBox="1">
              <a:spLocks noChangeArrowheads="1"/>
            </p:cNvSpPr>
            <p:nvPr/>
          </p:nvSpPr>
          <p:spPr bwMode="auto">
            <a:xfrm>
              <a:off x="2345233" y="6414295"/>
              <a:ext cx="1889734" cy="369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solidFill>
                    <a:schemeClr val="hlink"/>
                  </a:solidFill>
                </a:rPr>
                <a:t>Secant Conical</a:t>
              </a:r>
            </a:p>
          </p:txBody>
        </p:sp>
      </p:grpSp>
      <p:grpSp>
        <p:nvGrpSpPr>
          <p:cNvPr id="8" name="Group 7"/>
          <p:cNvGrpSpPr>
            <a:grpSpLocks/>
          </p:cNvGrpSpPr>
          <p:nvPr/>
        </p:nvGrpSpPr>
        <p:grpSpPr bwMode="auto">
          <a:xfrm>
            <a:off x="6103939" y="3581400"/>
            <a:ext cx="2460930" cy="3183970"/>
            <a:chOff x="4580036" y="3581400"/>
            <a:chExt cx="2460820" cy="3183970"/>
          </a:xfrm>
        </p:grpSpPr>
        <p:pic>
          <p:nvPicPr>
            <p:cNvPr id="79884" name="Picture 9" descr="plane"/>
            <p:cNvPicPr>
              <a:picLocks noChangeAspect="1" noChangeArrowheads="1"/>
            </p:cNvPicPr>
            <p:nvPr/>
          </p:nvPicPr>
          <p:blipFill>
            <a:blip r:embed="rId9">
              <a:extLst>
                <a:ext uri="{28A0092B-C50C-407E-A947-70E740481C1C}">
                  <a14:useLocalDpi xmlns:a14="http://schemas.microsoft.com/office/drawing/2010/main" val="0"/>
                </a:ext>
              </a:extLst>
            </a:blip>
            <a:srcRect l="16690" t="2777" r="13213" b="19444"/>
            <a:stretch>
              <a:fillRect/>
            </a:stretch>
          </p:blipFill>
          <p:spPr bwMode="auto">
            <a:xfrm>
              <a:off x="4724400" y="3581400"/>
              <a:ext cx="2057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5" name="Text Box 18"/>
            <p:cNvSpPr txBox="1">
              <a:spLocks noChangeArrowheads="1"/>
            </p:cNvSpPr>
            <p:nvPr/>
          </p:nvSpPr>
          <p:spPr bwMode="auto">
            <a:xfrm>
              <a:off x="4580036" y="6396038"/>
              <a:ext cx="246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Azimuthal or Planar</a:t>
              </a:r>
            </a:p>
          </p:txBody>
        </p:sp>
      </p:grpSp>
      <p:grpSp>
        <p:nvGrpSpPr>
          <p:cNvPr id="9" name="Group 8"/>
          <p:cNvGrpSpPr>
            <a:grpSpLocks/>
          </p:cNvGrpSpPr>
          <p:nvPr/>
        </p:nvGrpSpPr>
        <p:grpSpPr bwMode="auto">
          <a:xfrm>
            <a:off x="8821739" y="3429001"/>
            <a:ext cx="1779654" cy="3417333"/>
            <a:chOff x="7298233" y="3429000"/>
            <a:chExt cx="1779092" cy="3417332"/>
          </a:xfrm>
        </p:grpSpPr>
        <p:pic>
          <p:nvPicPr>
            <p:cNvPr id="79882" name="Picture 11" descr="splane"/>
            <p:cNvPicPr>
              <a:picLocks noChangeAspect="1" noChangeArrowheads="1"/>
            </p:cNvPicPr>
            <p:nvPr/>
          </p:nvPicPr>
          <p:blipFill>
            <a:blip r:embed="rId10">
              <a:extLst>
                <a:ext uri="{28A0092B-C50C-407E-A947-70E740481C1C}">
                  <a14:useLocalDpi xmlns:a14="http://schemas.microsoft.com/office/drawing/2010/main" val="0"/>
                </a:ext>
              </a:extLst>
            </a:blip>
            <a:srcRect l="25050" t="2563" r="26070" b="17949"/>
            <a:stretch>
              <a:fillRect/>
            </a:stretch>
          </p:blipFill>
          <p:spPr bwMode="auto">
            <a:xfrm>
              <a:off x="7391400" y="3429000"/>
              <a:ext cx="14747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3" name="Text Box 19"/>
            <p:cNvSpPr txBox="1">
              <a:spLocks noChangeArrowheads="1"/>
            </p:cNvSpPr>
            <p:nvPr/>
          </p:nvSpPr>
          <p:spPr bwMode="auto">
            <a:xfrm>
              <a:off x="7298233" y="6477000"/>
              <a:ext cx="17790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solidFill>
                    <a:schemeClr val="hlink"/>
                  </a:solidFill>
                </a:rPr>
                <a:t>Secant Planar</a:t>
              </a:r>
            </a:p>
          </p:txBody>
        </p:sp>
      </p:gr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randombar(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randombar(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randombar(horizont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title"/>
          </p:nvPr>
        </p:nvSpPr>
        <p:spPr>
          <a:xfrm>
            <a:off x="1512888" y="82551"/>
            <a:ext cx="9144001" cy="1139825"/>
          </a:xfrm>
        </p:spPr>
        <p:txBody>
          <a:bodyPr vert="horz" lIns="90488" tIns="44450" rIns="90488" bIns="44450" rtlCol="0" anchor="ctr">
            <a:normAutofit/>
          </a:bodyPr>
          <a:lstStyle/>
          <a:p>
            <a:pPr>
              <a:defRPr/>
            </a:pPr>
            <a:r>
              <a:rPr lang="en-US" altLang="en-US" dirty="0" smtClean="0"/>
              <a:t>Map Projections Types</a:t>
            </a:r>
          </a:p>
        </p:txBody>
      </p:sp>
      <p:pic>
        <p:nvPicPr>
          <p:cNvPr id="7" name="Picture 6" descr="Cylindrical projection - equatorial asp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800" y="1219201"/>
            <a:ext cx="4211638"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Cylindrical projection - transverse and oblique asp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1638" y="1219200"/>
            <a:ext cx="3429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Cylindrical projection - transverse and oblique aspec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3225" y="4670425"/>
            <a:ext cx="4979988"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ylindrical projection - transverse and oblique aspec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4825" y="3716339"/>
            <a:ext cx="3600450"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81200" y="1"/>
            <a:ext cx="8229600" cy="944563"/>
          </a:xfrm>
        </p:spPr>
        <p:txBody>
          <a:bodyPr/>
          <a:lstStyle/>
          <a:p>
            <a:pPr>
              <a:defRPr/>
            </a:pPr>
            <a:r>
              <a:rPr lang="de-DE" altLang="en-US" dirty="0"/>
              <a:t>Types of projections</a:t>
            </a:r>
          </a:p>
        </p:txBody>
      </p:sp>
      <p:sp>
        <p:nvSpPr>
          <p:cNvPr id="50179" name="Rectangle 3"/>
          <p:cNvSpPr>
            <a:spLocks noGrp="1" noChangeArrowheads="1"/>
          </p:cNvSpPr>
          <p:nvPr>
            <p:ph type="body" idx="1"/>
          </p:nvPr>
        </p:nvSpPr>
        <p:spPr>
          <a:xfrm>
            <a:off x="1685925" y="1089025"/>
            <a:ext cx="8820150" cy="5151438"/>
          </a:xfrm>
        </p:spPr>
        <p:txBody>
          <a:bodyPr>
            <a:normAutofit lnSpcReduction="10000"/>
          </a:bodyPr>
          <a:lstStyle/>
          <a:p>
            <a:pPr>
              <a:spcAft>
                <a:spcPts val="600"/>
              </a:spcAft>
              <a:defRPr/>
            </a:pPr>
            <a:r>
              <a:rPr lang="de-DE" altLang="en-US" dirty="0"/>
              <a:t>Important types of projections are:</a:t>
            </a:r>
          </a:p>
          <a:p>
            <a:pPr marL="822960">
              <a:spcAft>
                <a:spcPts val="600"/>
              </a:spcAft>
              <a:buFont typeface="Wingdings" panose="05000000000000000000" pitchFamily="2" charset="2"/>
              <a:buChar char="§"/>
              <a:defRPr/>
            </a:pPr>
            <a:r>
              <a:rPr lang="de-DE" altLang="en-US" sz="2400" u="sng" dirty="0"/>
              <a:t>planisphere</a:t>
            </a:r>
            <a:r>
              <a:rPr lang="de-DE" altLang="en-US" sz="2400" dirty="0"/>
              <a:t>:</a:t>
            </a:r>
            <a:r>
              <a:rPr lang="de-DE" altLang="en-US" sz="2400" u="sng" dirty="0"/>
              <a:t> </a:t>
            </a:r>
          </a:p>
          <a:p>
            <a:pPr marL="1280160">
              <a:spcAft>
                <a:spcPts val="600"/>
              </a:spcAft>
              <a:buFont typeface="Wingdings" panose="05000000000000000000" pitchFamily="2" charset="2"/>
              <a:buChar char="ü"/>
              <a:defRPr/>
            </a:pPr>
            <a:r>
              <a:rPr lang="de-DE" altLang="en-US" sz="2400" dirty="0"/>
              <a:t>whole earth is “unwrapped“ onto a plane one way or another</a:t>
            </a:r>
          </a:p>
          <a:p>
            <a:pPr marL="822960">
              <a:spcAft>
                <a:spcPts val="600"/>
              </a:spcAft>
              <a:buFont typeface="Wingdings" panose="05000000000000000000" pitchFamily="2" charset="2"/>
              <a:buChar char="§"/>
              <a:defRPr/>
            </a:pPr>
            <a:r>
              <a:rPr lang="de-DE" altLang="en-US" sz="2400" u="sng" dirty="0"/>
              <a:t>azimutal</a:t>
            </a:r>
            <a:r>
              <a:rPr lang="de-DE" altLang="en-US" sz="2400" dirty="0"/>
              <a:t>: </a:t>
            </a:r>
          </a:p>
          <a:p>
            <a:pPr marL="1280160">
              <a:spcAft>
                <a:spcPts val="600"/>
              </a:spcAft>
              <a:buFont typeface="Wingdings" panose="05000000000000000000" pitchFamily="2" charset="2"/>
              <a:buChar char="ü"/>
              <a:defRPr/>
            </a:pPr>
            <a:r>
              <a:rPr lang="de-DE" altLang="en-US" sz="2400" dirty="0"/>
              <a:t>part of earth‘s surface is projected onto a plane</a:t>
            </a:r>
          </a:p>
          <a:p>
            <a:pPr marL="822960">
              <a:spcAft>
                <a:spcPts val="600"/>
              </a:spcAft>
              <a:buFont typeface="Wingdings" panose="05000000000000000000" pitchFamily="2" charset="2"/>
              <a:buChar char="§"/>
              <a:defRPr/>
            </a:pPr>
            <a:r>
              <a:rPr lang="de-DE" altLang="en-US" sz="2400" u="sng" dirty="0"/>
              <a:t>conical</a:t>
            </a:r>
            <a:r>
              <a:rPr lang="de-DE" altLang="en-US" sz="2400" dirty="0"/>
              <a:t>: </a:t>
            </a:r>
          </a:p>
          <a:p>
            <a:pPr marL="1280160">
              <a:spcAft>
                <a:spcPts val="600"/>
              </a:spcAft>
              <a:buFont typeface="Wingdings" panose="05000000000000000000" pitchFamily="2" charset="2"/>
              <a:buChar char="ü"/>
              <a:defRPr/>
            </a:pPr>
            <a:r>
              <a:rPr lang="de-DE" altLang="en-US" sz="2400" dirty="0"/>
              <a:t>part of earth‘s surface is projected onto a conical shape and then flattened</a:t>
            </a:r>
          </a:p>
          <a:p>
            <a:pPr marL="822960">
              <a:spcAft>
                <a:spcPts val="600"/>
              </a:spcAft>
              <a:buFont typeface="Wingdings" panose="05000000000000000000" pitchFamily="2" charset="2"/>
              <a:buChar char="§"/>
              <a:defRPr/>
            </a:pPr>
            <a:r>
              <a:rPr lang="de-DE" altLang="en-US" sz="2400" u="sng" dirty="0"/>
              <a:t>cylindrical</a:t>
            </a:r>
            <a:r>
              <a:rPr lang="de-DE" altLang="en-US" sz="2400" dirty="0"/>
              <a:t>: </a:t>
            </a:r>
          </a:p>
          <a:p>
            <a:pPr marL="1280160">
              <a:spcAft>
                <a:spcPts val="600"/>
              </a:spcAft>
              <a:buFont typeface="Wingdings" panose="05000000000000000000" pitchFamily="2" charset="2"/>
              <a:buChar char="ü"/>
              <a:defRPr/>
            </a:pPr>
            <a:r>
              <a:rPr lang="de-DE" altLang="en-US" sz="2400" dirty="0"/>
              <a:t>same thing with a cylindrical shape</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fade">
                                      <p:cBhvr>
                                        <p:cTn id="7" dur="500"/>
                                        <p:tgtEl>
                                          <p:spTgt spid="50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9">
                                            <p:txEl>
                                              <p:pRg st="1" end="1"/>
                                            </p:txEl>
                                          </p:spTgt>
                                        </p:tgtEl>
                                        <p:attrNameLst>
                                          <p:attrName>style.visibility</p:attrName>
                                        </p:attrNameLst>
                                      </p:cBhvr>
                                      <p:to>
                                        <p:strVal val="visible"/>
                                      </p:to>
                                    </p:set>
                                    <p:animEffect transition="in" filter="fade">
                                      <p:cBhvr>
                                        <p:cTn id="12" dur="500"/>
                                        <p:tgtEl>
                                          <p:spTgt spid="501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79">
                                            <p:txEl>
                                              <p:pRg st="2" end="2"/>
                                            </p:txEl>
                                          </p:spTgt>
                                        </p:tgtEl>
                                        <p:attrNameLst>
                                          <p:attrName>style.visibility</p:attrName>
                                        </p:attrNameLst>
                                      </p:cBhvr>
                                      <p:to>
                                        <p:strVal val="visible"/>
                                      </p:to>
                                    </p:set>
                                    <p:animEffect transition="in" filter="fade">
                                      <p:cBhvr>
                                        <p:cTn id="17" dur="500"/>
                                        <p:tgtEl>
                                          <p:spTgt spid="501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179">
                                            <p:txEl>
                                              <p:pRg st="3" end="3"/>
                                            </p:txEl>
                                          </p:spTgt>
                                        </p:tgtEl>
                                        <p:attrNameLst>
                                          <p:attrName>style.visibility</p:attrName>
                                        </p:attrNameLst>
                                      </p:cBhvr>
                                      <p:to>
                                        <p:strVal val="visible"/>
                                      </p:to>
                                    </p:set>
                                    <p:animEffect transition="in" filter="fade">
                                      <p:cBhvr>
                                        <p:cTn id="22" dur="500"/>
                                        <p:tgtEl>
                                          <p:spTgt spid="501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179">
                                            <p:txEl>
                                              <p:pRg st="4" end="4"/>
                                            </p:txEl>
                                          </p:spTgt>
                                        </p:tgtEl>
                                        <p:attrNameLst>
                                          <p:attrName>style.visibility</p:attrName>
                                        </p:attrNameLst>
                                      </p:cBhvr>
                                      <p:to>
                                        <p:strVal val="visible"/>
                                      </p:to>
                                    </p:set>
                                    <p:animEffect transition="in" filter="fade">
                                      <p:cBhvr>
                                        <p:cTn id="27" dur="500"/>
                                        <p:tgtEl>
                                          <p:spTgt spid="501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179">
                                            <p:txEl>
                                              <p:pRg st="5" end="5"/>
                                            </p:txEl>
                                          </p:spTgt>
                                        </p:tgtEl>
                                        <p:attrNameLst>
                                          <p:attrName>style.visibility</p:attrName>
                                        </p:attrNameLst>
                                      </p:cBhvr>
                                      <p:to>
                                        <p:strVal val="visible"/>
                                      </p:to>
                                    </p:set>
                                    <p:animEffect transition="in" filter="fade">
                                      <p:cBhvr>
                                        <p:cTn id="32" dur="500"/>
                                        <p:tgtEl>
                                          <p:spTgt spid="5017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179">
                                            <p:txEl>
                                              <p:pRg st="6" end="6"/>
                                            </p:txEl>
                                          </p:spTgt>
                                        </p:tgtEl>
                                        <p:attrNameLst>
                                          <p:attrName>style.visibility</p:attrName>
                                        </p:attrNameLst>
                                      </p:cBhvr>
                                      <p:to>
                                        <p:strVal val="visible"/>
                                      </p:to>
                                    </p:set>
                                    <p:animEffect transition="in" filter="fade">
                                      <p:cBhvr>
                                        <p:cTn id="37" dur="500"/>
                                        <p:tgtEl>
                                          <p:spTgt spid="5017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0179">
                                            <p:txEl>
                                              <p:pRg st="7" end="7"/>
                                            </p:txEl>
                                          </p:spTgt>
                                        </p:tgtEl>
                                        <p:attrNameLst>
                                          <p:attrName>style.visibility</p:attrName>
                                        </p:attrNameLst>
                                      </p:cBhvr>
                                      <p:to>
                                        <p:strVal val="visible"/>
                                      </p:to>
                                    </p:set>
                                    <p:animEffect transition="in" filter="fade">
                                      <p:cBhvr>
                                        <p:cTn id="42" dur="500"/>
                                        <p:tgtEl>
                                          <p:spTgt spid="5017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0179">
                                            <p:txEl>
                                              <p:pRg st="8" end="8"/>
                                            </p:txEl>
                                          </p:spTgt>
                                        </p:tgtEl>
                                        <p:attrNameLst>
                                          <p:attrName>style.visibility</p:attrName>
                                        </p:attrNameLst>
                                      </p:cBhvr>
                                      <p:to>
                                        <p:strVal val="visible"/>
                                      </p:to>
                                    </p:set>
                                    <p:animEffect transition="in" filter="fade">
                                      <p:cBhvr>
                                        <p:cTn id="47" dur="500"/>
                                        <p:tgtEl>
                                          <p:spTgt spid="501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524000" y="1589"/>
            <a:ext cx="9144000" cy="1139825"/>
          </a:xfrm>
        </p:spPr>
        <p:txBody>
          <a:bodyPr/>
          <a:lstStyle/>
          <a:p>
            <a:pPr>
              <a:defRPr/>
            </a:pPr>
            <a:r>
              <a:rPr lang="de-DE" altLang="en-US" dirty="0" smtClean="0"/>
              <a:t>Spatial Reference</a:t>
            </a:r>
            <a:endParaRPr lang="de-DE" altLang="en-US" dirty="0"/>
          </a:p>
        </p:txBody>
      </p:sp>
      <p:sp>
        <p:nvSpPr>
          <p:cNvPr id="3075" name="Rectangle 3"/>
          <p:cNvSpPr>
            <a:spLocks noGrp="1" noChangeArrowheads="1"/>
          </p:cNvSpPr>
          <p:nvPr>
            <p:ph type="body" idx="1"/>
          </p:nvPr>
        </p:nvSpPr>
        <p:spPr>
          <a:xfrm>
            <a:off x="1666875" y="1141414"/>
            <a:ext cx="6445250" cy="4954587"/>
          </a:xfrm>
        </p:spPr>
        <p:txBody>
          <a:bodyPr/>
          <a:lstStyle/>
          <a:p>
            <a:pPr>
              <a:spcAft>
                <a:spcPts val="1200"/>
              </a:spcAft>
            </a:pPr>
            <a:r>
              <a:rPr lang="de-DE" altLang="en-US"/>
              <a:t>Every spatial feature needs to be referenced to a location for GIS use.</a:t>
            </a:r>
          </a:p>
          <a:p>
            <a:pPr>
              <a:spcAft>
                <a:spcPts val="1200"/>
              </a:spcAft>
            </a:pPr>
            <a:r>
              <a:rPr lang="de-DE" altLang="en-US"/>
              <a:t>Spatial reference systems provide a framework to define positions on the Earth‘s surface.</a:t>
            </a:r>
          </a:p>
          <a:p>
            <a:pPr>
              <a:spcAft>
                <a:spcPts val="1200"/>
              </a:spcAft>
            </a:pPr>
            <a:r>
              <a:rPr lang="de-DE" altLang="en-US"/>
              <a:t>We are used to working with coordinate systems, but due to the Earth‘s irregular, spherical shape this can become intricate.</a:t>
            </a:r>
          </a:p>
        </p:txBody>
      </p:sp>
      <p:pic>
        <p:nvPicPr>
          <p:cNvPr id="4" name="Picture 4" descr="G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814" y="1130300"/>
            <a:ext cx="2378075"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ecefxyz"/>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9275" y="4103689"/>
            <a:ext cx="2362200"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fade">
                                      <p:cBhvr>
                                        <p:cTn id="12" dur="500"/>
                                        <p:tgtEl>
                                          <p:spTgt spid="3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fade">
                                      <p:cBhvr>
                                        <p:cTn id="17" dur="500"/>
                                        <p:tgtEl>
                                          <p:spTgt spid="3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a:xfrm>
            <a:off x="1524000" y="287339"/>
            <a:ext cx="9144000" cy="942975"/>
          </a:xfrm>
        </p:spPr>
        <p:txBody>
          <a:bodyPr/>
          <a:lstStyle/>
          <a:p>
            <a:pPr>
              <a:defRPr/>
            </a:pPr>
            <a:r>
              <a:rPr lang="de-DE" altLang="en-US" dirty="0" smtClean="0"/>
              <a:t>Spatial </a:t>
            </a:r>
            <a:r>
              <a:rPr lang="de-DE" altLang="en-US" dirty="0"/>
              <a:t>Reference </a:t>
            </a:r>
            <a:r>
              <a:rPr lang="de-DE" altLang="en-US" dirty="0" smtClean="0"/>
              <a:t>Systems</a:t>
            </a:r>
            <a:endParaRPr lang="de-DE" altLang="en-US" dirty="0"/>
          </a:p>
        </p:txBody>
      </p:sp>
      <p:sp>
        <p:nvSpPr>
          <p:cNvPr id="34819" name="Rectangle 1027"/>
          <p:cNvSpPr>
            <a:spLocks noGrp="1" noChangeArrowheads="1"/>
          </p:cNvSpPr>
          <p:nvPr>
            <p:ph type="body" idx="1"/>
          </p:nvPr>
        </p:nvSpPr>
        <p:spPr>
          <a:xfrm>
            <a:off x="1981200" y="1376363"/>
            <a:ext cx="8229600" cy="5186362"/>
          </a:xfrm>
        </p:spPr>
        <p:txBody>
          <a:bodyPr/>
          <a:lstStyle/>
          <a:p>
            <a:pPr>
              <a:spcAft>
                <a:spcPts val="1200"/>
              </a:spcAft>
              <a:defRPr/>
            </a:pPr>
            <a:r>
              <a:rPr lang="de-DE" altLang="en-US" dirty="0"/>
              <a:t>Clear definition scheme required for geodata exchange and interoperability</a:t>
            </a:r>
          </a:p>
          <a:p>
            <a:pPr>
              <a:spcAft>
                <a:spcPts val="1200"/>
              </a:spcAft>
              <a:defRPr/>
            </a:pPr>
            <a:r>
              <a:rPr lang="de-DE" altLang="en-US" dirty="0"/>
              <a:t>This description needs to be coupled to geodata by sets of metadata</a:t>
            </a:r>
          </a:p>
          <a:p>
            <a:pPr marL="822960">
              <a:spcAft>
                <a:spcPts val="1200"/>
              </a:spcAft>
              <a:buFont typeface="Wingdings" panose="05000000000000000000" pitchFamily="2" charset="2"/>
              <a:buChar char="ü"/>
              <a:defRPr/>
            </a:pPr>
            <a:r>
              <a:rPr lang="de-DE" altLang="en-US" sz="2400" dirty="0"/>
              <a:t>to permit flexible georeferenced visualization</a:t>
            </a:r>
          </a:p>
          <a:p>
            <a:pPr marL="822960">
              <a:spcAft>
                <a:spcPts val="1200"/>
              </a:spcAft>
              <a:buFont typeface="Wingdings" panose="05000000000000000000" pitchFamily="2" charset="2"/>
              <a:buChar char="ü"/>
              <a:defRPr/>
            </a:pPr>
            <a:r>
              <a:rPr lang="de-DE" altLang="en-US" sz="2400" dirty="0"/>
              <a:t>to permit correct measurements</a:t>
            </a:r>
          </a:p>
          <a:p>
            <a:pPr marL="822960">
              <a:spcAft>
                <a:spcPts val="1200"/>
              </a:spcAft>
              <a:buFont typeface="Wingdings" panose="05000000000000000000" pitchFamily="2" charset="2"/>
              <a:buChar char="ü"/>
              <a:defRPr/>
            </a:pPr>
            <a:r>
              <a:rPr lang="de-DE" altLang="en-US" sz="2400" dirty="0"/>
              <a:t>to permit operations between datasets based on different reference systems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50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500"/>
                                        <p:tgtEl>
                                          <p:spTgt spid="34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fade">
                                      <p:cBhvr>
                                        <p:cTn id="17" dur="500"/>
                                        <p:tgtEl>
                                          <p:spTgt spid="34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fade">
                                      <p:cBhvr>
                                        <p:cTn id="22" dur="500"/>
                                        <p:tgtEl>
                                          <p:spTgt spid="348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fade">
                                      <p:cBhvr>
                                        <p:cTn id="27"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524000" y="201614"/>
            <a:ext cx="9144000" cy="1139825"/>
          </a:xfrm>
        </p:spPr>
        <p:txBody>
          <a:bodyPr/>
          <a:lstStyle/>
          <a:p>
            <a:pPr>
              <a:defRPr/>
            </a:pPr>
            <a:r>
              <a:rPr lang="de-DE" altLang="en-US" dirty="0"/>
              <a:t>Local vs global referencing</a:t>
            </a:r>
          </a:p>
        </p:txBody>
      </p:sp>
      <p:sp>
        <p:nvSpPr>
          <p:cNvPr id="36867" name="Rectangle 3"/>
          <p:cNvSpPr>
            <a:spLocks noGrp="1" noChangeArrowheads="1"/>
          </p:cNvSpPr>
          <p:nvPr>
            <p:ph type="body" idx="1"/>
          </p:nvPr>
        </p:nvSpPr>
        <p:spPr>
          <a:xfrm>
            <a:off x="1919288" y="1341439"/>
            <a:ext cx="8291512" cy="4789487"/>
          </a:xfrm>
        </p:spPr>
        <p:txBody>
          <a:bodyPr/>
          <a:lstStyle/>
          <a:p>
            <a:pPr>
              <a:spcAft>
                <a:spcPts val="1200"/>
              </a:spcAft>
              <a:defRPr/>
            </a:pPr>
            <a:r>
              <a:rPr lang="de-DE" altLang="en-US" dirty="0"/>
              <a:t>Local coordinate systems used to be sufficient for some maps and plans:</a:t>
            </a:r>
          </a:p>
          <a:p>
            <a:pPr marL="822960">
              <a:spcAft>
                <a:spcPts val="1200"/>
              </a:spcAft>
              <a:buFont typeface="Wingdings" panose="05000000000000000000" pitchFamily="2" charset="2"/>
              <a:buChar char="ü"/>
              <a:defRPr/>
            </a:pPr>
            <a:r>
              <a:rPr lang="de-DE" altLang="en-US" sz="2400" dirty="0"/>
              <a:t>local origin with no given global reference</a:t>
            </a:r>
          </a:p>
          <a:p>
            <a:pPr marL="822960">
              <a:spcAft>
                <a:spcPts val="1200"/>
              </a:spcAft>
              <a:buFont typeface="Wingdings" panose="05000000000000000000" pitchFamily="2" charset="2"/>
              <a:buChar char="ü"/>
              <a:defRPr/>
            </a:pPr>
            <a:r>
              <a:rPr lang="de-DE" altLang="en-US" sz="2400" dirty="0"/>
              <a:t>mostly cartesian systems, no projection info</a:t>
            </a:r>
          </a:p>
          <a:p>
            <a:pPr>
              <a:spcAft>
                <a:spcPts val="1200"/>
              </a:spcAft>
              <a:defRPr/>
            </a:pPr>
            <a:r>
              <a:rPr lang="de-DE" altLang="en-US" dirty="0"/>
              <a:t>Universal interoperability is only feasible within globally unequivocal reference systems</a:t>
            </a:r>
          </a:p>
          <a:p>
            <a:pPr>
              <a:spcAft>
                <a:spcPts val="1200"/>
              </a:spcAft>
              <a:defRPr/>
            </a:pPr>
            <a:r>
              <a:rPr lang="de-DE" altLang="en-US" dirty="0"/>
              <a:t>DO NOT USE LOCAL SYSTEMS!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fade">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fade">
                                      <p:cBhvr>
                                        <p:cTn id="12" dur="500"/>
                                        <p:tgtEl>
                                          <p:spTgt spid="36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fade">
                                      <p:cBhvr>
                                        <p:cTn id="17" dur="500"/>
                                        <p:tgtEl>
                                          <p:spTgt spid="36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fade">
                                      <p:cBhvr>
                                        <p:cTn id="22" dur="500"/>
                                        <p:tgtEl>
                                          <p:spTgt spid="36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fade">
                                      <p:cBhvr>
                                        <p:cTn id="27" dur="500"/>
                                        <p:tgtEl>
                                          <p:spTgt spid="368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a:xfrm>
            <a:off x="1524000" y="1"/>
            <a:ext cx="9144000" cy="1139825"/>
          </a:xfrm>
        </p:spPr>
        <p:txBody>
          <a:bodyPr/>
          <a:lstStyle/>
          <a:p>
            <a:pPr>
              <a:defRPr/>
            </a:pPr>
            <a:r>
              <a:rPr lang="de-DE" altLang="en-US" dirty="0"/>
              <a:t>Coordinate </a:t>
            </a:r>
            <a:r>
              <a:rPr lang="de-DE" altLang="en-US" dirty="0" smtClean="0"/>
              <a:t>systems</a:t>
            </a:r>
            <a:endParaRPr lang="de-DE" altLang="en-US" dirty="0"/>
          </a:p>
        </p:txBody>
      </p:sp>
      <p:sp>
        <p:nvSpPr>
          <p:cNvPr id="22531" name="Rectangle 1027"/>
          <p:cNvSpPr>
            <a:spLocks noGrp="1" noChangeArrowheads="1"/>
          </p:cNvSpPr>
          <p:nvPr>
            <p:ph type="body" idx="1"/>
          </p:nvPr>
        </p:nvSpPr>
        <p:spPr>
          <a:xfrm>
            <a:off x="1649414" y="1125539"/>
            <a:ext cx="8893175" cy="4791075"/>
          </a:xfrm>
        </p:spPr>
        <p:txBody>
          <a:bodyPr/>
          <a:lstStyle/>
          <a:p>
            <a:pPr>
              <a:spcAft>
                <a:spcPts val="1200"/>
              </a:spcAft>
              <a:defRPr/>
            </a:pPr>
            <a:r>
              <a:rPr lang="de-DE" altLang="en-US" b="0" dirty="0"/>
              <a:t>Rules for identifying the position of each point in space by an ordered set of numbers:</a:t>
            </a:r>
          </a:p>
          <a:p>
            <a:pPr>
              <a:spcAft>
                <a:spcPts val="1200"/>
              </a:spcAft>
              <a:defRPr/>
            </a:pPr>
            <a:r>
              <a:rPr lang="de-DE" altLang="en-US" b="0" dirty="0" smtClean="0"/>
              <a:t>Systems:</a:t>
            </a:r>
          </a:p>
          <a:p>
            <a:pPr marL="822960">
              <a:spcAft>
                <a:spcPts val="1200"/>
              </a:spcAft>
              <a:buFont typeface="Wingdings" panose="05000000000000000000" pitchFamily="2" charset="2"/>
              <a:buChar char="ü"/>
              <a:defRPr/>
            </a:pPr>
            <a:r>
              <a:rPr lang="de-DE" altLang="en-US" sz="2400" dirty="0"/>
              <a:t>Cartesian: coordinate values locate a point in relation to mutually perpendicular axes</a:t>
            </a:r>
          </a:p>
          <a:p>
            <a:pPr marL="822960">
              <a:spcAft>
                <a:spcPts val="1200"/>
              </a:spcAft>
              <a:buFont typeface="Wingdings" panose="05000000000000000000" pitchFamily="2" charset="2"/>
              <a:buChar char="ü"/>
              <a:defRPr/>
            </a:pPr>
            <a:r>
              <a:rPr lang="de-DE" altLang="en-US" sz="2400" dirty="0"/>
              <a:t>Polar: coordinates locate a point by angular direction(s) and distance from center. </a:t>
            </a:r>
          </a:p>
          <a:p>
            <a:pPr marL="822960">
              <a:spcAft>
                <a:spcPts val="1200"/>
              </a:spcAft>
              <a:buFont typeface="Wingdings" panose="05000000000000000000" pitchFamily="2" charset="2"/>
              <a:buChar char="ü"/>
              <a:defRPr/>
            </a:pPr>
            <a:r>
              <a:rPr lang="de-DE" altLang="en-US" sz="2400" dirty="0"/>
              <a:t>Spherical: point on surface located by angular measurements from center (latitude, longitude)</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fade">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fade">
                                      <p:cBhvr>
                                        <p:cTn id="17" dur="500"/>
                                        <p:tgtEl>
                                          <p:spTgt spid="2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fade">
                                      <p:cBhvr>
                                        <p:cTn id="22" dur="500"/>
                                        <p:tgtEl>
                                          <p:spTgt spid="225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fade">
                                      <p:cBhvr>
                                        <p:cTn id="27"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
            <a:ext cx="9144000" cy="1139825"/>
          </a:xfrm>
        </p:spPr>
        <p:txBody>
          <a:bodyPr/>
          <a:lstStyle/>
          <a:p>
            <a:pPr>
              <a:defRPr/>
            </a:pPr>
            <a:r>
              <a:rPr lang="de-DE" altLang="en-US" dirty="0"/>
              <a:t>Coordinate system</a:t>
            </a:r>
          </a:p>
        </p:txBody>
      </p:sp>
      <p:sp>
        <p:nvSpPr>
          <p:cNvPr id="14339" name="Rectangle 3"/>
          <p:cNvSpPr>
            <a:spLocks noGrp="1" noChangeArrowheads="1"/>
          </p:cNvSpPr>
          <p:nvPr>
            <p:ph type="body" idx="1"/>
          </p:nvPr>
        </p:nvSpPr>
        <p:spPr>
          <a:xfrm>
            <a:off x="1811338" y="1139826"/>
            <a:ext cx="8628062" cy="4956175"/>
          </a:xfrm>
        </p:spPr>
        <p:txBody>
          <a:bodyPr/>
          <a:lstStyle/>
          <a:p>
            <a:pPr>
              <a:spcAft>
                <a:spcPts val="1200"/>
              </a:spcAft>
              <a:defRPr/>
            </a:pPr>
            <a:r>
              <a:rPr lang="de-DE" altLang="en-US" b="0" dirty="0"/>
              <a:t>Coordinate systems are defined </a:t>
            </a:r>
            <a:r>
              <a:rPr lang="de-DE" altLang="en-US" b="0" dirty="0" smtClean="0"/>
              <a:t>by:</a:t>
            </a:r>
          </a:p>
          <a:p>
            <a:pPr marL="822960">
              <a:spcAft>
                <a:spcPts val="1200"/>
              </a:spcAft>
              <a:buFont typeface="Wingdings" panose="05000000000000000000" pitchFamily="2" charset="2"/>
              <a:buChar char="ü"/>
              <a:defRPr/>
            </a:pPr>
            <a:r>
              <a:rPr lang="de-DE" altLang="en-US" sz="2400" dirty="0"/>
              <a:t>number of dimensions (1, 2 or 3)</a:t>
            </a:r>
          </a:p>
          <a:p>
            <a:pPr marL="822960">
              <a:spcAft>
                <a:spcPts val="1200"/>
              </a:spcAft>
              <a:buFont typeface="Wingdings" panose="05000000000000000000" pitchFamily="2" charset="2"/>
              <a:buChar char="ü"/>
              <a:defRPr/>
            </a:pPr>
            <a:r>
              <a:rPr lang="de-DE" altLang="en-US" sz="2400" dirty="0"/>
              <a:t>sequence/name of coordinate values (x, y, z)</a:t>
            </a:r>
          </a:p>
          <a:p>
            <a:pPr marL="822960">
              <a:spcAft>
                <a:spcPts val="1200"/>
              </a:spcAft>
              <a:buFont typeface="Wingdings" panose="05000000000000000000" pitchFamily="2" charset="2"/>
              <a:buChar char="ü"/>
              <a:defRPr/>
            </a:pPr>
            <a:r>
              <a:rPr lang="de-DE" altLang="en-US" sz="2400" dirty="0"/>
              <a:t>unit scaling factor and system (meters)</a:t>
            </a:r>
          </a:p>
          <a:p>
            <a:pPr marL="822960">
              <a:spcAft>
                <a:spcPts val="1200"/>
              </a:spcAft>
              <a:buFont typeface="Wingdings" panose="05000000000000000000" pitchFamily="2" charset="2"/>
              <a:buChar char="ü"/>
              <a:defRPr/>
            </a:pPr>
            <a:r>
              <a:rPr lang="de-DE" altLang="en-US" sz="2400" dirty="0"/>
              <a:t>origin of axes</a:t>
            </a:r>
          </a:p>
          <a:p>
            <a:pPr marL="822960">
              <a:spcAft>
                <a:spcPts val="1200"/>
              </a:spcAft>
              <a:buFont typeface="Wingdings" panose="05000000000000000000" pitchFamily="2" charset="2"/>
              <a:buChar char="ü"/>
              <a:defRPr/>
            </a:pPr>
            <a:r>
              <a:rPr lang="de-DE" altLang="en-US" sz="2400" dirty="0"/>
              <a:t>direction of axes</a:t>
            </a:r>
          </a:p>
          <a:p>
            <a:pPr>
              <a:spcAft>
                <a:spcPts val="1200"/>
              </a:spcAft>
              <a:defRPr/>
            </a:pPr>
            <a:r>
              <a:rPr lang="de-DE" altLang="en-US" b="0" dirty="0"/>
              <a:t>Coordinate systems can be based on a geodetic reference (datum) and a map projection</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fade">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fade">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fade">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fade">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fade">
                                      <p:cBhvr>
                                        <p:cTn id="27" dur="500"/>
                                        <p:tgtEl>
                                          <p:spTgt spid="14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fade">
                                      <p:cBhvr>
                                        <p:cTn id="32" dur="500"/>
                                        <p:tgtEl>
                                          <p:spTgt spid="143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fade">
                                      <p:cBhvr>
                                        <p:cTn id="37"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24000" y="79376"/>
            <a:ext cx="9144000" cy="1139825"/>
          </a:xfrm>
        </p:spPr>
        <p:txBody>
          <a:bodyPr/>
          <a:lstStyle/>
          <a:p>
            <a:pPr>
              <a:defRPr/>
            </a:pPr>
            <a:r>
              <a:rPr lang="de-DE" altLang="en-US" dirty="0"/>
              <a:t>Direct vs. Indirect Positioning</a:t>
            </a:r>
          </a:p>
        </p:txBody>
      </p:sp>
      <p:sp>
        <p:nvSpPr>
          <p:cNvPr id="10243" name="Rectangle 3"/>
          <p:cNvSpPr>
            <a:spLocks noGrp="1" noChangeArrowheads="1"/>
          </p:cNvSpPr>
          <p:nvPr>
            <p:ph type="body" idx="1"/>
          </p:nvPr>
        </p:nvSpPr>
        <p:spPr>
          <a:xfrm>
            <a:off x="1981200" y="1600201"/>
            <a:ext cx="6553200" cy="4530725"/>
          </a:xfrm>
        </p:spPr>
        <p:txBody>
          <a:bodyPr/>
          <a:lstStyle/>
          <a:p>
            <a:pPr>
              <a:spcAft>
                <a:spcPts val="1200"/>
              </a:spcAft>
              <a:defRPr/>
            </a:pPr>
            <a:r>
              <a:rPr lang="de-DE" altLang="en-US" dirty="0"/>
              <a:t>Two methods to position points relative to the surface of the Earth:</a:t>
            </a:r>
          </a:p>
          <a:p>
            <a:pPr marL="822960">
              <a:spcAft>
                <a:spcPts val="1200"/>
              </a:spcAft>
              <a:buFont typeface="Wingdings" panose="05000000000000000000" pitchFamily="2" charset="2"/>
              <a:buChar char="§"/>
              <a:defRPr/>
            </a:pPr>
            <a:r>
              <a:rPr lang="de-DE" altLang="en-US" sz="2400" u="sng" dirty="0"/>
              <a:t>direct position</a:t>
            </a:r>
            <a:r>
              <a:rPr lang="de-DE" altLang="en-US" sz="2400" dirty="0"/>
              <a:t>: </a:t>
            </a:r>
          </a:p>
          <a:p>
            <a:pPr marL="1188720">
              <a:spcAft>
                <a:spcPts val="1200"/>
              </a:spcAft>
              <a:buFont typeface="Wingdings" panose="05000000000000000000" pitchFamily="2" charset="2"/>
              <a:buChar char="ü"/>
              <a:defRPr/>
            </a:pPr>
            <a:r>
              <a:rPr lang="de-DE" altLang="en-US" sz="2400" dirty="0"/>
              <a:t>position based on coordinates</a:t>
            </a:r>
          </a:p>
          <a:p>
            <a:pPr marL="822960">
              <a:spcAft>
                <a:spcPts val="1200"/>
              </a:spcAft>
              <a:defRPr/>
            </a:pPr>
            <a:r>
              <a:rPr lang="de-DE" altLang="en-US" sz="2400" u="sng" dirty="0"/>
              <a:t>indirect position</a:t>
            </a:r>
            <a:r>
              <a:rPr lang="de-DE" altLang="en-US" sz="2400" dirty="0"/>
              <a:t>: </a:t>
            </a:r>
          </a:p>
          <a:p>
            <a:pPr marL="1451610" indent="-514350">
              <a:spcAft>
                <a:spcPts val="1200"/>
              </a:spcAft>
              <a:buFont typeface="Wingdings" panose="05000000000000000000" pitchFamily="2" charset="2"/>
              <a:buChar char="ü"/>
              <a:defRPr/>
            </a:pPr>
            <a:r>
              <a:rPr lang="de-DE" altLang="en-US" sz="2400" dirty="0"/>
              <a:t>position not using coordinates (e.g. street address)</a:t>
            </a:r>
          </a:p>
        </p:txBody>
      </p:sp>
      <p:grpSp>
        <p:nvGrpSpPr>
          <p:cNvPr id="3" name="Group 2"/>
          <p:cNvGrpSpPr>
            <a:grpSpLocks/>
          </p:cNvGrpSpPr>
          <p:nvPr/>
        </p:nvGrpSpPr>
        <p:grpSpPr bwMode="auto">
          <a:xfrm>
            <a:off x="8328026" y="2060575"/>
            <a:ext cx="1882775" cy="1804988"/>
            <a:chOff x="6804248" y="2060848"/>
            <a:chExt cx="1882552" cy="1804714"/>
          </a:xfrm>
        </p:grpSpPr>
        <p:sp>
          <p:nvSpPr>
            <p:cNvPr id="2" name="Rectangle 1"/>
            <p:cNvSpPr/>
            <p:nvPr/>
          </p:nvSpPr>
          <p:spPr>
            <a:xfrm>
              <a:off x="6804248" y="2060848"/>
              <a:ext cx="1882552" cy="1804714"/>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96268" name="Group 21"/>
            <p:cNvGrpSpPr>
              <a:grpSpLocks/>
            </p:cNvGrpSpPr>
            <p:nvPr/>
          </p:nvGrpSpPr>
          <p:grpSpPr bwMode="auto">
            <a:xfrm>
              <a:off x="6994527" y="2240868"/>
              <a:ext cx="1570038" cy="1219200"/>
              <a:chOff x="4752" y="2064"/>
              <a:chExt cx="989" cy="768"/>
            </a:xfrm>
          </p:grpSpPr>
          <p:sp>
            <p:nvSpPr>
              <p:cNvPr id="96269" name="Line 4"/>
              <p:cNvSpPr>
                <a:spLocks noChangeShapeType="1"/>
              </p:cNvSpPr>
              <p:nvPr/>
            </p:nvSpPr>
            <p:spPr bwMode="auto">
              <a:xfrm>
                <a:off x="4848" y="2064"/>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0" name="Line 5"/>
              <p:cNvSpPr>
                <a:spLocks noChangeShapeType="1"/>
              </p:cNvSpPr>
              <p:nvPr/>
            </p:nvSpPr>
            <p:spPr bwMode="auto">
              <a:xfrm>
                <a:off x="4752" y="2736"/>
                <a:ext cx="8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1" name="Line 7"/>
              <p:cNvSpPr>
                <a:spLocks noChangeShapeType="1"/>
              </p:cNvSpPr>
              <p:nvPr/>
            </p:nvSpPr>
            <p:spPr bwMode="auto">
              <a:xfrm>
                <a:off x="5088" y="273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2" name="Line 8"/>
              <p:cNvSpPr>
                <a:spLocks noChangeShapeType="1"/>
              </p:cNvSpPr>
              <p:nvPr/>
            </p:nvSpPr>
            <p:spPr bwMode="auto">
              <a:xfrm>
                <a:off x="5328" y="273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3" name="Line 10"/>
              <p:cNvSpPr>
                <a:spLocks noChangeShapeType="1"/>
              </p:cNvSpPr>
              <p:nvPr/>
            </p:nvSpPr>
            <p:spPr bwMode="auto">
              <a:xfrm>
                <a:off x="4752" y="249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4" name="Line 17"/>
              <p:cNvSpPr>
                <a:spLocks noChangeShapeType="1"/>
              </p:cNvSpPr>
              <p:nvPr/>
            </p:nvSpPr>
            <p:spPr bwMode="auto">
              <a:xfrm>
                <a:off x="4752" y="22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5" name="Oval 18"/>
              <p:cNvSpPr>
                <a:spLocks noChangeArrowheads="1"/>
              </p:cNvSpPr>
              <p:nvPr/>
            </p:nvSpPr>
            <p:spPr bwMode="auto">
              <a:xfrm>
                <a:off x="5040" y="230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96276" name="Text Box 19"/>
              <p:cNvSpPr txBox="1">
                <a:spLocks noChangeArrowheads="1"/>
              </p:cNvSpPr>
              <p:nvPr/>
            </p:nvSpPr>
            <p:spPr bwMode="auto">
              <a:xfrm>
                <a:off x="5055" y="2188"/>
                <a:ext cx="68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P(10,15)</a:t>
                </a:r>
              </a:p>
            </p:txBody>
          </p:sp>
        </p:grpSp>
      </p:grpSp>
      <p:grpSp>
        <p:nvGrpSpPr>
          <p:cNvPr id="5" name="Group 4"/>
          <p:cNvGrpSpPr>
            <a:grpSpLocks/>
          </p:cNvGrpSpPr>
          <p:nvPr/>
        </p:nvGrpSpPr>
        <p:grpSpPr bwMode="auto">
          <a:xfrm>
            <a:off x="8366125" y="4400551"/>
            <a:ext cx="2014538" cy="1909763"/>
            <a:chOff x="6842125" y="4401108"/>
            <a:chExt cx="2014351" cy="1909837"/>
          </a:xfrm>
        </p:grpSpPr>
        <p:sp>
          <p:nvSpPr>
            <p:cNvPr id="4" name="Rectangle 3"/>
            <p:cNvSpPr/>
            <p:nvPr/>
          </p:nvSpPr>
          <p:spPr>
            <a:xfrm>
              <a:off x="6842125" y="4401108"/>
              <a:ext cx="2014351" cy="1909837"/>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96263" name="Group 24"/>
            <p:cNvGrpSpPr>
              <a:grpSpLocks/>
            </p:cNvGrpSpPr>
            <p:nvPr/>
          </p:nvGrpSpPr>
          <p:grpSpPr bwMode="auto">
            <a:xfrm>
              <a:off x="7162800" y="4953000"/>
              <a:ext cx="1571625" cy="990600"/>
              <a:chOff x="4512" y="3120"/>
              <a:chExt cx="990" cy="624"/>
            </a:xfrm>
          </p:grpSpPr>
          <p:sp>
            <p:nvSpPr>
              <p:cNvPr id="96264" name="Freeform 20"/>
              <p:cNvSpPr>
                <a:spLocks/>
              </p:cNvSpPr>
              <p:nvPr/>
            </p:nvSpPr>
            <p:spPr bwMode="auto">
              <a:xfrm>
                <a:off x="4512" y="3120"/>
                <a:ext cx="960" cy="624"/>
              </a:xfrm>
              <a:custGeom>
                <a:avLst/>
                <a:gdLst>
                  <a:gd name="T0" fmla="*/ 0 w 960"/>
                  <a:gd name="T1" fmla="*/ 624 h 624"/>
                  <a:gd name="T2" fmla="*/ 144 w 960"/>
                  <a:gd name="T3" fmla="*/ 480 h 624"/>
                  <a:gd name="T4" fmla="*/ 288 w 960"/>
                  <a:gd name="T5" fmla="*/ 432 h 624"/>
                  <a:gd name="T6" fmla="*/ 336 w 960"/>
                  <a:gd name="T7" fmla="*/ 384 h 624"/>
                  <a:gd name="T8" fmla="*/ 432 w 960"/>
                  <a:gd name="T9" fmla="*/ 240 h 624"/>
                  <a:gd name="T10" fmla="*/ 528 w 960"/>
                  <a:gd name="T11" fmla="*/ 192 h 624"/>
                  <a:gd name="T12" fmla="*/ 672 w 960"/>
                  <a:gd name="T13" fmla="*/ 144 h 624"/>
                  <a:gd name="T14" fmla="*/ 768 w 960"/>
                  <a:gd name="T15" fmla="*/ 96 h 624"/>
                  <a:gd name="T16" fmla="*/ 960 w 96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60" h="624">
                    <a:moveTo>
                      <a:pt x="0" y="624"/>
                    </a:moveTo>
                    <a:cubicBezTo>
                      <a:pt x="48" y="568"/>
                      <a:pt x="96" y="512"/>
                      <a:pt x="144" y="480"/>
                    </a:cubicBezTo>
                    <a:cubicBezTo>
                      <a:pt x="192" y="448"/>
                      <a:pt x="256" y="448"/>
                      <a:pt x="288" y="432"/>
                    </a:cubicBezTo>
                    <a:cubicBezTo>
                      <a:pt x="320" y="416"/>
                      <a:pt x="312" y="416"/>
                      <a:pt x="336" y="384"/>
                    </a:cubicBezTo>
                    <a:cubicBezTo>
                      <a:pt x="360" y="352"/>
                      <a:pt x="400" y="272"/>
                      <a:pt x="432" y="240"/>
                    </a:cubicBezTo>
                    <a:cubicBezTo>
                      <a:pt x="464" y="208"/>
                      <a:pt x="488" y="208"/>
                      <a:pt x="528" y="192"/>
                    </a:cubicBezTo>
                    <a:cubicBezTo>
                      <a:pt x="568" y="176"/>
                      <a:pt x="632" y="160"/>
                      <a:pt x="672" y="144"/>
                    </a:cubicBezTo>
                    <a:cubicBezTo>
                      <a:pt x="712" y="128"/>
                      <a:pt x="720" y="120"/>
                      <a:pt x="768" y="96"/>
                    </a:cubicBezTo>
                    <a:cubicBezTo>
                      <a:pt x="816" y="72"/>
                      <a:pt x="888" y="36"/>
                      <a:pt x="960" y="0"/>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5" name="Oval 22"/>
              <p:cNvSpPr>
                <a:spLocks noChangeArrowheads="1"/>
              </p:cNvSpPr>
              <p:nvPr/>
            </p:nvSpPr>
            <p:spPr bwMode="auto">
              <a:xfrm>
                <a:off x="5088" y="33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96266" name="Text Box 23"/>
              <p:cNvSpPr txBox="1">
                <a:spLocks noChangeArrowheads="1"/>
              </p:cNvSpPr>
              <p:nvPr/>
            </p:nvSpPr>
            <p:spPr bwMode="auto">
              <a:xfrm>
                <a:off x="5116" y="3255"/>
                <a:ext cx="38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600" b="0"/>
                  <a:t>#17</a:t>
                </a:r>
              </a:p>
            </p:txBody>
          </p:sp>
        </p:grpSp>
      </p:gr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fade">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fade">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fade">
                                      <p:cBhvr>
                                        <p:cTn id="22" dur="500"/>
                                        <p:tgtEl>
                                          <p:spTgt spid="10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fade">
                                      <p:cBhvr>
                                        <p:cTn id="27" dur="500"/>
                                        <p:tgtEl>
                                          <p:spTgt spid="102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randombar(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randombar(horizont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a:xfrm>
            <a:off x="1524000" y="17464"/>
            <a:ext cx="9144000" cy="1139825"/>
          </a:xfrm>
        </p:spPr>
        <p:txBody>
          <a:bodyPr/>
          <a:lstStyle/>
          <a:p>
            <a:pPr>
              <a:defRPr/>
            </a:pPr>
            <a:r>
              <a:rPr lang="de-DE" altLang="en-US" dirty="0"/>
              <a:t>2D vs. 3D systems</a:t>
            </a:r>
          </a:p>
        </p:txBody>
      </p:sp>
      <p:sp>
        <p:nvSpPr>
          <p:cNvPr id="43011" name="Rectangle 1027"/>
          <p:cNvSpPr>
            <a:spLocks noGrp="1" noChangeArrowheads="1"/>
          </p:cNvSpPr>
          <p:nvPr>
            <p:ph type="body" idx="1"/>
          </p:nvPr>
        </p:nvSpPr>
        <p:spPr>
          <a:xfrm>
            <a:off x="1981201" y="1157289"/>
            <a:ext cx="8328025" cy="4973637"/>
          </a:xfrm>
        </p:spPr>
        <p:txBody>
          <a:bodyPr/>
          <a:lstStyle/>
          <a:p>
            <a:pPr>
              <a:spcAft>
                <a:spcPts val="1200"/>
              </a:spcAft>
            </a:pPr>
            <a:r>
              <a:rPr lang="de-DE" altLang="en-US" b="0" smtClean="0"/>
              <a:t>Most GIS are 2D or 2.5D</a:t>
            </a:r>
          </a:p>
          <a:p>
            <a:pPr>
              <a:spcAft>
                <a:spcPts val="1200"/>
              </a:spcAft>
            </a:pPr>
            <a:r>
              <a:rPr lang="de-DE" altLang="en-US" b="0" smtClean="0"/>
              <a:t>Many GIS operations are not defined in 3d space</a:t>
            </a:r>
          </a:p>
          <a:p>
            <a:pPr>
              <a:spcAft>
                <a:spcPts val="1200"/>
              </a:spcAft>
            </a:pPr>
            <a:r>
              <a:rPr lang="de-DE" altLang="en-US" b="0" smtClean="0"/>
              <a:t>Increasingly, we need to handle 3D data, even if we don‘t fully use them</a:t>
            </a:r>
          </a:p>
          <a:p>
            <a:pPr>
              <a:spcAft>
                <a:spcPts val="1200"/>
              </a:spcAft>
            </a:pPr>
            <a:r>
              <a:rPr lang="de-DE" altLang="en-US" b="0" smtClean="0"/>
              <a:t>Visualisation of 3D data sets is currently more important than analysis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fade">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fade">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fade">
                                      <p:cBhvr>
                                        <p:cTn id="17" dur="500"/>
                                        <p:tgtEl>
                                          <p:spTgt spid="43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fade">
                                      <p:cBhvr>
                                        <p:cTn id="22" dur="500"/>
                                        <p:tgtEl>
                                          <p:spTgt spid="43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9144000" cy="1371600"/>
          </a:xfrm>
        </p:spPr>
        <p:txBody>
          <a:bodyPr>
            <a:normAutofit/>
          </a:bodyPr>
          <a:lstStyle/>
          <a:p>
            <a:pPr>
              <a:defRPr/>
            </a:pPr>
            <a:r>
              <a:rPr lang="en-US" dirty="0" smtClean="0"/>
              <a:t>Geographic vs. Projected Coordinate System</a:t>
            </a:r>
            <a:endParaRPr lang="en-US" dirty="0"/>
          </a:p>
        </p:txBody>
      </p:sp>
      <p:sp>
        <p:nvSpPr>
          <p:cNvPr id="7" name="Rectangle 3"/>
          <p:cNvSpPr>
            <a:spLocks noGrp="1" noChangeArrowheads="1"/>
          </p:cNvSpPr>
          <p:nvPr>
            <p:ph idx="1"/>
          </p:nvPr>
        </p:nvSpPr>
        <p:spPr>
          <a:xfrm>
            <a:off x="1524001" y="1371600"/>
            <a:ext cx="6448425" cy="5118100"/>
          </a:xfrm>
        </p:spPr>
        <p:txBody>
          <a:bodyPr>
            <a:normAutofit lnSpcReduction="10000"/>
          </a:bodyPr>
          <a:lstStyle/>
          <a:p>
            <a:pPr>
              <a:spcAft>
                <a:spcPts val="600"/>
              </a:spcAft>
              <a:defRPr/>
            </a:pPr>
            <a:r>
              <a:rPr lang="en-US" dirty="0"/>
              <a:t>GCS:</a:t>
            </a:r>
          </a:p>
          <a:p>
            <a:pPr marL="822960">
              <a:spcAft>
                <a:spcPts val="600"/>
              </a:spcAft>
              <a:defRPr/>
            </a:pPr>
            <a:r>
              <a:rPr lang="en-US" sz="2400" dirty="0"/>
              <a:t>Location measured from curved surface of the earth </a:t>
            </a:r>
          </a:p>
          <a:p>
            <a:pPr marL="822960">
              <a:spcAft>
                <a:spcPts val="600"/>
              </a:spcAft>
              <a:defRPr/>
            </a:pPr>
            <a:r>
              <a:rPr lang="en-US" sz="2400" dirty="0"/>
              <a:t>Measurement units: </a:t>
            </a:r>
            <a:r>
              <a:rPr lang="en-US" sz="2400" dirty="0" err="1"/>
              <a:t>Lat</a:t>
            </a:r>
            <a:r>
              <a:rPr lang="en-US" sz="2400" dirty="0"/>
              <a:t>/Lon</a:t>
            </a:r>
          </a:p>
          <a:p>
            <a:pPr marL="1280160">
              <a:spcAft>
                <a:spcPts val="600"/>
              </a:spcAft>
              <a:defRPr/>
            </a:pPr>
            <a:r>
              <a:rPr lang="en-US" sz="2000" dirty="0"/>
              <a:t>Degrees-minutes-seconds (DMS)</a:t>
            </a:r>
          </a:p>
          <a:p>
            <a:pPr marL="1280160">
              <a:spcAft>
                <a:spcPts val="600"/>
              </a:spcAft>
              <a:defRPr/>
            </a:pPr>
            <a:r>
              <a:rPr lang="en-US" sz="2000" dirty="0"/>
              <a:t> Decimal degrees (DD) or radians (rad)</a:t>
            </a:r>
            <a:endParaRPr lang="en-US" sz="1800" dirty="0"/>
          </a:p>
          <a:p>
            <a:pPr>
              <a:spcAft>
                <a:spcPts val="600"/>
              </a:spcAft>
              <a:defRPr/>
            </a:pPr>
            <a:r>
              <a:rPr lang="en-US" dirty="0"/>
              <a:t>PCS:</a:t>
            </a:r>
          </a:p>
          <a:p>
            <a:pPr marL="822960">
              <a:spcAft>
                <a:spcPts val="600"/>
              </a:spcAft>
              <a:defRPr/>
            </a:pPr>
            <a:r>
              <a:rPr lang="en-US" sz="2400" dirty="0"/>
              <a:t>Flat surface</a:t>
            </a:r>
          </a:p>
          <a:p>
            <a:pPr marL="822960">
              <a:spcAft>
                <a:spcPts val="600"/>
              </a:spcAft>
              <a:defRPr/>
            </a:pPr>
            <a:r>
              <a:rPr lang="en-US" sz="2400" dirty="0"/>
              <a:t>Units can be in meters/feet/inches</a:t>
            </a:r>
          </a:p>
          <a:p>
            <a:pPr marL="822960">
              <a:spcAft>
                <a:spcPts val="600"/>
              </a:spcAft>
              <a:defRPr/>
            </a:pPr>
            <a:r>
              <a:rPr lang="en-US" sz="2400" dirty="0"/>
              <a:t>Distortions will occur, except for very fine scale maps</a:t>
            </a:r>
          </a:p>
        </p:txBody>
      </p:sp>
      <p:pic>
        <p:nvPicPr>
          <p:cNvPr id="8" name="Picture 4" descr="G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426" y="1600201"/>
            <a:ext cx="2239963"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projec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2426" y="4151313"/>
            <a:ext cx="231457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randombar(horizontal)">
                                      <p:cBhvr>
                                        <p:cTn id="52" dur="500"/>
                                        <p:tgtEl>
                                          <p:spTgt spid="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randombar(horizontal)">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524000" y="174625"/>
            <a:ext cx="9144000" cy="685800"/>
          </a:xfrm>
        </p:spPr>
        <p:txBody>
          <a:bodyPr>
            <a:normAutofit fontScale="90000"/>
          </a:bodyPr>
          <a:lstStyle/>
          <a:p>
            <a:pPr>
              <a:defRPr/>
            </a:pPr>
            <a:r>
              <a:rPr lang="en-US" dirty="0" smtClean="0"/>
              <a:t>Geographic Coordinate System</a:t>
            </a:r>
          </a:p>
        </p:txBody>
      </p:sp>
      <p:sp>
        <p:nvSpPr>
          <p:cNvPr id="39939" name="Text Box 3"/>
          <p:cNvSpPr txBox="1">
            <a:spLocks noChangeArrowheads="1"/>
          </p:cNvSpPr>
          <p:nvPr/>
        </p:nvSpPr>
        <p:spPr bwMode="auto">
          <a:xfrm>
            <a:off x="1692275" y="4132264"/>
            <a:ext cx="8915400" cy="1723549"/>
          </a:xfrm>
          <a:prstGeom prst="rect">
            <a:avLst/>
          </a:prstGeom>
          <a:noFill/>
          <a:ln w="12700">
            <a:noFill/>
            <a:miter lim="800000"/>
            <a:headEnd/>
            <a:tailEnd/>
          </a:ln>
          <a:effectLst/>
        </p:spPr>
        <p:txBody>
          <a:bodyPr>
            <a:spAutoFit/>
          </a:bodyPr>
          <a:lstStyle/>
          <a:p>
            <a:pPr marL="342900" indent="-342900">
              <a:lnSpc>
                <a:spcPct val="90000"/>
              </a:lnSpc>
              <a:spcBef>
                <a:spcPct val="20000"/>
              </a:spcBef>
              <a:spcAft>
                <a:spcPts val="600"/>
              </a:spcAft>
              <a:buSzPct val="100000"/>
              <a:buFont typeface="Arial" panose="020B0604020202020204" pitchFamily="34" charset="0"/>
              <a:buChar char="•"/>
              <a:defRPr/>
            </a:pPr>
            <a:r>
              <a:rPr lang="en-US" altLang="en-US" sz="2400" b="1" dirty="0">
                <a:latin typeface="+mj-lt"/>
              </a:rPr>
              <a:t>Parallels</a:t>
            </a:r>
            <a:r>
              <a:rPr lang="en-US" altLang="en-US" sz="2400" dirty="0">
                <a:latin typeface="+mj-lt"/>
              </a:rPr>
              <a:t>: east to west – 0° at the Equator (0 °-90 °)</a:t>
            </a:r>
          </a:p>
          <a:p>
            <a:pPr marL="342900" indent="-342900">
              <a:lnSpc>
                <a:spcPct val="90000"/>
              </a:lnSpc>
              <a:spcBef>
                <a:spcPct val="20000"/>
              </a:spcBef>
              <a:spcAft>
                <a:spcPts val="600"/>
              </a:spcAft>
              <a:buSzPct val="100000"/>
              <a:buFont typeface="Arial" panose="020B0604020202020204" pitchFamily="34" charset="0"/>
              <a:buChar char="•"/>
              <a:defRPr/>
            </a:pPr>
            <a:r>
              <a:rPr lang="en-US" altLang="en-US" sz="2400" b="1" dirty="0">
                <a:latin typeface="+mj-lt"/>
              </a:rPr>
              <a:t>Meridians</a:t>
            </a:r>
            <a:r>
              <a:rPr lang="en-US" altLang="en-US" sz="2400" dirty="0">
                <a:latin typeface="+mj-lt"/>
              </a:rPr>
              <a:t>: north to south – 0° at the Prime Meridian (0 °-180 °)</a:t>
            </a:r>
          </a:p>
          <a:p>
            <a:pPr marL="342900" indent="-342900">
              <a:lnSpc>
                <a:spcPct val="90000"/>
              </a:lnSpc>
              <a:spcBef>
                <a:spcPct val="20000"/>
              </a:spcBef>
              <a:spcAft>
                <a:spcPts val="600"/>
              </a:spcAft>
              <a:buSzPct val="100000"/>
              <a:buFont typeface="Arial" panose="020B0604020202020204" pitchFamily="34" charset="0"/>
              <a:buChar char="•"/>
              <a:defRPr/>
            </a:pPr>
            <a:r>
              <a:rPr lang="en-US" altLang="en-US" sz="2400" dirty="0">
                <a:latin typeface="+mj-lt"/>
              </a:rPr>
              <a:t>Latitude and longitude are angular measurements made from the center of the earth to a point on the surface of the earth</a:t>
            </a:r>
          </a:p>
        </p:txBody>
      </p:sp>
      <p:pic>
        <p:nvPicPr>
          <p:cNvPr id="1013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052514"/>
            <a:ext cx="8991600" cy="282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fade">
                                      <p:cBhvr>
                                        <p:cTn id="7" dur="5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fade">
                                      <p:cBhvr>
                                        <p:cTn id="12" dur="500"/>
                                        <p:tgtEl>
                                          <p:spTgt spid="39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fade">
                                      <p:cBhvr>
                                        <p:cTn id="17" dur="500"/>
                                        <p:tgtEl>
                                          <p:spTgt spid="399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84138"/>
            <a:ext cx="9144000" cy="685800"/>
          </a:xfrm>
        </p:spPr>
        <p:txBody>
          <a:bodyPr>
            <a:normAutofit fontScale="90000"/>
          </a:bodyPr>
          <a:lstStyle/>
          <a:p>
            <a:pPr>
              <a:defRPr/>
            </a:pPr>
            <a:r>
              <a:rPr lang="en-US" dirty="0" smtClean="0"/>
              <a:t>Globe</a:t>
            </a:r>
            <a:endParaRPr lang="en-US" dirty="0"/>
          </a:p>
        </p:txBody>
      </p:sp>
      <p:sp>
        <p:nvSpPr>
          <p:cNvPr id="4" name="Rectangle 3"/>
          <p:cNvSpPr>
            <a:spLocks noGrp="1" noChangeArrowheads="1"/>
          </p:cNvSpPr>
          <p:nvPr>
            <p:ph idx="1"/>
          </p:nvPr>
        </p:nvSpPr>
        <p:spPr>
          <a:xfrm>
            <a:off x="1544639" y="1319213"/>
            <a:ext cx="5502275" cy="4724400"/>
          </a:xfrm>
        </p:spPr>
        <p:txBody>
          <a:bodyPr>
            <a:normAutofit lnSpcReduction="10000"/>
          </a:bodyPr>
          <a:lstStyle/>
          <a:p>
            <a:pPr>
              <a:spcAft>
                <a:spcPts val="1200"/>
              </a:spcAft>
              <a:defRPr/>
            </a:pPr>
            <a:r>
              <a:rPr lang="en-US" sz="2600" dirty="0"/>
              <a:t>Spherical Earth’s surface</a:t>
            </a:r>
          </a:p>
          <a:p>
            <a:pPr marL="822960">
              <a:spcAft>
                <a:spcPts val="1200"/>
              </a:spcAft>
              <a:buFont typeface="Wingdings" panose="05000000000000000000" pitchFamily="2" charset="2"/>
              <a:buChar char="ü"/>
              <a:defRPr/>
            </a:pPr>
            <a:r>
              <a:rPr lang="en-US" sz="2200" dirty="0"/>
              <a:t>Radius 6371 km </a:t>
            </a:r>
          </a:p>
          <a:p>
            <a:pPr>
              <a:spcAft>
                <a:spcPts val="1200"/>
              </a:spcAft>
              <a:defRPr/>
            </a:pPr>
            <a:r>
              <a:rPr lang="en-US" sz="2600" dirty="0">
                <a:solidFill>
                  <a:schemeClr val="hlink"/>
                </a:solidFill>
              </a:rPr>
              <a:t>Meridians</a:t>
            </a:r>
            <a:r>
              <a:rPr lang="en-US" sz="2600" dirty="0"/>
              <a:t> (lines of </a:t>
            </a:r>
            <a:r>
              <a:rPr lang="en-US" sz="2600" dirty="0">
                <a:solidFill>
                  <a:schemeClr val="accent1"/>
                </a:solidFill>
              </a:rPr>
              <a:t>longitude</a:t>
            </a:r>
            <a:r>
              <a:rPr lang="en-US" sz="2600" dirty="0"/>
              <a:t>)</a:t>
            </a:r>
          </a:p>
          <a:p>
            <a:pPr marL="822960">
              <a:spcAft>
                <a:spcPts val="1200"/>
              </a:spcAft>
              <a:buFont typeface="Wingdings" panose="05000000000000000000" pitchFamily="2" charset="2"/>
              <a:buChar char="ü"/>
              <a:defRPr/>
            </a:pPr>
            <a:r>
              <a:rPr lang="en-US" sz="2200" dirty="0"/>
              <a:t>Passing through Greenwich, England as prime meridian or 0º longitude.</a:t>
            </a:r>
          </a:p>
          <a:p>
            <a:pPr>
              <a:spcAft>
                <a:spcPts val="1200"/>
              </a:spcAft>
              <a:defRPr/>
            </a:pPr>
            <a:r>
              <a:rPr lang="en-US" sz="2600" dirty="0">
                <a:solidFill>
                  <a:schemeClr val="hlink"/>
                </a:solidFill>
              </a:rPr>
              <a:t>Parallels</a:t>
            </a:r>
            <a:r>
              <a:rPr lang="en-US" sz="2600" dirty="0"/>
              <a:t> (lines of </a:t>
            </a:r>
            <a:r>
              <a:rPr lang="en-US" sz="2600" dirty="0">
                <a:solidFill>
                  <a:schemeClr val="accent1"/>
                </a:solidFill>
              </a:rPr>
              <a:t>latitude</a:t>
            </a:r>
            <a:r>
              <a:rPr lang="en-US" sz="2600" dirty="0"/>
              <a:t>)</a:t>
            </a:r>
          </a:p>
          <a:p>
            <a:pPr marL="822960">
              <a:spcAft>
                <a:spcPts val="1200"/>
              </a:spcAft>
              <a:buFont typeface="Wingdings" panose="05000000000000000000" pitchFamily="2" charset="2"/>
              <a:buChar char="ü"/>
              <a:defRPr/>
            </a:pPr>
            <a:r>
              <a:rPr lang="en-US" sz="2200" dirty="0"/>
              <a:t>Using equator as 0º latitude.</a:t>
            </a:r>
          </a:p>
          <a:p>
            <a:pPr marL="822960">
              <a:spcAft>
                <a:spcPts val="1200"/>
              </a:spcAft>
              <a:buFont typeface="Wingdings" panose="05000000000000000000" pitchFamily="2" charset="2"/>
              <a:buChar char="ü"/>
              <a:defRPr/>
            </a:pPr>
            <a:r>
              <a:rPr lang="en-US" sz="2200" dirty="0"/>
              <a:t>Degrees-minutes-seconds (</a:t>
            </a:r>
            <a:r>
              <a:rPr lang="en-US" sz="2200" dirty="0">
                <a:solidFill>
                  <a:schemeClr val="accent1"/>
                </a:solidFill>
              </a:rPr>
              <a:t>DMS</a:t>
            </a:r>
            <a:r>
              <a:rPr lang="en-US" sz="2200" dirty="0"/>
              <a:t>), </a:t>
            </a:r>
          </a:p>
          <a:p>
            <a:pPr marL="822960">
              <a:spcAft>
                <a:spcPts val="1200"/>
              </a:spcAft>
              <a:buFont typeface="Wingdings" panose="05000000000000000000" pitchFamily="2" charset="2"/>
              <a:buChar char="ü"/>
              <a:defRPr/>
            </a:pPr>
            <a:r>
              <a:rPr lang="en-US" sz="2200" dirty="0"/>
              <a:t>Decimal degrees (</a:t>
            </a:r>
            <a:r>
              <a:rPr lang="en-US" sz="2200" dirty="0">
                <a:solidFill>
                  <a:schemeClr val="accent1"/>
                </a:solidFill>
              </a:rPr>
              <a:t>DD</a:t>
            </a:r>
            <a:r>
              <a:rPr lang="en-US" sz="2200" dirty="0"/>
              <a:t>)</a:t>
            </a:r>
          </a:p>
        </p:txBody>
      </p:sp>
      <p:pic>
        <p:nvPicPr>
          <p:cNvPr id="5" name="Picture 4" descr="prim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6914" y="1052514"/>
            <a:ext cx="3621087"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sphercoo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1075" y="4240213"/>
            <a:ext cx="32131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p:cNvSpPr txBox="1">
            <a:spLocks noChangeArrowheads="1"/>
          </p:cNvSpPr>
          <p:nvPr/>
        </p:nvSpPr>
        <p:spPr bwMode="auto">
          <a:xfrm>
            <a:off x="7943850" y="3775076"/>
            <a:ext cx="2173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200" b="0"/>
              <a:t>True direction, shape,</a:t>
            </a:r>
          </a:p>
          <a:p>
            <a:pPr>
              <a:spcBef>
                <a:spcPct val="0"/>
              </a:spcBef>
              <a:buClrTx/>
              <a:buFontTx/>
              <a:buNone/>
            </a:pPr>
            <a:r>
              <a:rPr lang="en-US" altLang="en-US" sz="1200" b="0"/>
              <a:t>distance, and area</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randombar(horizontal)">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randombar(horizontal)">
                                      <p:cBhvr>
                                        <p:cTn id="5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1524000"/>
          </a:xfrm>
        </p:spPr>
        <p:txBody>
          <a:bodyPr>
            <a:normAutofit/>
          </a:bodyPr>
          <a:lstStyle/>
          <a:p>
            <a:pPr>
              <a:defRPr/>
            </a:pPr>
            <a:r>
              <a:rPr lang="en-US" dirty="0" smtClean="0"/>
              <a:t>Earth Surface: Ellipsoid, </a:t>
            </a:r>
            <a:r>
              <a:rPr lang="en-US" dirty="0" err="1" smtClean="0"/>
              <a:t>Geoid</a:t>
            </a:r>
            <a:r>
              <a:rPr lang="en-US" dirty="0" smtClean="0"/>
              <a:t>, </a:t>
            </a:r>
            <a:r>
              <a:rPr lang="en-US" dirty="0" err="1" smtClean="0"/>
              <a:t>Topo</a:t>
            </a:r>
            <a:endParaRPr lang="en-US" dirty="0"/>
          </a:p>
        </p:txBody>
      </p:sp>
      <p:sp>
        <p:nvSpPr>
          <p:cNvPr id="4" name="Rectangle 3"/>
          <p:cNvSpPr>
            <a:spLocks noGrp="1" noChangeArrowheads="1"/>
          </p:cNvSpPr>
          <p:nvPr>
            <p:ph idx="1"/>
          </p:nvPr>
        </p:nvSpPr>
        <p:spPr>
          <a:xfrm>
            <a:off x="1600201" y="1524000"/>
            <a:ext cx="8996363" cy="2713038"/>
          </a:xfrm>
        </p:spPr>
        <p:txBody>
          <a:bodyPr/>
          <a:lstStyle/>
          <a:p>
            <a:pPr marL="609600" indent="-609600"/>
            <a:r>
              <a:rPr lang="en-US" altLang="en-US" sz="2200"/>
              <a:t>The </a:t>
            </a:r>
            <a:r>
              <a:rPr lang="en-US" altLang="en-US" sz="2200" i="1">
                <a:solidFill>
                  <a:schemeClr val="hlink"/>
                </a:solidFill>
              </a:rPr>
              <a:t>reference ellipsoid</a:t>
            </a:r>
            <a:r>
              <a:rPr lang="en-US" altLang="en-US" sz="2200"/>
              <a:t> surface (a map of average sea level). </a:t>
            </a:r>
          </a:p>
          <a:p>
            <a:pPr marL="609600" indent="-609600"/>
            <a:r>
              <a:rPr lang="en-US" altLang="en-US" sz="2200"/>
              <a:t>The </a:t>
            </a:r>
            <a:r>
              <a:rPr lang="en-US" altLang="en-US" sz="2200" i="1">
                <a:solidFill>
                  <a:schemeClr val="hlink"/>
                </a:solidFill>
              </a:rPr>
              <a:t>reference geoid</a:t>
            </a:r>
            <a:r>
              <a:rPr lang="en-US" altLang="en-US" sz="2200"/>
              <a:t> surface (a mean sea level surface). </a:t>
            </a:r>
          </a:p>
          <a:p>
            <a:pPr marL="609600" indent="-609600"/>
            <a:r>
              <a:rPr lang="en-US" altLang="en-US" sz="2200"/>
              <a:t>The </a:t>
            </a:r>
            <a:r>
              <a:rPr lang="en-US" altLang="en-US" sz="2200">
                <a:solidFill>
                  <a:schemeClr val="hlink"/>
                </a:solidFill>
              </a:rPr>
              <a:t>real surface</a:t>
            </a:r>
            <a:r>
              <a:rPr lang="en-US" altLang="en-US" sz="2200"/>
              <a:t> of the Earth (the ground) also called the topographic surface. </a:t>
            </a:r>
          </a:p>
        </p:txBody>
      </p:sp>
      <p:pic>
        <p:nvPicPr>
          <p:cNvPr id="5" name="Picture 13" descr="geoid1_l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6013" y="3500438"/>
            <a:ext cx="44005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surfacecompari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833938"/>
            <a:ext cx="4343400"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randombar(horizontal)">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1897063" y="17464"/>
            <a:ext cx="8229600" cy="1139825"/>
          </a:xfrm>
        </p:spPr>
        <p:txBody>
          <a:bodyPr/>
          <a:lstStyle/>
          <a:p>
            <a:pPr eaLnBrk="1" hangingPunct="1">
              <a:defRPr/>
            </a:pPr>
            <a:r>
              <a:rPr lang="en-US" dirty="0" smtClean="0"/>
              <a:t>Assignment - 5</a:t>
            </a:r>
          </a:p>
        </p:txBody>
      </p:sp>
      <p:sp>
        <p:nvSpPr>
          <p:cNvPr id="106499" name="Rectangle 3"/>
          <p:cNvSpPr>
            <a:spLocks noGrp="1" noChangeArrowheads="1"/>
          </p:cNvSpPr>
          <p:nvPr>
            <p:ph type="body" idx="1"/>
          </p:nvPr>
        </p:nvSpPr>
        <p:spPr>
          <a:xfrm>
            <a:off x="2027239" y="1162050"/>
            <a:ext cx="8353425" cy="5329238"/>
          </a:xfrm>
        </p:spPr>
        <p:txBody>
          <a:bodyPr/>
          <a:lstStyle/>
          <a:p>
            <a:pPr marL="822325">
              <a:buFont typeface="Wingdings" panose="05000000000000000000" pitchFamily="2" charset="2"/>
              <a:buChar char="q"/>
            </a:pPr>
            <a:r>
              <a:rPr lang="en-US" altLang="en-US" sz="3600"/>
              <a:t>Write a page about FOSS GIS</a:t>
            </a:r>
          </a:p>
          <a:p>
            <a:pPr marL="822325">
              <a:buFont typeface="Wingdings" panose="05000000000000000000" pitchFamily="2" charset="2"/>
              <a:buChar char="q"/>
            </a:pPr>
            <a:r>
              <a:rPr lang="en-US" altLang="en-US" sz="3600"/>
              <a:t>Write short notes on LiDAR technology</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3859</Words>
  <Application>Microsoft Office PowerPoint</Application>
  <PresentationFormat>Widescreen</PresentationFormat>
  <Paragraphs>515</Paragraphs>
  <Slides>64</Slides>
  <Notes>35</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64</vt:i4>
      </vt:variant>
    </vt:vector>
  </HeadingPairs>
  <TitlesOfParts>
    <vt:vector size="75" baseType="lpstr">
      <vt:lpstr>Arial</vt:lpstr>
      <vt:lpstr>Calibri</vt:lpstr>
      <vt:lpstr>Calibri Light</vt:lpstr>
      <vt:lpstr>Tahoma</vt:lpstr>
      <vt:lpstr>Times New Roman</vt:lpstr>
      <vt:lpstr>Verdana</vt:lpstr>
      <vt:lpstr>Wingdings</vt:lpstr>
      <vt:lpstr>Office Theme</vt:lpstr>
      <vt:lpstr>Microsoft Photo Editor 3.0 Photo</vt:lpstr>
      <vt:lpstr>Picture</vt:lpstr>
      <vt:lpstr>Microsoft Word Picture</vt:lpstr>
      <vt:lpstr>Capturing Real World   Chapter - 4</vt:lpstr>
      <vt:lpstr>Outlines</vt:lpstr>
      <vt:lpstr>Different methods  of  data capture</vt:lpstr>
      <vt:lpstr>Stages in Data Collection Projects</vt:lpstr>
      <vt:lpstr>Methods of data capture</vt:lpstr>
      <vt:lpstr>Methods of data capture</vt:lpstr>
      <vt:lpstr>Data Collection Techniques </vt:lpstr>
      <vt:lpstr>Data Collection Techniques </vt:lpstr>
      <vt:lpstr>Primary GIS data capture</vt:lpstr>
      <vt:lpstr>Raster Data capture</vt:lpstr>
      <vt:lpstr>How Remote Sensing works?</vt:lpstr>
      <vt:lpstr>Raster Data capture</vt:lpstr>
      <vt:lpstr>Raster Data capture</vt:lpstr>
      <vt:lpstr>Vector Data capture</vt:lpstr>
      <vt:lpstr>Vector Data capture</vt:lpstr>
      <vt:lpstr>Vector Data capture</vt:lpstr>
      <vt:lpstr>Vector Data capture : GPS</vt:lpstr>
      <vt:lpstr>GPS: Total Station</vt:lpstr>
      <vt:lpstr>GPS: Pen/Portable PC</vt:lpstr>
      <vt:lpstr>Secondary GIS data capture</vt:lpstr>
      <vt:lpstr>Raster Data capture</vt:lpstr>
      <vt:lpstr>Vector Data capture</vt:lpstr>
      <vt:lpstr>Vector Data capture: Digitizer</vt:lpstr>
      <vt:lpstr>Data Preparation  and  Integration</vt:lpstr>
      <vt:lpstr>Necessary steps</vt:lpstr>
      <vt:lpstr>Necessary steps</vt:lpstr>
      <vt:lpstr>Step 1: Geocoding</vt:lpstr>
      <vt:lpstr>Step 2: Data Media Conversion</vt:lpstr>
      <vt:lpstr>Step 3: Data Format Conversion</vt:lpstr>
      <vt:lpstr>Vector to Raster Conversion </vt:lpstr>
      <vt:lpstr>Raster to Vector Conversion Skeletonizing</vt:lpstr>
      <vt:lpstr>Data Format Conversion Implementation in ArcGIS 9</vt:lpstr>
      <vt:lpstr>Step 4: Data Reduction</vt:lpstr>
      <vt:lpstr>Step 4: Data Reduction</vt:lpstr>
      <vt:lpstr>Step 5: Error detection &amp; removal</vt:lpstr>
      <vt:lpstr>common problems</vt:lpstr>
      <vt:lpstr>Step 6: Rectification and Registration</vt:lpstr>
      <vt:lpstr>Step 6: Rectification and Registration</vt:lpstr>
      <vt:lpstr>Step 7: Edge Matching</vt:lpstr>
      <vt:lpstr>Step 8: Interpolation</vt:lpstr>
      <vt:lpstr>Step 9: Conflation</vt:lpstr>
      <vt:lpstr>Map projection  and  Spatial reference</vt:lpstr>
      <vt:lpstr>Map projection </vt:lpstr>
      <vt:lpstr>Map Projection</vt:lpstr>
      <vt:lpstr>Map Projection</vt:lpstr>
      <vt:lpstr>Map Projection</vt:lpstr>
      <vt:lpstr>Distortions</vt:lpstr>
      <vt:lpstr>Map Projections Parameters</vt:lpstr>
      <vt:lpstr>Map Projections Types</vt:lpstr>
      <vt:lpstr>PowerPoint Presentation</vt:lpstr>
      <vt:lpstr>Map Projections Types</vt:lpstr>
      <vt:lpstr>Types of projections</vt:lpstr>
      <vt:lpstr>Spatial Reference</vt:lpstr>
      <vt:lpstr>Spatial Reference Systems</vt:lpstr>
      <vt:lpstr>Local vs global referencing</vt:lpstr>
      <vt:lpstr>Coordinate systems</vt:lpstr>
      <vt:lpstr>Coordinate system</vt:lpstr>
      <vt:lpstr>Direct vs. Indirect Positioning</vt:lpstr>
      <vt:lpstr>2D vs. 3D systems</vt:lpstr>
      <vt:lpstr>Geographic vs. Projected Coordinate System</vt:lpstr>
      <vt:lpstr>Geographic Coordinate System</vt:lpstr>
      <vt:lpstr>Globe</vt:lpstr>
      <vt:lpstr>Earth Surface: Ellipsoid, Geoid, Topo</vt:lpstr>
      <vt:lpstr>Assignment - 5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Capturing Real World   Chapter - 4</dc:title>
  <dc:creator>Puranjan</dc:creator>
  <cp:lastModifiedBy>Puranjan</cp:lastModifiedBy>
  <cp:revision>1</cp:revision>
  <dcterms:created xsi:type="dcterms:W3CDTF">2017-01-29T16:01:03Z</dcterms:created>
  <dcterms:modified xsi:type="dcterms:W3CDTF">2017-01-29T16:01:15Z</dcterms:modified>
</cp:coreProperties>
</file>