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7" d="100"/>
          <a:sy n="67" d="100"/>
        </p:scale>
        <p:origin x="78"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097E25-2A73-41C4-9251-9993ECC543A2}" type="datetimeFigureOut">
              <a:rPr lang="en-US" smtClean="0"/>
              <a:t>1/29/2017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8C2622-4FDB-4201-8513-9A0C9FCB47F0}" type="slidenum">
              <a:rPr lang="en-US" smtClean="0"/>
              <a:t>‹#›</a:t>
            </a:fld>
            <a:endParaRPr lang="en-US"/>
          </a:p>
        </p:txBody>
      </p:sp>
    </p:spTree>
    <p:extLst>
      <p:ext uri="{BB962C8B-B14F-4D97-AF65-F5344CB8AC3E}">
        <p14:creationId xmlns:p14="http://schemas.microsoft.com/office/powerpoint/2010/main" val="4044248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osgeo.org/files/viscom/library/holmes_2006a.odp"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osgeo.org/files/viscom/library/holmes_2006a.odp"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43218E30-3A08-4109-98F1-585379325C27}" type="slidenum">
              <a:rPr lang="en-US" altLang="en-US" smtClean="0">
                <a:latin typeface="Arial" panose="020B0604020202020204" pitchFamily="34" charset="0"/>
              </a:rPr>
              <a:pPr/>
              <a:t>3</a:t>
            </a:fld>
            <a:endParaRPr lang="en-US" altLang="en-US" smtClean="0">
              <a:latin typeface="Arial" panose="020B0604020202020204" pitchFamily="34" charset="0"/>
            </a:endParaRPr>
          </a:p>
        </p:txBody>
      </p:sp>
      <p:sp>
        <p:nvSpPr>
          <p:cNvPr id="9219" name="Rectangle 2"/>
          <p:cNvSpPr>
            <a:spLocks noRot="1" noChangeArrowheads="1" noTextEdit="1"/>
          </p:cNvSpPr>
          <p:nvPr>
            <p:ph type="sldImg"/>
          </p:nvPr>
        </p:nvSpPr>
        <p:spPr>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5000"/>
              </a:lnSpc>
              <a:spcBef>
                <a:spcPct val="0"/>
              </a:spcBef>
            </a:pPr>
            <a:r>
              <a:rPr lang="en-US" altLang="en-US" sz="1600" smtClean="0">
                <a:solidFill>
                  <a:srgbClr val="FFFFFF"/>
                </a:solidFill>
                <a:latin typeface="Comic Sans MS" panose="030F0702030302020204" pitchFamily="66" charset="0"/>
                <a:cs typeface="Arial" panose="020B0604020202020204" pitchFamily="34" charset="0"/>
              </a:rPr>
              <a:t>The common misconception with anything free is that there is something wrong with it.</a:t>
            </a:r>
          </a:p>
        </p:txBody>
      </p:sp>
    </p:spTree>
    <p:extLst>
      <p:ext uri="{BB962C8B-B14F-4D97-AF65-F5344CB8AC3E}">
        <p14:creationId xmlns:p14="http://schemas.microsoft.com/office/powerpoint/2010/main" val="26825283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E1AC8F6-BC75-4531-B99B-552C623A9470}" type="slidenum">
              <a:rPr lang="en-US" altLang="en-US" smtClean="0"/>
              <a:pPr>
                <a:spcBef>
                  <a:spcPct val="0"/>
                </a:spcBef>
              </a:pPr>
              <a:t>5</a:t>
            </a:fld>
            <a:endParaRPr lang="en-US" altLang="en-US" smtClean="0"/>
          </a:p>
        </p:txBody>
      </p:sp>
      <p:sp>
        <p:nvSpPr>
          <p:cNvPr id="12291" name="Rectangle 2"/>
          <p:cNvSpPr>
            <a:spLocks noGrp="1" noRot="1" noChangeAspect="1" noChangeArrowheads="1" noTextEdit="1"/>
          </p:cNvSpPr>
          <p:nvPr>
            <p:ph type="sldImg"/>
          </p:nvPr>
        </p:nvSpPr>
        <p:spPr>
          <a:xfrm>
            <a:off x="385763" y="687388"/>
            <a:ext cx="6088062" cy="3425825"/>
          </a:xfrm>
          <a:ln w="12700" cap="flat">
            <a:solidFill>
              <a:schemeClr val="tx1"/>
            </a:solidFill>
          </a:ln>
        </p:spPr>
      </p:sp>
      <p:sp>
        <p:nvSpPr>
          <p:cNvPr id="12292"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eaLnBrk="1" hangingPunct="1">
              <a:spcBef>
                <a:spcPct val="0"/>
              </a:spcBef>
            </a:pPr>
            <a:endParaRPr lang="ru-RU" altLang="en-US" sz="240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75824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0B5B5423-2AF5-4927-98ED-87912897321E}" type="slidenum">
              <a:rPr lang="en-US" altLang="en-US" smtClean="0">
                <a:latin typeface="Arial" panose="020B0604020202020204" pitchFamily="34" charset="0"/>
              </a:rPr>
              <a:pPr/>
              <a:t>12</a:t>
            </a:fld>
            <a:endParaRPr lang="en-US" altLang="en-US" smtClean="0">
              <a:latin typeface="Arial" panose="020B0604020202020204" pitchFamily="34" charset="0"/>
            </a:endParaRPr>
          </a:p>
        </p:txBody>
      </p:sp>
      <p:sp>
        <p:nvSpPr>
          <p:cNvPr id="20483" name="Rectangle 2"/>
          <p:cNvSpPr>
            <a:spLocks noChangeArrowheads="1" noTextEdit="1"/>
          </p:cNvSpPr>
          <p:nvPr>
            <p:ph type="sldImg"/>
          </p:nvPr>
        </p:nvSpPr>
        <p:spPr>
          <a:ln/>
        </p:spPr>
      </p:sp>
      <p:sp>
        <p:nvSpPr>
          <p:cNvPr id="20484" name="Text Box 3"/>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r>
              <a:rPr lang="en-US" altLang="en-US" b="1" smtClean="0">
                <a:latin typeface="Arial" panose="020B0604020202020204" pitchFamily="34" charset="0"/>
                <a:cs typeface="Arial" panose="020B0604020202020204" pitchFamily="34" charset="0"/>
                <a:hlinkClick r:id="rId3" tooltip="http://osgeo.org/files/viscom/library/holmes_2006a.odp"/>
              </a:rPr>
              <a:t>Holmes_2006a</a:t>
            </a:r>
            <a:r>
              <a:rPr lang="en-US" altLang="en-US" smtClean="0">
                <a:latin typeface="Arial" panose="020B0604020202020204" pitchFamily="34" charset="0"/>
                <a:cs typeface="Arial" panose="020B0604020202020204" pitchFamily="34" charset="0"/>
              </a:rPr>
              <a:t> - "Return on investment of Open Source Software / An Ever-increasing Return on Investment", by Chris Holmes; from Location Intelligence 2006; 5 slides </a:t>
            </a:r>
            <a:r>
              <a:rPr lang="en-US" altLang="en-US" i="1" smtClean="0">
                <a:latin typeface="Arial" panose="020B0604020202020204" pitchFamily="34" charset="0"/>
                <a:cs typeface="Arial" panose="020B0604020202020204" pitchFamily="34" charset="0"/>
              </a:rPr>
              <a:t>[remix: yes] [format: PPT, ODP]</a:t>
            </a:r>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734032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3336D136-FCBD-4809-AF9F-842BF1F006B4}" type="slidenum">
              <a:rPr lang="en-US" altLang="en-US" smtClean="0">
                <a:latin typeface="Arial" panose="020B0604020202020204" pitchFamily="34" charset="0"/>
              </a:rPr>
              <a:pPr/>
              <a:t>13</a:t>
            </a:fld>
            <a:endParaRPr lang="en-US" altLang="en-US" smtClean="0">
              <a:latin typeface="Arial" panose="020B0604020202020204" pitchFamily="34" charset="0"/>
            </a:endParaRPr>
          </a:p>
        </p:txBody>
      </p:sp>
      <p:sp>
        <p:nvSpPr>
          <p:cNvPr id="22531" name="Rectangle 2"/>
          <p:cNvSpPr>
            <a:spLocks noChangeArrowheads="1" noTextEdit="1"/>
          </p:cNvSpPr>
          <p:nvPr>
            <p:ph type="sldImg"/>
          </p:nvPr>
        </p:nvSpPr>
        <p:spPr>
          <a:ln/>
        </p:spPr>
      </p:sp>
      <p:sp>
        <p:nvSpPr>
          <p:cNvPr id="22532" name="Text Box 3"/>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r>
              <a:rPr lang="en-US" altLang="en-US" b="1" smtClean="0">
                <a:latin typeface="Arial" panose="020B0604020202020204" pitchFamily="34" charset="0"/>
                <a:cs typeface="Arial" panose="020B0604020202020204" pitchFamily="34" charset="0"/>
                <a:hlinkClick r:id="rId3" tooltip="http://osgeo.org/files/viscom/library/holmes_2006a.odp"/>
              </a:rPr>
              <a:t>Holmes_2006a</a:t>
            </a:r>
            <a:r>
              <a:rPr lang="en-US" altLang="en-US" smtClean="0">
                <a:latin typeface="Arial" panose="020B0604020202020204" pitchFamily="34" charset="0"/>
                <a:cs typeface="Arial" panose="020B0604020202020204" pitchFamily="34" charset="0"/>
              </a:rPr>
              <a:t> - "Return on investment of Open Source Software / An Ever-increasing Return on Investment", by Chris Holmes; from Location Intelligence 2006; 5 slides </a:t>
            </a:r>
            <a:r>
              <a:rPr lang="en-US" altLang="en-US" i="1" smtClean="0">
                <a:latin typeface="Arial" panose="020B0604020202020204" pitchFamily="34" charset="0"/>
                <a:cs typeface="Arial" panose="020B0604020202020204" pitchFamily="34" charset="0"/>
              </a:rPr>
              <a:t>[remix: yes] [format: PPT, ODP]</a:t>
            </a:r>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828578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B02B82E9-C220-4199-88E5-D5583B02453C}" type="slidenum">
              <a:rPr lang="en-US" altLang="en-US" smtClean="0">
                <a:latin typeface="Arial" panose="020B0604020202020204" pitchFamily="34" charset="0"/>
              </a:rPr>
              <a:pPr/>
              <a:t>14</a:t>
            </a:fld>
            <a:endParaRPr lang="en-US" altLang="en-US" smtClean="0">
              <a:latin typeface="Arial" panose="020B0604020202020204" pitchFamily="34" charset="0"/>
            </a:endParaRPr>
          </a:p>
        </p:txBody>
      </p:sp>
      <p:sp>
        <p:nvSpPr>
          <p:cNvPr id="24579" name="Rectangle 2"/>
          <p:cNvSpPr>
            <a:spLocks noRo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solidFill>
                  <a:srgbClr val="FFFFFF"/>
                </a:solidFill>
                <a:latin typeface="Arial" panose="020B0604020202020204" pitchFamily="34" charset="0"/>
                <a:cs typeface="Arial" panose="020B0604020202020204" pitchFamily="34" charset="0"/>
              </a:rPr>
              <a:t>Imagine if all past knowledge was kept hidden or its use was restricted to only those who are willing to pay for it. Education and research would suffer. Publishing books or sharing information of any sort would become difficult. Yet this is the mentality behind the proprietary software model. In the same way shared knowledge propels the whole of society forward, open technology development can drive innovation for an entire industry.</a:t>
            </a:r>
          </a:p>
          <a:p>
            <a:r>
              <a:rPr lang="en-US" altLang="en-US" smtClean="0">
                <a:solidFill>
                  <a:srgbClr val="FFFFFF"/>
                </a:solidFill>
                <a:latin typeface="Arial" panose="020B0604020202020204" pitchFamily="34" charset="0"/>
                <a:cs typeface="Arial" panose="020B0604020202020204" pitchFamily="34" charset="0"/>
              </a:rPr>
              <a:t>http://www.redhat.com/about/whyopensource/</a:t>
            </a:r>
          </a:p>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79281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5CEF8D49-1469-4232-9B9C-97E898FCDBCE}" type="slidenum">
              <a:rPr lang="en-US" altLang="en-US" smtClean="0">
                <a:latin typeface="Arial" panose="020B0604020202020204" pitchFamily="34" charset="0"/>
              </a:rPr>
              <a:pPr/>
              <a:t>20</a:t>
            </a:fld>
            <a:endParaRPr lang="en-US" altLang="en-US" smtClean="0">
              <a:latin typeface="Arial" panose="020B0604020202020204" pitchFamily="34" charset="0"/>
            </a:endParaRPr>
          </a:p>
        </p:txBody>
      </p:sp>
      <p:sp>
        <p:nvSpPr>
          <p:cNvPr id="31747" name="Rectangle 2"/>
          <p:cNvSpPr>
            <a:spLocks noRo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cs typeface="Arial" panose="020B0604020202020204" pitchFamily="34" charset="0"/>
              </a:rPr>
              <a:t>http://opengeo.org/publications/opengeo-architecture/</a:t>
            </a:r>
          </a:p>
        </p:txBody>
      </p:sp>
    </p:spTree>
    <p:extLst>
      <p:ext uri="{BB962C8B-B14F-4D97-AF65-F5344CB8AC3E}">
        <p14:creationId xmlns:p14="http://schemas.microsoft.com/office/powerpoint/2010/main" val="172284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69679D5-49F7-432A-9087-53E4CA131C13}" type="slidenum">
              <a:rPr lang="en-US" altLang="en-US" smtClean="0"/>
              <a:pPr>
                <a:spcBef>
                  <a:spcPct val="0"/>
                </a:spcBef>
              </a:pPr>
              <a:t>22</a:t>
            </a:fld>
            <a:endParaRPr lang="en-US" altLang="en-US" smtClean="0"/>
          </a:p>
        </p:txBody>
      </p:sp>
      <p:sp>
        <p:nvSpPr>
          <p:cNvPr id="34819" name="Rectangle 2"/>
          <p:cNvSpPr>
            <a:spLocks noGrp="1" noRot="1" noChangeAspect="1" noChangeArrowheads="1" noTextEdit="1"/>
          </p:cNvSpPr>
          <p:nvPr>
            <p:ph type="sldImg"/>
          </p:nvPr>
        </p:nvSpPr>
        <p:spPr>
          <a:xfrm>
            <a:off x="385763" y="687388"/>
            <a:ext cx="6088062" cy="3425825"/>
          </a:xfrm>
          <a:ln w="12700" cap="flat">
            <a:solidFill>
              <a:schemeClr val="tx1"/>
            </a:solidFill>
          </a:ln>
        </p:spPr>
      </p:sp>
      <p:sp>
        <p:nvSpPr>
          <p:cNvPr id="34820"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eaLnBrk="1" hangingPunct="1">
              <a:spcBef>
                <a:spcPct val="0"/>
              </a:spcBef>
            </a:pPr>
            <a:endParaRPr lang="ru-RU" altLang="en-US" sz="240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513918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64F2E2C4-145F-48FC-BFD3-02C24FDB2DF8}" type="slidenum">
              <a:rPr lang="en-US" altLang="en-US" smtClean="0">
                <a:latin typeface="Arial" panose="020B0604020202020204" pitchFamily="34" charset="0"/>
              </a:rPr>
              <a:pPr/>
              <a:t>23</a:t>
            </a:fld>
            <a:endParaRPr lang="en-US" altLang="en-US" smtClean="0">
              <a:latin typeface="Arial" panose="020B0604020202020204" pitchFamily="34" charset="0"/>
            </a:endParaRPr>
          </a:p>
        </p:txBody>
      </p:sp>
      <p:sp>
        <p:nvSpPr>
          <p:cNvPr id="36867" name="Rectangle 2"/>
          <p:cNvSpPr>
            <a:spLocks noChangeArrowheads="1" noTextEdit="1"/>
          </p:cNvSpPr>
          <p:nvPr>
            <p:ph type="sldImg"/>
          </p:nvPr>
        </p:nvSpPr>
        <p:spPr>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a:p>
            <a:r>
              <a:rPr lang="en-US" altLang="en-US" smtClean="0">
                <a:latin typeface="Arial" panose="020B0604020202020204" pitchFamily="34" charset="0"/>
                <a:cs typeface="Arial" panose="020B0604020202020204" pitchFamily="34" charset="0"/>
              </a:rPr>
              <a:t>Web GIS combines some of the basic capabilities of a GIS with Internet technology.</a:t>
            </a:r>
          </a:p>
          <a:p>
            <a:endParaRPr lang="en-US" altLang="en-US" smtClean="0">
              <a:latin typeface="Arial" panose="020B0604020202020204" pitchFamily="34" charset="0"/>
              <a:cs typeface="Arial" panose="020B0604020202020204" pitchFamily="34" charset="0"/>
            </a:endParaRPr>
          </a:p>
          <a:p>
            <a:r>
              <a:rPr lang="en-US" altLang="en-US" smtClean="0">
                <a:latin typeface="Arial" panose="020B0604020202020204" pitchFamily="34" charset="0"/>
                <a:cs typeface="Arial" panose="020B0604020202020204" pitchFamily="34" charset="0"/>
              </a:rPr>
              <a:t>The user can access a GIS and its data over the Internet, without needing local GIS software or data.</a:t>
            </a:r>
          </a:p>
          <a:p>
            <a:r>
              <a:rPr lang="en-US" altLang="en-US" smtClean="0">
                <a:latin typeface="Arial" panose="020B0604020202020204" pitchFamily="34" charset="0"/>
                <a:cs typeface="Arial" panose="020B0604020202020204" pitchFamily="34" charset="0"/>
              </a:rPr>
              <a:t>All that is required is a web browser and internet connection.</a:t>
            </a:r>
          </a:p>
          <a:p>
            <a:endParaRPr lang="en-US" altLang="en-US" smtClean="0">
              <a:latin typeface="Arial" panose="020B0604020202020204" pitchFamily="34" charset="0"/>
              <a:cs typeface="Arial" panose="020B0604020202020204" pitchFamily="34" charset="0"/>
            </a:endParaRPr>
          </a:p>
          <a:p>
            <a:r>
              <a:rPr lang="en-US" altLang="en-US" smtClean="0">
                <a:latin typeface="Arial" panose="020B0604020202020204" pitchFamily="34" charset="0"/>
                <a:cs typeface="Arial" panose="020B0604020202020204" pitchFamily="34" charset="0"/>
              </a:rPr>
              <a:t>The interface is less complex than a full GIS:  The tools, map, layers, and information are all accessible from a single web page.</a:t>
            </a:r>
          </a:p>
          <a:p>
            <a:endParaRPr lang="en-US" altLang="en-US" smtClean="0">
              <a:latin typeface="Arial" panose="020B0604020202020204" pitchFamily="34" charset="0"/>
              <a:cs typeface="Arial" panose="020B0604020202020204" pitchFamily="34" charset="0"/>
            </a:endParaRPr>
          </a:p>
          <a:p>
            <a:r>
              <a:rPr lang="en-US" altLang="en-US" smtClean="0">
                <a:latin typeface="Arial" panose="020B0604020202020204" pitchFamily="34" charset="0"/>
                <a:cs typeface="Arial" panose="020B0604020202020204" pitchFamily="34" charset="0"/>
              </a:rPr>
              <a:t>What teachers need is a tool that helps them to meet educational standards, instead of a program that requires a lot of class time to teach the technology.  I believe web GIS can do this.</a:t>
            </a:r>
          </a:p>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00107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4AE041A8-EBE2-4539-B78C-BF815497A934}" type="slidenum">
              <a:rPr lang="en-US" altLang="en-US" smtClean="0">
                <a:latin typeface="Arial" panose="020B0604020202020204" pitchFamily="34" charset="0"/>
              </a:rPr>
              <a:pPr/>
              <a:t>24</a:t>
            </a:fld>
            <a:endParaRPr lang="en-US" altLang="en-US" smtClean="0">
              <a:latin typeface="Arial" panose="020B0604020202020204" pitchFamily="34" charset="0"/>
            </a:endParaRPr>
          </a:p>
        </p:txBody>
      </p:sp>
      <p:sp>
        <p:nvSpPr>
          <p:cNvPr id="38915" name="Rectangle 2"/>
          <p:cNvSpPr>
            <a:spLocks noChangeArrowheads="1" noTextEdit="1"/>
          </p:cNvSpPr>
          <p:nvPr>
            <p:ph type="sldImg"/>
          </p:nvPr>
        </p:nvSpPr>
        <p:spPr>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cs typeface="Arial" panose="020B0604020202020204" pitchFamily="34" charset="0"/>
              </a:rPr>
              <a:t>Web GIS is a fairly recent technology, although the dispersal of geographic data over the internet has been done for awhile in the form of static maps, such as MapQuest or Terraserver, as well as downloadable data that can be used with local GIS programs. </a:t>
            </a:r>
          </a:p>
          <a:p>
            <a:r>
              <a:rPr lang="en-US" altLang="en-US" smtClean="0">
                <a:latin typeface="Arial" panose="020B0604020202020204" pitchFamily="34" charset="0"/>
                <a:cs typeface="Arial" panose="020B0604020202020204" pitchFamily="34" charset="0"/>
              </a:rPr>
              <a:t> </a:t>
            </a:r>
          </a:p>
          <a:p>
            <a:r>
              <a:rPr lang="en-US" altLang="en-US" smtClean="0">
                <a:latin typeface="Arial" panose="020B0604020202020204" pitchFamily="34" charset="0"/>
                <a:cs typeface="Arial" panose="020B0604020202020204" pitchFamily="34" charset="0"/>
              </a:rPr>
              <a:t>With the development of Web GIS, the internet is becoming more of a portal for GIS functionality as well as data distribution.  People can perform basic GIS functions such as having control over what layers they wish to see, as well querying or buffering features in a layer.</a:t>
            </a:r>
          </a:p>
          <a:p>
            <a:r>
              <a:rPr lang="en-US" altLang="en-US" smtClean="0">
                <a:latin typeface="Arial" panose="020B0604020202020204" pitchFamily="34" charset="0"/>
                <a:cs typeface="Arial" panose="020B0604020202020204" pitchFamily="34" charset="0"/>
              </a:rPr>
              <a:t> </a:t>
            </a:r>
          </a:p>
          <a:p>
            <a:r>
              <a:rPr lang="en-US" altLang="en-US" smtClean="0">
                <a:latin typeface="Arial" panose="020B0604020202020204" pitchFamily="34" charset="0"/>
                <a:cs typeface="Arial" panose="020B0604020202020204" pitchFamily="34" charset="0"/>
              </a:rPr>
              <a:t>Local GIS programs and data are not required, making it easy for a novice or expert to use.</a:t>
            </a:r>
          </a:p>
          <a:p>
            <a:r>
              <a:rPr lang="en-US" altLang="en-US" smtClean="0">
                <a:latin typeface="Arial" panose="020B0604020202020204" pitchFamily="34" charset="0"/>
                <a:cs typeface="Arial" panose="020B0604020202020204" pitchFamily="34" charset="0"/>
              </a:rPr>
              <a:t>A web GIS site can be tailored to be as simple or complex as the audience needs.  </a:t>
            </a:r>
          </a:p>
        </p:txBody>
      </p:sp>
    </p:spTree>
    <p:extLst>
      <p:ext uri="{BB962C8B-B14F-4D97-AF65-F5344CB8AC3E}">
        <p14:creationId xmlns:p14="http://schemas.microsoft.com/office/powerpoint/2010/main" val="1583013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255E9C33-8A2C-496F-814F-7180FA52D846}" type="slidenum">
              <a:rPr lang="en-US" altLang="en-US" smtClean="0">
                <a:latin typeface="Arial" panose="020B0604020202020204" pitchFamily="34" charset="0"/>
              </a:rPr>
              <a:pPr/>
              <a:t>25</a:t>
            </a:fld>
            <a:endParaRPr lang="en-US" altLang="en-US" smtClean="0">
              <a:latin typeface="Arial" panose="020B0604020202020204" pitchFamily="34" charset="0"/>
            </a:endParaRPr>
          </a:p>
        </p:txBody>
      </p:sp>
      <p:sp>
        <p:nvSpPr>
          <p:cNvPr id="40963" name="Rectangle 1026"/>
          <p:cNvSpPr>
            <a:spLocks noChangeArrowheads="1" noTextEdit="1"/>
          </p:cNvSpPr>
          <p:nvPr>
            <p:ph type="sldImg"/>
          </p:nvPr>
        </p:nvSpPr>
        <p:spPr>
          <a:ln/>
        </p:spPr>
      </p:sp>
      <p:sp>
        <p:nvSpPr>
          <p:cNvPr id="40964"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cs typeface="Arial" panose="020B0604020202020204" pitchFamily="34" charset="0"/>
              </a:rPr>
              <a:t>The objectives of my study were to:</a:t>
            </a:r>
          </a:p>
          <a:p>
            <a:endParaRPr lang="en-US" altLang="en-US" smtClean="0">
              <a:latin typeface="Arial" panose="020B0604020202020204" pitchFamily="34" charset="0"/>
              <a:cs typeface="Arial" panose="020B0604020202020204" pitchFamily="34" charset="0"/>
            </a:endParaRPr>
          </a:p>
          <a:p>
            <a:r>
              <a:rPr lang="en-US" altLang="en-US" smtClean="0">
                <a:latin typeface="Arial" panose="020B0604020202020204" pitchFamily="34" charset="0"/>
                <a:cs typeface="Arial" panose="020B0604020202020204" pitchFamily="34" charset="0"/>
              </a:rPr>
              <a:t>1. Determine if web GIS is a viable option for GIS use in secondary education.</a:t>
            </a:r>
          </a:p>
          <a:p>
            <a:endParaRPr lang="en-US" altLang="en-US" smtClean="0">
              <a:latin typeface="Arial" panose="020B0604020202020204" pitchFamily="34" charset="0"/>
              <a:cs typeface="Arial" panose="020B0604020202020204" pitchFamily="34" charset="0"/>
            </a:endParaRPr>
          </a:p>
          <a:p>
            <a:r>
              <a:rPr lang="en-US" altLang="en-US" smtClean="0">
                <a:latin typeface="Arial" panose="020B0604020202020204" pitchFamily="34" charset="0"/>
                <a:cs typeface="Arial" panose="020B0604020202020204" pitchFamily="34" charset="0"/>
              </a:rPr>
              <a:t>2. Determine some of the benefits and limitations of web GIS use in education.</a:t>
            </a:r>
          </a:p>
          <a:p>
            <a:endParaRPr lang="en-US" altLang="en-US" smtClean="0">
              <a:latin typeface="Arial" panose="020B0604020202020204" pitchFamily="34" charset="0"/>
              <a:cs typeface="Arial" panose="020B0604020202020204" pitchFamily="34" charset="0"/>
            </a:endParaRPr>
          </a:p>
          <a:p>
            <a:r>
              <a:rPr lang="en-US" altLang="en-US" smtClean="0">
                <a:latin typeface="Arial" panose="020B0604020202020204" pitchFamily="34" charset="0"/>
                <a:cs typeface="Arial" panose="020B0604020202020204" pitchFamily="34" charset="0"/>
              </a:rPr>
              <a:t>3. Determine some of the factors of success that are needed to make web GIS use a reality in education.</a:t>
            </a:r>
          </a:p>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87014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0445EE83-7BB4-4152-8271-C01169B5C581}" type="slidenum">
              <a:rPr lang="en-US" altLang="en-US" smtClean="0">
                <a:latin typeface="Arial" panose="020B0604020202020204" pitchFamily="34" charset="0"/>
              </a:rPr>
              <a:pPr/>
              <a:t>26</a:t>
            </a:fld>
            <a:endParaRPr lang="en-US" altLang="en-US" smtClean="0">
              <a:latin typeface="Arial" panose="020B0604020202020204" pitchFamily="34" charset="0"/>
            </a:endParaRPr>
          </a:p>
        </p:txBody>
      </p:sp>
      <p:sp>
        <p:nvSpPr>
          <p:cNvPr id="43011" name="Rectangle 2"/>
          <p:cNvSpPr>
            <a:spLocks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cs typeface="Arial" panose="020B0604020202020204" pitchFamily="34" charset="0"/>
              </a:rPr>
              <a:t>The current status of GIS use in secondary ed is pretty grim.</a:t>
            </a:r>
          </a:p>
          <a:p>
            <a:endParaRPr lang="en-US" altLang="en-US" smtClean="0">
              <a:latin typeface="Arial" panose="020B0604020202020204" pitchFamily="34" charset="0"/>
              <a:cs typeface="Arial" panose="020B0604020202020204" pitchFamily="34" charset="0"/>
            </a:endParaRPr>
          </a:p>
          <a:p>
            <a:r>
              <a:rPr lang="en-US" altLang="en-US" smtClean="0">
                <a:latin typeface="Arial" panose="020B0604020202020204" pitchFamily="34" charset="0"/>
                <a:cs typeface="Arial" panose="020B0604020202020204" pitchFamily="34" charset="0"/>
              </a:rPr>
              <a:t>Only 2% of high schools own a GIS,</a:t>
            </a:r>
          </a:p>
          <a:p>
            <a:endParaRPr lang="en-US" altLang="en-US" smtClean="0">
              <a:latin typeface="Arial" panose="020B0604020202020204" pitchFamily="34" charset="0"/>
              <a:cs typeface="Arial" panose="020B0604020202020204" pitchFamily="34" charset="0"/>
            </a:endParaRPr>
          </a:p>
          <a:p>
            <a:r>
              <a:rPr lang="en-US" altLang="en-US" smtClean="0">
                <a:latin typeface="Arial" panose="020B0604020202020204" pitchFamily="34" charset="0"/>
                <a:cs typeface="Arial" panose="020B0604020202020204" pitchFamily="34" charset="0"/>
              </a:rPr>
              <a:t>And only HALF of those schools use it.</a:t>
            </a:r>
          </a:p>
          <a:p>
            <a:endParaRPr lang="en-US" altLang="en-US" smtClean="0">
              <a:latin typeface="Arial" panose="020B0604020202020204" pitchFamily="34" charset="0"/>
              <a:cs typeface="Arial" panose="020B0604020202020204" pitchFamily="34" charset="0"/>
            </a:endParaRPr>
          </a:p>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522568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68836ACD-1184-4A57-BA44-205ED10076A7}" type="slidenum">
              <a:rPr lang="en-US" altLang="en-US" smtClean="0">
                <a:latin typeface="Arial" panose="020B0604020202020204" pitchFamily="34" charset="0"/>
              </a:rPr>
              <a:pPr/>
              <a:t>27</a:t>
            </a:fld>
            <a:endParaRPr lang="en-US" altLang="en-US" smtClean="0">
              <a:latin typeface="Arial" panose="020B0604020202020204" pitchFamily="34" charset="0"/>
            </a:endParaRPr>
          </a:p>
        </p:txBody>
      </p:sp>
      <p:sp>
        <p:nvSpPr>
          <p:cNvPr id="45059" name="Rectangle 2"/>
          <p:cNvSpPr>
            <a:spLocks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000" smtClean="0">
                <a:latin typeface="Arial" panose="020B0604020202020204" pitchFamily="34" charset="0"/>
                <a:cs typeface="Arial" panose="020B0604020202020204" pitchFamily="34" charset="0"/>
              </a:rPr>
              <a:t>Why are these numbers so low?</a:t>
            </a:r>
          </a:p>
          <a:p>
            <a:endParaRPr lang="en-US" altLang="en-US" sz="1000" smtClean="0">
              <a:latin typeface="Arial" panose="020B0604020202020204" pitchFamily="34" charset="0"/>
              <a:cs typeface="Arial" panose="020B0604020202020204" pitchFamily="34" charset="0"/>
            </a:endParaRPr>
          </a:p>
          <a:p>
            <a:r>
              <a:rPr lang="en-US" altLang="en-US" sz="1000" smtClean="0">
                <a:latin typeface="Arial" panose="020B0604020202020204" pitchFamily="34" charset="0"/>
                <a:cs typeface="Arial" panose="020B0604020202020204" pitchFamily="34" charset="0"/>
              </a:rPr>
              <a:t>A full GIS is to technical for most teachers, and few teachers are willing and able to learn it well enough to teach with it.</a:t>
            </a:r>
          </a:p>
          <a:p>
            <a:endParaRPr lang="en-US" altLang="en-US" sz="1000" smtClean="0">
              <a:latin typeface="Arial" panose="020B0604020202020204" pitchFamily="34" charset="0"/>
              <a:cs typeface="Arial" panose="020B0604020202020204" pitchFamily="34" charset="0"/>
            </a:endParaRPr>
          </a:p>
          <a:p>
            <a:r>
              <a:rPr lang="en-US" altLang="en-US" sz="1000" smtClean="0">
                <a:latin typeface="Arial" panose="020B0604020202020204" pitchFamily="34" charset="0"/>
                <a:cs typeface="Arial" panose="020B0604020202020204" pitchFamily="34" charset="0"/>
              </a:rPr>
              <a:t>A GIS requires a lot of time:</a:t>
            </a:r>
          </a:p>
          <a:p>
            <a:r>
              <a:rPr lang="en-US" altLang="en-US" sz="1000" smtClean="0">
                <a:latin typeface="Arial" panose="020B0604020202020204" pitchFamily="34" charset="0"/>
                <a:cs typeface="Arial" panose="020B0604020202020204" pitchFamily="34" charset="0"/>
              </a:rPr>
              <a:t>	- for teachers to learn well enough to teach, </a:t>
            </a:r>
          </a:p>
          <a:p>
            <a:r>
              <a:rPr lang="en-US" altLang="en-US" sz="1000" smtClean="0">
                <a:latin typeface="Arial" panose="020B0604020202020204" pitchFamily="34" charset="0"/>
                <a:cs typeface="Arial" panose="020B0604020202020204" pitchFamily="34" charset="0"/>
              </a:rPr>
              <a:t>	- It’s also time consuming in the classrooms.  **Few teachers are willing to devote so much class time to teaching the technology of GIS that its complexity requires.  This takes away from time that must be spent teaching material to meet state education standards.</a:t>
            </a:r>
          </a:p>
          <a:p>
            <a:endParaRPr lang="en-US" altLang="en-US" sz="1000" smtClean="0">
              <a:latin typeface="Arial" panose="020B0604020202020204" pitchFamily="34" charset="0"/>
              <a:cs typeface="Arial" panose="020B0604020202020204" pitchFamily="34" charset="0"/>
            </a:endParaRPr>
          </a:p>
          <a:p>
            <a:r>
              <a:rPr lang="en-US" altLang="en-US" sz="1000" smtClean="0">
                <a:latin typeface="Arial" panose="020B0604020202020204" pitchFamily="34" charset="0"/>
                <a:cs typeface="Arial" panose="020B0604020202020204" pitchFamily="34" charset="0"/>
              </a:rPr>
              <a:t>There is also a lack of various resources.</a:t>
            </a:r>
          </a:p>
          <a:p>
            <a:r>
              <a:rPr lang="en-US" altLang="en-US" sz="1000" smtClean="0">
                <a:latin typeface="Arial" panose="020B0604020202020204" pitchFamily="34" charset="0"/>
                <a:cs typeface="Arial" panose="020B0604020202020204" pitchFamily="34" charset="0"/>
              </a:rPr>
              <a:t>There are training opportunities available for teachers, but they are few and scattered across the country, and most are too brief for teachers to learn GIS adequately.</a:t>
            </a:r>
          </a:p>
          <a:p>
            <a:r>
              <a:rPr lang="en-US" altLang="en-US" sz="1000" smtClean="0">
                <a:latin typeface="Arial" panose="020B0604020202020204" pitchFamily="34" charset="0"/>
                <a:cs typeface="Arial" panose="020B0604020202020204" pitchFamily="34" charset="0"/>
              </a:rPr>
              <a:t>In many schools there is also a lack of adequate technology to be able to handle the computer speed and space that a full GIS requires.</a:t>
            </a:r>
          </a:p>
          <a:p>
            <a:r>
              <a:rPr lang="en-US" altLang="en-US" sz="1000" smtClean="0">
                <a:latin typeface="Arial" panose="020B0604020202020204" pitchFamily="34" charset="0"/>
                <a:cs typeface="Arial" panose="020B0604020202020204" pitchFamily="34" charset="0"/>
              </a:rPr>
              <a:t>Money is also a factor, which is needed to support these, as well as to acquire the software, site license, and data.</a:t>
            </a:r>
          </a:p>
          <a:p>
            <a:endParaRPr lang="en-US" altLang="en-US" sz="1000" smtClean="0">
              <a:latin typeface="Arial" panose="020B0604020202020204" pitchFamily="34" charset="0"/>
              <a:cs typeface="Arial" panose="020B0604020202020204" pitchFamily="34" charset="0"/>
            </a:endParaRPr>
          </a:p>
          <a:p>
            <a:r>
              <a:rPr lang="en-US" altLang="en-US" sz="1000" smtClean="0">
                <a:latin typeface="Arial" panose="020B0604020202020204" pitchFamily="34" charset="0"/>
                <a:cs typeface="Arial" panose="020B0604020202020204" pitchFamily="34" charset="0"/>
              </a:rPr>
              <a:t>Finally, there are few curriculum resources that are available, and those that exist mostly pertain to working with national or global data sets.</a:t>
            </a:r>
          </a:p>
          <a:p>
            <a:endParaRPr lang="en-US" altLang="en-US" sz="100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19662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A31A743A-00E2-4793-A7B9-74678A451DF5}" type="slidenum">
              <a:rPr lang="en-US" altLang="en-US" smtClean="0">
                <a:latin typeface="Arial" panose="020B0604020202020204" pitchFamily="34" charset="0"/>
              </a:rPr>
              <a:pPr/>
              <a:t>28</a:t>
            </a:fld>
            <a:endParaRPr lang="en-US" altLang="en-US" smtClean="0">
              <a:latin typeface="Arial" panose="020B0604020202020204" pitchFamily="34" charset="0"/>
            </a:endParaRPr>
          </a:p>
        </p:txBody>
      </p:sp>
      <p:sp>
        <p:nvSpPr>
          <p:cNvPr id="47107" name="Rectangle 2"/>
          <p:cNvSpPr>
            <a:spLocks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cs typeface="Arial" panose="020B0604020202020204" pitchFamily="34" charset="0"/>
              </a:rPr>
              <a:t>Here is a page overview of the atlas. </a:t>
            </a:r>
          </a:p>
          <a:p>
            <a:endParaRPr lang="en-US" altLang="en-US" smtClean="0">
              <a:latin typeface="Arial" panose="020B0604020202020204" pitchFamily="34" charset="0"/>
              <a:cs typeface="Arial" panose="020B0604020202020204" pitchFamily="34" charset="0"/>
            </a:endParaRPr>
          </a:p>
          <a:p>
            <a:r>
              <a:rPr lang="en-US" altLang="en-US" smtClean="0">
                <a:latin typeface="Arial" panose="020B0604020202020204" pitchFamily="34" charset="0"/>
                <a:cs typeface="Arial" panose="020B0604020202020204" pitchFamily="34" charset="0"/>
              </a:rPr>
              <a:t>The map frame is where the layers are displayed.</a:t>
            </a:r>
          </a:p>
          <a:p>
            <a:endParaRPr lang="en-US" altLang="en-US" smtClean="0">
              <a:latin typeface="Arial" panose="020B0604020202020204" pitchFamily="34" charset="0"/>
              <a:cs typeface="Arial" panose="020B0604020202020204" pitchFamily="34" charset="0"/>
            </a:endParaRPr>
          </a:p>
          <a:p>
            <a:r>
              <a:rPr lang="en-US" altLang="en-US" smtClean="0">
                <a:latin typeface="Arial" panose="020B0604020202020204" pitchFamily="34" charset="0"/>
                <a:cs typeface="Arial" panose="020B0604020202020204" pitchFamily="34" charset="0"/>
              </a:rPr>
              <a:t>The layers/legend list is where the viewer can control what layers to turn on and off in the map frame, as well as select an active layer.</a:t>
            </a:r>
          </a:p>
          <a:p>
            <a:endParaRPr lang="en-US" altLang="en-US" smtClean="0">
              <a:latin typeface="Arial" panose="020B0604020202020204" pitchFamily="34" charset="0"/>
              <a:cs typeface="Arial" panose="020B0604020202020204" pitchFamily="34" charset="0"/>
            </a:endParaRPr>
          </a:p>
          <a:p>
            <a:r>
              <a:rPr lang="en-US" altLang="en-US" smtClean="0">
                <a:latin typeface="Arial" panose="020B0604020202020204" pitchFamily="34" charset="0"/>
                <a:cs typeface="Arial" panose="020B0604020202020204" pitchFamily="34" charset="0"/>
              </a:rPr>
              <a:t>The overview map shows the area within the atlas extent that the map frame is currently displaying.</a:t>
            </a:r>
          </a:p>
          <a:p>
            <a:endParaRPr lang="en-US" altLang="en-US" smtClean="0">
              <a:latin typeface="Arial" panose="020B0604020202020204" pitchFamily="34" charset="0"/>
              <a:cs typeface="Arial" panose="020B0604020202020204" pitchFamily="34" charset="0"/>
            </a:endParaRPr>
          </a:p>
          <a:p>
            <a:r>
              <a:rPr lang="en-US" altLang="en-US" smtClean="0">
                <a:latin typeface="Arial" panose="020B0604020202020204" pitchFamily="34" charset="0"/>
                <a:cs typeface="Arial" panose="020B0604020202020204" pitchFamily="34" charset="0"/>
              </a:rPr>
              <a:t>The toolbar displays the different functions available to the viewer,</a:t>
            </a:r>
          </a:p>
          <a:p>
            <a:endParaRPr lang="en-US" altLang="en-US" smtClean="0">
              <a:latin typeface="Arial" panose="020B0604020202020204" pitchFamily="34" charset="0"/>
              <a:cs typeface="Arial" panose="020B0604020202020204" pitchFamily="34" charset="0"/>
            </a:endParaRPr>
          </a:p>
          <a:p>
            <a:r>
              <a:rPr lang="en-US" altLang="en-US" smtClean="0">
                <a:latin typeface="Arial" panose="020B0604020202020204" pitchFamily="34" charset="0"/>
                <a:cs typeface="Arial" panose="020B0604020202020204" pitchFamily="34" charset="0"/>
              </a:rPr>
              <a:t>The mode frame states the currently active tool, </a:t>
            </a:r>
          </a:p>
          <a:p>
            <a:endParaRPr lang="en-US" altLang="en-US" smtClean="0">
              <a:latin typeface="Arial" panose="020B0604020202020204" pitchFamily="34" charset="0"/>
              <a:cs typeface="Arial" panose="020B0604020202020204" pitchFamily="34" charset="0"/>
            </a:endParaRPr>
          </a:p>
          <a:p>
            <a:r>
              <a:rPr lang="en-US" altLang="en-US" smtClean="0">
                <a:latin typeface="Arial" panose="020B0604020202020204" pitchFamily="34" charset="0"/>
                <a:cs typeface="Arial" panose="020B0604020202020204" pitchFamily="34" charset="0"/>
              </a:rPr>
              <a:t>And the text box is where tables and forms are displayed.</a:t>
            </a:r>
          </a:p>
          <a:p>
            <a:endParaRPr lang="en-US" altLang="en-US" smtClean="0">
              <a:latin typeface="Arial" panose="020B0604020202020204" pitchFamily="34" charset="0"/>
              <a:cs typeface="Arial" panose="020B0604020202020204" pitchFamily="34" charset="0"/>
            </a:endParaRPr>
          </a:p>
          <a:p>
            <a:r>
              <a:rPr lang="en-US" altLang="en-US" smtClean="0">
                <a:latin typeface="Arial" panose="020B0604020202020204" pitchFamily="34" charset="0"/>
                <a:cs typeface="Arial" panose="020B0604020202020204" pitchFamily="34" charset="0"/>
              </a:rPr>
              <a:t>I added links to the bottom of the page, which go to supplemental pages that I created to help viewers get more information out of the atlas.  There is an Information page that describes the atlas, a help page, a link to a metadata index, and a disclaimer.</a:t>
            </a:r>
          </a:p>
        </p:txBody>
      </p:sp>
    </p:spTree>
    <p:extLst>
      <p:ext uri="{BB962C8B-B14F-4D97-AF65-F5344CB8AC3E}">
        <p14:creationId xmlns:p14="http://schemas.microsoft.com/office/powerpoint/2010/main" val="18021329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noTextEdit="1"/>
          </p:cNvSpPr>
          <p:nvPr>
            <p:ph type="sldImg"/>
          </p:nvPr>
        </p:nvSpPr>
        <p:spPr>
          <a:xfrm>
            <a:off x="382588" y="685800"/>
            <a:ext cx="6096000" cy="3429000"/>
          </a:xfrm>
          <a:ln/>
        </p:spPr>
      </p:sp>
      <p:sp>
        <p:nvSpPr>
          <p:cNvPr id="491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cs typeface="Arial" panose="020B0604020202020204" pitchFamily="34" charset="0"/>
              </a:rPr>
              <a:t>The concept of web based mapping can provide benefit to a wide variety of community applications.  Just a few are identified on this slide</a:t>
            </a:r>
          </a:p>
        </p:txBody>
      </p:sp>
    </p:spTree>
    <p:extLst>
      <p:ext uri="{BB962C8B-B14F-4D97-AF65-F5344CB8AC3E}">
        <p14:creationId xmlns:p14="http://schemas.microsoft.com/office/powerpoint/2010/main" val="6299704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noTextEdit="1"/>
          </p:cNvSpPr>
          <p:nvPr>
            <p:ph type="sldImg"/>
          </p:nvPr>
        </p:nvSpPr>
        <p:spPr>
          <a:xfrm>
            <a:off x="382588" y="685800"/>
            <a:ext cx="6096000" cy="3429000"/>
          </a:xfrm>
          <a:ln/>
        </p:spPr>
      </p:sp>
      <p:sp>
        <p:nvSpPr>
          <p:cNvPr id="512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cs typeface="Arial" panose="020B0604020202020204" pitchFamily="34" charset="0"/>
              </a:rPr>
              <a:t>Here is the Web Mapping vision again, this time with the requirements for WMT I highlighted in blue.</a:t>
            </a:r>
          </a:p>
        </p:txBody>
      </p:sp>
    </p:spTree>
    <p:extLst>
      <p:ext uri="{BB962C8B-B14F-4D97-AF65-F5344CB8AC3E}">
        <p14:creationId xmlns:p14="http://schemas.microsoft.com/office/powerpoint/2010/main" val="20561170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B3BCCBC5-780A-4B8B-8574-092B62D1040A}" type="slidenum">
              <a:rPr lang="en-US" altLang="en-US" smtClean="0">
                <a:latin typeface="Arial" panose="020B0604020202020204" pitchFamily="34" charset="0"/>
              </a:rPr>
              <a:pPr/>
              <a:t>31</a:t>
            </a:fld>
            <a:endParaRPr lang="en-US" altLang="en-US" smtClean="0">
              <a:latin typeface="Arial" panose="020B0604020202020204" pitchFamily="34" charset="0"/>
            </a:endParaRPr>
          </a:p>
        </p:txBody>
      </p:sp>
      <p:sp>
        <p:nvSpPr>
          <p:cNvPr id="53251" name="Rectangle 2"/>
          <p:cNvSpPr>
            <a:spLocks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17615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8B9A4B67-7A7A-4E18-B934-E48CB92F0A7D}" type="slidenum">
              <a:rPr lang="en-US" altLang="en-US" smtClean="0">
                <a:latin typeface="Arial" panose="020B0604020202020204" pitchFamily="34" charset="0"/>
              </a:rPr>
              <a:pPr/>
              <a:t>32</a:t>
            </a:fld>
            <a:endParaRPr lang="en-US" altLang="en-US" smtClean="0">
              <a:latin typeface="Arial" panose="020B0604020202020204" pitchFamily="34" charset="0"/>
            </a:endParaRPr>
          </a:p>
        </p:txBody>
      </p:sp>
      <p:sp>
        <p:nvSpPr>
          <p:cNvPr id="55299" name="Rectangle 2"/>
          <p:cNvSpPr>
            <a:spLocks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z="100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66547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ACEF16C8-96DB-4F2E-8C30-D6985412B436}" type="slidenum">
              <a:rPr lang="en-US" altLang="en-US" smtClean="0">
                <a:latin typeface="Arial" panose="020B0604020202020204" pitchFamily="34" charset="0"/>
              </a:rPr>
              <a:pPr/>
              <a:t>33</a:t>
            </a:fld>
            <a:endParaRPr lang="en-US" altLang="en-US" smtClean="0">
              <a:latin typeface="Arial" panose="020B0604020202020204" pitchFamily="34" charset="0"/>
            </a:endParaRPr>
          </a:p>
        </p:txBody>
      </p:sp>
      <p:sp>
        <p:nvSpPr>
          <p:cNvPr id="57347" name="Rectangle 2"/>
          <p:cNvSpPr>
            <a:spLocks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z="100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62636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64E5A143-D301-4DB2-A91C-E5DD87CEBD9F}" type="slidenum">
              <a:rPr lang="en-US" altLang="en-US" smtClean="0">
                <a:latin typeface="Arial" panose="020B0604020202020204" pitchFamily="34" charset="0"/>
              </a:rPr>
              <a:pPr/>
              <a:t>34</a:t>
            </a:fld>
            <a:endParaRPr lang="en-US" altLang="en-US" smtClean="0">
              <a:latin typeface="Arial" panose="020B0604020202020204" pitchFamily="34" charset="0"/>
            </a:endParaRPr>
          </a:p>
        </p:txBody>
      </p:sp>
      <p:sp>
        <p:nvSpPr>
          <p:cNvPr id="59395" name="Rectangle 2"/>
          <p:cNvSpPr>
            <a:spLocks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000" smtClean="0">
                <a:latin typeface="Arial" panose="020B0604020202020204" pitchFamily="34" charset="0"/>
                <a:cs typeface="Arial" panose="020B0604020202020204" pitchFamily="34" charset="0"/>
              </a:rPr>
              <a:t>RS: Remote Sensing</a:t>
            </a:r>
          </a:p>
        </p:txBody>
      </p:sp>
    </p:spTree>
    <p:extLst>
      <p:ext uri="{BB962C8B-B14F-4D97-AF65-F5344CB8AC3E}">
        <p14:creationId xmlns:p14="http://schemas.microsoft.com/office/powerpoint/2010/main" val="23584332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302BF8FF-A79C-4AE6-9F51-72E8D84F1A21}" type="slidenum">
              <a:rPr lang="en-US" altLang="en-US" smtClean="0">
                <a:latin typeface="Arial" panose="020B0604020202020204" pitchFamily="34" charset="0"/>
              </a:rPr>
              <a:pPr/>
              <a:t>35</a:t>
            </a:fld>
            <a:endParaRPr lang="en-US" altLang="en-US" smtClean="0">
              <a:latin typeface="Arial" panose="020B0604020202020204" pitchFamily="34" charset="0"/>
            </a:endParaRPr>
          </a:p>
        </p:txBody>
      </p:sp>
      <p:sp>
        <p:nvSpPr>
          <p:cNvPr id="61443" name="Rectangle 2"/>
          <p:cNvSpPr>
            <a:spLocks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000" smtClean="0">
                <a:latin typeface="Arial" panose="020B0604020202020204" pitchFamily="34" charset="0"/>
                <a:cs typeface="Arial" panose="020B0604020202020204" pitchFamily="34" charset="0"/>
              </a:rPr>
              <a:t>RS: Remote Sensing</a:t>
            </a:r>
          </a:p>
        </p:txBody>
      </p:sp>
    </p:spTree>
    <p:extLst>
      <p:ext uri="{BB962C8B-B14F-4D97-AF65-F5344CB8AC3E}">
        <p14:creationId xmlns:p14="http://schemas.microsoft.com/office/powerpoint/2010/main" val="6542894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1FE950C7-24F2-416F-AE7B-A11CCBE8C484}" type="slidenum">
              <a:rPr lang="en-US" altLang="en-US" smtClean="0">
                <a:latin typeface="Arial" panose="020B0604020202020204" pitchFamily="34" charset="0"/>
              </a:rPr>
              <a:pPr/>
              <a:t>36</a:t>
            </a:fld>
            <a:endParaRPr lang="en-US" altLang="en-US" smtClean="0">
              <a:latin typeface="Arial" panose="020B0604020202020204" pitchFamily="34" charset="0"/>
            </a:endParaRPr>
          </a:p>
        </p:txBody>
      </p:sp>
      <p:sp>
        <p:nvSpPr>
          <p:cNvPr id="63491" name="Rectangle 2"/>
          <p:cNvSpPr>
            <a:spLocks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000" smtClean="0">
                <a:latin typeface="Arial" panose="020B0604020202020204" pitchFamily="34" charset="0"/>
                <a:cs typeface="Arial" panose="020B0604020202020204" pitchFamily="34" charset="0"/>
              </a:rPr>
              <a:t>RS: Remote Sensing</a:t>
            </a:r>
          </a:p>
        </p:txBody>
      </p:sp>
    </p:spTree>
    <p:extLst>
      <p:ext uri="{BB962C8B-B14F-4D97-AF65-F5344CB8AC3E}">
        <p14:creationId xmlns:p14="http://schemas.microsoft.com/office/powerpoint/2010/main" val="22624802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6FA1EFF-3DB8-4B99-827D-18A5A8DDE0DF}" type="datetimeFigureOut">
              <a:rPr lang="en-US" smtClean="0"/>
              <a:t>1/29/2017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3F0B4B-1AC4-425F-86EB-7C761981DE3A}" type="slidenum">
              <a:rPr lang="en-US" smtClean="0"/>
              <a:t>‹#›</a:t>
            </a:fld>
            <a:endParaRPr lang="en-US"/>
          </a:p>
        </p:txBody>
      </p:sp>
    </p:spTree>
    <p:extLst>
      <p:ext uri="{BB962C8B-B14F-4D97-AF65-F5344CB8AC3E}">
        <p14:creationId xmlns:p14="http://schemas.microsoft.com/office/powerpoint/2010/main" val="2507171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FA1EFF-3DB8-4B99-827D-18A5A8DDE0DF}" type="datetimeFigureOut">
              <a:rPr lang="en-US" smtClean="0"/>
              <a:t>1/29/2017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3F0B4B-1AC4-425F-86EB-7C761981DE3A}" type="slidenum">
              <a:rPr lang="en-US" smtClean="0"/>
              <a:t>‹#›</a:t>
            </a:fld>
            <a:endParaRPr lang="en-US"/>
          </a:p>
        </p:txBody>
      </p:sp>
    </p:spTree>
    <p:extLst>
      <p:ext uri="{BB962C8B-B14F-4D97-AF65-F5344CB8AC3E}">
        <p14:creationId xmlns:p14="http://schemas.microsoft.com/office/powerpoint/2010/main" val="1693394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6FA1EFF-3DB8-4B99-827D-18A5A8DDE0DF}" type="datetimeFigureOut">
              <a:rPr lang="en-US" smtClean="0"/>
              <a:t>1/29/2017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3F0B4B-1AC4-425F-86EB-7C761981DE3A}" type="slidenum">
              <a:rPr lang="en-US" smtClean="0"/>
              <a:t>‹#›</a:t>
            </a:fld>
            <a:endParaRPr lang="en-US"/>
          </a:p>
        </p:txBody>
      </p:sp>
    </p:spTree>
    <p:extLst>
      <p:ext uri="{BB962C8B-B14F-4D97-AF65-F5344CB8AC3E}">
        <p14:creationId xmlns:p14="http://schemas.microsoft.com/office/powerpoint/2010/main" val="2376826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6FA1EFF-3DB8-4B99-827D-18A5A8DDE0DF}" type="datetimeFigureOut">
              <a:rPr lang="en-US" smtClean="0"/>
              <a:t>1/29/2017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3F0B4B-1AC4-425F-86EB-7C761981DE3A}" type="slidenum">
              <a:rPr lang="en-US" smtClean="0"/>
              <a:t>‹#›</a:t>
            </a:fld>
            <a:endParaRPr lang="en-US"/>
          </a:p>
        </p:txBody>
      </p:sp>
    </p:spTree>
    <p:extLst>
      <p:ext uri="{BB962C8B-B14F-4D97-AF65-F5344CB8AC3E}">
        <p14:creationId xmlns:p14="http://schemas.microsoft.com/office/powerpoint/2010/main" val="2127370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6FA1EFF-3DB8-4B99-827D-18A5A8DDE0DF}" type="datetimeFigureOut">
              <a:rPr lang="en-US" smtClean="0"/>
              <a:t>1/29/2017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3F0B4B-1AC4-425F-86EB-7C761981DE3A}" type="slidenum">
              <a:rPr lang="en-US" smtClean="0"/>
              <a:t>‹#›</a:t>
            </a:fld>
            <a:endParaRPr lang="en-US"/>
          </a:p>
        </p:txBody>
      </p:sp>
    </p:spTree>
    <p:extLst>
      <p:ext uri="{BB962C8B-B14F-4D97-AF65-F5344CB8AC3E}">
        <p14:creationId xmlns:p14="http://schemas.microsoft.com/office/powerpoint/2010/main" val="2110645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6FA1EFF-3DB8-4B99-827D-18A5A8DDE0DF}" type="datetimeFigureOut">
              <a:rPr lang="en-US" smtClean="0"/>
              <a:t>1/29/2017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3F0B4B-1AC4-425F-86EB-7C761981DE3A}" type="slidenum">
              <a:rPr lang="en-US" smtClean="0"/>
              <a:t>‹#›</a:t>
            </a:fld>
            <a:endParaRPr lang="en-US"/>
          </a:p>
        </p:txBody>
      </p:sp>
    </p:spTree>
    <p:extLst>
      <p:ext uri="{BB962C8B-B14F-4D97-AF65-F5344CB8AC3E}">
        <p14:creationId xmlns:p14="http://schemas.microsoft.com/office/powerpoint/2010/main" val="1000012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FA1EFF-3DB8-4B99-827D-18A5A8DDE0DF}" type="datetimeFigureOut">
              <a:rPr lang="en-US" smtClean="0"/>
              <a:t>1/29/2017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83F0B4B-1AC4-425F-86EB-7C761981DE3A}" type="slidenum">
              <a:rPr lang="en-US" smtClean="0"/>
              <a:t>‹#›</a:t>
            </a:fld>
            <a:endParaRPr lang="en-US"/>
          </a:p>
        </p:txBody>
      </p:sp>
    </p:spTree>
    <p:extLst>
      <p:ext uri="{BB962C8B-B14F-4D97-AF65-F5344CB8AC3E}">
        <p14:creationId xmlns:p14="http://schemas.microsoft.com/office/powerpoint/2010/main" val="2468229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6FA1EFF-3DB8-4B99-827D-18A5A8DDE0DF}" type="datetimeFigureOut">
              <a:rPr lang="en-US" smtClean="0"/>
              <a:t>1/29/2017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3F0B4B-1AC4-425F-86EB-7C761981DE3A}" type="slidenum">
              <a:rPr lang="en-US" smtClean="0"/>
              <a:t>‹#›</a:t>
            </a:fld>
            <a:endParaRPr lang="en-US"/>
          </a:p>
        </p:txBody>
      </p:sp>
    </p:spTree>
    <p:extLst>
      <p:ext uri="{BB962C8B-B14F-4D97-AF65-F5344CB8AC3E}">
        <p14:creationId xmlns:p14="http://schemas.microsoft.com/office/powerpoint/2010/main" val="765257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6FA1EFF-3DB8-4B99-827D-18A5A8DDE0DF}" type="datetimeFigureOut">
              <a:rPr lang="en-US" smtClean="0"/>
              <a:t>1/29/2017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3F0B4B-1AC4-425F-86EB-7C761981DE3A}" type="slidenum">
              <a:rPr lang="en-US" smtClean="0"/>
              <a:t>‹#›</a:t>
            </a:fld>
            <a:endParaRPr lang="en-US"/>
          </a:p>
        </p:txBody>
      </p:sp>
    </p:spTree>
    <p:extLst>
      <p:ext uri="{BB962C8B-B14F-4D97-AF65-F5344CB8AC3E}">
        <p14:creationId xmlns:p14="http://schemas.microsoft.com/office/powerpoint/2010/main" val="3610787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FA1EFF-3DB8-4B99-827D-18A5A8DDE0DF}" type="datetimeFigureOut">
              <a:rPr lang="en-US" smtClean="0"/>
              <a:t>1/29/2017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3F0B4B-1AC4-425F-86EB-7C761981DE3A}" type="slidenum">
              <a:rPr lang="en-US" smtClean="0"/>
              <a:t>‹#›</a:t>
            </a:fld>
            <a:endParaRPr lang="en-US"/>
          </a:p>
        </p:txBody>
      </p:sp>
    </p:spTree>
    <p:extLst>
      <p:ext uri="{BB962C8B-B14F-4D97-AF65-F5344CB8AC3E}">
        <p14:creationId xmlns:p14="http://schemas.microsoft.com/office/powerpoint/2010/main" val="1514350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FA1EFF-3DB8-4B99-827D-18A5A8DDE0DF}" type="datetimeFigureOut">
              <a:rPr lang="en-US" smtClean="0"/>
              <a:t>1/29/2017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3F0B4B-1AC4-425F-86EB-7C761981DE3A}" type="slidenum">
              <a:rPr lang="en-US" smtClean="0"/>
              <a:t>‹#›</a:t>
            </a:fld>
            <a:endParaRPr lang="en-US"/>
          </a:p>
        </p:txBody>
      </p:sp>
    </p:spTree>
    <p:extLst>
      <p:ext uri="{BB962C8B-B14F-4D97-AF65-F5344CB8AC3E}">
        <p14:creationId xmlns:p14="http://schemas.microsoft.com/office/powerpoint/2010/main" val="19388523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914400" y="1981200"/>
            <a:ext cx="10363200" cy="4114800"/>
          </a:xfrm>
        </p:spPr>
        <p:txBody>
          <a:bodyPr/>
          <a:lstStyle/>
          <a:p>
            <a:pPr lvl="0"/>
            <a:endParaRPr lang="en-US" noProof="0"/>
          </a:p>
        </p:txBody>
      </p:sp>
      <p:sp>
        <p:nvSpPr>
          <p:cNvPr id="4" name="Date Placeholder 3"/>
          <p:cNvSpPr>
            <a:spLocks noGrp="1"/>
          </p:cNvSpPr>
          <p:nvPr>
            <p:ph type="dt" sz="half" idx="10"/>
          </p:nvPr>
        </p:nvSpPr>
        <p:spPr>
          <a:xfrm>
            <a:off x="914400" y="6248400"/>
            <a:ext cx="2540000" cy="457200"/>
          </a:xfrm>
          <a:prstGeom prst="rect">
            <a:avLst/>
          </a:prstGeom>
        </p:spPr>
        <p:txBody>
          <a:bodyPr/>
          <a:lstStyle>
            <a:lvl1pPr>
              <a:defRPr/>
            </a:lvl1pPr>
          </a:lstStyle>
          <a:p>
            <a:pPr>
              <a:defRPr/>
            </a:pPr>
            <a:endParaRPr lang="en-US" altLang="en-US"/>
          </a:p>
        </p:txBody>
      </p:sp>
      <p:sp>
        <p:nvSpPr>
          <p:cNvPr id="5" name="Footer Placeholder 4"/>
          <p:cNvSpPr>
            <a:spLocks noGrp="1"/>
          </p:cNvSpPr>
          <p:nvPr>
            <p:ph type="ftr" sz="quarter" idx="11"/>
          </p:nvPr>
        </p:nvSpPr>
        <p:spPr>
          <a:xfrm>
            <a:off x="4165600" y="6248400"/>
            <a:ext cx="3860800" cy="457200"/>
          </a:xfrm>
          <a:prstGeom prst="rect">
            <a:avLst/>
          </a:prstGeom>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a:xfrm>
            <a:off x="8737600" y="6248400"/>
            <a:ext cx="2540000" cy="457200"/>
          </a:xfrm>
        </p:spPr>
        <p:txBody>
          <a:bodyPr/>
          <a:lstStyle>
            <a:lvl1pPr>
              <a:defRPr/>
            </a:lvl1pPr>
          </a:lstStyle>
          <a:p>
            <a:pPr>
              <a:defRPr/>
            </a:pPr>
            <a:fld id="{82985E95-CB20-40B2-8AC3-4B3940E003C1}" type="slidenum">
              <a:rPr lang="ar-SA" altLang="en-US"/>
              <a:pPr>
                <a:defRPr/>
              </a:pPr>
              <a:t>‹#›</a:t>
            </a:fld>
            <a:endParaRPr lang="en-US" altLang="en-US"/>
          </a:p>
        </p:txBody>
      </p:sp>
    </p:spTree>
    <p:extLst>
      <p:ext uri="{BB962C8B-B14F-4D97-AF65-F5344CB8AC3E}">
        <p14:creationId xmlns:p14="http://schemas.microsoft.com/office/powerpoint/2010/main" val="5778941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cSld name="Заголовок, текст и клип">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277814"/>
            <a:ext cx="10972800" cy="1139825"/>
          </a:xfrm>
        </p:spPr>
        <p:txBody>
          <a:bodyPr/>
          <a:lstStyle/>
          <a:p>
            <a:r>
              <a:rPr lang="ru-RU" smtClean="0"/>
              <a:t>Образец заголовка</a:t>
            </a:r>
            <a:endParaRPr lang="ru-RU"/>
          </a:p>
        </p:txBody>
      </p:sp>
      <p:sp>
        <p:nvSpPr>
          <p:cNvPr id="3" name="Текст 2"/>
          <p:cNvSpPr>
            <a:spLocks noGrp="1"/>
          </p:cNvSpPr>
          <p:nvPr>
            <p:ph type="body" sz="half" idx="1"/>
          </p:nvPr>
        </p:nvSpPr>
        <p:spPr>
          <a:xfrm>
            <a:off x="609600" y="1600201"/>
            <a:ext cx="5384800" cy="4530725"/>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Клип 3"/>
          <p:cNvSpPr>
            <a:spLocks noGrp="1"/>
          </p:cNvSpPr>
          <p:nvPr>
            <p:ph type="clipArt" sz="half" idx="2"/>
          </p:nvPr>
        </p:nvSpPr>
        <p:spPr>
          <a:xfrm>
            <a:off x="6197600" y="1600201"/>
            <a:ext cx="5384800" cy="4530725"/>
          </a:xfrm>
        </p:spPr>
        <p:txBody>
          <a:bodyPr/>
          <a:lstStyle/>
          <a:p>
            <a:pPr lvl="0"/>
            <a:endParaRPr lang="ru-RU" noProof="0" smtClean="0"/>
          </a:p>
        </p:txBody>
      </p:sp>
      <p:sp>
        <p:nvSpPr>
          <p:cNvPr id="5" name="Rectangle 42"/>
          <p:cNvSpPr>
            <a:spLocks noGrp="1" noChangeArrowheads="1"/>
          </p:cNvSpPr>
          <p:nvPr>
            <p:ph type="sldNum" sz="quarter" idx="10"/>
          </p:nvPr>
        </p:nvSpPr>
        <p:spPr>
          <a:ln/>
        </p:spPr>
        <p:txBody>
          <a:bodyPr/>
          <a:lstStyle>
            <a:lvl1pPr>
              <a:defRPr/>
            </a:lvl1pPr>
          </a:lstStyle>
          <a:p>
            <a:pPr>
              <a:defRPr/>
            </a:pPr>
            <a:r>
              <a:rPr lang="en-US"/>
              <a:t>1</a:t>
            </a:r>
          </a:p>
        </p:txBody>
      </p:sp>
    </p:spTree>
    <p:extLst>
      <p:ext uri="{BB962C8B-B14F-4D97-AF65-F5344CB8AC3E}">
        <p14:creationId xmlns:p14="http://schemas.microsoft.com/office/powerpoint/2010/main" val="768045496"/>
      </p:ext>
    </p:extLst>
  </p:cSld>
  <p:clrMapOvr>
    <a:masterClrMapping/>
  </p:clrMapOvr>
  <p:transition spd="med" advTm="0">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FA1EFF-3DB8-4B99-827D-18A5A8DDE0DF}" type="datetimeFigureOut">
              <a:rPr lang="en-US" smtClean="0"/>
              <a:t>1/29/2017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3F0B4B-1AC4-425F-86EB-7C761981DE3A}" type="slidenum">
              <a:rPr lang="en-US" smtClean="0"/>
              <a:t>‹#›</a:t>
            </a:fld>
            <a:endParaRPr lang="en-US"/>
          </a:p>
        </p:txBody>
      </p:sp>
    </p:spTree>
    <p:extLst>
      <p:ext uri="{BB962C8B-B14F-4D97-AF65-F5344CB8AC3E}">
        <p14:creationId xmlns:p14="http://schemas.microsoft.com/office/powerpoint/2010/main" val="14269820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foss4g.org/" TargetMode="External"/><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osgeo.org/"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iki.osgeo.org/wiki/Library"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jpeg"/><Relationship Id="rId7"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jpeg"/><Relationship Id="rId9" Type="http://schemas.openxmlformats.org/officeDocument/2006/relationships/image" Target="../media/image23.jpeg"/></Relationships>
</file>

<file path=ppt/slides/_rels/slide30.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5.wmf"/></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hyperlink" Target="https://en.wikipedia.org/wiki/Software"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en.wikipedia.org/wiki/Proprietary_software" TargetMode="External"/><Relationship Id="rId5" Type="http://schemas.openxmlformats.org/officeDocument/2006/relationships/hyperlink" Target="https://en.wikipedia.org/wiki/Free_software" TargetMode="External"/><Relationship Id="rId4" Type="http://schemas.openxmlformats.org/officeDocument/2006/relationships/hyperlink" Target="https://en.wikipedia.org/wiki/Spatial_analysis" TargetMode="External"/></Relationships>
</file>

<file path=ppt/slides/_rels/slide33.xml.rels><?xml version="1.0" encoding="UTF-8" standalone="yes"?>
<Relationships xmlns="http://schemas.openxmlformats.org/package/2006/relationships"><Relationship Id="rId8" Type="http://schemas.openxmlformats.org/officeDocument/2006/relationships/hyperlink" Target="https://en.wikipedia.org/wiki/GNU_General_Public_License" TargetMode="External"/><Relationship Id="rId3" Type="http://schemas.openxmlformats.org/officeDocument/2006/relationships/hyperlink" Target="https://en.wikipedia.org/wiki/Linux" TargetMode="External"/><Relationship Id="rId7" Type="http://schemas.openxmlformats.org/officeDocument/2006/relationships/hyperlink" Target="https://en.wikipedia.org/wiki/Python_%28programming_language%29"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qgis.org/" TargetMode="External"/><Relationship Id="rId5" Type="http://schemas.openxmlformats.org/officeDocument/2006/relationships/hyperlink" Target="https://en.wikipedia.org/wiki/Microsoft_Windows" TargetMode="External"/><Relationship Id="rId4" Type="http://schemas.openxmlformats.org/officeDocument/2006/relationships/hyperlink" Target="https://en.wikipedia.org/wiki/MAC_OS"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en.wikipedia.org/wiki/Microsoft_Windows"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s://en.wikipedia.org/wiki/GNU_General_Public_License" TargetMode="External"/><Relationship Id="rId5" Type="http://schemas.openxmlformats.org/officeDocument/2006/relationships/hyperlink" Target="http://qgis.org/" TargetMode="External"/><Relationship Id="rId4" Type="http://schemas.openxmlformats.org/officeDocument/2006/relationships/hyperlink" Target="http://www.itc.nl/" TargetMode="External"/></Relationships>
</file>

<file path=ppt/slides/_rels/slide35.xml.rels><?xml version="1.0" encoding="UTF-8" standalone="yes"?>
<Relationships xmlns="http://schemas.openxmlformats.org/package/2006/relationships"><Relationship Id="rId8" Type="http://schemas.openxmlformats.org/officeDocument/2006/relationships/hyperlink" Target="https://en.wikipedia.org/wiki/GNU_General_Public_License" TargetMode="External"/><Relationship Id="rId3" Type="http://schemas.openxmlformats.org/officeDocument/2006/relationships/hyperlink" Target="https://en.wikipedia.org/wiki/Linux" TargetMode="External"/><Relationship Id="rId7" Type="http://schemas.openxmlformats.org/officeDocument/2006/relationships/hyperlink" Target="https://en.wikipedia.org/w/index.php?title=Vector_data&amp;action=edit&amp;redlink=1"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hyperlink" Target="http://grass.osgeo.org/" TargetMode="External"/><Relationship Id="rId5" Type="http://schemas.openxmlformats.org/officeDocument/2006/relationships/hyperlink" Target="https://en.wikipedia.org/wiki/Microsoft_Windows" TargetMode="External"/><Relationship Id="rId4" Type="http://schemas.openxmlformats.org/officeDocument/2006/relationships/hyperlink" Target="https://en.wikipedia.org/wiki/MAC_OS" TargetMode="External"/></Relationships>
</file>

<file path=ppt/slides/_rels/slide36.xml.rels><?xml version="1.0" encoding="UTF-8" standalone="yes"?>
<Relationships xmlns="http://schemas.openxmlformats.org/package/2006/relationships"><Relationship Id="rId8" Type="http://schemas.openxmlformats.org/officeDocument/2006/relationships/hyperlink" Target="https://en.wikipedia.org/w/index.php?title=Point_pattern&amp;action=edit&amp;redlink=1" TargetMode="External"/><Relationship Id="rId3" Type="http://schemas.openxmlformats.org/officeDocument/2006/relationships/hyperlink" Target="https://en.wikipedia.org/wiki/Linux" TargetMode="External"/><Relationship Id="rId7" Type="http://schemas.openxmlformats.org/officeDocument/2006/relationships/hyperlink" Target="http://grass.osgeo.org/" TargetMode="External"/><Relationship Id="rId12" Type="http://schemas.openxmlformats.org/officeDocument/2006/relationships/hyperlink" Target="https://en.wikipedia.org/wiki/GNU_General_Public_License"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hyperlink" Target="https://en.wikipedia.org/w/index.php?title=Roger_Bivand&amp;action=edit&amp;redlink=1" TargetMode="External"/><Relationship Id="rId11" Type="http://schemas.openxmlformats.org/officeDocument/2006/relationships/hyperlink" Target="https://en.wikipedia.org/wiki/Ecology" TargetMode="External"/><Relationship Id="rId5" Type="http://schemas.openxmlformats.org/officeDocument/2006/relationships/hyperlink" Target="https://en.wikipedia.org/wiki/Microsoft_Windows" TargetMode="External"/><Relationship Id="rId10" Type="http://schemas.openxmlformats.org/officeDocument/2006/relationships/hyperlink" Target="https://en.wikipedia.org/wiki/Disease" TargetMode="External"/><Relationship Id="rId4" Type="http://schemas.openxmlformats.org/officeDocument/2006/relationships/hyperlink" Target="https://en.wikipedia.org/wiki/MAC_OS" TargetMode="External"/><Relationship Id="rId9" Type="http://schemas.openxmlformats.org/officeDocument/2006/relationships/hyperlink" Target="https://en.wikipedia.org/wiki/Geostatistics"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ctrTitle"/>
          </p:nvPr>
        </p:nvSpPr>
        <p:spPr>
          <a:xfrm>
            <a:off x="1524001" y="1052513"/>
            <a:ext cx="8785225" cy="2590800"/>
          </a:xfrm>
        </p:spPr>
        <p:txBody>
          <a:bodyPr/>
          <a:lstStyle/>
          <a:p>
            <a:pPr eaLnBrk="1" hangingPunct="1"/>
            <a:r>
              <a:rPr lang="en-US" altLang="en-US" sz="5400"/>
              <a:t>Open GIS</a:t>
            </a:r>
            <a:r>
              <a:rPr lang="en-US" altLang="en-US" sz="3600"/>
              <a:t/>
            </a:r>
            <a:br>
              <a:rPr lang="en-US" altLang="en-US" sz="3600"/>
            </a:br>
            <a:r>
              <a:rPr lang="en-US" altLang="en-US" sz="3600"/>
              <a:t/>
            </a:r>
            <a:br>
              <a:rPr lang="en-US" altLang="en-US" sz="3600"/>
            </a:br>
            <a:r>
              <a:rPr lang="en-US" altLang="en-US" sz="1600"/>
              <a:t/>
            </a:r>
            <a:br>
              <a:rPr lang="en-US" altLang="en-US" sz="1600"/>
            </a:br>
            <a:r>
              <a:rPr lang="en-US" altLang="en-US" sz="3600"/>
              <a:t>Chapter - 7</a:t>
            </a:r>
            <a:endParaRPr lang="en-US" altLang="en-US" sz="3600" i="1"/>
          </a:p>
        </p:txBody>
      </p:sp>
      <p:sp>
        <p:nvSpPr>
          <p:cNvPr id="6147" name="Rectangle 8"/>
          <p:cNvSpPr>
            <a:spLocks noGrp="1" noChangeArrowheads="1"/>
          </p:cNvSpPr>
          <p:nvPr>
            <p:ph type="subTitle" idx="1"/>
          </p:nvPr>
        </p:nvSpPr>
        <p:spPr>
          <a:xfrm>
            <a:off x="2782888" y="5013326"/>
            <a:ext cx="6800850" cy="1844675"/>
          </a:xfrm>
        </p:spPr>
        <p:txBody>
          <a:bodyPr/>
          <a:lstStyle/>
          <a:p>
            <a:pPr eaLnBrk="1" hangingPunct="1"/>
            <a:r>
              <a:rPr lang="en-US" altLang="en-US" sz="3200" b="1"/>
              <a:t>Ajaya Mishra</a:t>
            </a:r>
          </a:p>
          <a:p>
            <a:pPr eaLnBrk="1" hangingPunct="1"/>
            <a:endParaRPr lang="en-US" altLang="en-US" sz="1000"/>
          </a:p>
          <a:p>
            <a:pPr eaLnBrk="1" hangingPunct="1"/>
            <a:r>
              <a:rPr lang="en-US" altLang="en-US" sz="3200"/>
              <a:t>Sunday, November 28, 2015</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p:cNvSpPr>
            <a:spLocks noGrp="1" noChangeArrowheads="1"/>
          </p:cNvSpPr>
          <p:nvPr>
            <p:ph type="title"/>
          </p:nvPr>
        </p:nvSpPr>
        <p:spPr>
          <a:xfrm>
            <a:off x="1981200" y="1"/>
            <a:ext cx="8229600" cy="1139825"/>
          </a:xfrm>
        </p:spPr>
        <p:txBody>
          <a:bodyPr/>
          <a:lstStyle/>
          <a:p>
            <a:pPr eaLnBrk="1" hangingPunct="1">
              <a:defRPr/>
            </a:pPr>
            <a:r>
              <a:rPr lang="en-US" dirty="0" smtClean="0"/>
              <a:t>Outlines</a:t>
            </a:r>
          </a:p>
        </p:txBody>
      </p:sp>
      <p:sp>
        <p:nvSpPr>
          <p:cNvPr id="4099" name="Rectangle 6"/>
          <p:cNvSpPr>
            <a:spLocks noGrp="1" noChangeArrowheads="1"/>
          </p:cNvSpPr>
          <p:nvPr>
            <p:ph type="body" idx="1"/>
          </p:nvPr>
        </p:nvSpPr>
        <p:spPr>
          <a:xfrm>
            <a:off x="1981201" y="1131889"/>
            <a:ext cx="8543925" cy="5292725"/>
          </a:xfrm>
        </p:spPr>
        <p:txBody>
          <a:bodyPr/>
          <a:lstStyle/>
          <a:p>
            <a:pPr>
              <a:lnSpc>
                <a:spcPct val="150000"/>
              </a:lnSpc>
              <a:spcBef>
                <a:spcPct val="0"/>
              </a:spcBef>
              <a:spcAft>
                <a:spcPts val="1200"/>
              </a:spcAft>
            </a:pPr>
            <a:r>
              <a:rPr lang="en-US" altLang="en-US" sz="2600"/>
              <a:t>What is Open GIS?</a:t>
            </a:r>
          </a:p>
          <a:p>
            <a:pPr>
              <a:lnSpc>
                <a:spcPct val="150000"/>
              </a:lnSpc>
              <a:spcBef>
                <a:spcPct val="0"/>
              </a:spcBef>
              <a:spcAft>
                <a:spcPts val="1200"/>
              </a:spcAft>
            </a:pPr>
            <a:r>
              <a:rPr lang="en-US" altLang="en-US"/>
              <a:t>Why Use Open Source GIS?</a:t>
            </a:r>
            <a:endParaRPr lang="en-US" altLang="en-US" sz="2600"/>
          </a:p>
          <a:p>
            <a:pPr>
              <a:lnSpc>
                <a:spcPct val="150000"/>
              </a:lnSpc>
              <a:spcBef>
                <a:spcPct val="0"/>
              </a:spcBef>
              <a:spcAft>
                <a:spcPts val="1200"/>
              </a:spcAft>
            </a:pPr>
            <a:r>
              <a:rPr lang="en-US" altLang="en-US" sz="2600">
                <a:cs typeface="Tahoma" panose="020B0604030504040204" pitchFamily="34" charset="0"/>
              </a:rPr>
              <a:t>Open GIS Consortium (OGC)</a:t>
            </a:r>
          </a:p>
          <a:p>
            <a:pPr>
              <a:lnSpc>
                <a:spcPct val="150000"/>
              </a:lnSpc>
              <a:spcBef>
                <a:spcPct val="0"/>
              </a:spcBef>
              <a:spcAft>
                <a:spcPts val="1200"/>
              </a:spcAft>
            </a:pPr>
            <a:r>
              <a:rPr lang="en-US" altLang="en-US" sz="2600">
                <a:cs typeface="Tahoma" panose="020B0604030504040204" pitchFamily="34" charset="0"/>
              </a:rPr>
              <a:t>Web GIS</a:t>
            </a:r>
          </a:p>
          <a:p>
            <a:pPr>
              <a:lnSpc>
                <a:spcPct val="150000"/>
              </a:lnSpc>
              <a:spcBef>
                <a:spcPct val="0"/>
              </a:spcBef>
              <a:spcAft>
                <a:spcPts val="1200"/>
              </a:spcAft>
            </a:pPr>
            <a:r>
              <a:rPr lang="en-US" altLang="en-US"/>
              <a:t>OSS for spatial data analysis</a:t>
            </a:r>
            <a:endParaRPr lang="en-US" altLang="en-US" sz="2600">
              <a:cs typeface="Tahoma" panose="020B060403050404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barn(inVertical)">
                                      <p:cBhvr>
                                        <p:cTn id="7" dur="500"/>
                                        <p:tgtEl>
                                          <p:spTgt spid="40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barn(inVertical)">
                                      <p:cBhvr>
                                        <p:cTn id="12" dur="500"/>
                                        <p:tgtEl>
                                          <p:spTgt spid="40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barn(inVertical)">
                                      <p:cBhvr>
                                        <p:cTn id="17" dur="500"/>
                                        <p:tgtEl>
                                          <p:spTgt spid="40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099">
                                            <p:txEl>
                                              <p:pRg st="3" end="3"/>
                                            </p:txEl>
                                          </p:spTgt>
                                        </p:tgtEl>
                                        <p:attrNameLst>
                                          <p:attrName>style.visibility</p:attrName>
                                        </p:attrNameLst>
                                      </p:cBhvr>
                                      <p:to>
                                        <p:strVal val="visible"/>
                                      </p:to>
                                    </p:set>
                                    <p:animEffect transition="in" filter="barn(inVertical)">
                                      <p:cBhvr>
                                        <p:cTn id="22" dur="500"/>
                                        <p:tgtEl>
                                          <p:spTgt spid="409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4099">
                                            <p:txEl>
                                              <p:pRg st="4" end="4"/>
                                            </p:txEl>
                                          </p:spTgt>
                                        </p:tgtEl>
                                        <p:attrNameLst>
                                          <p:attrName>style.visibility</p:attrName>
                                        </p:attrNameLst>
                                      </p:cBhvr>
                                      <p:to>
                                        <p:strVal val="visible"/>
                                      </p:to>
                                    </p:set>
                                    <p:animEffect transition="in" filter="barn(inVertical)">
                                      <p:cBhvr>
                                        <p:cTn id="27" dur="500"/>
                                        <p:tgtEl>
                                          <p:spTgt spid="40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971675" y="1"/>
            <a:ext cx="8229600" cy="1139825"/>
          </a:xfrm>
        </p:spPr>
        <p:txBody>
          <a:bodyPr/>
          <a:lstStyle/>
          <a:p>
            <a:pPr>
              <a:defRPr/>
            </a:pPr>
            <a:r>
              <a:rPr lang="en-US" altLang="en-US" dirty="0"/>
              <a:t>FREE* GIS</a:t>
            </a:r>
          </a:p>
        </p:txBody>
      </p:sp>
      <p:sp>
        <p:nvSpPr>
          <p:cNvPr id="8195" name="Rectangle 3"/>
          <p:cNvSpPr>
            <a:spLocks noGrp="1" noChangeArrowheads="1"/>
          </p:cNvSpPr>
          <p:nvPr>
            <p:ph type="body" idx="1"/>
          </p:nvPr>
        </p:nvSpPr>
        <p:spPr/>
        <p:txBody>
          <a:bodyPr>
            <a:normAutofit lnSpcReduction="10000"/>
          </a:bodyPr>
          <a:lstStyle/>
          <a:p>
            <a:pPr>
              <a:lnSpc>
                <a:spcPct val="90000"/>
              </a:lnSpc>
              <a:buFontTx/>
              <a:buNone/>
            </a:pPr>
            <a:endParaRPr lang="en-US" altLang="en-US" smtClean="0"/>
          </a:p>
          <a:p>
            <a:pPr algn="r">
              <a:lnSpc>
                <a:spcPct val="90000"/>
              </a:lnSpc>
              <a:buFontTx/>
              <a:buNone/>
            </a:pPr>
            <a:endParaRPr lang="en-US" altLang="en-US" smtClean="0"/>
          </a:p>
          <a:p>
            <a:pPr algn="r">
              <a:lnSpc>
                <a:spcPct val="90000"/>
              </a:lnSpc>
              <a:buFontTx/>
              <a:buNone/>
            </a:pPr>
            <a:endParaRPr lang="en-US" altLang="en-US" smtClean="0"/>
          </a:p>
          <a:p>
            <a:pPr algn="r">
              <a:lnSpc>
                <a:spcPct val="90000"/>
              </a:lnSpc>
              <a:buFontTx/>
              <a:buNone/>
            </a:pPr>
            <a:endParaRPr lang="en-US" altLang="en-US" smtClean="0"/>
          </a:p>
          <a:p>
            <a:pPr algn="r">
              <a:lnSpc>
                <a:spcPct val="90000"/>
              </a:lnSpc>
              <a:buFontTx/>
              <a:buNone/>
            </a:pPr>
            <a:endParaRPr lang="en-US" altLang="en-US" smtClean="0"/>
          </a:p>
          <a:p>
            <a:pPr algn="r">
              <a:lnSpc>
                <a:spcPct val="90000"/>
              </a:lnSpc>
              <a:buFontTx/>
              <a:buNone/>
            </a:pPr>
            <a:endParaRPr lang="en-US" altLang="en-US" smtClean="0"/>
          </a:p>
          <a:p>
            <a:pPr algn="r">
              <a:lnSpc>
                <a:spcPct val="90000"/>
              </a:lnSpc>
              <a:buFontTx/>
              <a:buNone/>
            </a:pPr>
            <a:endParaRPr lang="en-US" altLang="en-US" smtClean="0"/>
          </a:p>
          <a:p>
            <a:pPr algn="r">
              <a:lnSpc>
                <a:spcPct val="90000"/>
              </a:lnSpc>
              <a:buFontTx/>
              <a:buNone/>
            </a:pPr>
            <a:endParaRPr lang="en-US" altLang="en-US" smtClean="0"/>
          </a:p>
          <a:p>
            <a:pPr algn="r">
              <a:lnSpc>
                <a:spcPct val="90000"/>
              </a:lnSpc>
              <a:buFontTx/>
              <a:buNone/>
            </a:pPr>
            <a:r>
              <a:rPr lang="en-US" altLang="en-US" smtClean="0"/>
              <a:t>*seriously</a:t>
            </a:r>
          </a:p>
        </p:txBody>
      </p:sp>
      <p:pic>
        <p:nvPicPr>
          <p:cNvPr id="512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1744" y="1600201"/>
            <a:ext cx="3887006" cy="4305399"/>
          </a:xfrm>
          <a:prstGeom prst="rect">
            <a:avLst/>
          </a:prstGeom>
          <a:solidFill>
            <a:schemeClr val="accent2">
              <a:lumMod val="75000"/>
              <a:alpha val="58000"/>
            </a:schemeClr>
          </a:solidFill>
          <a:ln>
            <a:noFill/>
          </a:ln>
          <a:effectLst>
            <a:outerShdw blurRad="50800" dist="50800" dir="5400000" algn="ctr" rotWithShape="0">
              <a:schemeClr val="tx2">
                <a:lumMod val="10000"/>
              </a:schemeClr>
            </a:outerShdw>
          </a:effectLst>
          <a:scene3d>
            <a:camera prst="orthographicFront">
              <a:rot lat="21299999" lon="300000" rev="300000"/>
            </a:camera>
            <a:lightRig rig="threePt" dir="t"/>
          </a:scene3d>
          <a:sp3d extrusionH="38100" contourW="146050">
            <a:bevelT w="19050"/>
            <a:bevelB w="101600" h="0"/>
          </a:sp3d>
        </p:spPr>
      </p:pic>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5126"/>
                                        </p:tgtEl>
                                        <p:attrNameLst>
                                          <p:attrName>style.visibility</p:attrName>
                                        </p:attrNameLst>
                                      </p:cBhvr>
                                      <p:to>
                                        <p:strVal val="visible"/>
                                      </p:to>
                                    </p:set>
                                    <p:animEffect transition="in" filter="fade">
                                      <p:cBhvr>
                                        <p:cTn id="7" dur="500"/>
                                        <p:tgtEl>
                                          <p:spTgt spid="51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8195">
                                            <p:txEl>
                                              <p:pRg st="8" end="8"/>
                                            </p:txEl>
                                          </p:spTgt>
                                        </p:tgtEl>
                                        <p:attrNameLst>
                                          <p:attrName>style.visibility</p:attrName>
                                        </p:attrNameLst>
                                      </p:cBhvr>
                                      <p:to>
                                        <p:strVal val="visible"/>
                                      </p:to>
                                    </p:set>
                                    <p:animEffect transition="in" filter="fade">
                                      <p:cBhvr>
                                        <p:cTn id="12" dur="500"/>
                                        <p:tgtEl>
                                          <p:spTgt spid="819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67326" y="3860800"/>
            <a:ext cx="1997075" cy="19954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24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77289" y="347663"/>
            <a:ext cx="1830387" cy="18288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244"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61275" y="4217989"/>
            <a:ext cx="2808288" cy="7270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245"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61076" y="39689"/>
            <a:ext cx="2124075" cy="16478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246"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5334000"/>
            <a:ext cx="1866900" cy="12842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247"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0539" y="3505200"/>
            <a:ext cx="2154237" cy="6667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248"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14800" y="2514601"/>
            <a:ext cx="3805238" cy="90011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249" name="Picture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48114" y="84139"/>
            <a:ext cx="1658937" cy="18319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250" name="Picture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56689" y="2354264"/>
            <a:ext cx="1525587" cy="1525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251" name="Picture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64426" y="5334001"/>
            <a:ext cx="3211513" cy="107156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252" name="Picture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71800" y="4191001"/>
            <a:ext cx="2133600" cy="906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53" name="Text Box 17"/>
          <p:cNvSpPr txBox="1">
            <a:spLocks noChangeArrowheads="1"/>
          </p:cNvSpPr>
          <p:nvPr/>
        </p:nvSpPr>
        <p:spPr bwMode="auto">
          <a:xfrm>
            <a:off x="1631951" y="112713"/>
            <a:ext cx="2282825" cy="286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a:hlinkClick r:id="rId13"/>
              </a:rPr>
              <a:t>FOSS4G</a:t>
            </a:r>
            <a:r>
              <a:rPr lang="en-US" altLang="en-US" sz="1800"/>
              <a:t>:</a:t>
            </a:r>
          </a:p>
          <a:p>
            <a:pPr>
              <a:spcBef>
                <a:spcPct val="0"/>
              </a:spcBef>
              <a:buClrTx/>
              <a:buFontTx/>
              <a:buNone/>
            </a:pPr>
            <a:r>
              <a:rPr lang="en-US" altLang="en-US" sz="1800" b="0"/>
              <a:t>Free and Open Source </a:t>
            </a:r>
          </a:p>
          <a:p>
            <a:pPr>
              <a:spcBef>
                <a:spcPct val="0"/>
              </a:spcBef>
              <a:buClrTx/>
              <a:buFontTx/>
              <a:buNone/>
            </a:pPr>
            <a:r>
              <a:rPr lang="en-US" altLang="en-US" sz="1800" b="0"/>
              <a:t>Software for Geospatial</a:t>
            </a:r>
          </a:p>
          <a:p>
            <a:pPr>
              <a:spcBef>
                <a:spcPct val="0"/>
              </a:spcBef>
              <a:buClrTx/>
              <a:buFontTx/>
              <a:buNone/>
            </a:pPr>
            <a:endParaRPr lang="en-US" altLang="en-US" sz="1800" b="0"/>
          </a:p>
          <a:p>
            <a:pPr>
              <a:spcBef>
                <a:spcPct val="0"/>
              </a:spcBef>
              <a:buClrTx/>
              <a:buFontTx/>
              <a:buNone/>
            </a:pPr>
            <a:r>
              <a:rPr lang="en-US" altLang="en-US" sz="1800">
                <a:hlinkClick r:id="rId14"/>
              </a:rPr>
              <a:t>OSGEO</a:t>
            </a:r>
            <a:r>
              <a:rPr lang="en-US" altLang="en-US" sz="1800"/>
              <a:t>:</a:t>
            </a:r>
          </a:p>
          <a:p>
            <a:pPr>
              <a:spcBef>
                <a:spcPct val="0"/>
              </a:spcBef>
              <a:buClrTx/>
              <a:buFontTx/>
              <a:buNone/>
            </a:pPr>
            <a:r>
              <a:rPr lang="en-US" altLang="en-US" sz="1800" b="0"/>
              <a:t>The Open Source </a:t>
            </a:r>
          </a:p>
          <a:p>
            <a:pPr>
              <a:spcBef>
                <a:spcPct val="0"/>
              </a:spcBef>
              <a:buClrTx/>
              <a:buFontTx/>
              <a:buNone/>
            </a:pPr>
            <a:r>
              <a:rPr lang="en-US" altLang="en-US" sz="1800" b="0"/>
              <a:t>Geospatial Foundation </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253"/>
                                        </p:tgtEl>
                                        <p:attrNameLst>
                                          <p:attrName>style.visibility</p:attrName>
                                        </p:attrNameLst>
                                      </p:cBhvr>
                                      <p:to>
                                        <p:strVal val="visible"/>
                                      </p:to>
                                    </p:set>
                                    <p:animEffect transition="in" filter="fade">
                                      <p:cBhvr>
                                        <p:cTn id="7" dur="500"/>
                                        <p:tgtEl>
                                          <p:spTgt spid="10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a:xfrm>
            <a:off x="1981200" y="2398714"/>
            <a:ext cx="8229600" cy="1139825"/>
          </a:xfrm>
        </p:spPr>
        <p:txBody>
          <a:bodyPr/>
          <a:lstStyle/>
          <a:p>
            <a:pPr>
              <a:lnSpc>
                <a:spcPct val="150000"/>
              </a:lnSpc>
              <a:spcBef>
                <a:spcPts val="0"/>
              </a:spcBef>
              <a:spcAft>
                <a:spcPts val="1200"/>
              </a:spcAft>
              <a:defRPr/>
            </a:pPr>
            <a:r>
              <a:rPr lang="en-US" dirty="0" smtClean="0"/>
              <a:t>What is Open GIS?</a:t>
            </a:r>
            <a:endParaRPr lang="en-US" dirty="0"/>
          </a:p>
        </p:txBody>
      </p:sp>
      <p:sp>
        <p:nvSpPr>
          <p:cNvPr id="4" name="Номер слайда 3"/>
          <p:cNvSpPr>
            <a:spLocks noGrp="1"/>
          </p:cNvSpPr>
          <p:nvPr>
            <p:ph type="sldNum" sz="quarter" idx="10"/>
          </p:nvPr>
        </p:nvSpPr>
        <p:spPr/>
        <p:txBody>
          <a:bodyPr/>
          <a:lstStyle/>
          <a:p>
            <a:pPr>
              <a:defRPr/>
            </a:pPr>
            <a:r>
              <a:rPr lang="en-US" smtClean="0"/>
              <a:t>1</a:t>
            </a:r>
            <a:endParaRPr lang="en-US"/>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fade">
                                      <p:cBhvr>
                                        <p:cTn id="7" dur="500"/>
                                        <p:tgtEl>
                                          <p:spTgt spid="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Grp="1" noChangeArrowheads="1"/>
          </p:cNvSpPr>
          <p:nvPr>
            <p:ph type="title"/>
          </p:nvPr>
        </p:nvSpPr>
        <p:spPr>
          <a:xfrm>
            <a:off x="1524000" y="152401"/>
            <a:ext cx="9144000" cy="1069975"/>
          </a:xfrm>
        </p:spPr>
        <p:txBody>
          <a:bodyPr/>
          <a:lstStyle/>
          <a:p>
            <a:pPr eaLnBrk="1" hangingPunct="1">
              <a:defRPr/>
            </a:pPr>
            <a:r>
              <a:rPr lang="en-US" dirty="0" smtClean="0"/>
              <a:t>What is Open GIS?</a:t>
            </a:r>
          </a:p>
        </p:txBody>
      </p:sp>
      <p:sp>
        <p:nvSpPr>
          <p:cNvPr id="21" name="Rectangle 3"/>
          <p:cNvSpPr txBox="1">
            <a:spLocks noChangeArrowheads="1"/>
          </p:cNvSpPr>
          <p:nvPr/>
        </p:nvSpPr>
        <p:spPr bwMode="auto">
          <a:xfrm>
            <a:off x="1739901" y="1222376"/>
            <a:ext cx="8640763" cy="544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lgn="just">
              <a:spcBef>
                <a:spcPts val="0"/>
              </a:spcBef>
              <a:spcAft>
                <a:spcPts val="2400"/>
              </a:spcAft>
              <a:defRPr/>
            </a:pPr>
            <a:r>
              <a:rPr lang="en-US" altLang="en-US" sz="2800" b="0" dirty="0">
                <a:latin typeface="+mn-lt"/>
                <a:cs typeface="Tahoma" panose="020B0604030504040204" pitchFamily="34" charset="0"/>
              </a:rPr>
              <a:t>Open GIS is the full integration of geospatial data into mainstream information technology.</a:t>
            </a:r>
            <a:endParaRPr lang="en-US" sz="2800" b="0" dirty="0">
              <a:latin typeface="+mn-lt"/>
            </a:endParaRPr>
          </a:p>
          <a:p>
            <a:pPr algn="just">
              <a:lnSpc>
                <a:spcPct val="90000"/>
              </a:lnSpc>
              <a:spcBef>
                <a:spcPts val="0"/>
              </a:spcBef>
              <a:spcAft>
                <a:spcPts val="2400"/>
              </a:spcAft>
              <a:defRPr/>
            </a:pPr>
            <a:r>
              <a:rPr lang="en-US" altLang="en-US" sz="2800" b="0" dirty="0">
                <a:latin typeface="+mn-lt"/>
                <a:cs typeface="Tahoma" panose="020B0604030504040204" pitchFamily="34" charset="0"/>
              </a:rPr>
              <a:t>What does  it mean? </a:t>
            </a:r>
          </a:p>
          <a:p>
            <a:pPr algn="just">
              <a:lnSpc>
                <a:spcPct val="90000"/>
              </a:lnSpc>
              <a:spcBef>
                <a:spcPts val="0"/>
              </a:spcBef>
              <a:spcAft>
                <a:spcPts val="2400"/>
              </a:spcAft>
              <a:defRPr/>
            </a:pPr>
            <a:r>
              <a:rPr lang="en-US" altLang="en-US" sz="2800" b="0" dirty="0">
                <a:latin typeface="+mn-lt"/>
                <a:cs typeface="Tahoma" panose="020B0604030504040204" pitchFamily="34" charset="0"/>
              </a:rPr>
              <a:t>GIS users would be able to:</a:t>
            </a:r>
          </a:p>
          <a:p>
            <a:pPr marL="822960" algn="just">
              <a:lnSpc>
                <a:spcPct val="90000"/>
              </a:lnSpc>
              <a:spcBef>
                <a:spcPts val="0"/>
              </a:spcBef>
              <a:spcAft>
                <a:spcPts val="2400"/>
              </a:spcAft>
              <a:buFont typeface="Wingdings" panose="05000000000000000000" pitchFamily="2" charset="2"/>
              <a:buChar char="ü"/>
              <a:defRPr/>
            </a:pPr>
            <a:r>
              <a:rPr lang="en-US" altLang="en-US" sz="2800" b="0" u="sng" dirty="0">
                <a:latin typeface="+mn-lt"/>
                <a:cs typeface="Tahoma" panose="020B0604030504040204" pitchFamily="34" charset="0"/>
              </a:rPr>
              <a:t>freely exchange data</a:t>
            </a:r>
            <a:r>
              <a:rPr lang="en-US" altLang="en-US" sz="2800" b="0" dirty="0">
                <a:latin typeface="+mn-lt"/>
                <a:cs typeface="Tahoma" panose="020B0604030504040204" pitchFamily="34" charset="0"/>
              </a:rPr>
              <a:t> over a </a:t>
            </a:r>
            <a:r>
              <a:rPr lang="en-US" altLang="en-US" sz="2800" b="0" u="sng" dirty="0">
                <a:latin typeface="+mn-lt"/>
                <a:cs typeface="Tahoma" panose="020B0604030504040204" pitchFamily="34" charset="0"/>
              </a:rPr>
              <a:t>range of GIS software systems</a:t>
            </a:r>
            <a:r>
              <a:rPr lang="en-US" altLang="en-US" sz="2800" b="0" dirty="0">
                <a:latin typeface="+mn-lt"/>
                <a:cs typeface="Tahoma" panose="020B0604030504040204" pitchFamily="34" charset="0"/>
              </a:rPr>
              <a:t> &amp; networks without having to worry about format conversion or proprietary data types.</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Grp="1" noChangeArrowheads="1"/>
          </p:cNvSpPr>
          <p:nvPr>
            <p:ph type="title"/>
          </p:nvPr>
        </p:nvSpPr>
        <p:spPr>
          <a:xfrm>
            <a:off x="1524000" y="152401"/>
            <a:ext cx="9144000" cy="1069975"/>
          </a:xfrm>
        </p:spPr>
        <p:txBody>
          <a:bodyPr/>
          <a:lstStyle/>
          <a:p>
            <a:pPr eaLnBrk="1" hangingPunct="1">
              <a:defRPr/>
            </a:pPr>
            <a:r>
              <a:rPr lang="en-US" dirty="0" smtClean="0"/>
              <a:t>What is Open GIS?</a:t>
            </a:r>
          </a:p>
        </p:txBody>
      </p:sp>
      <p:sp>
        <p:nvSpPr>
          <p:cNvPr id="21" name="Rectangle 3"/>
          <p:cNvSpPr txBox="1">
            <a:spLocks noChangeArrowheads="1"/>
          </p:cNvSpPr>
          <p:nvPr/>
        </p:nvSpPr>
        <p:spPr bwMode="auto">
          <a:xfrm>
            <a:off x="1739901" y="1222376"/>
            <a:ext cx="8748713" cy="544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lnSpc>
                <a:spcPct val="90000"/>
              </a:lnSpc>
              <a:spcBef>
                <a:spcPct val="0"/>
              </a:spcBef>
              <a:spcAft>
                <a:spcPts val="2400"/>
              </a:spcAft>
              <a:defRPr/>
            </a:pPr>
            <a:r>
              <a:rPr lang="en-US" altLang="en-US" sz="2800" b="0" dirty="0">
                <a:latin typeface="+mn-lt"/>
                <a:cs typeface="Tahoma" panose="020B0604030504040204" pitchFamily="34" charset="0"/>
              </a:rPr>
              <a:t>Additionally, Open GIS seeks to:</a:t>
            </a:r>
          </a:p>
          <a:p>
            <a:pPr marL="822960">
              <a:lnSpc>
                <a:spcPct val="90000"/>
              </a:lnSpc>
              <a:spcBef>
                <a:spcPct val="0"/>
              </a:spcBef>
              <a:spcAft>
                <a:spcPts val="2400"/>
              </a:spcAft>
              <a:buFont typeface="Wingdings" panose="05000000000000000000" pitchFamily="2" charset="2"/>
              <a:buChar char="ü"/>
              <a:defRPr/>
            </a:pPr>
            <a:r>
              <a:rPr lang="en-US" altLang="en-US" sz="2800" b="0" dirty="0">
                <a:latin typeface="+mn-lt"/>
                <a:cs typeface="Tahoma" panose="020B0604030504040204" pitchFamily="34" charset="0"/>
              </a:rPr>
              <a:t>facilitate the exchange of information not only between individual GIS systems but also to other systems.</a:t>
            </a:r>
          </a:p>
          <a:p>
            <a:pPr marL="822960">
              <a:lnSpc>
                <a:spcPct val="90000"/>
              </a:lnSpc>
              <a:spcBef>
                <a:spcPct val="0"/>
              </a:spcBef>
              <a:spcAft>
                <a:spcPts val="600"/>
              </a:spcAft>
              <a:buFont typeface="Wingdings" panose="05000000000000000000" pitchFamily="2" charset="2"/>
              <a:buChar char="ü"/>
              <a:defRPr/>
            </a:pPr>
            <a:r>
              <a:rPr lang="en-US" altLang="en-US" sz="2800" b="0" dirty="0">
                <a:latin typeface="+mn-lt"/>
                <a:cs typeface="Tahoma" panose="020B0604030504040204" pitchFamily="34" charset="0"/>
              </a:rPr>
              <a:t>Like: </a:t>
            </a:r>
          </a:p>
          <a:p>
            <a:pPr marL="1097280" lvl="1">
              <a:lnSpc>
                <a:spcPct val="90000"/>
              </a:lnSpc>
              <a:spcBef>
                <a:spcPct val="0"/>
              </a:spcBef>
              <a:spcAft>
                <a:spcPts val="1200"/>
              </a:spcAft>
              <a:defRPr/>
            </a:pPr>
            <a:r>
              <a:rPr lang="en-US" altLang="en-US" sz="2400" b="0" dirty="0">
                <a:latin typeface="+mn-lt"/>
                <a:cs typeface="Tahoma" panose="020B0604030504040204" pitchFamily="34" charset="0"/>
              </a:rPr>
              <a:t>statistical analysis</a:t>
            </a:r>
          </a:p>
          <a:p>
            <a:pPr marL="1097280" lvl="1">
              <a:lnSpc>
                <a:spcPct val="90000"/>
              </a:lnSpc>
              <a:spcBef>
                <a:spcPct val="0"/>
              </a:spcBef>
              <a:spcAft>
                <a:spcPts val="1200"/>
              </a:spcAft>
              <a:defRPr/>
            </a:pPr>
            <a:r>
              <a:rPr lang="en-US" altLang="en-US" sz="2400" b="0" dirty="0">
                <a:latin typeface="+mn-lt"/>
                <a:cs typeface="Tahoma" panose="020B0604030504040204" pitchFamily="34" charset="0"/>
              </a:rPr>
              <a:t>image processing </a:t>
            </a:r>
          </a:p>
          <a:p>
            <a:pPr marL="1097280" lvl="1">
              <a:lnSpc>
                <a:spcPct val="90000"/>
              </a:lnSpc>
              <a:spcBef>
                <a:spcPct val="0"/>
              </a:spcBef>
              <a:spcAft>
                <a:spcPts val="1200"/>
              </a:spcAft>
              <a:defRPr/>
            </a:pPr>
            <a:r>
              <a:rPr lang="en-US" altLang="en-US" sz="2400" b="0" dirty="0">
                <a:latin typeface="+mn-lt"/>
                <a:cs typeface="Tahoma" panose="020B0604030504040204" pitchFamily="34" charset="0"/>
              </a:rPr>
              <a:t>document management</a:t>
            </a:r>
          </a:p>
          <a:p>
            <a:pPr marL="1097280" lvl="1">
              <a:lnSpc>
                <a:spcPct val="90000"/>
              </a:lnSpc>
              <a:spcBef>
                <a:spcPct val="0"/>
              </a:spcBef>
              <a:spcAft>
                <a:spcPts val="1200"/>
              </a:spcAft>
              <a:defRPr/>
            </a:pPr>
            <a:r>
              <a:rPr lang="en-US" altLang="en-US" sz="2400" b="0" dirty="0">
                <a:latin typeface="+mn-lt"/>
                <a:cs typeface="Tahoma" panose="020B0604030504040204" pitchFamily="34" charset="0"/>
              </a:rPr>
              <a:t>visualization</a:t>
            </a:r>
            <a:endParaRPr lang="en-US" sz="2400" b="0" dirty="0">
              <a:latin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xEl>
                                              <p:pRg st="3" end="3"/>
                                            </p:txEl>
                                          </p:spTgt>
                                        </p:tgtEl>
                                        <p:attrNameLst>
                                          <p:attrName>style.visibility</p:attrName>
                                        </p:attrNameLst>
                                      </p:cBhvr>
                                      <p:to>
                                        <p:strVal val="visible"/>
                                      </p:to>
                                    </p:set>
                                    <p:animEffect transition="in" filter="fade">
                                      <p:cBhvr>
                                        <p:cTn id="20" dur="500"/>
                                        <p:tgtEl>
                                          <p:spTgt spid="21">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animEffect transition="in" filter="fade">
                                      <p:cBhvr>
                                        <p:cTn id="23" dur="500"/>
                                        <p:tgtEl>
                                          <p:spTgt spid="21">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xEl>
                                              <p:pRg st="5" end="5"/>
                                            </p:txEl>
                                          </p:spTgt>
                                        </p:tgtEl>
                                        <p:attrNameLst>
                                          <p:attrName>style.visibility</p:attrName>
                                        </p:attrNameLst>
                                      </p:cBhvr>
                                      <p:to>
                                        <p:strVal val="visible"/>
                                      </p:to>
                                    </p:set>
                                    <p:animEffect transition="in" filter="fade">
                                      <p:cBhvr>
                                        <p:cTn id="26" dur="500"/>
                                        <p:tgtEl>
                                          <p:spTgt spid="21">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1">
                                            <p:txEl>
                                              <p:pRg st="6" end="6"/>
                                            </p:txEl>
                                          </p:spTgt>
                                        </p:tgtEl>
                                        <p:attrNameLst>
                                          <p:attrName>style.visibility</p:attrName>
                                        </p:attrNameLst>
                                      </p:cBhvr>
                                      <p:to>
                                        <p:strVal val="visible"/>
                                      </p:to>
                                    </p:set>
                                    <p:animEffect transition="in" filter="fade">
                                      <p:cBhvr>
                                        <p:cTn id="29" dur="500"/>
                                        <p:tgtEl>
                                          <p:spTgt spid="2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1535113" y="1"/>
            <a:ext cx="9144000" cy="892175"/>
          </a:xfrm>
        </p:spPr>
        <p:txBody>
          <a:bodyPr/>
          <a:lstStyle/>
          <a:p>
            <a:pPr>
              <a:defRPr/>
            </a:pPr>
            <a:r>
              <a:rPr lang="en-US" altLang="en-US" dirty="0">
                <a:latin typeface="+mn-lt"/>
                <a:cs typeface="Tahoma" panose="020B0604030504040204" pitchFamily="34" charset="0"/>
              </a:rPr>
              <a:t>Open GIS Requirements</a:t>
            </a:r>
          </a:p>
        </p:txBody>
      </p:sp>
      <p:sp>
        <p:nvSpPr>
          <p:cNvPr id="143363" name="Rectangle 3"/>
          <p:cNvSpPr>
            <a:spLocks noGrp="1" noChangeArrowheads="1"/>
          </p:cNvSpPr>
          <p:nvPr>
            <p:ph type="body" idx="1"/>
          </p:nvPr>
        </p:nvSpPr>
        <p:spPr>
          <a:xfrm>
            <a:off x="1697038" y="892175"/>
            <a:ext cx="8820150" cy="6013450"/>
          </a:xfrm>
        </p:spPr>
        <p:txBody>
          <a:bodyPr/>
          <a:lstStyle/>
          <a:p>
            <a:pPr marL="271463" indent="-271463">
              <a:defRPr/>
            </a:pPr>
            <a:r>
              <a:rPr lang="en-US" altLang="en-US" dirty="0">
                <a:latin typeface="+mj-lt"/>
                <a:cs typeface="Tahoma" panose="020B0604030504040204" pitchFamily="34" charset="0"/>
              </a:rPr>
              <a:t>Interoperable application environment:</a:t>
            </a:r>
          </a:p>
          <a:p>
            <a:pPr marL="822960">
              <a:buFont typeface="Wingdings" panose="05000000000000000000" pitchFamily="2" charset="2"/>
              <a:buChar char="ü"/>
              <a:defRPr/>
            </a:pPr>
            <a:r>
              <a:rPr lang="en-US" altLang="en-US" sz="2400" dirty="0">
                <a:latin typeface="+mj-lt"/>
                <a:cs typeface="Tahoma" panose="020B0604030504040204" pitchFamily="34" charset="0"/>
              </a:rPr>
              <a:t>a user environment that is configurable to utilize the specific tools and data necessary to solve a problem irrespective of the data structure origin or software. </a:t>
            </a:r>
          </a:p>
          <a:p>
            <a:pPr marL="271463" indent="-271463">
              <a:defRPr/>
            </a:pPr>
            <a:r>
              <a:rPr lang="en-US" altLang="en-US" dirty="0">
                <a:latin typeface="+mj-lt"/>
                <a:cs typeface="Tahoma" panose="020B0604030504040204" pitchFamily="34" charset="0"/>
              </a:rPr>
              <a:t>Shared data space:</a:t>
            </a:r>
          </a:p>
          <a:p>
            <a:pPr marL="822960">
              <a:buFont typeface="Wingdings" panose="05000000000000000000" pitchFamily="2" charset="2"/>
              <a:buChar char="ü"/>
              <a:defRPr/>
            </a:pPr>
            <a:r>
              <a:rPr lang="en-US" altLang="en-US" sz="2400" dirty="0">
                <a:latin typeface="+mj-lt"/>
                <a:cs typeface="Tahoma" panose="020B0604030504040204" pitchFamily="34" charset="0"/>
              </a:rPr>
              <a:t>a generic data model supporting a variety of analytical and cartographic applications. </a:t>
            </a:r>
          </a:p>
          <a:p>
            <a:pPr marL="271463" indent="-271463">
              <a:defRPr/>
            </a:pPr>
            <a:r>
              <a:rPr lang="en-US" altLang="en-US" dirty="0">
                <a:latin typeface="+mj-lt"/>
                <a:cs typeface="Tahoma" panose="020B0604030504040204" pitchFamily="34" charset="0"/>
              </a:rPr>
              <a:t>Heterogeneous resource browser:</a:t>
            </a:r>
          </a:p>
          <a:p>
            <a:pPr marL="822960">
              <a:buFont typeface="Wingdings" panose="05000000000000000000" pitchFamily="2" charset="2"/>
              <a:buChar char="ü"/>
              <a:defRPr/>
            </a:pPr>
            <a:r>
              <a:rPr lang="en-US" altLang="en-US" sz="2400" dirty="0">
                <a:latin typeface="+mj-lt"/>
                <a:cs typeface="Tahoma" panose="020B0604030504040204" pitchFamily="34" charset="0"/>
              </a:rPr>
              <a:t>a method for exploring and accessing the information and analytical resources available on a network - this is becoming an especially important goal with the rise of geo-based Internet sites. </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animEffect transition="in" filter="fade">
                                      <p:cBhvr>
                                        <p:cTn id="7" dur="500"/>
                                        <p:tgtEl>
                                          <p:spTgt spid="1433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3363">
                                            <p:txEl>
                                              <p:pRg st="1" end="1"/>
                                            </p:txEl>
                                          </p:spTgt>
                                        </p:tgtEl>
                                        <p:attrNameLst>
                                          <p:attrName>style.visibility</p:attrName>
                                        </p:attrNameLst>
                                      </p:cBhvr>
                                      <p:to>
                                        <p:strVal val="visible"/>
                                      </p:to>
                                    </p:set>
                                    <p:animEffect transition="in" filter="fade">
                                      <p:cBhvr>
                                        <p:cTn id="12" dur="500"/>
                                        <p:tgtEl>
                                          <p:spTgt spid="1433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3363">
                                            <p:txEl>
                                              <p:pRg st="2" end="2"/>
                                            </p:txEl>
                                          </p:spTgt>
                                        </p:tgtEl>
                                        <p:attrNameLst>
                                          <p:attrName>style.visibility</p:attrName>
                                        </p:attrNameLst>
                                      </p:cBhvr>
                                      <p:to>
                                        <p:strVal val="visible"/>
                                      </p:to>
                                    </p:set>
                                    <p:animEffect transition="in" filter="fade">
                                      <p:cBhvr>
                                        <p:cTn id="17" dur="500"/>
                                        <p:tgtEl>
                                          <p:spTgt spid="14336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3363">
                                            <p:txEl>
                                              <p:pRg st="3" end="3"/>
                                            </p:txEl>
                                          </p:spTgt>
                                        </p:tgtEl>
                                        <p:attrNameLst>
                                          <p:attrName>style.visibility</p:attrName>
                                        </p:attrNameLst>
                                      </p:cBhvr>
                                      <p:to>
                                        <p:strVal val="visible"/>
                                      </p:to>
                                    </p:set>
                                    <p:animEffect transition="in" filter="fade">
                                      <p:cBhvr>
                                        <p:cTn id="22" dur="500"/>
                                        <p:tgtEl>
                                          <p:spTgt spid="14336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3363">
                                            <p:txEl>
                                              <p:pRg st="4" end="4"/>
                                            </p:txEl>
                                          </p:spTgt>
                                        </p:tgtEl>
                                        <p:attrNameLst>
                                          <p:attrName>style.visibility</p:attrName>
                                        </p:attrNameLst>
                                      </p:cBhvr>
                                      <p:to>
                                        <p:strVal val="visible"/>
                                      </p:to>
                                    </p:set>
                                    <p:animEffect transition="in" filter="fade">
                                      <p:cBhvr>
                                        <p:cTn id="27" dur="500"/>
                                        <p:tgtEl>
                                          <p:spTgt spid="14336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3363">
                                            <p:txEl>
                                              <p:pRg st="5" end="5"/>
                                            </p:txEl>
                                          </p:spTgt>
                                        </p:tgtEl>
                                        <p:attrNameLst>
                                          <p:attrName>style.visibility</p:attrName>
                                        </p:attrNameLst>
                                      </p:cBhvr>
                                      <p:to>
                                        <p:strVal val="visible"/>
                                      </p:to>
                                    </p:set>
                                    <p:animEffect transition="in" filter="fade">
                                      <p:cBhvr>
                                        <p:cTn id="32" dur="500"/>
                                        <p:tgtEl>
                                          <p:spTgt spid="1433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981200" y="1"/>
            <a:ext cx="8229600" cy="944563"/>
          </a:xfrm>
        </p:spPr>
        <p:txBody>
          <a:bodyPr/>
          <a:lstStyle/>
          <a:p>
            <a:pPr>
              <a:defRPr/>
            </a:pPr>
            <a:r>
              <a:rPr lang="en-US" altLang="en-US" dirty="0"/>
              <a:t>Why Use Open Source GIS?</a:t>
            </a:r>
          </a:p>
        </p:txBody>
      </p:sp>
      <p:sp>
        <p:nvSpPr>
          <p:cNvPr id="16387" name="Rectangle 3"/>
          <p:cNvSpPr>
            <a:spLocks noGrp="1" noChangeArrowheads="1"/>
          </p:cNvSpPr>
          <p:nvPr>
            <p:ph type="body" idx="1"/>
          </p:nvPr>
        </p:nvSpPr>
        <p:spPr>
          <a:xfrm>
            <a:off x="1981200" y="944563"/>
            <a:ext cx="8229600" cy="5580062"/>
          </a:xfrm>
        </p:spPr>
        <p:txBody>
          <a:bodyPr/>
          <a:lstStyle/>
          <a:p>
            <a:pPr>
              <a:lnSpc>
                <a:spcPct val="80000"/>
              </a:lnSpc>
              <a:spcAft>
                <a:spcPts val="1200"/>
              </a:spcAft>
              <a:buSzPct val="150000"/>
            </a:pPr>
            <a:r>
              <a:rPr lang="en-US" altLang="en-US"/>
              <a:t>Marketable skills</a:t>
            </a:r>
          </a:p>
          <a:p>
            <a:pPr lvl="1">
              <a:lnSpc>
                <a:spcPct val="80000"/>
              </a:lnSpc>
              <a:spcAft>
                <a:spcPts val="1200"/>
              </a:spcAft>
              <a:buFont typeface="Wingdings" panose="05000000000000000000" pitchFamily="2" charset="2"/>
              <a:buChar char="ü"/>
            </a:pPr>
            <a:r>
              <a:rPr lang="en-US" altLang="en-US"/>
              <a:t>In this ever-changing job market it is a huge benefit to be able to bring a total GIS package to the table</a:t>
            </a:r>
          </a:p>
          <a:p>
            <a:pPr>
              <a:lnSpc>
                <a:spcPct val="80000"/>
              </a:lnSpc>
              <a:spcAft>
                <a:spcPts val="1200"/>
              </a:spcAft>
            </a:pPr>
            <a:r>
              <a:rPr lang="en-US" altLang="en-US"/>
              <a:t>Supported by huge development &amp; support community </a:t>
            </a:r>
          </a:p>
          <a:p>
            <a:pPr lvl="1">
              <a:lnSpc>
                <a:spcPct val="80000"/>
              </a:lnSpc>
              <a:spcAft>
                <a:spcPts val="1200"/>
              </a:spcAft>
              <a:buFont typeface="Wingdings" panose="05000000000000000000" pitchFamily="2" charset="2"/>
              <a:buChar char="ü"/>
            </a:pPr>
            <a:r>
              <a:rPr lang="en-US" altLang="en-US"/>
              <a:t>Community is very passionate about helping each other but and continually improving software </a:t>
            </a:r>
          </a:p>
          <a:p>
            <a:pPr>
              <a:lnSpc>
                <a:spcPct val="80000"/>
              </a:lnSpc>
              <a:spcAft>
                <a:spcPts val="1200"/>
              </a:spcAft>
            </a:pPr>
            <a:r>
              <a:rPr lang="en-US" altLang="en-US"/>
              <a:t>Low start-up costs</a:t>
            </a:r>
          </a:p>
          <a:p>
            <a:pPr lvl="1">
              <a:lnSpc>
                <a:spcPct val="80000"/>
              </a:lnSpc>
              <a:spcAft>
                <a:spcPts val="1200"/>
              </a:spcAft>
              <a:buFont typeface="Wingdings" panose="05000000000000000000" pitchFamily="2" charset="2"/>
              <a:buChar char="ü"/>
            </a:pPr>
            <a:r>
              <a:rPr lang="en-US" altLang="en-US"/>
              <a:t>It is now possible to install a complete GIS stack without paying a cent - LEGALLY </a:t>
            </a:r>
            <a:r>
              <a:rPr lang="en-US" altLang="en-US" b="0" smtClean="0"/>
              <a:t> </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fade">
                                      <p:cBhvr>
                                        <p:cTn id="7" dur="500"/>
                                        <p:tgtEl>
                                          <p:spTgt spid="1638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387">
                                            <p:txEl>
                                              <p:pRg st="1" end="1"/>
                                            </p:txEl>
                                          </p:spTgt>
                                        </p:tgtEl>
                                        <p:attrNameLst>
                                          <p:attrName>style.visibility</p:attrName>
                                        </p:attrNameLst>
                                      </p:cBhvr>
                                      <p:to>
                                        <p:strVal val="visible"/>
                                      </p:to>
                                    </p:set>
                                    <p:animEffect transition="in" filter="fade">
                                      <p:cBhvr>
                                        <p:cTn id="10" dur="500"/>
                                        <p:tgtEl>
                                          <p:spTgt spid="16387">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animEffect transition="in" filter="fade">
                                      <p:cBhvr>
                                        <p:cTn id="15" dur="500"/>
                                        <p:tgtEl>
                                          <p:spTgt spid="16387">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387">
                                            <p:txEl>
                                              <p:pRg st="3" end="3"/>
                                            </p:txEl>
                                          </p:spTgt>
                                        </p:tgtEl>
                                        <p:attrNameLst>
                                          <p:attrName>style.visibility</p:attrName>
                                        </p:attrNameLst>
                                      </p:cBhvr>
                                      <p:to>
                                        <p:strVal val="visible"/>
                                      </p:to>
                                    </p:set>
                                    <p:animEffect transition="in" filter="fade">
                                      <p:cBhvr>
                                        <p:cTn id="18" dur="500"/>
                                        <p:tgtEl>
                                          <p:spTgt spid="16387">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6387">
                                            <p:txEl>
                                              <p:pRg st="4" end="4"/>
                                            </p:txEl>
                                          </p:spTgt>
                                        </p:tgtEl>
                                        <p:attrNameLst>
                                          <p:attrName>style.visibility</p:attrName>
                                        </p:attrNameLst>
                                      </p:cBhvr>
                                      <p:to>
                                        <p:strVal val="visible"/>
                                      </p:to>
                                    </p:set>
                                    <p:animEffect transition="in" filter="fade">
                                      <p:cBhvr>
                                        <p:cTn id="23" dur="500"/>
                                        <p:tgtEl>
                                          <p:spTgt spid="16387">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387">
                                            <p:txEl>
                                              <p:pRg st="5" end="5"/>
                                            </p:txEl>
                                          </p:spTgt>
                                        </p:tgtEl>
                                        <p:attrNameLst>
                                          <p:attrName>style.visibility</p:attrName>
                                        </p:attrNameLst>
                                      </p:cBhvr>
                                      <p:to>
                                        <p:strVal val="visible"/>
                                      </p:to>
                                    </p:set>
                                    <p:animEffect transition="in" filter="fade">
                                      <p:cBhvr>
                                        <p:cTn id="26" dur="500"/>
                                        <p:tgtEl>
                                          <p:spTgt spid="163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981200" y="0"/>
            <a:ext cx="8229600" cy="800100"/>
          </a:xfrm>
        </p:spPr>
        <p:txBody>
          <a:bodyPr/>
          <a:lstStyle/>
          <a:p>
            <a:pPr>
              <a:defRPr/>
            </a:pPr>
            <a:r>
              <a:rPr lang="en-US" altLang="en-US" dirty="0"/>
              <a:t>Why Use Open Source GIS?</a:t>
            </a:r>
          </a:p>
        </p:txBody>
      </p:sp>
      <p:sp>
        <p:nvSpPr>
          <p:cNvPr id="9219" name="Rectangle 3"/>
          <p:cNvSpPr>
            <a:spLocks noGrp="1" noChangeArrowheads="1"/>
          </p:cNvSpPr>
          <p:nvPr>
            <p:ph type="body" idx="1"/>
          </p:nvPr>
        </p:nvSpPr>
        <p:spPr>
          <a:xfrm>
            <a:off x="1981200" y="801689"/>
            <a:ext cx="8229600" cy="5830887"/>
          </a:xfrm>
        </p:spPr>
        <p:txBody>
          <a:bodyPr/>
          <a:lstStyle/>
          <a:p>
            <a:pPr>
              <a:lnSpc>
                <a:spcPct val="80000"/>
              </a:lnSpc>
              <a:spcAft>
                <a:spcPts val="1200"/>
              </a:spcAft>
              <a:defRPr/>
            </a:pPr>
            <a:r>
              <a:rPr lang="en-US" altLang="en-US" dirty="0"/>
              <a:t>Security</a:t>
            </a:r>
          </a:p>
          <a:p>
            <a:pPr marL="822960">
              <a:lnSpc>
                <a:spcPct val="80000"/>
              </a:lnSpc>
              <a:spcAft>
                <a:spcPts val="1200"/>
              </a:spcAft>
              <a:buFont typeface="Wingdings" panose="05000000000000000000" pitchFamily="2" charset="2"/>
              <a:buChar char="ü"/>
              <a:defRPr/>
            </a:pPr>
            <a:r>
              <a:rPr lang="en-US" altLang="en-US" sz="2400" dirty="0"/>
              <a:t>Arguably more secure than proprietary software </a:t>
            </a:r>
          </a:p>
          <a:p>
            <a:pPr marL="822960">
              <a:lnSpc>
                <a:spcPct val="80000"/>
              </a:lnSpc>
              <a:spcAft>
                <a:spcPts val="1200"/>
              </a:spcAft>
              <a:buFont typeface="Wingdings" panose="05000000000000000000" pitchFamily="2" charset="2"/>
              <a:buChar char="ü"/>
              <a:defRPr/>
            </a:pPr>
            <a:r>
              <a:rPr lang="en-US" altLang="en-US" sz="2400" dirty="0"/>
              <a:t>Backed by large development community</a:t>
            </a:r>
          </a:p>
          <a:p>
            <a:pPr marL="822960">
              <a:lnSpc>
                <a:spcPct val="80000"/>
              </a:lnSpc>
              <a:spcAft>
                <a:spcPts val="1200"/>
              </a:spcAft>
              <a:buFont typeface="Wingdings" panose="05000000000000000000" pitchFamily="2" charset="2"/>
              <a:buChar char="ü"/>
              <a:defRPr/>
            </a:pPr>
            <a:r>
              <a:rPr lang="en-US" altLang="en-US" sz="2400" dirty="0"/>
              <a:t>Bugs are found and fixed quickly </a:t>
            </a:r>
          </a:p>
          <a:p>
            <a:pPr>
              <a:lnSpc>
                <a:spcPct val="80000"/>
              </a:lnSpc>
              <a:spcAft>
                <a:spcPts val="1200"/>
              </a:spcAft>
              <a:buSzPct val="150000"/>
              <a:defRPr/>
            </a:pPr>
            <a:r>
              <a:rPr lang="en-US" altLang="en-US" dirty="0">
                <a:latin typeface="+mj-lt"/>
              </a:rPr>
              <a:t>Works on all major platforms</a:t>
            </a:r>
          </a:p>
          <a:p>
            <a:pPr>
              <a:lnSpc>
                <a:spcPct val="80000"/>
              </a:lnSpc>
              <a:spcAft>
                <a:spcPts val="1200"/>
              </a:spcAft>
              <a:buSzPct val="150000"/>
              <a:defRPr/>
            </a:pPr>
            <a:r>
              <a:rPr lang="en-US" altLang="en-US" dirty="0"/>
              <a:t>Complimentary business model vs linear (see next two slides)</a:t>
            </a:r>
            <a:endParaRPr lang="en-US" altLang="en-US" dirty="0">
              <a:latin typeface="+mj-lt"/>
            </a:endParaRPr>
          </a:p>
          <a:p>
            <a:pPr>
              <a:lnSpc>
                <a:spcPct val="80000"/>
              </a:lnSpc>
              <a:buSzPct val="150000"/>
              <a:buFont typeface="Arial" panose="020B0604020202020204" pitchFamily="34" charset="0"/>
              <a:buChar char="•"/>
              <a:defRPr/>
            </a:pPr>
            <a:r>
              <a:rPr lang="en-US" altLang="en-US" dirty="0"/>
              <a:t>There's nothing missing:</a:t>
            </a:r>
          </a:p>
          <a:p>
            <a:pPr marL="822960">
              <a:lnSpc>
                <a:spcPct val="80000"/>
              </a:lnSpc>
              <a:buFont typeface="Wingdings" panose="05000000000000000000" pitchFamily="2" charset="2"/>
              <a:buChar char="ü"/>
              <a:defRPr/>
            </a:pPr>
            <a:r>
              <a:rPr lang="en-US" altLang="en-US" sz="2400" dirty="0">
                <a:latin typeface="+mj-lt"/>
              </a:rPr>
              <a:t>Desktop GIS, Spatial Database Storage, Server</a:t>
            </a:r>
          </a:p>
          <a:p>
            <a:pPr marL="822960">
              <a:lnSpc>
                <a:spcPct val="80000"/>
              </a:lnSpc>
              <a:buFont typeface="Wingdings" panose="05000000000000000000" pitchFamily="2" charset="2"/>
              <a:buChar char="ü"/>
              <a:defRPr/>
            </a:pPr>
            <a:r>
              <a:rPr lang="en-US" altLang="en-US" sz="2400" dirty="0">
                <a:latin typeface="+mj-lt"/>
              </a:rPr>
              <a:t>Tons of analysis tools (No licensing worries)</a:t>
            </a:r>
            <a:r>
              <a:rPr lang="ar-SA" altLang="en-US" sz="2400" dirty="0">
                <a:latin typeface="+mj-lt"/>
              </a:rPr>
              <a:t>‏</a:t>
            </a:r>
            <a:endParaRPr lang="en-US" altLang="en-US" sz="2400" dirty="0">
              <a:latin typeface="+mj-lt"/>
            </a:endParaRPr>
          </a:p>
          <a:p>
            <a:pPr marL="822960">
              <a:lnSpc>
                <a:spcPct val="80000"/>
              </a:lnSpc>
              <a:buFont typeface="Wingdings" panose="05000000000000000000" pitchFamily="2" charset="2"/>
              <a:buChar char="ü"/>
              <a:defRPr/>
            </a:pPr>
            <a:r>
              <a:rPr lang="en-US" altLang="en-US" sz="2400" dirty="0">
                <a:latin typeface="+mj-lt"/>
              </a:rPr>
              <a:t>Community developed add-ons.</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fade">
                                      <p:cBhvr>
                                        <p:cTn id="7" dur="500"/>
                                        <p:tgtEl>
                                          <p:spTgt spid="92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fade">
                                      <p:cBhvr>
                                        <p:cTn id="12" dur="500"/>
                                        <p:tgtEl>
                                          <p:spTgt spid="92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fade">
                                      <p:cBhvr>
                                        <p:cTn id="17" dur="500"/>
                                        <p:tgtEl>
                                          <p:spTgt spid="92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219">
                                            <p:txEl>
                                              <p:pRg st="3" end="3"/>
                                            </p:txEl>
                                          </p:spTgt>
                                        </p:tgtEl>
                                        <p:attrNameLst>
                                          <p:attrName>style.visibility</p:attrName>
                                        </p:attrNameLst>
                                      </p:cBhvr>
                                      <p:to>
                                        <p:strVal val="visible"/>
                                      </p:to>
                                    </p:set>
                                    <p:animEffect transition="in" filter="fade">
                                      <p:cBhvr>
                                        <p:cTn id="22" dur="500"/>
                                        <p:tgtEl>
                                          <p:spTgt spid="921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219">
                                            <p:txEl>
                                              <p:pRg st="4" end="4"/>
                                            </p:txEl>
                                          </p:spTgt>
                                        </p:tgtEl>
                                        <p:attrNameLst>
                                          <p:attrName>style.visibility</p:attrName>
                                        </p:attrNameLst>
                                      </p:cBhvr>
                                      <p:to>
                                        <p:strVal val="visible"/>
                                      </p:to>
                                    </p:set>
                                    <p:animEffect transition="in" filter="fade">
                                      <p:cBhvr>
                                        <p:cTn id="27" dur="500"/>
                                        <p:tgtEl>
                                          <p:spTgt spid="921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219">
                                            <p:txEl>
                                              <p:pRg st="5" end="5"/>
                                            </p:txEl>
                                          </p:spTgt>
                                        </p:tgtEl>
                                        <p:attrNameLst>
                                          <p:attrName>style.visibility</p:attrName>
                                        </p:attrNameLst>
                                      </p:cBhvr>
                                      <p:to>
                                        <p:strVal val="visible"/>
                                      </p:to>
                                    </p:set>
                                    <p:animEffect transition="in" filter="fade">
                                      <p:cBhvr>
                                        <p:cTn id="32" dur="500"/>
                                        <p:tgtEl>
                                          <p:spTgt spid="921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219">
                                            <p:txEl>
                                              <p:pRg st="6" end="6"/>
                                            </p:txEl>
                                          </p:spTgt>
                                        </p:tgtEl>
                                        <p:attrNameLst>
                                          <p:attrName>style.visibility</p:attrName>
                                        </p:attrNameLst>
                                      </p:cBhvr>
                                      <p:to>
                                        <p:strVal val="visible"/>
                                      </p:to>
                                    </p:set>
                                    <p:animEffect transition="in" filter="fade">
                                      <p:cBhvr>
                                        <p:cTn id="37" dur="500"/>
                                        <p:tgtEl>
                                          <p:spTgt spid="921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219">
                                            <p:txEl>
                                              <p:pRg st="7" end="7"/>
                                            </p:txEl>
                                          </p:spTgt>
                                        </p:tgtEl>
                                        <p:attrNameLst>
                                          <p:attrName>style.visibility</p:attrName>
                                        </p:attrNameLst>
                                      </p:cBhvr>
                                      <p:to>
                                        <p:strVal val="visible"/>
                                      </p:to>
                                    </p:set>
                                    <p:animEffect transition="in" filter="fade">
                                      <p:cBhvr>
                                        <p:cTn id="42" dur="500"/>
                                        <p:tgtEl>
                                          <p:spTgt spid="9219">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9219">
                                            <p:txEl>
                                              <p:pRg st="8" end="8"/>
                                            </p:txEl>
                                          </p:spTgt>
                                        </p:tgtEl>
                                        <p:attrNameLst>
                                          <p:attrName>style.visibility</p:attrName>
                                        </p:attrNameLst>
                                      </p:cBhvr>
                                      <p:to>
                                        <p:strVal val="visible"/>
                                      </p:to>
                                    </p:set>
                                    <p:animEffect transition="in" filter="fade">
                                      <p:cBhvr>
                                        <p:cTn id="47" dur="500"/>
                                        <p:tgtEl>
                                          <p:spTgt spid="9219">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9219">
                                            <p:txEl>
                                              <p:pRg st="9" end="9"/>
                                            </p:txEl>
                                          </p:spTgt>
                                        </p:tgtEl>
                                        <p:attrNameLst>
                                          <p:attrName>style.visibility</p:attrName>
                                        </p:attrNameLst>
                                      </p:cBhvr>
                                      <p:to>
                                        <p:strVal val="visible"/>
                                      </p:to>
                                    </p:set>
                                    <p:animEffect transition="in" filter="fade">
                                      <p:cBhvr>
                                        <p:cTn id="52" dur="500"/>
                                        <p:tgtEl>
                                          <p:spTgt spid="921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981200" y="115888"/>
            <a:ext cx="8229600" cy="946150"/>
          </a:xfrm>
        </p:spPr>
        <p:txBody>
          <a:bodyPr/>
          <a:lstStyle/>
          <a:p>
            <a:pPr>
              <a:defRPr/>
            </a:pPr>
            <a:r>
              <a:rPr lang="en-US" altLang="en-US" dirty="0"/>
              <a:t>Why Use Open Source GIS?</a:t>
            </a:r>
          </a:p>
        </p:txBody>
      </p:sp>
      <p:sp>
        <p:nvSpPr>
          <p:cNvPr id="9219" name="Rectangle 3"/>
          <p:cNvSpPr>
            <a:spLocks noGrp="1" noChangeArrowheads="1"/>
          </p:cNvSpPr>
          <p:nvPr>
            <p:ph type="body" idx="1"/>
          </p:nvPr>
        </p:nvSpPr>
        <p:spPr>
          <a:xfrm>
            <a:off x="1981200" y="1196975"/>
            <a:ext cx="8229600" cy="5327650"/>
          </a:xfrm>
        </p:spPr>
        <p:txBody>
          <a:bodyPr/>
          <a:lstStyle/>
          <a:p>
            <a:pPr>
              <a:lnSpc>
                <a:spcPct val="80000"/>
              </a:lnSpc>
              <a:spcAft>
                <a:spcPts val="1200"/>
              </a:spcAft>
              <a:defRPr/>
            </a:pPr>
            <a:r>
              <a:rPr lang="en-US" altLang="en-US" dirty="0"/>
              <a:t>Works with existing GIS data</a:t>
            </a:r>
          </a:p>
          <a:p>
            <a:pPr marL="822960">
              <a:lnSpc>
                <a:spcPct val="80000"/>
              </a:lnSpc>
              <a:spcAft>
                <a:spcPts val="1200"/>
              </a:spcAft>
              <a:buFont typeface="Wingdings" panose="05000000000000000000" pitchFamily="2" charset="2"/>
              <a:buChar char="ü"/>
              <a:defRPr/>
            </a:pPr>
            <a:r>
              <a:rPr lang="en-US" altLang="en-US" sz="2400" dirty="0">
                <a:latin typeface="+mj-lt"/>
              </a:rPr>
              <a:t>Import .</a:t>
            </a:r>
            <a:r>
              <a:rPr lang="en-US" altLang="en-US" sz="2400" dirty="0" err="1">
                <a:latin typeface="+mj-lt"/>
              </a:rPr>
              <a:t>shp</a:t>
            </a:r>
            <a:r>
              <a:rPr lang="en-US" altLang="en-US" sz="2400" dirty="0">
                <a:latin typeface="+mj-lt"/>
              </a:rPr>
              <a:t> files, most major formats</a:t>
            </a:r>
          </a:p>
          <a:p>
            <a:pPr marL="822960">
              <a:lnSpc>
                <a:spcPct val="80000"/>
              </a:lnSpc>
              <a:spcAft>
                <a:spcPts val="1200"/>
              </a:spcAft>
              <a:buFont typeface="Wingdings" panose="05000000000000000000" pitchFamily="2" charset="2"/>
              <a:buChar char="ü"/>
              <a:defRPr/>
            </a:pPr>
            <a:r>
              <a:rPr lang="en-US" altLang="en-US" sz="2400" dirty="0">
                <a:latin typeface="+mj-lt"/>
              </a:rPr>
              <a:t>Export to most major formats</a:t>
            </a:r>
          </a:p>
          <a:p>
            <a:pPr marL="822960">
              <a:lnSpc>
                <a:spcPct val="80000"/>
              </a:lnSpc>
              <a:spcAft>
                <a:spcPts val="1200"/>
              </a:spcAft>
              <a:buFont typeface="Wingdings" panose="05000000000000000000" pitchFamily="2" charset="2"/>
              <a:buChar char="ü"/>
              <a:defRPr/>
            </a:pPr>
            <a:r>
              <a:rPr lang="en-US" altLang="en-US" sz="2400" dirty="0" err="1">
                <a:latin typeface="+mj-lt"/>
              </a:rPr>
              <a:t>ArcSDE</a:t>
            </a:r>
            <a:r>
              <a:rPr lang="en-US" altLang="en-US" sz="2400" dirty="0">
                <a:latin typeface="+mj-lt"/>
              </a:rPr>
              <a:t> now connects to </a:t>
            </a:r>
            <a:r>
              <a:rPr lang="en-US" altLang="en-US" sz="2400" dirty="0" err="1">
                <a:latin typeface="+mj-lt"/>
              </a:rPr>
              <a:t>PostGIS</a:t>
            </a:r>
            <a:r>
              <a:rPr lang="en-US" altLang="en-US" sz="2400" dirty="0">
                <a:latin typeface="+mj-lt"/>
              </a:rPr>
              <a:t> (OS Database)</a:t>
            </a:r>
            <a:r>
              <a:rPr lang="ar-SA" altLang="en-US" sz="2400" dirty="0">
                <a:latin typeface="+mj-lt"/>
              </a:rPr>
              <a:t>‏</a:t>
            </a:r>
            <a:endParaRPr lang="en-US" altLang="en-US" sz="2400" dirty="0">
              <a:latin typeface="+mj-lt"/>
            </a:endParaRPr>
          </a:p>
          <a:p>
            <a:pPr>
              <a:lnSpc>
                <a:spcPct val="80000"/>
              </a:lnSpc>
              <a:spcAft>
                <a:spcPts val="1200"/>
              </a:spcAft>
              <a:buSzPct val="150000"/>
              <a:defRPr/>
            </a:pPr>
            <a:r>
              <a:rPr lang="en-US" altLang="en-US" dirty="0"/>
              <a:t>Did I mention FREE?</a:t>
            </a:r>
          </a:p>
          <a:p>
            <a:pPr marL="822960">
              <a:lnSpc>
                <a:spcPct val="80000"/>
              </a:lnSpc>
              <a:buFont typeface="Wingdings" panose="05000000000000000000" pitchFamily="2" charset="2"/>
              <a:buChar char="ü"/>
              <a:defRPr/>
            </a:pPr>
            <a:r>
              <a:rPr lang="en-US" altLang="en-US" sz="2400" dirty="0"/>
              <a:t>Potentially save enough money on software to save jobs</a:t>
            </a:r>
            <a:endParaRPr lang="en-US" altLang="en-US" sz="2400" dirty="0">
              <a:latin typeface="+mj-lt"/>
            </a:endParaRP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fade">
                                      <p:cBhvr>
                                        <p:cTn id="7" dur="500"/>
                                        <p:tgtEl>
                                          <p:spTgt spid="92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fade">
                                      <p:cBhvr>
                                        <p:cTn id="12" dur="500"/>
                                        <p:tgtEl>
                                          <p:spTgt spid="92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fade">
                                      <p:cBhvr>
                                        <p:cTn id="17" dur="500"/>
                                        <p:tgtEl>
                                          <p:spTgt spid="92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219">
                                            <p:txEl>
                                              <p:pRg st="3" end="3"/>
                                            </p:txEl>
                                          </p:spTgt>
                                        </p:tgtEl>
                                        <p:attrNameLst>
                                          <p:attrName>style.visibility</p:attrName>
                                        </p:attrNameLst>
                                      </p:cBhvr>
                                      <p:to>
                                        <p:strVal val="visible"/>
                                      </p:to>
                                    </p:set>
                                    <p:animEffect transition="in" filter="fade">
                                      <p:cBhvr>
                                        <p:cTn id="22" dur="500"/>
                                        <p:tgtEl>
                                          <p:spTgt spid="921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219">
                                            <p:txEl>
                                              <p:pRg st="4" end="4"/>
                                            </p:txEl>
                                          </p:spTgt>
                                        </p:tgtEl>
                                        <p:attrNameLst>
                                          <p:attrName>style.visibility</p:attrName>
                                        </p:attrNameLst>
                                      </p:cBhvr>
                                      <p:to>
                                        <p:strVal val="visible"/>
                                      </p:to>
                                    </p:set>
                                    <p:animEffect transition="in" filter="fade">
                                      <p:cBhvr>
                                        <p:cTn id="27" dur="500"/>
                                        <p:tgtEl>
                                          <p:spTgt spid="921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219">
                                            <p:txEl>
                                              <p:pRg st="5" end="5"/>
                                            </p:txEl>
                                          </p:spTgt>
                                        </p:tgtEl>
                                        <p:attrNameLst>
                                          <p:attrName>style.visibility</p:attrName>
                                        </p:attrNameLst>
                                      </p:cBhvr>
                                      <p:to>
                                        <p:strVal val="visible"/>
                                      </p:to>
                                    </p:set>
                                    <p:animEffect transition="in" filter="fade">
                                      <p:cBhvr>
                                        <p:cTn id="32" dur="500"/>
                                        <p:tgtEl>
                                          <p:spTgt spid="92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981200" y="-76200"/>
            <a:ext cx="8231188" cy="1144588"/>
          </a:xfrm>
          <a:extLst>
            <a:ext uri="{91240B29-F687-4F45-9708-019B960494DF}">
              <a14:hiddenLine xmlns:a14="http://schemas.microsoft.com/office/drawing/2010/main" w="9525">
                <a:solidFill>
                  <a:srgbClr val="000000"/>
                </a:solidFill>
                <a:round/>
                <a:headEnd/>
                <a:tailEnd/>
              </a14:hiddenLine>
            </a:ext>
          </a:extLst>
        </p:spPr>
        <p:txBody>
          <a:bodyPr vert="horz" lIns="90000" tIns="46800" rIns="90000" bIns="46800" rtlCol="0" anchor="ctr">
            <a:normAutofit/>
          </a:bodyPr>
          <a:lstStyle/>
          <a:p>
            <a:pPr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altLang="en-US"/>
              <a:t>Open Source Dev. Model	</a:t>
            </a:r>
          </a:p>
        </p:txBody>
      </p:sp>
      <p:grpSp>
        <p:nvGrpSpPr>
          <p:cNvPr id="19459" name="Group 23"/>
          <p:cNvGrpSpPr>
            <a:grpSpLocks/>
          </p:cNvGrpSpPr>
          <p:nvPr/>
        </p:nvGrpSpPr>
        <p:grpSpPr bwMode="auto">
          <a:xfrm>
            <a:off x="1593850" y="990600"/>
            <a:ext cx="9074150" cy="5638800"/>
            <a:chOff x="70462" y="990600"/>
            <a:chExt cx="9073538" cy="5638800"/>
          </a:xfrm>
        </p:grpSpPr>
        <p:sp>
          <p:nvSpPr>
            <p:cNvPr id="19461" name="AutoShape 4"/>
            <p:cNvSpPr>
              <a:spLocks noChangeArrowheads="1"/>
            </p:cNvSpPr>
            <p:nvPr/>
          </p:nvSpPr>
          <p:spPr bwMode="auto">
            <a:xfrm>
              <a:off x="70462" y="3941763"/>
              <a:ext cx="1524000" cy="1219200"/>
            </a:xfrm>
            <a:prstGeom prst="flowChartAlternateProcess">
              <a:avLst/>
            </a:prstGeom>
            <a:solidFill>
              <a:srgbClr val="006699"/>
            </a:solidFill>
            <a:ln w="9360">
              <a:solidFill>
                <a:srgbClr val="FFFF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ct val="0"/>
                </a:spcBef>
                <a:buClr>
                  <a:srgbClr val="FFFFFF"/>
                </a:buClr>
                <a:buFontTx/>
                <a:buNone/>
              </a:pPr>
              <a:r>
                <a:rPr lang="en-US" altLang="en-US" sz="1800" b="0">
                  <a:solidFill>
                    <a:srgbClr val="FFFFFF"/>
                  </a:solidFill>
                  <a:latin typeface="Bodoni MT" panose="02070603080606020203" pitchFamily="18" charset="0"/>
                </a:rPr>
                <a:t>Org. 5:</a:t>
              </a:r>
            </a:p>
            <a:p>
              <a:pPr algn="ctr">
                <a:lnSpc>
                  <a:spcPct val="99000"/>
                </a:lnSpc>
                <a:spcBef>
                  <a:spcPct val="0"/>
                </a:spcBef>
                <a:buClr>
                  <a:srgbClr val="FFFFFF"/>
                </a:buClr>
                <a:buFontTx/>
                <a:buNone/>
              </a:pPr>
              <a:r>
                <a:rPr lang="en-US" altLang="en-US" sz="1600" b="0">
                  <a:solidFill>
                    <a:srgbClr val="FFFFFF"/>
                  </a:solidFill>
                  <a:latin typeface="Bodoni MT" panose="02070603080606020203" pitchFamily="18" charset="0"/>
                </a:rPr>
                <a:t>Customer of contributor Org.6 </a:t>
              </a:r>
            </a:p>
          </p:txBody>
        </p:sp>
        <p:grpSp>
          <p:nvGrpSpPr>
            <p:cNvPr id="19462" name="Group 22"/>
            <p:cNvGrpSpPr>
              <a:grpSpLocks/>
            </p:cNvGrpSpPr>
            <p:nvPr/>
          </p:nvGrpSpPr>
          <p:grpSpPr bwMode="auto">
            <a:xfrm>
              <a:off x="83163" y="990600"/>
              <a:ext cx="9060837" cy="5638800"/>
              <a:chOff x="83163" y="990600"/>
              <a:chExt cx="9060837" cy="5638800"/>
            </a:xfrm>
          </p:grpSpPr>
          <p:sp>
            <p:nvSpPr>
              <p:cNvPr id="19463" name="AutoShape 3"/>
              <p:cNvSpPr>
                <a:spLocks noChangeArrowheads="1"/>
              </p:cNvSpPr>
              <p:nvPr/>
            </p:nvSpPr>
            <p:spPr bwMode="auto">
              <a:xfrm>
                <a:off x="1981200" y="1295400"/>
                <a:ext cx="1524000" cy="762000"/>
              </a:xfrm>
              <a:prstGeom prst="flowChartAlternateProcess">
                <a:avLst/>
              </a:prstGeom>
              <a:solidFill>
                <a:srgbClr val="006699"/>
              </a:solidFill>
              <a:ln w="9360">
                <a:solidFill>
                  <a:srgbClr val="FFFF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ct val="0"/>
                  </a:spcBef>
                  <a:buClr>
                    <a:srgbClr val="FFFFFF"/>
                  </a:buClr>
                  <a:buFontTx/>
                  <a:buNone/>
                </a:pPr>
                <a:r>
                  <a:rPr lang="en-US" altLang="en-US" sz="1800" b="0">
                    <a:solidFill>
                      <a:srgbClr val="FFFFFF"/>
                    </a:solidFill>
                    <a:latin typeface="Bodoni MT" panose="02070603080606020203" pitchFamily="18" charset="0"/>
                  </a:rPr>
                  <a:t>Org. 2:</a:t>
                </a:r>
              </a:p>
              <a:p>
                <a:pPr algn="ctr">
                  <a:lnSpc>
                    <a:spcPct val="99000"/>
                  </a:lnSpc>
                  <a:spcBef>
                    <a:spcPct val="0"/>
                  </a:spcBef>
                  <a:buClr>
                    <a:srgbClr val="FFFFFF"/>
                  </a:buClr>
                  <a:buFontTx/>
                  <a:buNone/>
                </a:pPr>
                <a:r>
                  <a:rPr lang="en-US" altLang="en-US" sz="1600" b="0">
                    <a:solidFill>
                      <a:srgbClr val="FFFFFF"/>
                    </a:solidFill>
                    <a:latin typeface="Bodoni MT" panose="02070603080606020203" pitchFamily="18" charset="0"/>
                  </a:rPr>
                  <a:t>New feature funders</a:t>
                </a:r>
              </a:p>
            </p:txBody>
          </p:sp>
          <p:sp>
            <p:nvSpPr>
              <p:cNvPr id="19464" name="AutoShape 5"/>
              <p:cNvSpPr>
                <a:spLocks noChangeArrowheads="1"/>
              </p:cNvSpPr>
              <p:nvPr/>
            </p:nvSpPr>
            <p:spPr bwMode="auto">
              <a:xfrm>
                <a:off x="83163" y="2836112"/>
                <a:ext cx="2039000" cy="920665"/>
              </a:xfrm>
              <a:prstGeom prst="flowChartAlternateProcess">
                <a:avLst/>
              </a:prstGeom>
              <a:solidFill>
                <a:srgbClr val="006699"/>
              </a:solidFill>
              <a:ln w="9360">
                <a:solidFill>
                  <a:srgbClr val="FFFF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ct val="0"/>
                  </a:spcBef>
                  <a:buClr>
                    <a:srgbClr val="FFFFFF"/>
                  </a:buClr>
                  <a:buFontTx/>
                  <a:buNone/>
                </a:pPr>
                <a:r>
                  <a:rPr lang="en-US" altLang="en-US" sz="1800" b="0">
                    <a:solidFill>
                      <a:srgbClr val="FFFFFF"/>
                    </a:solidFill>
                    <a:latin typeface="Bodoni MT" panose="02070603080606020203" pitchFamily="18" charset="0"/>
                  </a:rPr>
                  <a:t>Org. 4:</a:t>
                </a:r>
              </a:p>
              <a:p>
                <a:pPr algn="ctr">
                  <a:lnSpc>
                    <a:spcPct val="99000"/>
                  </a:lnSpc>
                  <a:spcBef>
                    <a:spcPct val="0"/>
                  </a:spcBef>
                  <a:buClr>
                    <a:srgbClr val="FFFFFF"/>
                  </a:buClr>
                  <a:buFontTx/>
                  <a:buNone/>
                </a:pPr>
                <a:r>
                  <a:rPr lang="en-US" altLang="en-US" sz="1600" b="0">
                    <a:solidFill>
                      <a:srgbClr val="FFFFFF"/>
                    </a:solidFill>
                    <a:latin typeface="Bodoni MT" panose="02070603080606020203" pitchFamily="18" charset="0"/>
                  </a:rPr>
                  <a:t>Community-funded </a:t>
                </a:r>
              </a:p>
              <a:p>
                <a:pPr algn="ctr">
                  <a:lnSpc>
                    <a:spcPct val="99000"/>
                  </a:lnSpc>
                  <a:spcBef>
                    <a:spcPct val="0"/>
                  </a:spcBef>
                  <a:buClr>
                    <a:srgbClr val="FFFFFF"/>
                  </a:buClr>
                  <a:buFontTx/>
                  <a:buNone/>
                </a:pPr>
                <a:r>
                  <a:rPr lang="en-US" altLang="en-US" sz="1600" b="0">
                    <a:solidFill>
                      <a:srgbClr val="FFFFFF"/>
                    </a:solidFill>
                    <a:latin typeface="Bodoni MT" panose="02070603080606020203" pitchFamily="18" charset="0"/>
                  </a:rPr>
                  <a:t>Developers</a:t>
                </a:r>
              </a:p>
            </p:txBody>
          </p:sp>
          <p:sp>
            <p:nvSpPr>
              <p:cNvPr id="19465" name="AutoShape 6"/>
              <p:cNvSpPr>
                <a:spLocks noChangeArrowheads="1"/>
              </p:cNvSpPr>
              <p:nvPr/>
            </p:nvSpPr>
            <p:spPr bwMode="auto">
              <a:xfrm>
                <a:off x="4876800" y="990600"/>
                <a:ext cx="1524000" cy="914400"/>
              </a:xfrm>
              <a:prstGeom prst="flowChartAlternateProcess">
                <a:avLst/>
              </a:prstGeom>
              <a:solidFill>
                <a:srgbClr val="006699"/>
              </a:solidFill>
              <a:ln w="9360">
                <a:solidFill>
                  <a:srgbClr val="FFFF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ct val="0"/>
                  </a:spcBef>
                  <a:buClr>
                    <a:srgbClr val="FFFFFF"/>
                  </a:buClr>
                  <a:buFontTx/>
                  <a:buNone/>
                </a:pPr>
                <a:r>
                  <a:rPr lang="en-US" altLang="en-US" sz="1800" b="0">
                    <a:solidFill>
                      <a:srgbClr val="FFFFFF"/>
                    </a:solidFill>
                    <a:latin typeface="Bodoni MT" panose="02070603080606020203" pitchFamily="18" charset="0"/>
                  </a:rPr>
                  <a:t>Org. 1:</a:t>
                </a:r>
              </a:p>
              <a:p>
                <a:pPr algn="ctr">
                  <a:lnSpc>
                    <a:spcPct val="99000"/>
                  </a:lnSpc>
                  <a:spcBef>
                    <a:spcPct val="0"/>
                  </a:spcBef>
                  <a:buClr>
                    <a:srgbClr val="FFFFFF"/>
                  </a:buClr>
                  <a:buFontTx/>
                  <a:buNone/>
                </a:pPr>
                <a:r>
                  <a:rPr lang="en-US" altLang="en-US" sz="1600" b="0">
                    <a:solidFill>
                      <a:srgbClr val="FFFFFF"/>
                    </a:solidFill>
                    <a:latin typeface="Bodoni MT" panose="02070603080606020203" pitchFamily="18" charset="0"/>
                  </a:rPr>
                  <a:t>Code in</a:t>
                </a:r>
              </a:p>
            </p:txBody>
          </p:sp>
          <p:sp>
            <p:nvSpPr>
              <p:cNvPr id="19466" name="AutoShape 7"/>
              <p:cNvSpPr>
                <a:spLocks noChangeArrowheads="1"/>
              </p:cNvSpPr>
              <p:nvPr/>
            </p:nvSpPr>
            <p:spPr bwMode="auto">
              <a:xfrm>
                <a:off x="7086600" y="1295400"/>
                <a:ext cx="2057400" cy="762000"/>
              </a:xfrm>
              <a:prstGeom prst="flowChartAlternateProcess">
                <a:avLst/>
              </a:prstGeom>
              <a:solidFill>
                <a:srgbClr val="006699"/>
              </a:solidFill>
              <a:ln w="9360">
                <a:solidFill>
                  <a:srgbClr val="FFFF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ct val="0"/>
                  </a:spcBef>
                  <a:buClr>
                    <a:srgbClr val="FFFFFF"/>
                  </a:buClr>
                  <a:buFontTx/>
                  <a:buNone/>
                </a:pPr>
                <a:r>
                  <a:rPr lang="en-US" altLang="en-US" sz="1800" b="0">
                    <a:solidFill>
                      <a:srgbClr val="FFFFFF"/>
                    </a:solidFill>
                    <a:latin typeface="Bodoni MT" panose="02070603080606020203" pitchFamily="18" charset="0"/>
                  </a:rPr>
                  <a:t>Org. 3:</a:t>
                </a:r>
              </a:p>
              <a:p>
                <a:pPr algn="ctr">
                  <a:lnSpc>
                    <a:spcPct val="99000"/>
                  </a:lnSpc>
                  <a:spcBef>
                    <a:spcPct val="0"/>
                  </a:spcBef>
                  <a:buClr>
                    <a:srgbClr val="FFFFFF"/>
                  </a:buClr>
                  <a:buFontTx/>
                  <a:buNone/>
                </a:pPr>
                <a:r>
                  <a:rPr lang="en-US" altLang="en-US" sz="1600" b="0">
                    <a:solidFill>
                      <a:srgbClr val="FFFFFF"/>
                    </a:solidFill>
                    <a:latin typeface="Bodoni MT" panose="02070603080606020203" pitchFamily="18" charset="0"/>
                  </a:rPr>
                  <a:t>Documentation in, code out</a:t>
                </a:r>
              </a:p>
            </p:txBody>
          </p:sp>
          <p:sp>
            <p:nvSpPr>
              <p:cNvPr id="19467" name="AutoShape 8"/>
              <p:cNvSpPr>
                <a:spLocks noChangeArrowheads="1"/>
              </p:cNvSpPr>
              <p:nvPr/>
            </p:nvSpPr>
            <p:spPr bwMode="auto">
              <a:xfrm>
                <a:off x="6934200" y="5791200"/>
                <a:ext cx="2209800" cy="838200"/>
              </a:xfrm>
              <a:prstGeom prst="flowChartAlternateProcess">
                <a:avLst/>
              </a:prstGeom>
              <a:solidFill>
                <a:srgbClr val="006699"/>
              </a:solidFill>
              <a:ln w="9360">
                <a:solidFill>
                  <a:srgbClr val="FFFF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ct val="0"/>
                  </a:spcBef>
                  <a:buClr>
                    <a:srgbClr val="FFFFFF"/>
                  </a:buClr>
                  <a:buFontTx/>
                  <a:buNone/>
                </a:pPr>
                <a:r>
                  <a:rPr lang="en-US" altLang="en-US" sz="1800" b="0">
                    <a:solidFill>
                      <a:srgbClr val="FFFFFF"/>
                    </a:solidFill>
                    <a:latin typeface="Bodoni MT" panose="02070603080606020203" pitchFamily="18" charset="0"/>
                  </a:rPr>
                  <a:t>Org. 8:</a:t>
                </a:r>
              </a:p>
              <a:p>
                <a:pPr algn="ctr">
                  <a:lnSpc>
                    <a:spcPct val="99000"/>
                  </a:lnSpc>
                  <a:spcBef>
                    <a:spcPct val="0"/>
                  </a:spcBef>
                  <a:buClr>
                    <a:srgbClr val="FFFFFF"/>
                  </a:buClr>
                  <a:buFontTx/>
                  <a:buNone/>
                </a:pPr>
                <a:r>
                  <a:rPr lang="en-US" altLang="en-US" sz="1600" b="0">
                    <a:solidFill>
                      <a:srgbClr val="FFFFFF"/>
                    </a:solidFill>
                    <a:latin typeface="Bodoni MT" panose="02070603080606020203" pitchFamily="18" charset="0"/>
                  </a:rPr>
                  <a:t>Code and money in,</a:t>
                </a:r>
              </a:p>
              <a:p>
                <a:pPr algn="ctr">
                  <a:lnSpc>
                    <a:spcPct val="99000"/>
                  </a:lnSpc>
                  <a:spcBef>
                    <a:spcPct val="0"/>
                  </a:spcBef>
                  <a:buClr>
                    <a:srgbClr val="FFFFFF"/>
                  </a:buClr>
                  <a:buFontTx/>
                  <a:buNone/>
                </a:pPr>
                <a:r>
                  <a:rPr lang="en-US" altLang="en-US" sz="1600" b="0">
                    <a:solidFill>
                      <a:srgbClr val="FFFFFF"/>
                    </a:solidFill>
                    <a:latin typeface="Bodoni MT" panose="02070603080606020203" pitchFamily="18" charset="0"/>
                  </a:rPr>
                  <a:t> code and money out</a:t>
                </a:r>
              </a:p>
            </p:txBody>
          </p:sp>
          <p:sp>
            <p:nvSpPr>
              <p:cNvPr id="19468" name="AutoShape 9"/>
              <p:cNvSpPr>
                <a:spLocks noChangeArrowheads="1"/>
              </p:cNvSpPr>
              <p:nvPr/>
            </p:nvSpPr>
            <p:spPr bwMode="auto">
              <a:xfrm>
                <a:off x="2209800" y="5486400"/>
                <a:ext cx="2057400" cy="762000"/>
              </a:xfrm>
              <a:prstGeom prst="flowChartAlternateProcess">
                <a:avLst/>
              </a:prstGeom>
              <a:solidFill>
                <a:srgbClr val="006699"/>
              </a:solidFill>
              <a:ln w="9360">
                <a:solidFill>
                  <a:srgbClr val="FFFF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ct val="0"/>
                  </a:spcBef>
                  <a:buClr>
                    <a:srgbClr val="FFFFFF"/>
                  </a:buClr>
                  <a:buFontTx/>
                  <a:buNone/>
                </a:pPr>
                <a:r>
                  <a:rPr lang="en-US" altLang="en-US" sz="1800" b="0">
                    <a:solidFill>
                      <a:srgbClr val="FFFFFF"/>
                    </a:solidFill>
                    <a:latin typeface="Bodoni MT" panose="02070603080606020203" pitchFamily="18" charset="0"/>
                  </a:rPr>
                  <a:t>Org. 7:</a:t>
                </a:r>
              </a:p>
              <a:p>
                <a:pPr algn="ctr">
                  <a:lnSpc>
                    <a:spcPct val="99000"/>
                  </a:lnSpc>
                  <a:spcBef>
                    <a:spcPct val="0"/>
                  </a:spcBef>
                  <a:buClr>
                    <a:srgbClr val="FFFFFF"/>
                  </a:buClr>
                  <a:buFontTx/>
                  <a:buNone/>
                </a:pPr>
                <a:r>
                  <a:rPr lang="en-US" altLang="en-US" sz="1600" b="0">
                    <a:solidFill>
                      <a:srgbClr val="FFFFFF"/>
                    </a:solidFill>
                    <a:latin typeface="Bodoni MT" panose="02070603080606020203" pitchFamily="18" charset="0"/>
                  </a:rPr>
                  <a:t>Ideas and money in,</a:t>
                </a:r>
              </a:p>
              <a:p>
                <a:pPr algn="ctr">
                  <a:lnSpc>
                    <a:spcPct val="99000"/>
                  </a:lnSpc>
                  <a:spcBef>
                    <a:spcPct val="0"/>
                  </a:spcBef>
                  <a:buClr>
                    <a:srgbClr val="FFFFFF"/>
                  </a:buClr>
                  <a:buFontTx/>
                  <a:buNone/>
                </a:pPr>
                <a:r>
                  <a:rPr lang="en-US" altLang="en-US" sz="1600" b="0">
                    <a:solidFill>
                      <a:srgbClr val="FFFFFF"/>
                    </a:solidFill>
                    <a:latin typeface="Bodoni MT" panose="02070603080606020203" pitchFamily="18" charset="0"/>
                  </a:rPr>
                  <a:t>code out</a:t>
                </a:r>
              </a:p>
            </p:txBody>
          </p:sp>
          <p:sp>
            <p:nvSpPr>
              <p:cNvPr id="19469" name="AutoShape 11"/>
              <p:cNvSpPr>
                <a:spLocks noChangeArrowheads="1"/>
              </p:cNvSpPr>
              <p:nvPr/>
            </p:nvSpPr>
            <p:spPr bwMode="auto">
              <a:xfrm>
                <a:off x="5282225" y="2626837"/>
                <a:ext cx="2307494" cy="1861340"/>
              </a:xfrm>
              <a:prstGeom prst="star8">
                <a:avLst>
                  <a:gd name="adj" fmla="val 38426"/>
                </a:avLst>
              </a:prstGeom>
              <a:solidFill>
                <a:srgbClr val="666699"/>
              </a:solidFill>
              <a:ln w="9360">
                <a:solidFill>
                  <a:srgbClr val="FFFF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ct val="0"/>
                  </a:spcBef>
                  <a:buClr>
                    <a:srgbClr val="FFFFFF"/>
                  </a:buClr>
                  <a:buFontTx/>
                  <a:buNone/>
                </a:pPr>
                <a:r>
                  <a:rPr lang="en-US" altLang="en-US" sz="1800">
                    <a:solidFill>
                      <a:srgbClr val="CC9900"/>
                    </a:solidFill>
                    <a:latin typeface="Bodoni MT" panose="02070603080606020203" pitchFamily="18" charset="0"/>
                  </a:rPr>
                  <a:t>OS Community</a:t>
                </a:r>
              </a:p>
              <a:p>
                <a:pPr algn="ctr">
                  <a:lnSpc>
                    <a:spcPct val="99000"/>
                  </a:lnSpc>
                  <a:spcBef>
                    <a:spcPct val="0"/>
                  </a:spcBef>
                  <a:buClr>
                    <a:srgbClr val="FFFFFF"/>
                  </a:buClr>
                  <a:buFontTx/>
                  <a:buNone/>
                </a:pPr>
                <a:r>
                  <a:rPr lang="en-US" altLang="en-US" sz="1800">
                    <a:solidFill>
                      <a:srgbClr val="00FF00"/>
                    </a:solidFill>
                    <a:latin typeface="Bodoni MT" panose="02070603080606020203" pitchFamily="18" charset="0"/>
                  </a:rPr>
                  <a:t>$$$$$$$</a:t>
                </a:r>
              </a:p>
              <a:p>
                <a:pPr algn="ctr">
                  <a:lnSpc>
                    <a:spcPct val="99000"/>
                  </a:lnSpc>
                  <a:spcBef>
                    <a:spcPct val="0"/>
                  </a:spcBef>
                  <a:buClr>
                    <a:srgbClr val="FFFFFF"/>
                  </a:buClr>
                  <a:buFontTx/>
                  <a:buNone/>
                </a:pPr>
                <a:r>
                  <a:rPr lang="en-US" altLang="en-US" sz="1800">
                    <a:solidFill>
                      <a:srgbClr val="66FFFF"/>
                    </a:solidFill>
                    <a:latin typeface="Bodoni MT" panose="02070603080606020203" pitchFamily="18" charset="0"/>
                  </a:rPr>
                  <a:t>0110 0110</a:t>
                </a:r>
              </a:p>
            </p:txBody>
          </p:sp>
          <p:sp>
            <p:nvSpPr>
              <p:cNvPr id="19470" name="AutoShape 10"/>
              <p:cNvSpPr>
                <a:spLocks noChangeArrowheads="1"/>
              </p:cNvSpPr>
              <p:nvPr/>
            </p:nvSpPr>
            <p:spPr bwMode="auto">
              <a:xfrm>
                <a:off x="2388213" y="3977481"/>
                <a:ext cx="1447800" cy="914400"/>
              </a:xfrm>
              <a:prstGeom prst="flowChartAlternateProcess">
                <a:avLst/>
              </a:prstGeom>
              <a:solidFill>
                <a:srgbClr val="006699"/>
              </a:solidFill>
              <a:ln w="9360">
                <a:solidFill>
                  <a:srgbClr val="FFFF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ct val="0"/>
                  </a:spcBef>
                  <a:buClr>
                    <a:srgbClr val="FFFFFF"/>
                  </a:buClr>
                  <a:buFontTx/>
                  <a:buNone/>
                </a:pPr>
                <a:r>
                  <a:rPr lang="en-US" altLang="en-US" sz="1800" b="0">
                    <a:solidFill>
                      <a:srgbClr val="FFFFFF"/>
                    </a:solidFill>
                    <a:latin typeface="Bodoni MT" panose="02070603080606020203" pitchFamily="18" charset="0"/>
                  </a:rPr>
                  <a:t>Org. 6:</a:t>
                </a:r>
              </a:p>
              <a:p>
                <a:pPr algn="ctr">
                  <a:lnSpc>
                    <a:spcPct val="99000"/>
                  </a:lnSpc>
                  <a:spcBef>
                    <a:spcPct val="0"/>
                  </a:spcBef>
                  <a:buClr>
                    <a:srgbClr val="FFFFFF"/>
                  </a:buClr>
                  <a:buFontTx/>
                  <a:buNone/>
                </a:pPr>
                <a:r>
                  <a:rPr lang="en-US" altLang="en-US" sz="1600" b="0">
                    <a:solidFill>
                      <a:srgbClr val="FFFFFF"/>
                    </a:solidFill>
                    <a:latin typeface="Bodoni MT" panose="02070603080606020203" pitchFamily="18" charset="0"/>
                  </a:rPr>
                  <a:t>Consultant/</a:t>
                </a:r>
              </a:p>
              <a:p>
                <a:pPr algn="ctr">
                  <a:lnSpc>
                    <a:spcPct val="99000"/>
                  </a:lnSpc>
                  <a:spcBef>
                    <a:spcPct val="0"/>
                  </a:spcBef>
                  <a:buClr>
                    <a:srgbClr val="FFFFFF"/>
                  </a:buClr>
                  <a:buFontTx/>
                  <a:buNone/>
                </a:pPr>
                <a:r>
                  <a:rPr lang="en-US" altLang="en-US" sz="1600" b="0">
                    <a:solidFill>
                      <a:srgbClr val="FFFFFF"/>
                    </a:solidFill>
                    <a:latin typeface="Bodoni MT" panose="02070603080606020203" pitchFamily="18" charset="0"/>
                  </a:rPr>
                  <a:t>Contributor</a:t>
                </a:r>
              </a:p>
            </p:txBody>
          </p:sp>
          <p:cxnSp>
            <p:nvCxnSpPr>
              <p:cNvPr id="19471" name="AutoShape 12"/>
              <p:cNvCxnSpPr>
                <a:cxnSpLocks noChangeShapeType="1"/>
                <a:stCxn id="19463" idx="3"/>
              </p:cNvCxnSpPr>
              <p:nvPr/>
            </p:nvCxnSpPr>
            <p:spPr bwMode="auto">
              <a:xfrm>
                <a:off x="3505200" y="1676400"/>
                <a:ext cx="1925120" cy="1278677"/>
              </a:xfrm>
              <a:prstGeom prst="bentConnector3">
                <a:avLst>
                  <a:gd name="adj1" fmla="val 50000"/>
                </a:avLst>
              </a:prstGeom>
              <a:noFill/>
              <a:ln w="50760">
                <a:solidFill>
                  <a:srgbClr val="00FF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72" name="AutoShape 13"/>
              <p:cNvCxnSpPr>
                <a:cxnSpLocks noChangeShapeType="1"/>
              </p:cNvCxnSpPr>
              <p:nvPr/>
            </p:nvCxnSpPr>
            <p:spPr bwMode="auto">
              <a:xfrm flipH="1" flipV="1">
                <a:off x="2097088" y="3398838"/>
                <a:ext cx="3429000" cy="370682"/>
              </a:xfrm>
              <a:prstGeom prst="straightConnector1">
                <a:avLst/>
              </a:prstGeom>
              <a:noFill/>
              <a:ln w="50760">
                <a:solidFill>
                  <a:srgbClr val="66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73" name="AutoShape 14"/>
              <p:cNvCxnSpPr>
                <a:cxnSpLocks noChangeShapeType="1"/>
              </p:cNvCxnSpPr>
              <p:nvPr/>
            </p:nvCxnSpPr>
            <p:spPr bwMode="auto">
              <a:xfrm flipV="1">
                <a:off x="2150269" y="2057400"/>
                <a:ext cx="440531" cy="814303"/>
              </a:xfrm>
              <a:prstGeom prst="straightConnector1">
                <a:avLst/>
              </a:prstGeom>
              <a:noFill/>
              <a:ln w="50760">
                <a:solidFill>
                  <a:srgbClr val="66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74" name="AutoShape 15"/>
              <p:cNvCxnSpPr>
                <a:cxnSpLocks noChangeShapeType="1"/>
              </p:cNvCxnSpPr>
              <p:nvPr/>
            </p:nvCxnSpPr>
            <p:spPr bwMode="auto">
              <a:xfrm flipV="1">
                <a:off x="3858058" y="3917375"/>
                <a:ext cx="1676400" cy="372523"/>
              </a:xfrm>
              <a:prstGeom prst="straightConnector1">
                <a:avLst/>
              </a:prstGeom>
              <a:noFill/>
              <a:ln w="50760">
                <a:solidFill>
                  <a:srgbClr val="66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75" name="AutoShape 16"/>
              <p:cNvCxnSpPr>
                <a:cxnSpLocks noChangeShapeType="1"/>
              </p:cNvCxnSpPr>
              <p:nvPr/>
            </p:nvCxnSpPr>
            <p:spPr bwMode="auto">
              <a:xfrm>
                <a:off x="1611313" y="4572000"/>
                <a:ext cx="723900" cy="1588"/>
              </a:xfrm>
              <a:prstGeom prst="straightConnector1">
                <a:avLst/>
              </a:prstGeom>
              <a:noFill/>
              <a:ln w="50760">
                <a:solidFill>
                  <a:srgbClr val="00FF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76" name="AutoShape 17"/>
              <p:cNvCxnSpPr>
                <a:cxnSpLocks noChangeShapeType="1"/>
              </p:cNvCxnSpPr>
              <p:nvPr/>
            </p:nvCxnSpPr>
            <p:spPr bwMode="auto">
              <a:xfrm flipH="1">
                <a:off x="3813482" y="4143121"/>
                <a:ext cx="1695145" cy="422133"/>
              </a:xfrm>
              <a:prstGeom prst="straightConnector1">
                <a:avLst/>
              </a:prstGeom>
              <a:noFill/>
              <a:ln w="50760">
                <a:solidFill>
                  <a:srgbClr val="66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77" name="AutoShape 18"/>
              <p:cNvCxnSpPr>
                <a:cxnSpLocks noChangeShapeType="1"/>
              </p:cNvCxnSpPr>
              <p:nvPr/>
            </p:nvCxnSpPr>
            <p:spPr bwMode="auto">
              <a:xfrm flipH="1">
                <a:off x="1594463" y="4336256"/>
                <a:ext cx="762000" cy="1588"/>
              </a:xfrm>
              <a:prstGeom prst="straightConnector1">
                <a:avLst/>
              </a:prstGeom>
              <a:noFill/>
              <a:ln w="50760">
                <a:solidFill>
                  <a:srgbClr val="66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78" name="AutoShape 19"/>
              <p:cNvCxnSpPr>
                <a:cxnSpLocks noChangeShapeType="1"/>
              </p:cNvCxnSpPr>
              <p:nvPr/>
            </p:nvCxnSpPr>
            <p:spPr bwMode="auto">
              <a:xfrm flipH="1" flipV="1">
                <a:off x="5487988" y="1981200"/>
                <a:ext cx="14286" cy="919958"/>
              </a:xfrm>
              <a:prstGeom prst="straightConnector1">
                <a:avLst/>
              </a:prstGeom>
              <a:noFill/>
              <a:ln w="50760">
                <a:solidFill>
                  <a:srgbClr val="66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79" name="AutoShape 20"/>
              <p:cNvCxnSpPr>
                <a:cxnSpLocks noChangeShapeType="1"/>
              </p:cNvCxnSpPr>
              <p:nvPr/>
            </p:nvCxnSpPr>
            <p:spPr bwMode="auto">
              <a:xfrm>
                <a:off x="5715000" y="1905000"/>
                <a:ext cx="11171" cy="931112"/>
              </a:xfrm>
              <a:prstGeom prst="straightConnector1">
                <a:avLst/>
              </a:prstGeom>
              <a:noFill/>
              <a:ln w="50760">
                <a:solidFill>
                  <a:srgbClr val="66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80" name="AutoShape 21"/>
              <p:cNvCxnSpPr>
                <a:cxnSpLocks noChangeShapeType="1"/>
              </p:cNvCxnSpPr>
              <p:nvPr/>
            </p:nvCxnSpPr>
            <p:spPr bwMode="auto">
              <a:xfrm rot="5400000" flipH="1" flipV="1">
                <a:off x="7539282" y="2175371"/>
                <a:ext cx="1482085" cy="1341401"/>
              </a:xfrm>
              <a:prstGeom prst="bentConnector3">
                <a:avLst>
                  <a:gd name="adj1" fmla="val 50000"/>
                </a:avLst>
              </a:prstGeom>
              <a:noFill/>
              <a:ln w="50760">
                <a:solidFill>
                  <a:srgbClr val="66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81" name="AutoShape 22"/>
              <p:cNvCxnSpPr>
                <a:cxnSpLocks noChangeShapeType="1"/>
                <a:stCxn id="19466" idx="1"/>
              </p:cNvCxnSpPr>
              <p:nvPr/>
            </p:nvCxnSpPr>
            <p:spPr bwMode="auto">
              <a:xfrm rot="10800000" flipV="1">
                <a:off x="6639444" y="1676400"/>
                <a:ext cx="447156" cy="1088858"/>
              </a:xfrm>
              <a:prstGeom prst="bentConnector2">
                <a:avLst/>
              </a:prstGeom>
              <a:noFill/>
              <a:ln w="50760">
                <a:solidFill>
                  <a:srgbClr val="FF66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82" name="AutoShape 23"/>
              <p:cNvCxnSpPr>
                <a:cxnSpLocks noChangeShapeType="1"/>
              </p:cNvCxnSpPr>
              <p:nvPr/>
            </p:nvCxnSpPr>
            <p:spPr bwMode="auto">
              <a:xfrm flipH="1">
                <a:off x="6858000" y="4495800"/>
                <a:ext cx="76200" cy="1447800"/>
              </a:xfrm>
              <a:prstGeom prst="bentConnector3">
                <a:avLst>
                  <a:gd name="adj1" fmla="val 50000"/>
                </a:avLst>
              </a:prstGeom>
              <a:noFill/>
              <a:ln w="50760">
                <a:solidFill>
                  <a:srgbClr val="66FFFF"/>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83" name="AutoShape 24"/>
              <p:cNvCxnSpPr>
                <a:cxnSpLocks noChangeShapeType="1"/>
                <a:endCxn id="19467" idx="0"/>
              </p:cNvCxnSpPr>
              <p:nvPr/>
            </p:nvCxnSpPr>
            <p:spPr bwMode="auto">
              <a:xfrm rot="16200000" flipH="1">
                <a:off x="6777591" y="4529691"/>
                <a:ext cx="1722918" cy="800100"/>
              </a:xfrm>
              <a:prstGeom prst="bentConnector3">
                <a:avLst>
                  <a:gd name="adj1" fmla="val 50000"/>
                </a:avLst>
              </a:prstGeom>
              <a:noFill/>
              <a:ln w="50760">
                <a:solidFill>
                  <a:srgbClr val="00FF00"/>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84" name="AutoShape 25"/>
              <p:cNvCxnSpPr>
                <a:cxnSpLocks noChangeShapeType="1"/>
              </p:cNvCxnSpPr>
              <p:nvPr/>
            </p:nvCxnSpPr>
            <p:spPr bwMode="auto">
              <a:xfrm flipH="1">
                <a:off x="4724400" y="4876800"/>
                <a:ext cx="1485900" cy="1219200"/>
              </a:xfrm>
              <a:prstGeom prst="bentConnector3">
                <a:avLst>
                  <a:gd name="adj1" fmla="val 50000"/>
                </a:avLst>
              </a:prstGeom>
              <a:noFill/>
              <a:ln w="50760">
                <a:solidFill>
                  <a:srgbClr val="66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85" name="AutoShape 26"/>
              <p:cNvCxnSpPr>
                <a:cxnSpLocks noChangeShapeType="1"/>
              </p:cNvCxnSpPr>
              <p:nvPr/>
            </p:nvCxnSpPr>
            <p:spPr bwMode="auto">
              <a:xfrm flipV="1">
                <a:off x="4495800" y="4488177"/>
                <a:ext cx="1781175" cy="1531624"/>
              </a:xfrm>
              <a:prstGeom prst="straightConnector1">
                <a:avLst/>
              </a:prstGeom>
              <a:noFill/>
              <a:ln w="50760">
                <a:solidFill>
                  <a:srgbClr val="00FF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486" name="AutoShape 27"/>
              <p:cNvCxnSpPr>
                <a:cxnSpLocks noChangeShapeType="1"/>
              </p:cNvCxnSpPr>
              <p:nvPr/>
            </p:nvCxnSpPr>
            <p:spPr bwMode="auto">
              <a:xfrm flipV="1">
                <a:off x="4419600" y="4320063"/>
                <a:ext cx="1621632" cy="1394938"/>
              </a:xfrm>
              <a:prstGeom prst="straightConnector1">
                <a:avLst/>
              </a:prstGeom>
              <a:noFill/>
              <a:ln w="50760">
                <a:solidFill>
                  <a:srgbClr val="FFFF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9487" name="Rectangle 29"/>
              <p:cNvSpPr>
                <a:spLocks noChangeArrowheads="1"/>
              </p:cNvSpPr>
              <p:nvPr/>
            </p:nvSpPr>
            <p:spPr bwMode="auto">
              <a:xfrm rot="19225832">
                <a:off x="4610100" y="4614560"/>
                <a:ext cx="1143000" cy="338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ts val="1000"/>
                  </a:spcBef>
                  <a:buClr>
                    <a:srgbClr val="FFFFFF"/>
                  </a:buClr>
                  <a:buNone/>
                </a:pPr>
                <a:r>
                  <a:rPr lang="en-US" altLang="en-US" sz="1600" b="0">
                    <a:solidFill>
                      <a:srgbClr val="66FFFF"/>
                    </a:solidFill>
                    <a:latin typeface="Bodoni MT" panose="02070603080606020203" pitchFamily="18" charset="0"/>
                  </a:rPr>
                  <a:t>0110 1100</a:t>
                </a:r>
              </a:p>
            </p:txBody>
          </p:sp>
          <p:sp>
            <p:nvSpPr>
              <p:cNvPr id="19488" name="Rectangle 30"/>
              <p:cNvSpPr>
                <a:spLocks noChangeArrowheads="1"/>
              </p:cNvSpPr>
              <p:nvPr/>
            </p:nvSpPr>
            <p:spPr bwMode="auto">
              <a:xfrm rot="20775922">
                <a:off x="4186292" y="3808331"/>
                <a:ext cx="585677" cy="338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ts val="1000"/>
                  </a:spcBef>
                  <a:buClr>
                    <a:srgbClr val="FFFFFF"/>
                  </a:buClr>
                  <a:buNone/>
                </a:pPr>
                <a:r>
                  <a:rPr lang="en-US" altLang="en-US" sz="1600" b="0">
                    <a:solidFill>
                      <a:srgbClr val="66FFFF"/>
                    </a:solidFill>
                    <a:latin typeface="Bodoni MT" panose="02070603080606020203" pitchFamily="18" charset="0"/>
                  </a:rPr>
                  <a:t>0110</a:t>
                </a:r>
              </a:p>
            </p:txBody>
          </p:sp>
          <p:sp>
            <p:nvSpPr>
              <p:cNvPr id="19489" name="Rectangle 31"/>
              <p:cNvSpPr>
                <a:spLocks noChangeArrowheads="1"/>
              </p:cNvSpPr>
              <p:nvPr/>
            </p:nvSpPr>
            <p:spPr bwMode="auto">
              <a:xfrm>
                <a:off x="1371600" y="3962400"/>
                <a:ext cx="1219200" cy="338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ts val="1000"/>
                  </a:spcBef>
                  <a:buClr>
                    <a:srgbClr val="FFFFFF"/>
                  </a:buClr>
                  <a:buNone/>
                </a:pPr>
                <a:r>
                  <a:rPr lang="en-US" altLang="en-US" sz="1600" b="0">
                    <a:solidFill>
                      <a:srgbClr val="66FFFF"/>
                    </a:solidFill>
                    <a:latin typeface="Bodoni MT" panose="02070603080606020203" pitchFamily="18" charset="0"/>
                  </a:rPr>
                  <a:t>0110 110</a:t>
                </a:r>
              </a:p>
            </p:txBody>
          </p:sp>
          <p:sp>
            <p:nvSpPr>
              <p:cNvPr id="19490" name="Rectangle 32"/>
              <p:cNvSpPr>
                <a:spLocks noChangeArrowheads="1"/>
              </p:cNvSpPr>
              <p:nvPr/>
            </p:nvSpPr>
            <p:spPr bwMode="auto">
              <a:xfrm rot="-3610161">
                <a:off x="1633538" y="2330370"/>
                <a:ext cx="1033462" cy="338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ts val="1000"/>
                  </a:spcBef>
                  <a:buClr>
                    <a:srgbClr val="FFFFFF"/>
                  </a:buClr>
                  <a:buNone/>
                </a:pPr>
                <a:r>
                  <a:rPr lang="en-US" altLang="en-US" sz="1600" b="0">
                    <a:solidFill>
                      <a:srgbClr val="66FFFF"/>
                    </a:solidFill>
                    <a:latin typeface="Bodoni MT" panose="02070603080606020203" pitchFamily="18" charset="0"/>
                  </a:rPr>
                  <a:t>011 1001</a:t>
                </a:r>
              </a:p>
            </p:txBody>
          </p:sp>
          <p:sp>
            <p:nvSpPr>
              <p:cNvPr id="19491" name="Rectangle 33"/>
              <p:cNvSpPr>
                <a:spLocks noChangeArrowheads="1"/>
              </p:cNvSpPr>
              <p:nvPr/>
            </p:nvSpPr>
            <p:spPr bwMode="auto">
              <a:xfrm rot="16200000">
                <a:off x="5742782" y="2180362"/>
                <a:ext cx="584200" cy="338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ts val="1000"/>
                  </a:spcBef>
                  <a:buClr>
                    <a:srgbClr val="FFFFFF"/>
                  </a:buClr>
                  <a:buNone/>
                </a:pPr>
                <a:r>
                  <a:rPr lang="en-US" altLang="en-US" sz="1600" b="0">
                    <a:solidFill>
                      <a:srgbClr val="66FFFF"/>
                    </a:solidFill>
                    <a:latin typeface="Bodoni MT" panose="02070603080606020203" pitchFamily="18" charset="0"/>
                  </a:rPr>
                  <a:t>0110</a:t>
                </a:r>
              </a:p>
            </p:txBody>
          </p:sp>
          <p:sp>
            <p:nvSpPr>
              <p:cNvPr id="19492" name="Rectangle 34"/>
              <p:cNvSpPr>
                <a:spLocks noChangeArrowheads="1"/>
              </p:cNvSpPr>
              <p:nvPr/>
            </p:nvSpPr>
            <p:spPr bwMode="auto">
              <a:xfrm rot="16200000">
                <a:off x="3824287" y="2038797"/>
                <a:ext cx="733425" cy="5820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ts val="1000"/>
                  </a:spcBef>
                  <a:buClr>
                    <a:srgbClr val="FFFFFF"/>
                  </a:buClr>
                  <a:buNone/>
                </a:pPr>
                <a:r>
                  <a:rPr lang="en-US" altLang="en-US" sz="1600" b="0">
                    <a:solidFill>
                      <a:srgbClr val="66FFFF"/>
                    </a:solidFill>
                    <a:latin typeface="Bodoni MT" panose="02070603080606020203" pitchFamily="18" charset="0"/>
                  </a:rPr>
                  <a:t>101100011</a:t>
                </a:r>
              </a:p>
            </p:txBody>
          </p:sp>
          <p:sp>
            <p:nvSpPr>
              <p:cNvPr id="19493" name="Rectangle 35"/>
              <p:cNvSpPr>
                <a:spLocks noChangeArrowheads="1"/>
              </p:cNvSpPr>
              <p:nvPr/>
            </p:nvSpPr>
            <p:spPr bwMode="auto">
              <a:xfrm>
                <a:off x="8086687" y="3149602"/>
                <a:ext cx="585677" cy="338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ts val="1000"/>
                  </a:spcBef>
                  <a:buClr>
                    <a:srgbClr val="FFFFFF"/>
                  </a:buClr>
                  <a:buNone/>
                </a:pPr>
                <a:r>
                  <a:rPr lang="en-US" altLang="en-US" sz="1600" b="0">
                    <a:solidFill>
                      <a:srgbClr val="66FFFF"/>
                    </a:solidFill>
                    <a:latin typeface="Bodoni MT" panose="02070603080606020203" pitchFamily="18" charset="0"/>
                  </a:rPr>
                  <a:t>0110</a:t>
                </a:r>
              </a:p>
            </p:txBody>
          </p:sp>
          <p:sp>
            <p:nvSpPr>
              <p:cNvPr id="19494" name="Rectangle 36"/>
              <p:cNvSpPr>
                <a:spLocks noChangeArrowheads="1"/>
              </p:cNvSpPr>
              <p:nvPr/>
            </p:nvSpPr>
            <p:spPr bwMode="auto">
              <a:xfrm rot="5400000">
                <a:off x="6345238" y="5286302"/>
                <a:ext cx="736600" cy="338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ts val="1000"/>
                  </a:spcBef>
                  <a:buClr>
                    <a:srgbClr val="FFFFFF"/>
                  </a:buClr>
                  <a:buNone/>
                </a:pPr>
                <a:r>
                  <a:rPr lang="en-US" altLang="en-US" sz="1600" b="0">
                    <a:solidFill>
                      <a:srgbClr val="66FFFF"/>
                    </a:solidFill>
                    <a:latin typeface="Bodoni MT" panose="02070603080606020203" pitchFamily="18" charset="0"/>
                  </a:rPr>
                  <a:t>0100</a:t>
                </a:r>
              </a:p>
            </p:txBody>
          </p:sp>
          <p:sp>
            <p:nvSpPr>
              <p:cNvPr id="19495" name="Rectangle 37"/>
              <p:cNvSpPr>
                <a:spLocks noChangeArrowheads="1"/>
              </p:cNvSpPr>
              <p:nvPr/>
            </p:nvSpPr>
            <p:spPr bwMode="auto">
              <a:xfrm>
                <a:off x="5460262" y="5748815"/>
                <a:ext cx="585677" cy="338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ts val="1000"/>
                  </a:spcBef>
                  <a:buClr>
                    <a:srgbClr val="FFFFFF"/>
                  </a:buClr>
                  <a:buNone/>
                </a:pPr>
                <a:r>
                  <a:rPr lang="en-US" altLang="en-US" sz="1600" b="0">
                    <a:solidFill>
                      <a:srgbClr val="66FFFF"/>
                    </a:solidFill>
                    <a:latin typeface="Bodoni MT" panose="02070603080606020203" pitchFamily="18" charset="0"/>
                  </a:rPr>
                  <a:t>0110</a:t>
                </a:r>
              </a:p>
            </p:txBody>
          </p:sp>
          <p:sp>
            <p:nvSpPr>
              <p:cNvPr id="19496" name="Text Box 38"/>
              <p:cNvSpPr txBox="1">
                <a:spLocks noChangeArrowheads="1"/>
              </p:cNvSpPr>
              <p:nvPr/>
            </p:nvSpPr>
            <p:spPr bwMode="auto">
              <a:xfrm>
                <a:off x="3733800" y="1295400"/>
                <a:ext cx="685800" cy="338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ts val="1000"/>
                  </a:spcBef>
                  <a:buClr>
                    <a:srgbClr val="FFFFFF"/>
                  </a:buClr>
                  <a:buNone/>
                </a:pPr>
                <a:r>
                  <a:rPr lang="en-US" altLang="en-US" sz="1600">
                    <a:solidFill>
                      <a:srgbClr val="00FF00"/>
                    </a:solidFill>
                    <a:latin typeface="Bodoni MT" panose="02070603080606020203" pitchFamily="18" charset="0"/>
                  </a:rPr>
                  <a:t>$$$</a:t>
                </a:r>
              </a:p>
            </p:txBody>
          </p:sp>
          <p:sp>
            <p:nvSpPr>
              <p:cNvPr id="19497" name="Text Box 39"/>
              <p:cNvSpPr txBox="1">
                <a:spLocks noChangeArrowheads="1"/>
              </p:cNvSpPr>
              <p:nvPr/>
            </p:nvSpPr>
            <p:spPr bwMode="auto">
              <a:xfrm>
                <a:off x="7427118" y="4541043"/>
                <a:ext cx="685800" cy="338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ts val="1000"/>
                  </a:spcBef>
                  <a:buClr>
                    <a:srgbClr val="FFFFFF"/>
                  </a:buClr>
                  <a:buNone/>
                </a:pPr>
                <a:r>
                  <a:rPr lang="en-US" altLang="en-US" sz="1600">
                    <a:solidFill>
                      <a:srgbClr val="00FF00"/>
                    </a:solidFill>
                    <a:latin typeface="Bodoni MT" panose="02070603080606020203" pitchFamily="18" charset="0"/>
                  </a:rPr>
                  <a:t>$$$</a:t>
                </a:r>
              </a:p>
            </p:txBody>
          </p:sp>
          <p:sp>
            <p:nvSpPr>
              <p:cNvPr id="19498" name="Text Box 40"/>
              <p:cNvSpPr txBox="1">
                <a:spLocks noChangeArrowheads="1"/>
              </p:cNvSpPr>
              <p:nvPr/>
            </p:nvSpPr>
            <p:spPr bwMode="auto">
              <a:xfrm rot="9000000">
                <a:off x="5442744" y="5008882"/>
                <a:ext cx="685800" cy="338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ts val="1000"/>
                  </a:spcBef>
                  <a:buClr>
                    <a:srgbClr val="FFFFFF"/>
                  </a:buClr>
                  <a:buNone/>
                </a:pPr>
                <a:r>
                  <a:rPr lang="en-US" altLang="en-US" sz="1600">
                    <a:solidFill>
                      <a:srgbClr val="00FF00"/>
                    </a:solidFill>
                    <a:latin typeface="Bodoni MT" panose="02070603080606020203" pitchFamily="18" charset="0"/>
                  </a:rPr>
                  <a:t>$$$</a:t>
                </a:r>
              </a:p>
            </p:txBody>
          </p:sp>
          <p:sp>
            <p:nvSpPr>
              <p:cNvPr id="19499" name="Text Box 41"/>
              <p:cNvSpPr txBox="1">
                <a:spLocks noChangeArrowheads="1"/>
              </p:cNvSpPr>
              <p:nvPr/>
            </p:nvSpPr>
            <p:spPr bwMode="auto">
              <a:xfrm rot="10800000">
                <a:off x="1524000" y="4652882"/>
                <a:ext cx="685800" cy="338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ts val="1000"/>
                  </a:spcBef>
                  <a:buClr>
                    <a:srgbClr val="FFFFFF"/>
                  </a:buClr>
                  <a:buNone/>
                </a:pPr>
                <a:r>
                  <a:rPr lang="en-US" altLang="en-US" sz="1600">
                    <a:solidFill>
                      <a:srgbClr val="00FF00"/>
                    </a:solidFill>
                    <a:latin typeface="Bodoni MT" panose="02070603080606020203" pitchFamily="18" charset="0"/>
                  </a:rPr>
                  <a:t>$$$</a:t>
                </a:r>
              </a:p>
            </p:txBody>
          </p:sp>
          <p:sp>
            <p:nvSpPr>
              <p:cNvPr id="19500" name="Text Box 42"/>
              <p:cNvSpPr txBox="1">
                <a:spLocks noChangeArrowheads="1"/>
              </p:cNvSpPr>
              <p:nvPr/>
            </p:nvSpPr>
            <p:spPr bwMode="auto">
              <a:xfrm rot="19500000">
                <a:off x="4113213" y="5257720"/>
                <a:ext cx="914400" cy="338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ts val="1000"/>
                  </a:spcBef>
                  <a:buClr>
                    <a:srgbClr val="FFFFFF"/>
                  </a:buClr>
                  <a:buNone/>
                </a:pPr>
                <a:r>
                  <a:rPr lang="en-US" altLang="en-US" sz="1600" b="0">
                    <a:solidFill>
                      <a:srgbClr val="FFFF00"/>
                    </a:solidFill>
                    <a:latin typeface="Bodoni MT" panose="02070603080606020203" pitchFamily="18" charset="0"/>
                  </a:rPr>
                  <a:t>IDEAS</a:t>
                </a:r>
              </a:p>
            </p:txBody>
          </p:sp>
          <p:sp>
            <p:nvSpPr>
              <p:cNvPr id="19501" name="Text Box 43"/>
              <p:cNvSpPr txBox="1">
                <a:spLocks noChangeArrowheads="1"/>
              </p:cNvSpPr>
              <p:nvPr/>
            </p:nvSpPr>
            <p:spPr bwMode="auto">
              <a:xfrm>
                <a:off x="6532745" y="2065023"/>
                <a:ext cx="1981200" cy="323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ts val="938"/>
                  </a:spcBef>
                  <a:buClr>
                    <a:srgbClr val="FFFFFF"/>
                  </a:buClr>
                  <a:buNone/>
                </a:pPr>
                <a:r>
                  <a:rPr lang="en-US" altLang="en-US" sz="1500">
                    <a:solidFill>
                      <a:srgbClr val="CC6600"/>
                    </a:solidFill>
                    <a:latin typeface="Bodoni MT" panose="02070603080606020203" pitchFamily="18" charset="0"/>
                  </a:rPr>
                  <a:t>DOCUMENTATION</a:t>
                </a:r>
              </a:p>
            </p:txBody>
          </p:sp>
          <p:cxnSp>
            <p:nvCxnSpPr>
              <p:cNvPr id="19502" name="AutoShape 44"/>
              <p:cNvCxnSpPr>
                <a:cxnSpLocks noChangeShapeType="1"/>
              </p:cNvCxnSpPr>
              <p:nvPr/>
            </p:nvCxnSpPr>
            <p:spPr bwMode="auto">
              <a:xfrm rot="10800000">
                <a:off x="2122163" y="3182147"/>
                <a:ext cx="3440437" cy="14287"/>
              </a:xfrm>
              <a:prstGeom prst="bentConnector3">
                <a:avLst>
                  <a:gd name="adj1" fmla="val 50000"/>
                </a:avLst>
              </a:prstGeom>
              <a:noFill/>
              <a:ln w="50760">
                <a:solidFill>
                  <a:srgbClr val="00FF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9503" name="Text Box 45"/>
              <p:cNvSpPr txBox="1">
                <a:spLocks noChangeArrowheads="1"/>
              </p:cNvSpPr>
              <p:nvPr/>
            </p:nvSpPr>
            <p:spPr bwMode="auto">
              <a:xfrm rot="20712127">
                <a:off x="4444820" y="4365744"/>
                <a:ext cx="609600" cy="338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ts val="1000"/>
                  </a:spcBef>
                  <a:buClr>
                    <a:srgbClr val="FFFFFF"/>
                  </a:buClr>
                  <a:buNone/>
                </a:pPr>
                <a:r>
                  <a:rPr lang="en-US" altLang="en-US" sz="1600" b="0">
                    <a:solidFill>
                      <a:srgbClr val="66FFFF"/>
                    </a:solidFill>
                    <a:latin typeface="Bodoni MT" panose="02070603080606020203" pitchFamily="18" charset="0"/>
                  </a:rPr>
                  <a:t>1010</a:t>
                </a:r>
              </a:p>
            </p:txBody>
          </p:sp>
          <p:sp>
            <p:nvSpPr>
              <p:cNvPr id="19504" name="Rectangle 46"/>
              <p:cNvSpPr>
                <a:spLocks noChangeArrowheads="1"/>
              </p:cNvSpPr>
              <p:nvPr/>
            </p:nvSpPr>
            <p:spPr bwMode="auto">
              <a:xfrm>
                <a:off x="3848099" y="3213640"/>
                <a:ext cx="1143000" cy="338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ts val="1000"/>
                  </a:spcBef>
                  <a:buClr>
                    <a:srgbClr val="FFFFFF"/>
                  </a:buClr>
                  <a:buNone/>
                </a:pPr>
                <a:r>
                  <a:rPr lang="en-US" altLang="en-US" sz="1600" b="0">
                    <a:solidFill>
                      <a:srgbClr val="66FFFF"/>
                    </a:solidFill>
                    <a:latin typeface="Bodoni MT" panose="02070603080606020203" pitchFamily="18" charset="0"/>
                  </a:rPr>
                  <a:t>0110 1100</a:t>
                </a:r>
              </a:p>
            </p:txBody>
          </p:sp>
          <p:sp>
            <p:nvSpPr>
              <p:cNvPr id="19505" name="Rectangle 47"/>
              <p:cNvSpPr>
                <a:spLocks noChangeArrowheads="1"/>
              </p:cNvSpPr>
              <p:nvPr/>
            </p:nvSpPr>
            <p:spPr bwMode="auto">
              <a:xfrm rot="17995480">
                <a:off x="1986945" y="2438732"/>
                <a:ext cx="1143000" cy="338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ts val="1000"/>
                  </a:spcBef>
                  <a:buClr>
                    <a:srgbClr val="FFFFFF"/>
                  </a:buClr>
                  <a:buNone/>
                </a:pPr>
                <a:r>
                  <a:rPr lang="en-US" altLang="en-US" sz="1600" b="0">
                    <a:solidFill>
                      <a:srgbClr val="66FFFF"/>
                    </a:solidFill>
                    <a:latin typeface="Bodoni MT" panose="02070603080606020203" pitchFamily="18" charset="0"/>
                  </a:rPr>
                  <a:t>0110 1100</a:t>
                </a:r>
              </a:p>
            </p:txBody>
          </p:sp>
          <p:sp>
            <p:nvSpPr>
              <p:cNvPr id="19506" name="Rectangle 48"/>
              <p:cNvSpPr>
                <a:spLocks noChangeArrowheads="1"/>
              </p:cNvSpPr>
              <p:nvPr/>
            </p:nvSpPr>
            <p:spPr bwMode="auto">
              <a:xfrm>
                <a:off x="7808025" y="2878677"/>
                <a:ext cx="1143000" cy="338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ts val="1000"/>
                  </a:spcBef>
                  <a:buClr>
                    <a:srgbClr val="FFFFFF"/>
                  </a:buClr>
                  <a:buNone/>
                </a:pPr>
                <a:r>
                  <a:rPr lang="en-US" altLang="en-US" sz="1600" b="0">
                    <a:solidFill>
                      <a:srgbClr val="66FFFF"/>
                    </a:solidFill>
                    <a:latin typeface="Bodoni MT" panose="02070603080606020203" pitchFamily="18" charset="0"/>
                  </a:rPr>
                  <a:t>0110 1100</a:t>
                </a:r>
              </a:p>
            </p:txBody>
          </p:sp>
          <p:sp>
            <p:nvSpPr>
              <p:cNvPr id="19507" name="Rectangle 49"/>
              <p:cNvSpPr>
                <a:spLocks noChangeArrowheads="1"/>
              </p:cNvSpPr>
              <p:nvPr/>
            </p:nvSpPr>
            <p:spPr bwMode="auto">
              <a:xfrm rot="16200000">
                <a:off x="5844382" y="5279162"/>
                <a:ext cx="1143000" cy="338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ts val="1000"/>
                  </a:spcBef>
                  <a:buClr>
                    <a:srgbClr val="FFFFFF"/>
                  </a:buClr>
                  <a:buNone/>
                </a:pPr>
                <a:r>
                  <a:rPr lang="en-US" altLang="en-US" sz="1600" b="0">
                    <a:solidFill>
                      <a:srgbClr val="66FFFF"/>
                    </a:solidFill>
                    <a:latin typeface="Bodoni MT" panose="02070603080606020203" pitchFamily="18" charset="0"/>
                  </a:rPr>
                  <a:t>0110 1100</a:t>
                </a:r>
              </a:p>
            </p:txBody>
          </p:sp>
          <p:sp>
            <p:nvSpPr>
              <p:cNvPr id="19508" name="Rectangle 50"/>
              <p:cNvSpPr>
                <a:spLocks noChangeArrowheads="1"/>
              </p:cNvSpPr>
              <p:nvPr/>
            </p:nvSpPr>
            <p:spPr bwMode="auto">
              <a:xfrm rot="15900000">
                <a:off x="4981611" y="2180362"/>
                <a:ext cx="585716" cy="338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ts val="1000"/>
                  </a:spcBef>
                  <a:buClr>
                    <a:srgbClr val="FFFFFF"/>
                  </a:buClr>
                  <a:buNone/>
                </a:pPr>
                <a:r>
                  <a:rPr lang="en-US" altLang="en-US" sz="1600" b="0">
                    <a:solidFill>
                      <a:srgbClr val="66FFFF"/>
                    </a:solidFill>
                    <a:latin typeface="Bodoni MT" panose="02070603080606020203" pitchFamily="18" charset="0"/>
                  </a:rPr>
                  <a:t>0110</a:t>
                </a:r>
              </a:p>
            </p:txBody>
          </p:sp>
          <p:sp>
            <p:nvSpPr>
              <p:cNvPr id="19509" name="Text Box 51"/>
              <p:cNvSpPr txBox="1">
                <a:spLocks noChangeArrowheads="1"/>
              </p:cNvSpPr>
              <p:nvPr/>
            </p:nvSpPr>
            <p:spPr bwMode="auto">
              <a:xfrm rot="19206164">
                <a:off x="4680791" y="5246352"/>
                <a:ext cx="609600" cy="338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defTabSz="457200">
                  <a:spcBef>
                    <a:spcPct val="20000"/>
                  </a:spcBef>
                  <a:buClr>
                    <a:schemeClr va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a:solidFill>
                      <a:schemeClr val="tx1"/>
                    </a:solidFill>
                    <a:latin typeface="Verdana" panose="020B0604030504040204" pitchFamily="34" charset="0"/>
                    <a:cs typeface="Arial" panose="020B0604020202020204" pitchFamily="34" charset="0"/>
                  </a:defRPr>
                </a:lvl1pPr>
                <a:lvl2pPr marL="742950" indent="-285750" defTabSz="457200">
                  <a:spcBef>
                    <a:spcPct val="20000"/>
                  </a:spcBef>
                  <a:buClr>
                    <a:schemeClr val="tx1"/>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b="1">
                    <a:solidFill>
                      <a:schemeClr val="tx1"/>
                    </a:solidFill>
                    <a:latin typeface="Verdana" panose="020B0604030504040204" pitchFamily="34" charset="0"/>
                    <a:cs typeface="Arial" panose="020B0604020202020204" pitchFamily="34" charset="0"/>
                  </a:defRPr>
                </a:lvl2pPr>
                <a:lvl3pPr marL="1143000" indent="-228600" defTabSz="457200">
                  <a:spcBef>
                    <a:spcPct val="20000"/>
                  </a:spcBef>
                  <a:buClr>
                    <a:schemeClr val="accent2"/>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Verdana" panose="020B0604030504040204" pitchFamily="34" charset="0"/>
                    <a:cs typeface="Arial" panose="020B0604020202020204" pitchFamily="34" charset="0"/>
                  </a:defRPr>
                </a:lvl3pPr>
                <a:lvl4pPr marL="1600200" indent="-228600" defTabSz="457200">
                  <a:spcBef>
                    <a:spcPct val="20000"/>
                  </a:spcBef>
                  <a:buClr>
                    <a:schemeClr val="tx2"/>
                  </a:buClr>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4pPr>
                <a:lvl5pPr marL="2057400" indent="-228600"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20000"/>
                  </a:spcBef>
                  <a:spcAft>
                    <a:spcPct val="0"/>
                  </a:spcAft>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chemeClr val="tx1"/>
                    </a:solidFill>
                    <a:latin typeface="Verdana" panose="020B0604030504040204" pitchFamily="34" charset="0"/>
                    <a:cs typeface="Arial" panose="020B0604020202020204" pitchFamily="34" charset="0"/>
                  </a:defRPr>
                </a:lvl9pPr>
              </a:lstStyle>
              <a:p>
                <a:pPr algn="ctr">
                  <a:lnSpc>
                    <a:spcPct val="99000"/>
                  </a:lnSpc>
                  <a:spcBef>
                    <a:spcPts val="1000"/>
                  </a:spcBef>
                  <a:buClr>
                    <a:srgbClr val="FFFFFF"/>
                  </a:buClr>
                  <a:buNone/>
                </a:pPr>
                <a:r>
                  <a:rPr lang="en-US" altLang="en-US" sz="1600" b="0">
                    <a:solidFill>
                      <a:srgbClr val="66FFFF"/>
                    </a:solidFill>
                    <a:latin typeface="Bodoni MT" panose="02070603080606020203" pitchFamily="18" charset="0"/>
                  </a:rPr>
                  <a:t>1010</a:t>
                </a:r>
              </a:p>
            </p:txBody>
          </p:sp>
        </p:grpSp>
      </p:grpSp>
      <p:sp>
        <p:nvSpPr>
          <p:cNvPr id="19460" name="Text Box 52"/>
          <p:cNvSpPr txBox="1">
            <a:spLocks noChangeArrowheads="1"/>
          </p:cNvSpPr>
          <p:nvPr/>
        </p:nvSpPr>
        <p:spPr bwMode="auto">
          <a:xfrm>
            <a:off x="1524000" y="6553200"/>
            <a:ext cx="4572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50000"/>
              </a:spcBef>
              <a:buClrTx/>
              <a:buFontTx/>
              <a:buNone/>
            </a:pPr>
            <a:r>
              <a:rPr lang="en-US" altLang="en-US" sz="1200" b="0"/>
              <a:t>Credit: </a:t>
            </a:r>
            <a:r>
              <a:rPr lang="en-US" altLang="en-US" sz="1200" b="0">
                <a:hlinkClick r:id="rId3"/>
              </a:rPr>
              <a:t>http://wiki.osgeo.org/wiki/Library</a:t>
            </a:r>
            <a:r>
              <a:rPr lang="en-US" altLang="en-US" sz="1200" b="0"/>
              <a:t> Holmes_2006a</a:t>
            </a:r>
          </a:p>
        </p:txBody>
      </p:sp>
    </p:spTree>
  </p:cSld>
  <p:clrMapOvr>
    <a:masterClrMapping/>
  </p:clrMapOvr>
  <p:transition spd="med"/>
  <p:timing>
    <p:tnLst>
      <p:par>
        <p:cTn id="1" dur="indefinite"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gtEl>
                                        <p:attrNameLst>
                                          <p:attrName>style.visibility</p:attrName>
                                        </p:attrNameLst>
                                      </p:cBhvr>
                                      <p:to>
                                        <p:strVal val="visible"/>
                                      </p:to>
                                    </p:set>
                                    <p:animEffect transition="in" filter="fade">
                                      <p:cBhvr>
                                        <p:cTn id="7" dur="500"/>
                                        <p:tgtEl>
                                          <p:spTgt spid="19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981200" y="-76200"/>
            <a:ext cx="8231188" cy="1144588"/>
          </a:xfrm>
          <a:extLst>
            <a:ext uri="{91240B29-F687-4F45-9708-019B960494DF}">
              <a14:hiddenLine xmlns:a14="http://schemas.microsoft.com/office/drawing/2010/main" w="9525">
                <a:solidFill>
                  <a:srgbClr val="000000"/>
                </a:solidFill>
                <a:round/>
                <a:headEnd/>
                <a:tailEnd/>
              </a14:hiddenLine>
            </a:ext>
          </a:extLst>
        </p:spPr>
        <p:txBody>
          <a:bodyPr vert="horz" lIns="90000" tIns="46800" rIns="90000" bIns="46800" rtlCol="0" anchor="ctr">
            <a:normAutofit/>
          </a:bodyPr>
          <a:lstStyle/>
          <a:p>
            <a:pPr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altLang="en-US" dirty="0"/>
              <a:t>Open Source </a:t>
            </a:r>
            <a:r>
              <a:rPr lang="en-US" altLang="en-US" smtClean="0"/>
              <a:t>GIS Domain</a:t>
            </a:r>
            <a:endParaRPr lang="en-US" altLang="en-US" dirty="0"/>
          </a:p>
        </p:txBody>
      </p:sp>
      <p:pic>
        <p:nvPicPr>
          <p:cNvPr id="2" name="Picture 1"/>
          <p:cNvPicPr>
            <a:picLocks noChangeAspect="1"/>
          </p:cNvPicPr>
          <p:nvPr/>
        </p:nvPicPr>
        <p:blipFill>
          <a:blip r:embed="rId3"/>
          <a:stretch>
            <a:fillRect/>
          </a:stretch>
        </p:blipFill>
        <p:spPr>
          <a:xfrm>
            <a:off x="2077176" y="895248"/>
            <a:ext cx="8039236" cy="5882124"/>
          </a:xfrm>
          <a:prstGeom prst="rect">
            <a:avLst/>
          </a:prstGeom>
          <a:scene3d>
            <a:camera prst="orthographicFront"/>
            <a:lightRig rig="threePt" dir="t"/>
          </a:scene3d>
          <a:sp3d contourW="69850"/>
        </p:spPr>
      </p:pic>
    </p:spTree>
  </p:cSld>
  <p:clrMapOvr>
    <a:masterClrMapping/>
  </p:clrMapOvr>
  <p:transition spd="med"/>
  <p:timing>
    <p:tnLst>
      <p:par>
        <p:cTn id="1" dur="indefinite"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981200" y="1"/>
            <a:ext cx="8229600" cy="1063625"/>
          </a:xfrm>
        </p:spPr>
        <p:txBody>
          <a:bodyPr/>
          <a:lstStyle/>
          <a:p>
            <a:pPr>
              <a:defRPr/>
            </a:pPr>
            <a:r>
              <a:rPr lang="en-US" altLang="en-US" dirty="0"/>
              <a:t>Why Teach Open Source GIS?</a:t>
            </a:r>
          </a:p>
        </p:txBody>
      </p:sp>
      <p:sp>
        <p:nvSpPr>
          <p:cNvPr id="23555" name="Rectangle 3"/>
          <p:cNvSpPr>
            <a:spLocks noGrp="1" noChangeArrowheads="1"/>
          </p:cNvSpPr>
          <p:nvPr>
            <p:ph type="body" idx="1"/>
          </p:nvPr>
        </p:nvSpPr>
        <p:spPr>
          <a:xfrm>
            <a:off x="1981200" y="1063626"/>
            <a:ext cx="8229600" cy="5497513"/>
          </a:xfrm>
        </p:spPr>
        <p:txBody>
          <a:bodyPr/>
          <a:lstStyle/>
          <a:p>
            <a:pPr>
              <a:lnSpc>
                <a:spcPct val="80000"/>
              </a:lnSpc>
              <a:spcAft>
                <a:spcPts val="1200"/>
              </a:spcAft>
              <a:buSzPct val="150000"/>
              <a:defRPr/>
            </a:pPr>
            <a:r>
              <a:rPr lang="en-US" altLang="en-US" dirty="0"/>
              <a:t>Teach fundamentals of spatial data management and analysis rather than button memorization </a:t>
            </a:r>
          </a:p>
          <a:p>
            <a:pPr>
              <a:lnSpc>
                <a:spcPct val="80000"/>
              </a:lnSpc>
              <a:spcAft>
                <a:spcPts val="1200"/>
              </a:spcAft>
              <a:defRPr/>
            </a:pPr>
            <a:r>
              <a:rPr lang="en-US" altLang="en-US" dirty="0"/>
              <a:t>Becoming an increasingly necessary job skill</a:t>
            </a:r>
          </a:p>
          <a:p>
            <a:pPr marL="822960">
              <a:lnSpc>
                <a:spcPct val="80000"/>
              </a:lnSpc>
              <a:spcAft>
                <a:spcPts val="1200"/>
              </a:spcAft>
              <a:buFont typeface="Wingdings" panose="05000000000000000000" pitchFamily="2" charset="2"/>
              <a:buChar char="ü"/>
              <a:defRPr/>
            </a:pPr>
            <a:r>
              <a:rPr lang="en-US" altLang="en-US" sz="2400" dirty="0"/>
              <a:t>Companies with existing GIS are using this software</a:t>
            </a:r>
          </a:p>
          <a:p>
            <a:pPr marL="822960">
              <a:lnSpc>
                <a:spcPct val="80000"/>
              </a:lnSpc>
              <a:spcAft>
                <a:spcPts val="1200"/>
              </a:spcAft>
              <a:buFont typeface="Wingdings" panose="05000000000000000000" pitchFamily="2" charset="2"/>
              <a:buChar char="ü"/>
              <a:defRPr/>
            </a:pPr>
            <a:r>
              <a:rPr lang="en-US" altLang="en-US" sz="2400" dirty="0"/>
              <a:t>Makes GIS marketable to smaller firms and non-profits</a:t>
            </a:r>
          </a:p>
          <a:p>
            <a:pPr>
              <a:lnSpc>
                <a:spcPct val="80000"/>
              </a:lnSpc>
              <a:spcAft>
                <a:spcPts val="1200"/>
              </a:spcAft>
              <a:defRPr/>
            </a:pPr>
            <a:r>
              <a:rPr lang="en-US" altLang="en-US" dirty="0"/>
              <a:t>Drives innovation</a:t>
            </a:r>
          </a:p>
          <a:p>
            <a:pPr marL="822960">
              <a:lnSpc>
                <a:spcPct val="80000"/>
              </a:lnSpc>
              <a:spcAft>
                <a:spcPts val="1200"/>
              </a:spcAft>
              <a:buFont typeface="Wingdings" panose="05000000000000000000" pitchFamily="2" charset="2"/>
              <a:buChar char="ü"/>
              <a:defRPr/>
            </a:pPr>
            <a:r>
              <a:rPr lang="en-US" altLang="en-US" sz="2400" dirty="0"/>
              <a:t>Through sharing of knowledge &amp; source code</a:t>
            </a:r>
          </a:p>
          <a:p>
            <a:pPr>
              <a:lnSpc>
                <a:spcPct val="80000"/>
              </a:lnSpc>
              <a:spcAft>
                <a:spcPts val="1200"/>
              </a:spcAft>
              <a:defRPr/>
            </a:pPr>
            <a:r>
              <a:rPr lang="en-US" altLang="en-US" dirty="0"/>
              <a:t>Code is open and human-readable</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fade">
                                      <p:cBhvr>
                                        <p:cTn id="7" dur="500"/>
                                        <p:tgtEl>
                                          <p:spTgt spid="235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555">
                                            <p:txEl>
                                              <p:pRg st="1" end="1"/>
                                            </p:txEl>
                                          </p:spTgt>
                                        </p:tgtEl>
                                        <p:attrNameLst>
                                          <p:attrName>style.visibility</p:attrName>
                                        </p:attrNameLst>
                                      </p:cBhvr>
                                      <p:to>
                                        <p:strVal val="visible"/>
                                      </p:to>
                                    </p:set>
                                    <p:animEffect transition="in" filter="fade">
                                      <p:cBhvr>
                                        <p:cTn id="12" dur="500"/>
                                        <p:tgtEl>
                                          <p:spTgt spid="235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555">
                                            <p:txEl>
                                              <p:pRg st="2" end="2"/>
                                            </p:txEl>
                                          </p:spTgt>
                                        </p:tgtEl>
                                        <p:attrNameLst>
                                          <p:attrName>style.visibility</p:attrName>
                                        </p:attrNameLst>
                                      </p:cBhvr>
                                      <p:to>
                                        <p:strVal val="visible"/>
                                      </p:to>
                                    </p:set>
                                    <p:animEffect transition="in" filter="fade">
                                      <p:cBhvr>
                                        <p:cTn id="17" dur="500"/>
                                        <p:tgtEl>
                                          <p:spTgt spid="235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3555">
                                            <p:txEl>
                                              <p:pRg st="3" end="3"/>
                                            </p:txEl>
                                          </p:spTgt>
                                        </p:tgtEl>
                                        <p:attrNameLst>
                                          <p:attrName>style.visibility</p:attrName>
                                        </p:attrNameLst>
                                      </p:cBhvr>
                                      <p:to>
                                        <p:strVal val="visible"/>
                                      </p:to>
                                    </p:set>
                                    <p:animEffect transition="in" filter="fade">
                                      <p:cBhvr>
                                        <p:cTn id="22" dur="500"/>
                                        <p:tgtEl>
                                          <p:spTgt spid="2355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555">
                                            <p:txEl>
                                              <p:pRg st="4" end="4"/>
                                            </p:txEl>
                                          </p:spTgt>
                                        </p:tgtEl>
                                        <p:attrNameLst>
                                          <p:attrName>style.visibility</p:attrName>
                                        </p:attrNameLst>
                                      </p:cBhvr>
                                      <p:to>
                                        <p:strVal val="visible"/>
                                      </p:to>
                                    </p:set>
                                    <p:animEffect transition="in" filter="fade">
                                      <p:cBhvr>
                                        <p:cTn id="27" dur="500"/>
                                        <p:tgtEl>
                                          <p:spTgt spid="2355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3555">
                                            <p:txEl>
                                              <p:pRg st="5" end="5"/>
                                            </p:txEl>
                                          </p:spTgt>
                                        </p:tgtEl>
                                        <p:attrNameLst>
                                          <p:attrName>style.visibility</p:attrName>
                                        </p:attrNameLst>
                                      </p:cBhvr>
                                      <p:to>
                                        <p:strVal val="visible"/>
                                      </p:to>
                                    </p:set>
                                    <p:animEffect transition="in" filter="fade">
                                      <p:cBhvr>
                                        <p:cTn id="32" dur="500"/>
                                        <p:tgtEl>
                                          <p:spTgt spid="2355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3555">
                                            <p:txEl>
                                              <p:pRg st="6" end="6"/>
                                            </p:txEl>
                                          </p:spTgt>
                                        </p:tgtEl>
                                        <p:attrNameLst>
                                          <p:attrName>style.visibility</p:attrName>
                                        </p:attrNameLst>
                                      </p:cBhvr>
                                      <p:to>
                                        <p:strVal val="visible"/>
                                      </p:to>
                                    </p:set>
                                    <p:animEffect transition="in" filter="fade">
                                      <p:cBhvr>
                                        <p:cTn id="37" dur="500"/>
                                        <p:tgtEl>
                                          <p:spTgt spid="2355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a:xfrm>
            <a:off x="1524000" y="115889"/>
            <a:ext cx="9144000" cy="936625"/>
          </a:xfrm>
        </p:spPr>
        <p:txBody>
          <a:bodyPr/>
          <a:lstStyle/>
          <a:p>
            <a:pPr>
              <a:defRPr/>
            </a:pPr>
            <a:r>
              <a:rPr lang="en-US" altLang="en-US" dirty="0">
                <a:cs typeface="Tahoma" panose="020B0604030504040204" pitchFamily="34" charset="0"/>
              </a:rPr>
              <a:t>Open GIS Consortium</a:t>
            </a:r>
          </a:p>
        </p:txBody>
      </p:sp>
      <p:sp>
        <p:nvSpPr>
          <p:cNvPr id="25603" name="Rectangle 3"/>
          <p:cNvSpPr>
            <a:spLocks noGrp="1" noChangeArrowheads="1"/>
          </p:cNvSpPr>
          <p:nvPr>
            <p:ph type="body" idx="1"/>
          </p:nvPr>
        </p:nvSpPr>
        <p:spPr>
          <a:xfrm>
            <a:off x="1631950" y="1052514"/>
            <a:ext cx="9036050" cy="5614987"/>
          </a:xfrm>
        </p:spPr>
        <p:txBody>
          <a:bodyPr/>
          <a:lstStyle/>
          <a:p>
            <a:pPr>
              <a:spcBef>
                <a:spcPct val="0"/>
              </a:spcBef>
              <a:spcAft>
                <a:spcPts val="2400"/>
              </a:spcAft>
            </a:pPr>
            <a:r>
              <a:rPr lang="en-US" altLang="en-US"/>
              <a:t>Open GIS Consortium (OGC) was an solution which grew out of the need among federal agencies to share data in the USA.</a:t>
            </a:r>
          </a:p>
          <a:p>
            <a:pPr>
              <a:spcBef>
                <a:spcPct val="0"/>
              </a:spcBef>
              <a:spcAft>
                <a:spcPts val="2400"/>
              </a:spcAft>
            </a:pPr>
            <a:r>
              <a:rPr lang="en-US" altLang="en-US"/>
              <a:t>Open GIS Consortium founded in 1994, but now is known as the Open Geospatial Consortium (OGC) </a:t>
            </a:r>
          </a:p>
          <a:p>
            <a:pPr>
              <a:spcBef>
                <a:spcPct val="0"/>
              </a:spcBef>
              <a:spcAft>
                <a:spcPts val="2400"/>
              </a:spcAft>
            </a:pPr>
            <a:r>
              <a:rPr lang="en-US" altLang="en-US"/>
              <a:t>It is an international voluntary consensus standards organization. </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fade">
                                      <p:cBhvr>
                                        <p:cTn id="7" dur="500"/>
                                        <p:tgtEl>
                                          <p:spTgt spid="256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603">
                                            <p:txEl>
                                              <p:pRg st="1" end="1"/>
                                            </p:txEl>
                                          </p:spTgt>
                                        </p:tgtEl>
                                        <p:attrNameLst>
                                          <p:attrName>style.visibility</p:attrName>
                                        </p:attrNameLst>
                                      </p:cBhvr>
                                      <p:to>
                                        <p:strVal val="visible"/>
                                      </p:to>
                                    </p:set>
                                    <p:animEffect transition="in" filter="fade">
                                      <p:cBhvr>
                                        <p:cTn id="12" dur="500"/>
                                        <p:tgtEl>
                                          <p:spTgt spid="256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603">
                                            <p:txEl>
                                              <p:pRg st="2" end="2"/>
                                            </p:txEl>
                                          </p:spTgt>
                                        </p:tgtEl>
                                        <p:attrNameLst>
                                          <p:attrName>style.visibility</p:attrName>
                                        </p:attrNameLst>
                                      </p:cBhvr>
                                      <p:to>
                                        <p:strVal val="visible"/>
                                      </p:to>
                                    </p:set>
                                    <p:animEffect transition="in" filter="fade">
                                      <p:cBhvr>
                                        <p:cTn id="17" dur="500"/>
                                        <p:tgtEl>
                                          <p:spTgt spid="256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a:xfrm>
            <a:off x="1524000" y="115889"/>
            <a:ext cx="9144000" cy="973137"/>
          </a:xfrm>
        </p:spPr>
        <p:txBody>
          <a:bodyPr/>
          <a:lstStyle/>
          <a:p>
            <a:pPr>
              <a:defRPr/>
            </a:pPr>
            <a:r>
              <a:rPr lang="en-US" altLang="en-US" dirty="0">
                <a:cs typeface="Tahoma" panose="020B0604030504040204" pitchFamily="34" charset="0"/>
              </a:rPr>
              <a:t>Open GIS Consortium</a:t>
            </a:r>
          </a:p>
        </p:txBody>
      </p:sp>
      <p:sp>
        <p:nvSpPr>
          <p:cNvPr id="26627" name="Rectangle 3"/>
          <p:cNvSpPr>
            <a:spLocks noGrp="1" noChangeArrowheads="1"/>
          </p:cNvSpPr>
          <p:nvPr>
            <p:ph type="body" idx="1"/>
          </p:nvPr>
        </p:nvSpPr>
        <p:spPr>
          <a:xfrm>
            <a:off x="1628775" y="1089025"/>
            <a:ext cx="8788400" cy="5653088"/>
          </a:xfrm>
        </p:spPr>
        <p:txBody>
          <a:bodyPr/>
          <a:lstStyle/>
          <a:p>
            <a:pPr algn="just">
              <a:spcBef>
                <a:spcPct val="0"/>
              </a:spcBef>
            </a:pPr>
            <a:r>
              <a:rPr lang="en-US" altLang="en-US"/>
              <a:t>In the OGC, more than 370+ commercial, governmental, nonprofit and research organizations worldwide collaborate in an open consensus process encouraging development and implementation of standards for geospatial content and services, GIS data processing and data sharing.</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fade">
                                      <p:cBhvr>
                                        <p:cTn id="7" dur="500"/>
                                        <p:tgtEl>
                                          <p:spTgt spid="266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a:xfrm>
            <a:off x="1524000" y="1"/>
            <a:ext cx="9144000" cy="1052513"/>
          </a:xfrm>
        </p:spPr>
        <p:txBody>
          <a:bodyPr/>
          <a:lstStyle/>
          <a:p>
            <a:pPr>
              <a:defRPr/>
            </a:pPr>
            <a:r>
              <a:rPr lang="en-US" altLang="en-US" dirty="0">
                <a:cs typeface="Tahoma" panose="020B0604030504040204" pitchFamily="34" charset="0"/>
              </a:rPr>
              <a:t> OGC </a:t>
            </a:r>
            <a:r>
              <a:rPr lang="en-US" altLang="en-US" dirty="0" smtClean="0">
                <a:cs typeface="Tahoma" panose="020B0604030504040204" pitchFamily="34" charset="0"/>
              </a:rPr>
              <a:t>Specs: </a:t>
            </a:r>
            <a:r>
              <a:rPr lang="en-US" altLang="en-US" dirty="0">
                <a:cs typeface="Tahoma" panose="020B0604030504040204" pitchFamily="34" charset="0"/>
              </a:rPr>
              <a:t>Year of First Approval</a:t>
            </a:r>
          </a:p>
        </p:txBody>
      </p:sp>
      <p:graphicFrame>
        <p:nvGraphicFramePr>
          <p:cNvPr id="140443" name="Group 155"/>
          <p:cNvGraphicFramePr>
            <a:graphicFrameLocks noGrp="1"/>
          </p:cNvGraphicFramePr>
          <p:nvPr>
            <p:ph idx="1"/>
          </p:nvPr>
        </p:nvGraphicFramePr>
        <p:xfrm>
          <a:off x="1774825" y="1052514"/>
          <a:ext cx="8605838" cy="5616579"/>
        </p:xfrm>
        <a:graphic>
          <a:graphicData uri="http://schemas.openxmlformats.org/drawingml/2006/table">
            <a:tbl>
              <a:tblPr/>
              <a:tblGrid>
                <a:gridCol w="881488"/>
                <a:gridCol w="7724350"/>
              </a:tblGrid>
              <a:tr h="598329">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400">
                          <a:solidFill>
                            <a:schemeClr val="tx1"/>
                          </a:solidFill>
                          <a:latin typeface="Arial" panose="020B0604020202020204" pitchFamily="34" charset="0"/>
                        </a:defRPr>
                      </a:lvl3pPr>
                      <a:lvl4pPr>
                        <a:spcBef>
                          <a:spcPct val="20000"/>
                        </a:spcBef>
                        <a:defRPr sz="12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500" b="1" i="0" u="none" strike="noStrike" cap="none" normalizeH="0" baseline="0" dirty="0" smtClean="0">
                          <a:ln>
                            <a:noFill/>
                          </a:ln>
                          <a:solidFill>
                            <a:schemeClr val="bg1">
                              <a:lumMod val="75000"/>
                            </a:schemeClr>
                          </a:solidFill>
                          <a:effectLst/>
                          <a:latin typeface="Garamond" panose="02020404030301010803" pitchFamily="18" charset="0"/>
                          <a:cs typeface="Times New Roman" panose="02020603050405020304" pitchFamily="18" charset="0"/>
                        </a:rPr>
                        <a:t>Year</a:t>
                      </a:r>
                      <a:endParaRPr kumimoji="0" lang="en-US" altLang="en-US" sz="2500" b="0" i="0" u="none" strike="noStrike" cap="none" normalizeH="0" baseline="0" dirty="0" smtClean="0">
                        <a:ln>
                          <a:noFill/>
                        </a:ln>
                        <a:solidFill>
                          <a:schemeClr val="bg1">
                            <a:lumMod val="75000"/>
                          </a:schemeClr>
                        </a:solidFill>
                        <a:effectLst/>
                        <a:latin typeface="Garamond" panose="02020404030301010803" pitchFamily="18" charset="0"/>
                      </a:endParaRPr>
                    </a:p>
                  </a:txBody>
                  <a:tcPr marL="91449" marR="914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lumMod val="85000"/>
                      </a:schemeClr>
                    </a:solid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400">
                          <a:solidFill>
                            <a:schemeClr val="tx1"/>
                          </a:solidFill>
                          <a:latin typeface="Arial" panose="020B0604020202020204" pitchFamily="34" charset="0"/>
                        </a:defRPr>
                      </a:lvl3pPr>
                      <a:lvl4pPr>
                        <a:spcBef>
                          <a:spcPct val="20000"/>
                        </a:spcBef>
                        <a:defRPr sz="12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500" b="1" i="0" u="none" strike="noStrike" cap="none" normalizeH="0" baseline="0" dirty="0" smtClean="0">
                          <a:ln>
                            <a:noFill/>
                          </a:ln>
                          <a:solidFill>
                            <a:schemeClr val="bg1">
                              <a:lumMod val="75000"/>
                            </a:schemeClr>
                          </a:solidFill>
                          <a:effectLst/>
                          <a:latin typeface="Garamond" panose="02020404030301010803" pitchFamily="18" charset="0"/>
                          <a:cs typeface="Times New Roman" panose="02020603050405020304" pitchFamily="18" charset="0"/>
                        </a:rPr>
                        <a:t>OGC Specifications Approval</a:t>
                      </a:r>
                      <a:endParaRPr kumimoji="0" lang="en-US" altLang="en-US" sz="2500" b="0" i="0" u="none" strike="noStrike" cap="none" normalizeH="0" baseline="0" dirty="0" smtClean="0">
                        <a:ln>
                          <a:noFill/>
                        </a:ln>
                        <a:solidFill>
                          <a:schemeClr val="bg1">
                            <a:lumMod val="75000"/>
                          </a:schemeClr>
                        </a:solidFill>
                        <a:effectLst/>
                        <a:latin typeface="Garamond" panose="02020404030301010803" pitchFamily="18" charset="0"/>
                      </a:endParaRPr>
                    </a:p>
                  </a:txBody>
                  <a:tcPr marL="91449" marR="914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lumMod val="85000"/>
                      </a:schemeClr>
                    </a:solidFill>
                  </a:tcPr>
                </a:tc>
              </a:tr>
              <a:tr h="501825">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400">
                          <a:solidFill>
                            <a:schemeClr val="tx1"/>
                          </a:solidFill>
                          <a:latin typeface="Arial" panose="020B0604020202020204" pitchFamily="34" charset="0"/>
                        </a:defRPr>
                      </a:lvl3pPr>
                      <a:lvl4pPr>
                        <a:spcBef>
                          <a:spcPct val="20000"/>
                        </a:spcBef>
                        <a:defRPr sz="12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rgbClr val="008000"/>
                          </a:solidFill>
                          <a:effectLst/>
                          <a:latin typeface="Garamond" panose="02020404030301010803" pitchFamily="18" charset="0"/>
                          <a:cs typeface="Times New Roman" panose="02020603050405020304" pitchFamily="18" charset="0"/>
                        </a:rPr>
                        <a:t>2004</a:t>
                      </a:r>
                      <a:endParaRPr kumimoji="0" lang="en-US" altLang="en-US" sz="2000" b="1" i="0" u="none" strike="noStrike" cap="none" normalizeH="0" baseline="0" dirty="0" smtClean="0">
                        <a:ln>
                          <a:noFill/>
                        </a:ln>
                        <a:solidFill>
                          <a:srgbClr val="008000"/>
                        </a:solidFill>
                        <a:effectLst/>
                        <a:latin typeface="Garamond" panose="02020404030301010803" pitchFamily="18" charset="0"/>
                      </a:endParaRPr>
                    </a:p>
                  </a:txBody>
                  <a:tcPr marL="91449" marR="914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lumMod val="85000"/>
                      </a:schemeClr>
                    </a:solid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400">
                          <a:solidFill>
                            <a:schemeClr val="tx1"/>
                          </a:solidFill>
                          <a:latin typeface="Arial" panose="020B0604020202020204" pitchFamily="34" charset="0"/>
                        </a:defRPr>
                      </a:lvl3pPr>
                      <a:lvl4pPr>
                        <a:spcBef>
                          <a:spcPct val="20000"/>
                        </a:spcBef>
                        <a:defRPr sz="12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8000"/>
                          </a:solidFill>
                          <a:effectLst/>
                          <a:latin typeface="Garamond" panose="02020404030301010803" pitchFamily="18" charset="0"/>
                          <a:cs typeface="Times New Roman" panose="02020603050405020304" pitchFamily="18" charset="0"/>
                        </a:rPr>
                        <a:t>OpenGIS Location Services (OpenLS) Specification</a:t>
                      </a:r>
                      <a:endParaRPr kumimoji="0" lang="en-US" altLang="en-US" sz="2000" b="0" i="0" u="none" strike="noStrike" cap="none" normalizeH="0" baseline="0" dirty="0" smtClean="0">
                        <a:ln>
                          <a:noFill/>
                        </a:ln>
                        <a:solidFill>
                          <a:srgbClr val="008000"/>
                        </a:solidFill>
                        <a:effectLst/>
                        <a:latin typeface="Garamond" panose="02020404030301010803" pitchFamily="18" charset="0"/>
                      </a:endParaRPr>
                    </a:p>
                  </a:txBody>
                  <a:tcPr marL="91449" marR="914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lumMod val="85000"/>
                      </a:schemeClr>
                    </a:solidFill>
                  </a:tcPr>
                </a:tc>
              </a:tr>
              <a:tr h="501825">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400">
                          <a:solidFill>
                            <a:schemeClr val="tx1"/>
                          </a:solidFill>
                          <a:latin typeface="Arial" panose="020B0604020202020204" pitchFamily="34" charset="0"/>
                        </a:defRPr>
                      </a:lvl3pPr>
                      <a:lvl4pPr>
                        <a:spcBef>
                          <a:spcPct val="20000"/>
                        </a:spcBef>
                        <a:defRPr sz="12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rgbClr val="008000"/>
                          </a:solidFill>
                          <a:effectLst/>
                          <a:latin typeface="Garamond" panose="02020404030301010803" pitchFamily="18" charset="0"/>
                          <a:cs typeface="Times New Roman" panose="02020603050405020304" pitchFamily="18" charset="0"/>
                        </a:rPr>
                        <a:t>2003</a:t>
                      </a:r>
                      <a:endParaRPr kumimoji="0" lang="en-US" altLang="en-US" sz="2000" b="1" i="0" u="none" strike="noStrike" cap="none" normalizeH="0" baseline="0" dirty="0" smtClean="0">
                        <a:ln>
                          <a:noFill/>
                        </a:ln>
                        <a:solidFill>
                          <a:srgbClr val="008000"/>
                        </a:solidFill>
                        <a:effectLst/>
                        <a:latin typeface="Garamond" panose="02020404030301010803" pitchFamily="18" charset="0"/>
                      </a:endParaRPr>
                    </a:p>
                  </a:txBody>
                  <a:tcPr marL="91449" marR="914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lumMod val="85000"/>
                      </a:schemeClr>
                    </a:solid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400">
                          <a:solidFill>
                            <a:schemeClr val="tx1"/>
                          </a:solidFill>
                          <a:latin typeface="Arial" panose="020B0604020202020204" pitchFamily="34" charset="0"/>
                        </a:defRPr>
                      </a:lvl3pPr>
                      <a:lvl4pPr>
                        <a:spcBef>
                          <a:spcPct val="20000"/>
                        </a:spcBef>
                        <a:defRPr sz="12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8000"/>
                          </a:solidFill>
                          <a:effectLst/>
                          <a:latin typeface="Garamond" panose="02020404030301010803" pitchFamily="18" charset="0"/>
                          <a:cs typeface="Times New Roman" panose="02020603050405020304" pitchFamily="18" charset="0"/>
                        </a:rPr>
                        <a:t>OpenGIS Web Map Context Interface Specification</a:t>
                      </a:r>
                      <a:endParaRPr kumimoji="0" lang="en-US" altLang="en-US" sz="2000" b="0" i="0" u="none" strike="noStrike" cap="none" normalizeH="0" baseline="0" dirty="0" smtClean="0">
                        <a:ln>
                          <a:noFill/>
                        </a:ln>
                        <a:solidFill>
                          <a:srgbClr val="008000"/>
                        </a:solidFill>
                        <a:effectLst/>
                        <a:latin typeface="Garamond" panose="02020404030301010803" pitchFamily="18" charset="0"/>
                      </a:endParaRPr>
                    </a:p>
                  </a:txBody>
                  <a:tcPr marL="91449" marR="914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lumMod val="85000"/>
                      </a:schemeClr>
                    </a:solidFill>
                  </a:tcPr>
                </a:tc>
              </a:tr>
              <a:tr h="501825">
                <a:tc rowSpan="3">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400">
                          <a:solidFill>
                            <a:schemeClr val="tx1"/>
                          </a:solidFill>
                          <a:latin typeface="Arial" panose="020B0604020202020204" pitchFamily="34" charset="0"/>
                        </a:defRPr>
                      </a:lvl3pPr>
                      <a:lvl4pPr>
                        <a:spcBef>
                          <a:spcPct val="20000"/>
                        </a:spcBef>
                        <a:defRPr sz="12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smtClean="0">
                        <a:ln>
                          <a:noFill/>
                        </a:ln>
                        <a:solidFill>
                          <a:srgbClr val="008000"/>
                        </a:solidFill>
                        <a:effectLst/>
                        <a:latin typeface="Garamond" panose="02020404030301010803"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smtClean="0">
                        <a:ln>
                          <a:noFill/>
                        </a:ln>
                        <a:solidFill>
                          <a:srgbClr val="008000"/>
                        </a:solidFill>
                        <a:effectLst/>
                        <a:latin typeface="Garamond" panose="02020404030301010803"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rgbClr val="008000"/>
                          </a:solidFill>
                          <a:effectLst/>
                          <a:latin typeface="Garamond" panose="02020404030301010803" pitchFamily="18" charset="0"/>
                          <a:cs typeface="Times New Roman" panose="02020603050405020304" pitchFamily="18" charset="0"/>
                        </a:rPr>
                        <a:t>2002</a:t>
                      </a:r>
                      <a:endParaRPr kumimoji="0" lang="en-US" altLang="en-US" sz="2000" b="1" i="0" u="none" strike="noStrike" cap="none" normalizeH="0" baseline="0" dirty="0" smtClean="0">
                        <a:ln>
                          <a:noFill/>
                        </a:ln>
                        <a:solidFill>
                          <a:srgbClr val="008000"/>
                        </a:solidFill>
                        <a:effectLst/>
                        <a:latin typeface="Garamond" panose="02020404030301010803" pitchFamily="18" charset="0"/>
                      </a:endParaRPr>
                    </a:p>
                  </a:txBody>
                  <a:tcPr marL="91449" marR="914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lumMod val="85000"/>
                      </a:schemeClr>
                    </a:solid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400">
                          <a:solidFill>
                            <a:schemeClr val="tx1"/>
                          </a:solidFill>
                          <a:latin typeface="Arial" panose="020B0604020202020204" pitchFamily="34" charset="0"/>
                        </a:defRPr>
                      </a:lvl3pPr>
                      <a:lvl4pPr>
                        <a:spcBef>
                          <a:spcPct val="20000"/>
                        </a:spcBef>
                        <a:defRPr sz="12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8000"/>
                          </a:solidFill>
                          <a:effectLst/>
                          <a:latin typeface="Garamond" panose="02020404030301010803" pitchFamily="18" charset="0"/>
                          <a:cs typeface="Times New Roman" panose="02020603050405020304" pitchFamily="18" charset="0"/>
                        </a:rPr>
                        <a:t>OpenGIS Web Feature Service Specification</a:t>
                      </a:r>
                      <a:endParaRPr kumimoji="0" lang="en-US" altLang="en-US" sz="2000" b="0" i="0" u="none" strike="noStrike" cap="none" normalizeH="0" baseline="0" dirty="0" smtClean="0">
                        <a:ln>
                          <a:noFill/>
                        </a:ln>
                        <a:solidFill>
                          <a:srgbClr val="008000"/>
                        </a:solidFill>
                        <a:effectLst/>
                        <a:latin typeface="Garamond" panose="02020404030301010803" pitchFamily="18" charset="0"/>
                      </a:endParaRPr>
                    </a:p>
                  </a:txBody>
                  <a:tcPr marL="91449" marR="914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lumMod val="85000"/>
                      </a:schemeClr>
                    </a:solidFill>
                  </a:tcPr>
                </a:tc>
              </a:tr>
              <a:tr h="501825">
                <a:tc vMerge="1">
                  <a:txBody>
                    <a:bodyPr/>
                    <a:lstStyle/>
                    <a:p>
                      <a:endParaRPr lang="en-US"/>
                    </a:p>
                  </a:txBody>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400">
                          <a:solidFill>
                            <a:schemeClr val="tx1"/>
                          </a:solidFill>
                          <a:latin typeface="Arial" panose="020B0604020202020204" pitchFamily="34" charset="0"/>
                        </a:defRPr>
                      </a:lvl3pPr>
                      <a:lvl4pPr>
                        <a:spcBef>
                          <a:spcPct val="20000"/>
                        </a:spcBef>
                        <a:defRPr sz="12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8000"/>
                          </a:solidFill>
                          <a:effectLst/>
                          <a:latin typeface="Garamond" panose="02020404030301010803" pitchFamily="18" charset="0"/>
                          <a:cs typeface="Times New Roman" panose="02020603050405020304" pitchFamily="18" charset="0"/>
                        </a:rPr>
                        <a:t>OpenGIS Geography Markup Language Specification (GML 2.1)</a:t>
                      </a:r>
                      <a:endParaRPr kumimoji="0" lang="en-US" altLang="en-US" sz="2000" b="0" i="0" u="none" strike="noStrike" cap="none" normalizeH="0" baseline="0" dirty="0" smtClean="0">
                        <a:ln>
                          <a:noFill/>
                        </a:ln>
                        <a:solidFill>
                          <a:srgbClr val="008000"/>
                        </a:solidFill>
                        <a:effectLst/>
                        <a:latin typeface="Garamond" panose="02020404030301010803" pitchFamily="18" charset="0"/>
                      </a:endParaRPr>
                    </a:p>
                  </a:txBody>
                  <a:tcPr marL="91449" marR="914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lumMod val="85000"/>
                      </a:schemeClr>
                    </a:solidFill>
                  </a:tcPr>
                </a:tc>
              </a:tr>
              <a:tr h="501825">
                <a:tc vMerge="1">
                  <a:txBody>
                    <a:bodyPr/>
                    <a:lstStyle/>
                    <a:p>
                      <a:endParaRPr lang="en-US"/>
                    </a:p>
                  </a:txBody>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400">
                          <a:solidFill>
                            <a:schemeClr val="tx1"/>
                          </a:solidFill>
                          <a:latin typeface="Arial" panose="020B0604020202020204" pitchFamily="34" charset="0"/>
                        </a:defRPr>
                      </a:lvl3pPr>
                      <a:lvl4pPr>
                        <a:spcBef>
                          <a:spcPct val="20000"/>
                        </a:spcBef>
                        <a:defRPr sz="12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8000"/>
                          </a:solidFill>
                          <a:effectLst/>
                          <a:latin typeface="Garamond" panose="02020404030301010803" pitchFamily="18" charset="0"/>
                          <a:cs typeface="Times New Roman" panose="02020603050405020304" pitchFamily="18" charset="0"/>
                        </a:rPr>
                        <a:t>OpenGIS Styled Layer Descriptor Implementation Specification</a:t>
                      </a:r>
                      <a:endParaRPr kumimoji="0" lang="en-US" altLang="en-US" sz="2000" b="0" i="0" u="none" strike="noStrike" cap="none" normalizeH="0" baseline="0" dirty="0" smtClean="0">
                        <a:ln>
                          <a:noFill/>
                        </a:ln>
                        <a:solidFill>
                          <a:srgbClr val="008000"/>
                        </a:solidFill>
                        <a:effectLst/>
                        <a:latin typeface="Garamond" panose="02020404030301010803" pitchFamily="18" charset="0"/>
                      </a:endParaRPr>
                    </a:p>
                  </a:txBody>
                  <a:tcPr marL="91449" marR="914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lumMod val="85000"/>
                      </a:schemeClr>
                    </a:solidFill>
                  </a:tcPr>
                </a:tc>
              </a:tr>
              <a:tr h="501825">
                <a:tc rowSpan="2">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400">
                          <a:solidFill>
                            <a:schemeClr val="tx1"/>
                          </a:solidFill>
                          <a:latin typeface="Arial" panose="020B0604020202020204" pitchFamily="34" charset="0"/>
                        </a:defRPr>
                      </a:lvl3pPr>
                      <a:lvl4pPr>
                        <a:spcBef>
                          <a:spcPct val="20000"/>
                        </a:spcBef>
                        <a:defRPr sz="12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smtClean="0">
                        <a:ln>
                          <a:noFill/>
                        </a:ln>
                        <a:solidFill>
                          <a:srgbClr val="008000"/>
                        </a:solidFill>
                        <a:effectLst/>
                        <a:latin typeface="Garamond" panose="02020404030301010803"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rgbClr val="008000"/>
                          </a:solidFill>
                          <a:effectLst/>
                          <a:latin typeface="Garamond" panose="02020404030301010803" pitchFamily="18" charset="0"/>
                          <a:cs typeface="Times New Roman" panose="02020603050405020304" pitchFamily="18" charset="0"/>
                        </a:rPr>
                        <a:t>2000</a:t>
                      </a:r>
                      <a:endParaRPr kumimoji="0" lang="en-US" altLang="en-US" sz="2000" b="1" i="0" u="none" strike="noStrike" cap="none" normalizeH="0" baseline="0" dirty="0" smtClean="0">
                        <a:ln>
                          <a:noFill/>
                        </a:ln>
                        <a:solidFill>
                          <a:srgbClr val="008000"/>
                        </a:solidFill>
                        <a:effectLst/>
                        <a:latin typeface="Garamond" panose="02020404030301010803" pitchFamily="18" charset="0"/>
                      </a:endParaRPr>
                    </a:p>
                  </a:txBody>
                  <a:tcPr marL="91449" marR="914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lumMod val="85000"/>
                      </a:schemeClr>
                    </a:solid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400">
                          <a:solidFill>
                            <a:schemeClr val="tx1"/>
                          </a:solidFill>
                          <a:latin typeface="Arial" panose="020B0604020202020204" pitchFamily="34" charset="0"/>
                        </a:defRPr>
                      </a:lvl3pPr>
                      <a:lvl4pPr>
                        <a:spcBef>
                          <a:spcPct val="20000"/>
                        </a:spcBef>
                        <a:defRPr sz="12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8000"/>
                          </a:solidFill>
                          <a:effectLst/>
                          <a:latin typeface="Garamond" panose="02020404030301010803" pitchFamily="18" charset="0"/>
                          <a:cs typeface="Times New Roman" panose="02020603050405020304" pitchFamily="18" charset="0"/>
                        </a:rPr>
                        <a:t>OpenGIS Coordinate Transformation Services Specification</a:t>
                      </a:r>
                      <a:endParaRPr kumimoji="0" lang="en-US" altLang="en-US" sz="2000" b="0" i="0" u="none" strike="noStrike" cap="none" normalizeH="0" baseline="0" dirty="0" smtClean="0">
                        <a:ln>
                          <a:noFill/>
                        </a:ln>
                        <a:solidFill>
                          <a:srgbClr val="008000"/>
                        </a:solidFill>
                        <a:effectLst/>
                        <a:latin typeface="Garamond" panose="02020404030301010803" pitchFamily="18" charset="0"/>
                      </a:endParaRPr>
                    </a:p>
                  </a:txBody>
                  <a:tcPr marL="91449" marR="914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lumMod val="85000"/>
                      </a:schemeClr>
                    </a:solidFill>
                  </a:tcPr>
                </a:tc>
              </a:tr>
              <a:tr h="501825">
                <a:tc vMerge="1">
                  <a:txBody>
                    <a:bodyPr/>
                    <a:lstStyle/>
                    <a:p>
                      <a:endParaRPr lang="en-US"/>
                    </a:p>
                  </a:txBody>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400">
                          <a:solidFill>
                            <a:schemeClr val="tx1"/>
                          </a:solidFill>
                          <a:latin typeface="Arial" panose="020B0604020202020204" pitchFamily="34" charset="0"/>
                        </a:defRPr>
                      </a:lvl3pPr>
                      <a:lvl4pPr>
                        <a:spcBef>
                          <a:spcPct val="20000"/>
                        </a:spcBef>
                        <a:defRPr sz="12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8000"/>
                          </a:solidFill>
                          <a:effectLst/>
                          <a:latin typeface="Garamond" panose="02020404030301010803" pitchFamily="18" charset="0"/>
                          <a:cs typeface="Times New Roman" panose="02020603050405020304" pitchFamily="18" charset="0"/>
                        </a:rPr>
                        <a:t>OpenGIS Web Map Service Specification</a:t>
                      </a:r>
                      <a:endParaRPr kumimoji="0" lang="en-US" altLang="en-US" sz="2000" b="0" i="0" u="none" strike="noStrike" cap="none" normalizeH="0" baseline="0" dirty="0" smtClean="0">
                        <a:ln>
                          <a:noFill/>
                        </a:ln>
                        <a:solidFill>
                          <a:srgbClr val="008000"/>
                        </a:solidFill>
                        <a:effectLst/>
                        <a:latin typeface="Garamond" panose="02020404030301010803" pitchFamily="18" charset="0"/>
                      </a:endParaRPr>
                    </a:p>
                  </a:txBody>
                  <a:tcPr marL="91449" marR="914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lumMod val="85000"/>
                      </a:schemeClr>
                    </a:solidFill>
                  </a:tcPr>
                </a:tc>
              </a:tr>
              <a:tr h="501825">
                <a:tc rowSpan="2">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400">
                          <a:solidFill>
                            <a:schemeClr val="tx1"/>
                          </a:solidFill>
                          <a:latin typeface="Arial" panose="020B0604020202020204" pitchFamily="34" charset="0"/>
                        </a:defRPr>
                      </a:lvl3pPr>
                      <a:lvl4pPr>
                        <a:spcBef>
                          <a:spcPct val="20000"/>
                        </a:spcBef>
                        <a:defRPr sz="12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smtClean="0">
                        <a:ln>
                          <a:noFill/>
                        </a:ln>
                        <a:solidFill>
                          <a:srgbClr val="008000"/>
                        </a:solidFill>
                        <a:effectLst/>
                        <a:latin typeface="Garamond" panose="02020404030301010803"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rgbClr val="008000"/>
                          </a:solidFill>
                          <a:effectLst/>
                          <a:latin typeface="Garamond" panose="02020404030301010803" pitchFamily="18" charset="0"/>
                          <a:cs typeface="Times New Roman" panose="02020603050405020304" pitchFamily="18" charset="0"/>
                        </a:rPr>
                        <a:t>1999</a:t>
                      </a:r>
                      <a:endParaRPr kumimoji="0" lang="en-US" altLang="en-US" sz="2000" b="1" i="0" u="none" strike="noStrike" cap="none" normalizeH="0" baseline="0" dirty="0" smtClean="0">
                        <a:ln>
                          <a:noFill/>
                        </a:ln>
                        <a:solidFill>
                          <a:srgbClr val="008000"/>
                        </a:solidFill>
                        <a:effectLst/>
                        <a:latin typeface="Garamond" panose="02020404030301010803" pitchFamily="18" charset="0"/>
                      </a:endParaRPr>
                    </a:p>
                  </a:txBody>
                  <a:tcPr marL="91449" marR="914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lumMod val="85000"/>
                      </a:schemeClr>
                    </a:solid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400">
                          <a:solidFill>
                            <a:schemeClr val="tx1"/>
                          </a:solidFill>
                          <a:latin typeface="Arial" panose="020B0604020202020204" pitchFamily="34" charset="0"/>
                        </a:defRPr>
                      </a:lvl3pPr>
                      <a:lvl4pPr>
                        <a:spcBef>
                          <a:spcPct val="20000"/>
                        </a:spcBef>
                        <a:defRPr sz="12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8000"/>
                          </a:solidFill>
                          <a:effectLst/>
                          <a:latin typeface="Garamond" panose="02020404030301010803" pitchFamily="18" charset="0"/>
                          <a:cs typeface="Times New Roman" panose="02020603050405020304" pitchFamily="18" charset="0"/>
                        </a:rPr>
                        <a:t>OpenGIS Grid Coverages Specification</a:t>
                      </a:r>
                      <a:endParaRPr kumimoji="0" lang="en-US" altLang="en-US" sz="2000" b="0" i="0" u="none" strike="noStrike" cap="none" normalizeH="0" baseline="0" dirty="0" smtClean="0">
                        <a:ln>
                          <a:noFill/>
                        </a:ln>
                        <a:solidFill>
                          <a:srgbClr val="008000"/>
                        </a:solidFill>
                        <a:effectLst/>
                        <a:latin typeface="Garamond" panose="02020404030301010803" pitchFamily="18" charset="0"/>
                      </a:endParaRPr>
                    </a:p>
                  </a:txBody>
                  <a:tcPr marL="91449" marR="914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lumMod val="85000"/>
                      </a:schemeClr>
                    </a:solidFill>
                  </a:tcPr>
                </a:tc>
              </a:tr>
              <a:tr h="501825">
                <a:tc vMerge="1">
                  <a:txBody>
                    <a:bodyPr/>
                    <a:lstStyle/>
                    <a:p>
                      <a:endParaRPr lang="en-US"/>
                    </a:p>
                  </a:txBody>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400">
                          <a:solidFill>
                            <a:schemeClr val="tx1"/>
                          </a:solidFill>
                          <a:latin typeface="Arial" panose="020B0604020202020204" pitchFamily="34" charset="0"/>
                        </a:defRPr>
                      </a:lvl3pPr>
                      <a:lvl4pPr>
                        <a:spcBef>
                          <a:spcPct val="20000"/>
                        </a:spcBef>
                        <a:defRPr sz="12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8000"/>
                          </a:solidFill>
                          <a:effectLst/>
                          <a:latin typeface="Garamond" panose="02020404030301010803" pitchFamily="18" charset="0"/>
                          <a:cs typeface="Times New Roman" panose="02020603050405020304" pitchFamily="18" charset="0"/>
                        </a:rPr>
                        <a:t>OpenGIS Catalog Service Interface Specification</a:t>
                      </a:r>
                      <a:endParaRPr kumimoji="0" lang="en-US" altLang="en-US" sz="2000" b="0" i="0" u="none" strike="noStrike" cap="none" normalizeH="0" baseline="0" dirty="0" smtClean="0">
                        <a:ln>
                          <a:noFill/>
                        </a:ln>
                        <a:solidFill>
                          <a:srgbClr val="008000"/>
                        </a:solidFill>
                        <a:effectLst/>
                        <a:latin typeface="Garamond" panose="02020404030301010803" pitchFamily="18" charset="0"/>
                      </a:endParaRPr>
                    </a:p>
                  </a:txBody>
                  <a:tcPr marL="91449" marR="914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lumMod val="85000"/>
                      </a:schemeClr>
                    </a:solidFill>
                  </a:tcPr>
                </a:tc>
              </a:tr>
              <a:tr h="501825">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400">
                          <a:solidFill>
                            <a:schemeClr val="tx1"/>
                          </a:solidFill>
                          <a:latin typeface="Arial" panose="020B0604020202020204" pitchFamily="34" charset="0"/>
                        </a:defRPr>
                      </a:lvl3pPr>
                      <a:lvl4pPr>
                        <a:spcBef>
                          <a:spcPct val="20000"/>
                        </a:spcBef>
                        <a:defRPr sz="12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rgbClr val="008000"/>
                          </a:solidFill>
                          <a:effectLst/>
                          <a:latin typeface="Garamond" panose="02020404030301010803" pitchFamily="18" charset="0"/>
                          <a:cs typeface="Times New Roman" panose="02020603050405020304" pitchFamily="18" charset="0"/>
                        </a:rPr>
                        <a:t>1997</a:t>
                      </a:r>
                      <a:endParaRPr kumimoji="0" lang="en-US" altLang="en-US" sz="2000" b="1" i="0" u="none" strike="noStrike" cap="none" normalizeH="0" baseline="0" dirty="0" smtClean="0">
                        <a:ln>
                          <a:noFill/>
                        </a:ln>
                        <a:solidFill>
                          <a:srgbClr val="008000"/>
                        </a:solidFill>
                        <a:effectLst/>
                        <a:latin typeface="Garamond" panose="02020404030301010803" pitchFamily="18" charset="0"/>
                      </a:endParaRPr>
                    </a:p>
                  </a:txBody>
                  <a:tcPr marL="91449" marR="914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lumMod val="85000"/>
                      </a:schemeClr>
                    </a:solid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400">
                          <a:solidFill>
                            <a:schemeClr val="tx1"/>
                          </a:solidFill>
                          <a:latin typeface="Arial" panose="020B0604020202020204" pitchFamily="34" charset="0"/>
                        </a:defRPr>
                      </a:lvl3pPr>
                      <a:lvl4pPr>
                        <a:spcBef>
                          <a:spcPct val="20000"/>
                        </a:spcBef>
                        <a:defRPr sz="12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8000"/>
                          </a:solidFill>
                          <a:effectLst/>
                          <a:latin typeface="Garamond" panose="02020404030301010803" pitchFamily="18" charset="0"/>
                          <a:cs typeface="Times New Roman" panose="02020603050405020304" pitchFamily="18" charset="0"/>
                        </a:rPr>
                        <a:t>OpenGIS Simple Features Specification</a:t>
                      </a:r>
                      <a:endParaRPr kumimoji="0" lang="en-US" altLang="en-US" sz="2000" b="0" i="0" u="none" strike="noStrike" cap="none" normalizeH="0" baseline="0" dirty="0" smtClean="0">
                        <a:ln>
                          <a:noFill/>
                        </a:ln>
                        <a:solidFill>
                          <a:srgbClr val="008000"/>
                        </a:solidFill>
                        <a:effectLst/>
                        <a:latin typeface="Garamond" panose="02020404030301010803" pitchFamily="18" charset="0"/>
                      </a:endParaRPr>
                    </a:p>
                  </a:txBody>
                  <a:tcPr marL="91449" marR="914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lumMod val="85000"/>
                      </a:schemeClr>
                    </a:solidFill>
                  </a:tcPr>
                </a:tc>
              </a:tr>
            </a:tbl>
          </a:graphicData>
        </a:graphic>
      </p:graphicFrame>
    </p:spTree>
  </p:cSld>
  <p:clrMapOvr>
    <a:masterClrMapping/>
  </p:clrMapOvr>
  <p:transition spd="med" advTm="0">
    <p:wipe dir="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a:xfrm>
            <a:off x="1524000" y="7938"/>
            <a:ext cx="9144000" cy="1117600"/>
          </a:xfrm>
        </p:spPr>
        <p:txBody>
          <a:bodyPr/>
          <a:lstStyle/>
          <a:p>
            <a:pPr>
              <a:defRPr/>
            </a:pPr>
            <a:r>
              <a:rPr lang="en-US" altLang="en-US" dirty="0">
                <a:cs typeface="Tahoma" panose="020B0604030504040204" pitchFamily="34" charset="0"/>
              </a:rPr>
              <a:t>OGC Standard</a:t>
            </a:r>
          </a:p>
        </p:txBody>
      </p:sp>
      <p:sp>
        <p:nvSpPr>
          <p:cNvPr id="146435" name="Rectangle 3"/>
          <p:cNvSpPr>
            <a:spLocks noGrp="1" noChangeArrowheads="1"/>
          </p:cNvSpPr>
          <p:nvPr>
            <p:ph type="body" idx="1"/>
          </p:nvPr>
        </p:nvSpPr>
        <p:spPr>
          <a:xfrm>
            <a:off x="1703389" y="1125538"/>
            <a:ext cx="8785225" cy="5351462"/>
          </a:xfrm>
        </p:spPr>
        <p:txBody>
          <a:bodyPr/>
          <a:lstStyle/>
          <a:p>
            <a:pPr>
              <a:spcBef>
                <a:spcPts val="0"/>
              </a:spcBef>
              <a:spcAft>
                <a:spcPts val="1800"/>
              </a:spcAft>
              <a:defRPr/>
            </a:pPr>
            <a:r>
              <a:rPr lang="en-US" altLang="en-US" dirty="0">
                <a:latin typeface="+mj-lt"/>
              </a:rPr>
              <a:t>Most of the OGC standards are based on a generalized architecture captured in a set of documents collectively called the Abstract Specification.</a:t>
            </a:r>
          </a:p>
          <a:p>
            <a:pPr>
              <a:spcBef>
                <a:spcPts val="0"/>
              </a:spcBef>
              <a:spcAft>
                <a:spcPts val="1800"/>
              </a:spcAft>
              <a:defRPr/>
            </a:pPr>
            <a:r>
              <a:rPr lang="en-US" altLang="en-US" dirty="0">
                <a:latin typeface="+mj-lt"/>
              </a:rPr>
              <a:t>It describes a basic data model for geographic features to be represented.</a:t>
            </a:r>
          </a:p>
          <a:p>
            <a:pPr>
              <a:spcBef>
                <a:spcPts val="0"/>
              </a:spcBef>
              <a:spcAft>
                <a:spcPts val="1800"/>
              </a:spcAft>
              <a:defRPr/>
            </a:pPr>
            <a:r>
              <a:rPr lang="en-US" altLang="en-US" dirty="0">
                <a:latin typeface="+mj-lt"/>
              </a:rPr>
              <a:t>The are currently 28 standards in the OGC standards baseline.</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6435">
                                            <p:txEl>
                                              <p:pRg st="0" end="0"/>
                                            </p:txEl>
                                          </p:spTgt>
                                        </p:tgtEl>
                                        <p:attrNameLst>
                                          <p:attrName>style.visibility</p:attrName>
                                        </p:attrNameLst>
                                      </p:cBhvr>
                                      <p:to>
                                        <p:strVal val="visible"/>
                                      </p:to>
                                    </p:set>
                                    <p:animEffect transition="in" filter="fade">
                                      <p:cBhvr>
                                        <p:cTn id="7" dur="500"/>
                                        <p:tgtEl>
                                          <p:spTgt spid="1464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6435">
                                            <p:txEl>
                                              <p:pRg st="1" end="1"/>
                                            </p:txEl>
                                          </p:spTgt>
                                        </p:tgtEl>
                                        <p:attrNameLst>
                                          <p:attrName>style.visibility</p:attrName>
                                        </p:attrNameLst>
                                      </p:cBhvr>
                                      <p:to>
                                        <p:strVal val="visible"/>
                                      </p:to>
                                    </p:set>
                                    <p:animEffect transition="in" filter="fade">
                                      <p:cBhvr>
                                        <p:cTn id="12" dur="500"/>
                                        <p:tgtEl>
                                          <p:spTgt spid="1464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6435">
                                            <p:txEl>
                                              <p:pRg st="2" end="2"/>
                                            </p:txEl>
                                          </p:spTgt>
                                        </p:tgtEl>
                                        <p:attrNameLst>
                                          <p:attrName>style.visibility</p:attrName>
                                        </p:attrNameLst>
                                      </p:cBhvr>
                                      <p:to>
                                        <p:strVal val="visible"/>
                                      </p:to>
                                    </p:set>
                                    <p:animEffect transition="in" filter="fade">
                                      <p:cBhvr>
                                        <p:cTn id="17" dur="500"/>
                                        <p:tgtEl>
                                          <p:spTgt spid="1464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a:xfrm>
            <a:off x="1524000" y="-4763"/>
            <a:ext cx="9144000" cy="877888"/>
          </a:xfrm>
        </p:spPr>
        <p:txBody>
          <a:bodyPr/>
          <a:lstStyle/>
          <a:p>
            <a:pPr>
              <a:defRPr/>
            </a:pPr>
            <a:r>
              <a:rPr lang="en-US" altLang="en-US" dirty="0">
                <a:cs typeface="Tahoma" panose="020B0604030504040204" pitchFamily="34" charset="0"/>
              </a:rPr>
              <a:t>Cont. OGC Standard</a:t>
            </a:r>
          </a:p>
        </p:txBody>
      </p:sp>
      <p:sp>
        <p:nvSpPr>
          <p:cNvPr id="145411" name="Rectangle 3"/>
          <p:cNvSpPr>
            <a:spLocks noGrp="1" noChangeArrowheads="1"/>
          </p:cNvSpPr>
          <p:nvPr>
            <p:ph type="body" idx="1"/>
          </p:nvPr>
        </p:nvSpPr>
        <p:spPr>
          <a:xfrm>
            <a:off x="1524000" y="873126"/>
            <a:ext cx="9036050" cy="5795963"/>
          </a:xfrm>
        </p:spPr>
        <p:txBody>
          <a:bodyPr/>
          <a:lstStyle/>
          <a:p>
            <a:pPr marL="457200" lvl="1">
              <a:defRPr/>
            </a:pPr>
            <a:r>
              <a:rPr lang="en-US" altLang="en-US" sz="2000" dirty="0">
                <a:latin typeface="+mj-lt"/>
              </a:rPr>
              <a:t>OGC Reference Model - a complete set of reference models.</a:t>
            </a:r>
          </a:p>
          <a:p>
            <a:pPr marL="457200" lvl="1">
              <a:defRPr/>
            </a:pPr>
            <a:r>
              <a:rPr lang="en-US" altLang="en-US" sz="2000" dirty="0">
                <a:latin typeface="+mj-lt"/>
              </a:rPr>
              <a:t>WMS - Web Map Service: Provides map images. </a:t>
            </a:r>
          </a:p>
          <a:p>
            <a:pPr marL="457200" lvl="1">
              <a:defRPr/>
            </a:pPr>
            <a:r>
              <a:rPr lang="en-US" altLang="en-US" sz="2000" dirty="0">
                <a:latin typeface="+mj-lt"/>
              </a:rPr>
              <a:t>WFS - Web Feature Service: For retrieving or altering feature descriptions. </a:t>
            </a:r>
          </a:p>
          <a:p>
            <a:pPr marL="457200" lvl="1">
              <a:defRPr/>
            </a:pPr>
            <a:r>
              <a:rPr lang="en-US" altLang="en-US" sz="2000" dirty="0">
                <a:latin typeface="+mj-lt"/>
              </a:rPr>
              <a:t>WCS - Web Coverage Service: Provide coverage objects from a specified region. </a:t>
            </a:r>
          </a:p>
          <a:p>
            <a:pPr marL="457200" lvl="1">
              <a:defRPr/>
            </a:pPr>
            <a:r>
              <a:rPr lang="en-US" altLang="en-US" sz="2000" dirty="0">
                <a:latin typeface="+mj-lt"/>
              </a:rPr>
              <a:t>WPS - Web Processing Service: Remote processing service.</a:t>
            </a:r>
          </a:p>
          <a:p>
            <a:pPr marL="457200" lvl="1">
              <a:defRPr/>
            </a:pPr>
            <a:r>
              <a:rPr lang="en-US" altLang="en-US" sz="2000" dirty="0">
                <a:latin typeface="+mj-lt"/>
              </a:rPr>
              <a:t>CSW - Web Catalog Service: Access to catalog information. </a:t>
            </a:r>
          </a:p>
          <a:p>
            <a:pPr marL="457200" lvl="1">
              <a:defRPr/>
            </a:pPr>
            <a:r>
              <a:rPr lang="en-US" altLang="en-US" sz="2000" dirty="0">
                <a:latin typeface="+mj-lt"/>
              </a:rPr>
              <a:t>SFS - Simple Features - SQL </a:t>
            </a:r>
          </a:p>
          <a:p>
            <a:pPr marL="457200" lvl="1">
              <a:defRPr/>
            </a:pPr>
            <a:r>
              <a:rPr lang="en-US" altLang="en-US" sz="2000" dirty="0">
                <a:latin typeface="+mj-lt"/>
              </a:rPr>
              <a:t>GML - Geography Markup Language: XML format for geographical information. </a:t>
            </a:r>
          </a:p>
          <a:p>
            <a:pPr marL="457200" lvl="1">
              <a:defRPr/>
            </a:pPr>
            <a:r>
              <a:rPr lang="en-US" altLang="en-US" sz="2000" dirty="0">
                <a:latin typeface="+mj-lt"/>
              </a:rPr>
              <a:t>KML - Keyhole Markup Language: XML-based language schema for expressing geographic annotation and visualization on existing or future Web-based, two-dimensional maps and three-dimensional Earth browsers. </a:t>
            </a:r>
          </a:p>
          <a:p>
            <a:pPr marL="457200" lvl="1">
              <a:defRPr/>
            </a:pPr>
            <a:r>
              <a:rPr lang="en-US" altLang="en-US" sz="2000" dirty="0">
                <a:latin typeface="+mj-lt"/>
              </a:rPr>
              <a:t>OWS - OGC Web Service Common</a:t>
            </a:r>
            <a:r>
              <a:rPr lang="en-US" altLang="en-US" sz="1900" dirty="0">
                <a:latin typeface="+mj-lt"/>
              </a:rPr>
              <a:t> </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5411">
                                            <p:txEl>
                                              <p:pRg st="0" end="0"/>
                                            </p:txEl>
                                          </p:spTgt>
                                        </p:tgtEl>
                                        <p:attrNameLst>
                                          <p:attrName>style.visibility</p:attrName>
                                        </p:attrNameLst>
                                      </p:cBhvr>
                                      <p:to>
                                        <p:strVal val="visible"/>
                                      </p:to>
                                    </p:set>
                                    <p:animEffect transition="in" filter="fade">
                                      <p:cBhvr>
                                        <p:cTn id="7" dur="500"/>
                                        <p:tgtEl>
                                          <p:spTgt spid="145411">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5411">
                                            <p:txEl>
                                              <p:pRg st="1" end="1"/>
                                            </p:txEl>
                                          </p:spTgt>
                                        </p:tgtEl>
                                        <p:attrNameLst>
                                          <p:attrName>style.visibility</p:attrName>
                                        </p:attrNameLst>
                                      </p:cBhvr>
                                      <p:to>
                                        <p:strVal val="visible"/>
                                      </p:to>
                                    </p:set>
                                    <p:animEffect transition="in" filter="fade">
                                      <p:cBhvr>
                                        <p:cTn id="10" dur="500"/>
                                        <p:tgtEl>
                                          <p:spTgt spid="145411">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5411">
                                            <p:txEl>
                                              <p:pRg st="2" end="2"/>
                                            </p:txEl>
                                          </p:spTgt>
                                        </p:tgtEl>
                                        <p:attrNameLst>
                                          <p:attrName>style.visibility</p:attrName>
                                        </p:attrNameLst>
                                      </p:cBhvr>
                                      <p:to>
                                        <p:strVal val="visible"/>
                                      </p:to>
                                    </p:set>
                                    <p:animEffect transition="in" filter="fade">
                                      <p:cBhvr>
                                        <p:cTn id="13" dur="500"/>
                                        <p:tgtEl>
                                          <p:spTgt spid="145411">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5411">
                                            <p:txEl>
                                              <p:pRg st="3" end="3"/>
                                            </p:txEl>
                                          </p:spTgt>
                                        </p:tgtEl>
                                        <p:attrNameLst>
                                          <p:attrName>style.visibility</p:attrName>
                                        </p:attrNameLst>
                                      </p:cBhvr>
                                      <p:to>
                                        <p:strVal val="visible"/>
                                      </p:to>
                                    </p:set>
                                    <p:animEffect transition="in" filter="fade">
                                      <p:cBhvr>
                                        <p:cTn id="16" dur="500"/>
                                        <p:tgtEl>
                                          <p:spTgt spid="145411">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5411">
                                            <p:txEl>
                                              <p:pRg st="4" end="4"/>
                                            </p:txEl>
                                          </p:spTgt>
                                        </p:tgtEl>
                                        <p:attrNameLst>
                                          <p:attrName>style.visibility</p:attrName>
                                        </p:attrNameLst>
                                      </p:cBhvr>
                                      <p:to>
                                        <p:strVal val="visible"/>
                                      </p:to>
                                    </p:set>
                                    <p:animEffect transition="in" filter="fade">
                                      <p:cBhvr>
                                        <p:cTn id="19" dur="500"/>
                                        <p:tgtEl>
                                          <p:spTgt spid="145411">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5411">
                                            <p:txEl>
                                              <p:pRg st="5" end="5"/>
                                            </p:txEl>
                                          </p:spTgt>
                                        </p:tgtEl>
                                        <p:attrNameLst>
                                          <p:attrName>style.visibility</p:attrName>
                                        </p:attrNameLst>
                                      </p:cBhvr>
                                      <p:to>
                                        <p:strVal val="visible"/>
                                      </p:to>
                                    </p:set>
                                    <p:animEffect transition="in" filter="fade">
                                      <p:cBhvr>
                                        <p:cTn id="22" dur="500"/>
                                        <p:tgtEl>
                                          <p:spTgt spid="145411">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5411">
                                            <p:txEl>
                                              <p:pRg st="6" end="6"/>
                                            </p:txEl>
                                          </p:spTgt>
                                        </p:tgtEl>
                                        <p:attrNameLst>
                                          <p:attrName>style.visibility</p:attrName>
                                        </p:attrNameLst>
                                      </p:cBhvr>
                                      <p:to>
                                        <p:strVal val="visible"/>
                                      </p:to>
                                    </p:set>
                                    <p:animEffect transition="in" filter="fade">
                                      <p:cBhvr>
                                        <p:cTn id="25" dur="500"/>
                                        <p:tgtEl>
                                          <p:spTgt spid="145411">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5411">
                                            <p:txEl>
                                              <p:pRg st="7" end="7"/>
                                            </p:txEl>
                                          </p:spTgt>
                                        </p:tgtEl>
                                        <p:attrNameLst>
                                          <p:attrName>style.visibility</p:attrName>
                                        </p:attrNameLst>
                                      </p:cBhvr>
                                      <p:to>
                                        <p:strVal val="visible"/>
                                      </p:to>
                                    </p:set>
                                    <p:animEffect transition="in" filter="fade">
                                      <p:cBhvr>
                                        <p:cTn id="28" dur="500"/>
                                        <p:tgtEl>
                                          <p:spTgt spid="145411">
                                            <p:txEl>
                                              <p:pRg st="7" end="7"/>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5411">
                                            <p:txEl>
                                              <p:pRg st="8" end="8"/>
                                            </p:txEl>
                                          </p:spTgt>
                                        </p:tgtEl>
                                        <p:attrNameLst>
                                          <p:attrName>style.visibility</p:attrName>
                                        </p:attrNameLst>
                                      </p:cBhvr>
                                      <p:to>
                                        <p:strVal val="visible"/>
                                      </p:to>
                                    </p:set>
                                    <p:animEffect transition="in" filter="fade">
                                      <p:cBhvr>
                                        <p:cTn id="31" dur="500"/>
                                        <p:tgtEl>
                                          <p:spTgt spid="145411">
                                            <p:txEl>
                                              <p:pRg st="8" end="8"/>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5411">
                                            <p:txEl>
                                              <p:pRg st="9" end="9"/>
                                            </p:txEl>
                                          </p:spTgt>
                                        </p:tgtEl>
                                        <p:attrNameLst>
                                          <p:attrName>style.visibility</p:attrName>
                                        </p:attrNameLst>
                                      </p:cBhvr>
                                      <p:to>
                                        <p:strVal val="visible"/>
                                      </p:to>
                                    </p:set>
                                    <p:animEffect transition="in" filter="fade">
                                      <p:cBhvr>
                                        <p:cTn id="34" dur="500"/>
                                        <p:tgtEl>
                                          <p:spTgt spid="14541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5920" y="127795"/>
            <a:ext cx="5118100" cy="6562725"/>
          </a:xfrm>
          <a:prstGeom prst="rect">
            <a:avLst/>
          </a:prstGeom>
          <a:noFill/>
          <a:ln>
            <a:noFill/>
          </a:ln>
          <a:effectLst/>
          <a:scene3d>
            <a:camera prst="orthographicFront"/>
            <a:lightRig rig="threePt" dir="t"/>
          </a:scene3d>
          <a:sp3d extrusionH="12700" contourW="69850">
            <a:bevelB w="25400"/>
          </a:sp3d>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723" name="Text Box 6"/>
          <p:cNvSpPr txBox="1">
            <a:spLocks noChangeArrowheads="1"/>
          </p:cNvSpPr>
          <p:nvPr/>
        </p:nvSpPr>
        <p:spPr bwMode="auto">
          <a:xfrm>
            <a:off x="1752600" y="2590800"/>
            <a:ext cx="3733800" cy="151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50000"/>
              </a:spcBef>
              <a:buClrTx/>
              <a:buFontTx/>
              <a:buNone/>
            </a:pPr>
            <a:r>
              <a:rPr lang="en-US" altLang="en-US" sz="3600" b="0"/>
              <a:t>The Stack</a:t>
            </a:r>
          </a:p>
          <a:p>
            <a:pPr>
              <a:spcBef>
                <a:spcPct val="50000"/>
              </a:spcBef>
              <a:buClrTx/>
              <a:buFontTx/>
              <a:buNone/>
            </a:pPr>
            <a:endParaRPr lang="en-US" altLang="en-US" sz="1800" b="0"/>
          </a:p>
          <a:p>
            <a:pPr>
              <a:spcBef>
                <a:spcPct val="50000"/>
              </a:spcBef>
              <a:buClrTx/>
              <a:buFontTx/>
              <a:buNone/>
            </a:pPr>
            <a:r>
              <a:rPr lang="en-US" altLang="en-US" sz="2000" b="0"/>
              <a:t>..in another form..</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723"/>
                                        </p:tgtEl>
                                        <p:attrNameLst>
                                          <p:attrName>style.visibility</p:attrName>
                                        </p:attrNameLst>
                                      </p:cBhvr>
                                      <p:to>
                                        <p:strVal val="visible"/>
                                      </p:to>
                                    </p:set>
                                    <p:animEffect transition="in" filter="fade">
                                      <p:cBhvr>
                                        <p:cTn id="7" dur="500"/>
                                        <p:tgtEl>
                                          <p:spTgt spid="307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8436"/>
                                        </p:tgtEl>
                                        <p:attrNameLst>
                                          <p:attrName>style.visibility</p:attrName>
                                        </p:attrNameLst>
                                      </p:cBhvr>
                                      <p:to>
                                        <p:strVal val="visible"/>
                                      </p:to>
                                    </p:set>
                                    <p:animEffect transition="in" filter="fade">
                                      <p:cBhvr>
                                        <p:cTn id="12" dur="500"/>
                                        <p:tgtEl>
                                          <p:spTgt spid="18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a:xfrm>
            <a:off x="1524000" y="7939"/>
            <a:ext cx="9144000" cy="877887"/>
          </a:xfrm>
        </p:spPr>
        <p:txBody>
          <a:bodyPr/>
          <a:lstStyle/>
          <a:p>
            <a:pPr>
              <a:defRPr/>
            </a:pPr>
            <a:r>
              <a:rPr lang="en-US" altLang="en-US" dirty="0">
                <a:cs typeface="Tahoma" panose="020B0604030504040204" pitchFamily="34" charset="0"/>
              </a:rPr>
              <a:t>Who benefits from Open GIS</a:t>
            </a:r>
          </a:p>
        </p:txBody>
      </p:sp>
      <p:sp>
        <p:nvSpPr>
          <p:cNvPr id="152579" name="Rectangle 3"/>
          <p:cNvSpPr>
            <a:spLocks noGrp="1" noChangeArrowheads="1"/>
          </p:cNvSpPr>
          <p:nvPr>
            <p:ph type="body" idx="1"/>
          </p:nvPr>
        </p:nvSpPr>
        <p:spPr>
          <a:xfrm>
            <a:off x="1847850" y="885826"/>
            <a:ext cx="8496300" cy="5667375"/>
          </a:xfrm>
        </p:spPr>
        <p:txBody>
          <a:bodyPr/>
          <a:lstStyle/>
          <a:p>
            <a:pPr marL="271463" indent="-271463">
              <a:defRPr/>
            </a:pPr>
            <a:r>
              <a:rPr lang="en-US" altLang="en-US" dirty="0">
                <a:latin typeface="+mj-lt"/>
              </a:rPr>
              <a:t>The establishment of standards for an Open GIS system will benefit all users of georeferenced data. </a:t>
            </a:r>
          </a:p>
          <a:p>
            <a:pPr marL="0" indent="0">
              <a:buNone/>
              <a:defRPr/>
            </a:pPr>
            <a:endParaRPr lang="en-US" altLang="en-US" dirty="0">
              <a:latin typeface="+mj-lt"/>
            </a:endParaRPr>
          </a:p>
          <a:p>
            <a:pPr marL="271463" indent="-271463">
              <a:defRPr/>
            </a:pPr>
            <a:r>
              <a:rPr lang="en-US" altLang="en-US" dirty="0">
                <a:latin typeface="+mj-lt"/>
              </a:rPr>
              <a:t>Standardization of data structures and processes will help to optimize data exchange between agencies as well as increase the accessibility of GIS to mainstream users.</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2579">
                                            <p:txEl>
                                              <p:pRg st="0" end="0"/>
                                            </p:txEl>
                                          </p:spTgt>
                                        </p:tgtEl>
                                        <p:attrNameLst>
                                          <p:attrName>style.visibility</p:attrName>
                                        </p:attrNameLst>
                                      </p:cBhvr>
                                      <p:to>
                                        <p:strVal val="visible"/>
                                      </p:to>
                                    </p:set>
                                    <p:animEffect transition="in" filter="fade">
                                      <p:cBhvr>
                                        <p:cTn id="7" dur="500"/>
                                        <p:tgtEl>
                                          <p:spTgt spid="1525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2579">
                                            <p:txEl>
                                              <p:pRg st="2" end="2"/>
                                            </p:txEl>
                                          </p:spTgt>
                                        </p:tgtEl>
                                        <p:attrNameLst>
                                          <p:attrName>style.visibility</p:attrName>
                                        </p:attrNameLst>
                                      </p:cBhvr>
                                      <p:to>
                                        <p:strVal val="visible"/>
                                      </p:to>
                                    </p:set>
                                    <p:animEffect transition="in" filter="fade">
                                      <p:cBhvr>
                                        <p:cTn id="12" dur="500"/>
                                        <p:tgtEl>
                                          <p:spTgt spid="1525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a:xfrm>
            <a:off x="1981200" y="2398714"/>
            <a:ext cx="8229600" cy="1139825"/>
          </a:xfrm>
        </p:spPr>
        <p:txBody>
          <a:bodyPr/>
          <a:lstStyle/>
          <a:p>
            <a:pPr>
              <a:lnSpc>
                <a:spcPct val="150000"/>
              </a:lnSpc>
              <a:spcBef>
                <a:spcPts val="0"/>
              </a:spcBef>
              <a:spcAft>
                <a:spcPts val="1200"/>
              </a:spcAft>
              <a:defRPr/>
            </a:pPr>
            <a:r>
              <a:rPr lang="en-US" dirty="0" smtClean="0"/>
              <a:t>What is Web GIS?</a:t>
            </a:r>
            <a:endParaRPr lang="en-US" dirty="0"/>
          </a:p>
        </p:txBody>
      </p:sp>
      <p:sp>
        <p:nvSpPr>
          <p:cNvPr id="4" name="Номер слайда 3"/>
          <p:cNvSpPr>
            <a:spLocks noGrp="1"/>
          </p:cNvSpPr>
          <p:nvPr>
            <p:ph type="sldNum" sz="quarter" idx="10"/>
          </p:nvPr>
        </p:nvSpPr>
        <p:spPr/>
        <p:txBody>
          <a:bodyPr/>
          <a:lstStyle/>
          <a:p>
            <a:pPr>
              <a:defRPr/>
            </a:pPr>
            <a:r>
              <a:rPr lang="en-US" smtClean="0"/>
              <a:t>1</a:t>
            </a:r>
            <a:endParaRPr lang="en-US"/>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fade">
                                      <p:cBhvr>
                                        <p:cTn id="7" dur="500"/>
                                        <p:tgtEl>
                                          <p:spTgt spid="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a:defRPr/>
            </a:pPr>
            <a:r>
              <a:rPr lang="en-US" altLang="en-US"/>
              <a:t/>
            </a:r>
            <a:br>
              <a:rPr lang="en-US" altLang="en-US"/>
            </a:br>
            <a:endParaRPr lang="en-US" altLang="en-US"/>
          </a:p>
        </p:txBody>
      </p:sp>
      <p:sp>
        <p:nvSpPr>
          <p:cNvPr id="35843" name="Rectangle 3"/>
          <p:cNvSpPr>
            <a:spLocks noGrp="1" noChangeArrowheads="1"/>
          </p:cNvSpPr>
          <p:nvPr>
            <p:ph type="body" idx="1"/>
          </p:nvPr>
        </p:nvSpPr>
        <p:spPr>
          <a:xfrm>
            <a:off x="1631951" y="885826"/>
            <a:ext cx="8905875" cy="4113213"/>
          </a:xfrm>
        </p:spPr>
        <p:txBody>
          <a:bodyPr/>
          <a:lstStyle/>
          <a:p>
            <a:pPr>
              <a:defRPr/>
            </a:pPr>
            <a:r>
              <a:rPr lang="en-US" altLang="en-US" dirty="0"/>
              <a:t> What is web GIS?</a:t>
            </a:r>
          </a:p>
          <a:p>
            <a:pPr marL="822960">
              <a:buFont typeface="Wingdings" panose="05000000000000000000" pitchFamily="2" charset="2"/>
              <a:buChar char="ü"/>
              <a:defRPr/>
            </a:pPr>
            <a:r>
              <a:rPr lang="en-US" altLang="en-US" sz="2400" dirty="0"/>
              <a:t>Basic GIS functions with Internet technology</a:t>
            </a:r>
          </a:p>
          <a:p>
            <a:pPr marL="822960">
              <a:buFont typeface="Wingdings" panose="05000000000000000000" pitchFamily="2" charset="2"/>
              <a:buChar char="ü"/>
              <a:defRPr/>
            </a:pPr>
            <a:r>
              <a:rPr lang="en-US" altLang="en-US" sz="2400" dirty="0"/>
              <a:t>Accessible via the Web</a:t>
            </a:r>
          </a:p>
          <a:p>
            <a:pPr marL="822960">
              <a:buFont typeface="Wingdings" panose="05000000000000000000" pitchFamily="2" charset="2"/>
              <a:buChar char="ü"/>
              <a:defRPr/>
            </a:pPr>
            <a:r>
              <a:rPr lang="en-US" altLang="en-US" sz="2400" dirty="0"/>
              <a:t>Less complex interface</a:t>
            </a:r>
          </a:p>
          <a:p>
            <a:pPr>
              <a:defRPr/>
            </a:pPr>
            <a:r>
              <a:rPr lang="en-US" altLang="en-US" dirty="0"/>
              <a:t> Easier to use as tool</a:t>
            </a:r>
          </a:p>
        </p:txBody>
      </p:sp>
      <p:pic>
        <p:nvPicPr>
          <p:cNvPr id="35844" name="Picture 4"/>
          <p:cNvPicPr>
            <a:picLocks noChangeAspect="1" noChangeArrowheads="1"/>
          </p:cNvPicPr>
          <p:nvPr/>
        </p:nvPicPr>
        <p:blipFill>
          <a:blip r:embed="rId3">
            <a:extLst>
              <a:ext uri="{28A0092B-C50C-407E-A947-70E740481C1C}">
                <a14:useLocalDpi xmlns:a14="http://schemas.microsoft.com/office/drawing/2010/main" val="0"/>
              </a:ext>
            </a:extLst>
          </a:blip>
          <a:srcRect b="3751"/>
          <a:stretch>
            <a:fillRect/>
          </a:stretch>
        </p:blipFill>
        <p:spPr bwMode="auto">
          <a:xfrm>
            <a:off x="6203951" y="2536825"/>
            <a:ext cx="4441825" cy="429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2"/>
          <p:cNvSpPr txBox="1">
            <a:spLocks noChangeArrowheads="1"/>
          </p:cNvSpPr>
          <p:nvPr/>
        </p:nvSpPr>
        <p:spPr bwMode="auto">
          <a:xfrm>
            <a:off x="1524000" y="7939"/>
            <a:ext cx="9144000" cy="877887"/>
          </a:xfrm>
          <a:prstGeom prst="rect">
            <a:avLst/>
          </a:prstGeom>
          <a:noFill/>
          <a:ln w="9525">
            <a:noFill/>
            <a:miter lim="800000"/>
            <a:headEnd/>
            <a:tailEnd/>
          </a:ln>
          <a:effectLst/>
        </p:spPr>
        <p:txBody>
          <a:bodyPr anchor="ctr" anchorCtr="1"/>
          <a:lstStyle>
            <a:lvl1pPr algn="ctr" rtl="0" eaLnBrk="0" fontAlgn="base" hangingPunct="0">
              <a:spcBef>
                <a:spcPct val="0"/>
              </a:spcBef>
              <a:spcAft>
                <a:spcPct val="0"/>
              </a:spcAft>
              <a:defRPr sz="3600" b="1">
                <a:solidFill>
                  <a:srgbClr val="FFFF66"/>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3600" b="1">
                <a:solidFill>
                  <a:srgbClr val="FFFF66"/>
                </a:solidFill>
                <a:effectLst>
                  <a:outerShdw blurRad="38100" dist="38100" dir="2700000" algn="tl">
                    <a:srgbClr val="000000"/>
                  </a:outerShdw>
                </a:effectLst>
                <a:latin typeface="Verdana" pitchFamily="34" charset="0"/>
                <a:cs typeface="Arial" charset="0"/>
              </a:defRPr>
            </a:lvl2pPr>
            <a:lvl3pPr algn="ctr" rtl="0" eaLnBrk="0" fontAlgn="base" hangingPunct="0">
              <a:spcBef>
                <a:spcPct val="0"/>
              </a:spcBef>
              <a:spcAft>
                <a:spcPct val="0"/>
              </a:spcAft>
              <a:defRPr sz="3600" b="1">
                <a:solidFill>
                  <a:srgbClr val="FFFF66"/>
                </a:solidFill>
                <a:effectLst>
                  <a:outerShdw blurRad="38100" dist="38100" dir="2700000" algn="tl">
                    <a:srgbClr val="000000"/>
                  </a:outerShdw>
                </a:effectLst>
                <a:latin typeface="Verdana" pitchFamily="34" charset="0"/>
                <a:cs typeface="Arial" charset="0"/>
              </a:defRPr>
            </a:lvl3pPr>
            <a:lvl4pPr algn="ctr" rtl="0" eaLnBrk="0" fontAlgn="base" hangingPunct="0">
              <a:spcBef>
                <a:spcPct val="0"/>
              </a:spcBef>
              <a:spcAft>
                <a:spcPct val="0"/>
              </a:spcAft>
              <a:defRPr sz="3600" b="1">
                <a:solidFill>
                  <a:srgbClr val="FFFF66"/>
                </a:solidFill>
                <a:effectLst>
                  <a:outerShdw blurRad="38100" dist="38100" dir="2700000" algn="tl">
                    <a:srgbClr val="000000"/>
                  </a:outerShdw>
                </a:effectLst>
                <a:latin typeface="Verdana" pitchFamily="34" charset="0"/>
                <a:cs typeface="Arial" charset="0"/>
              </a:defRPr>
            </a:lvl4pPr>
            <a:lvl5pPr algn="ctr" rtl="0" eaLnBrk="0" fontAlgn="base" hangingPunct="0">
              <a:spcBef>
                <a:spcPct val="0"/>
              </a:spcBef>
              <a:spcAft>
                <a:spcPct val="0"/>
              </a:spcAft>
              <a:defRPr sz="3600" b="1">
                <a:solidFill>
                  <a:srgbClr val="FFFF66"/>
                </a:solidFill>
                <a:effectLst>
                  <a:outerShdw blurRad="38100" dist="38100" dir="2700000" algn="tl">
                    <a:srgbClr val="000000"/>
                  </a:outerShdw>
                </a:effectLst>
                <a:latin typeface="Verdana" pitchFamily="34" charset="0"/>
                <a:cs typeface="Arial" charset="0"/>
              </a:defRPr>
            </a:lvl5pPr>
            <a:lvl6pPr marL="457200" algn="ctr" rtl="0" fontAlgn="base">
              <a:spcBef>
                <a:spcPct val="0"/>
              </a:spcBef>
              <a:spcAft>
                <a:spcPct val="0"/>
              </a:spcAft>
              <a:defRPr sz="3600" b="1">
                <a:solidFill>
                  <a:srgbClr val="FFFF66"/>
                </a:solidFill>
                <a:effectLst>
                  <a:outerShdw blurRad="38100" dist="38100" dir="2700000" algn="tl">
                    <a:srgbClr val="000000"/>
                  </a:outerShdw>
                </a:effectLst>
                <a:latin typeface="Verdana" pitchFamily="34" charset="0"/>
                <a:cs typeface="Arial" charset="0"/>
              </a:defRPr>
            </a:lvl6pPr>
            <a:lvl7pPr marL="914400" algn="ctr" rtl="0" fontAlgn="base">
              <a:spcBef>
                <a:spcPct val="0"/>
              </a:spcBef>
              <a:spcAft>
                <a:spcPct val="0"/>
              </a:spcAft>
              <a:defRPr sz="3600" b="1">
                <a:solidFill>
                  <a:srgbClr val="FFFF66"/>
                </a:solidFill>
                <a:effectLst>
                  <a:outerShdw blurRad="38100" dist="38100" dir="2700000" algn="tl">
                    <a:srgbClr val="000000"/>
                  </a:outerShdw>
                </a:effectLst>
                <a:latin typeface="Verdana" pitchFamily="34" charset="0"/>
                <a:cs typeface="Arial" charset="0"/>
              </a:defRPr>
            </a:lvl7pPr>
            <a:lvl8pPr marL="1371600" algn="ctr" rtl="0" fontAlgn="base">
              <a:spcBef>
                <a:spcPct val="0"/>
              </a:spcBef>
              <a:spcAft>
                <a:spcPct val="0"/>
              </a:spcAft>
              <a:defRPr sz="3600" b="1">
                <a:solidFill>
                  <a:srgbClr val="FFFF66"/>
                </a:solidFill>
                <a:effectLst>
                  <a:outerShdw blurRad="38100" dist="38100" dir="2700000" algn="tl">
                    <a:srgbClr val="000000"/>
                  </a:outerShdw>
                </a:effectLst>
                <a:latin typeface="Verdana" pitchFamily="34" charset="0"/>
                <a:cs typeface="Arial" charset="0"/>
              </a:defRPr>
            </a:lvl8pPr>
            <a:lvl9pPr marL="1828800" algn="ctr" rtl="0" fontAlgn="base">
              <a:spcBef>
                <a:spcPct val="0"/>
              </a:spcBef>
              <a:spcAft>
                <a:spcPct val="0"/>
              </a:spcAft>
              <a:defRPr sz="3600" b="1">
                <a:solidFill>
                  <a:srgbClr val="FFFF66"/>
                </a:solidFill>
                <a:effectLst>
                  <a:outerShdw blurRad="38100" dist="38100" dir="2700000" algn="tl">
                    <a:srgbClr val="000000"/>
                  </a:outerShdw>
                </a:effectLst>
                <a:latin typeface="Verdana" pitchFamily="34" charset="0"/>
                <a:cs typeface="Arial" charset="0"/>
              </a:defRPr>
            </a:lvl9pPr>
          </a:lstStyle>
          <a:p>
            <a:pPr>
              <a:defRPr/>
            </a:pPr>
            <a:r>
              <a:rPr lang="en-US" altLang="en-US" kern="0" dirty="0">
                <a:cs typeface="Tahoma" panose="020B0604030504040204" pitchFamily="34" charset="0"/>
              </a:rPr>
              <a:t>Web GIS</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fade">
                                      <p:cBhvr>
                                        <p:cTn id="7" dur="500"/>
                                        <p:tgtEl>
                                          <p:spTgt spid="358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843">
                                            <p:txEl>
                                              <p:pRg st="1" end="1"/>
                                            </p:txEl>
                                          </p:spTgt>
                                        </p:tgtEl>
                                        <p:attrNameLst>
                                          <p:attrName>style.visibility</p:attrName>
                                        </p:attrNameLst>
                                      </p:cBhvr>
                                      <p:to>
                                        <p:strVal val="visible"/>
                                      </p:to>
                                    </p:set>
                                    <p:animEffect transition="in" filter="fade">
                                      <p:cBhvr>
                                        <p:cTn id="12" dur="500"/>
                                        <p:tgtEl>
                                          <p:spTgt spid="358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5843">
                                            <p:txEl>
                                              <p:pRg st="2" end="2"/>
                                            </p:txEl>
                                          </p:spTgt>
                                        </p:tgtEl>
                                        <p:attrNameLst>
                                          <p:attrName>style.visibility</p:attrName>
                                        </p:attrNameLst>
                                      </p:cBhvr>
                                      <p:to>
                                        <p:strVal val="visible"/>
                                      </p:to>
                                    </p:set>
                                    <p:animEffect transition="in" filter="fade">
                                      <p:cBhvr>
                                        <p:cTn id="17" dur="500"/>
                                        <p:tgtEl>
                                          <p:spTgt spid="358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5843">
                                            <p:txEl>
                                              <p:pRg st="3" end="3"/>
                                            </p:txEl>
                                          </p:spTgt>
                                        </p:tgtEl>
                                        <p:attrNameLst>
                                          <p:attrName>style.visibility</p:attrName>
                                        </p:attrNameLst>
                                      </p:cBhvr>
                                      <p:to>
                                        <p:strVal val="visible"/>
                                      </p:to>
                                    </p:set>
                                    <p:animEffect transition="in" filter="fade">
                                      <p:cBhvr>
                                        <p:cTn id="22" dur="500"/>
                                        <p:tgtEl>
                                          <p:spTgt spid="3584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5843">
                                            <p:txEl>
                                              <p:pRg st="4" end="4"/>
                                            </p:txEl>
                                          </p:spTgt>
                                        </p:tgtEl>
                                        <p:attrNameLst>
                                          <p:attrName>style.visibility</p:attrName>
                                        </p:attrNameLst>
                                      </p:cBhvr>
                                      <p:to>
                                        <p:strVal val="visible"/>
                                      </p:to>
                                    </p:set>
                                    <p:animEffect transition="in" filter="fade">
                                      <p:cBhvr>
                                        <p:cTn id="27" dur="500"/>
                                        <p:tgtEl>
                                          <p:spTgt spid="3584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35844"/>
                                        </p:tgtEl>
                                        <p:attrNameLst>
                                          <p:attrName>style.visibility</p:attrName>
                                        </p:attrNameLst>
                                      </p:cBhvr>
                                      <p:to>
                                        <p:strVal val="visible"/>
                                      </p:to>
                                    </p:set>
                                    <p:animEffect transition="in" filter="fade">
                                      <p:cBhvr>
                                        <p:cTn id="32" dur="500"/>
                                        <p:tgtEl>
                                          <p:spTgt spid="358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989138" y="11114"/>
            <a:ext cx="8229600" cy="1139825"/>
          </a:xfrm>
        </p:spPr>
        <p:txBody>
          <a:bodyPr/>
          <a:lstStyle/>
          <a:p>
            <a:pPr>
              <a:defRPr/>
            </a:pPr>
            <a:r>
              <a:rPr lang="en-US" altLang="en-US" dirty="0"/>
              <a:t>Web GIS</a:t>
            </a:r>
          </a:p>
        </p:txBody>
      </p:sp>
      <p:sp>
        <p:nvSpPr>
          <p:cNvPr id="9221" name="Rectangle 5"/>
          <p:cNvSpPr>
            <a:spLocks noGrp="1" noChangeArrowheads="1"/>
          </p:cNvSpPr>
          <p:nvPr>
            <p:ph type="body" idx="1"/>
          </p:nvPr>
        </p:nvSpPr>
        <p:spPr/>
        <p:txBody>
          <a:bodyPr/>
          <a:lstStyle/>
          <a:p>
            <a:pPr>
              <a:spcAft>
                <a:spcPts val="1200"/>
              </a:spcAft>
            </a:pPr>
            <a:r>
              <a:rPr lang="en-US" altLang="en-US" smtClean="0"/>
              <a:t> </a:t>
            </a:r>
            <a:r>
              <a:rPr lang="en-US" altLang="en-US" b="0" smtClean="0"/>
              <a:t>Recent technology</a:t>
            </a:r>
          </a:p>
          <a:p>
            <a:pPr lvl="1">
              <a:spcAft>
                <a:spcPts val="1200"/>
              </a:spcAft>
            </a:pPr>
            <a:r>
              <a:rPr lang="en-US" altLang="en-US" b="0" smtClean="0"/>
              <a:t> </a:t>
            </a:r>
            <a:r>
              <a:rPr lang="en-US" altLang="en-US"/>
              <a:t>Static maps vs. functionality</a:t>
            </a:r>
          </a:p>
          <a:p>
            <a:pPr>
              <a:spcAft>
                <a:spcPts val="1200"/>
              </a:spcAft>
            </a:pPr>
            <a:r>
              <a:rPr lang="en-US" altLang="en-US" b="0" smtClean="0"/>
              <a:t> Local GIS programs and data not required</a:t>
            </a:r>
          </a:p>
          <a:p>
            <a:pPr>
              <a:spcAft>
                <a:spcPts val="1200"/>
              </a:spcAft>
            </a:pPr>
            <a:r>
              <a:rPr lang="en-US" altLang="en-US" b="0" smtClean="0"/>
              <a:t> Used by GIS novices and experts</a:t>
            </a:r>
          </a:p>
          <a:p>
            <a:pPr>
              <a:spcAft>
                <a:spcPts val="1200"/>
              </a:spcAft>
            </a:pPr>
            <a:r>
              <a:rPr lang="en-US" altLang="en-US" b="0" smtClean="0"/>
              <a:t> Can be tailored to meet needs</a:t>
            </a:r>
          </a:p>
          <a:p>
            <a:pPr>
              <a:buFontTx/>
              <a:buNone/>
            </a:pPr>
            <a:endParaRPr lang="en-US" altLang="en-US" smtClean="0"/>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21">
                                            <p:txEl>
                                              <p:pRg st="0" end="0"/>
                                            </p:txEl>
                                          </p:spTgt>
                                        </p:tgtEl>
                                        <p:attrNameLst>
                                          <p:attrName>style.visibility</p:attrName>
                                        </p:attrNameLst>
                                      </p:cBhvr>
                                      <p:to>
                                        <p:strVal val="visible"/>
                                      </p:to>
                                    </p:set>
                                    <p:animEffect transition="in" filter="wipe(left)">
                                      <p:cBhvr>
                                        <p:cTn id="7" dur="500"/>
                                        <p:tgtEl>
                                          <p:spTgt spid="9221">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221">
                                            <p:txEl>
                                              <p:pRg st="1" end="1"/>
                                            </p:txEl>
                                          </p:spTgt>
                                        </p:tgtEl>
                                        <p:attrNameLst>
                                          <p:attrName>style.visibility</p:attrName>
                                        </p:attrNameLst>
                                      </p:cBhvr>
                                      <p:to>
                                        <p:strVal val="visible"/>
                                      </p:to>
                                    </p:set>
                                    <p:animEffect transition="in" filter="wipe(left)">
                                      <p:cBhvr>
                                        <p:cTn id="10" dur="500"/>
                                        <p:tgtEl>
                                          <p:spTgt spid="9221">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9221">
                                            <p:txEl>
                                              <p:pRg st="2" end="2"/>
                                            </p:txEl>
                                          </p:spTgt>
                                        </p:tgtEl>
                                        <p:attrNameLst>
                                          <p:attrName>style.visibility</p:attrName>
                                        </p:attrNameLst>
                                      </p:cBhvr>
                                      <p:to>
                                        <p:strVal val="visible"/>
                                      </p:to>
                                    </p:set>
                                    <p:animEffect transition="in" filter="wipe(left)">
                                      <p:cBhvr>
                                        <p:cTn id="15" dur="500"/>
                                        <p:tgtEl>
                                          <p:spTgt spid="9221">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221">
                                            <p:txEl>
                                              <p:pRg st="3" end="3"/>
                                            </p:txEl>
                                          </p:spTgt>
                                        </p:tgtEl>
                                        <p:attrNameLst>
                                          <p:attrName>style.visibility</p:attrName>
                                        </p:attrNameLst>
                                      </p:cBhvr>
                                      <p:to>
                                        <p:strVal val="visible"/>
                                      </p:to>
                                    </p:set>
                                    <p:animEffect transition="in" filter="wipe(left)">
                                      <p:cBhvr>
                                        <p:cTn id="20" dur="500"/>
                                        <p:tgtEl>
                                          <p:spTgt spid="9221">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9221">
                                            <p:txEl>
                                              <p:pRg st="4" end="4"/>
                                            </p:txEl>
                                          </p:spTgt>
                                        </p:tgtEl>
                                        <p:attrNameLst>
                                          <p:attrName>style.visibility</p:attrName>
                                        </p:attrNameLst>
                                      </p:cBhvr>
                                      <p:to>
                                        <p:strVal val="visible"/>
                                      </p:to>
                                    </p:set>
                                    <p:animEffect transition="in" filter="wipe(left)">
                                      <p:cBhvr>
                                        <p:cTn id="25" dur="500"/>
                                        <p:tgtEl>
                                          <p:spTgt spid="922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1"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992313" y="1"/>
            <a:ext cx="8229600" cy="1139825"/>
          </a:xfrm>
        </p:spPr>
        <p:txBody>
          <a:bodyPr/>
          <a:lstStyle/>
          <a:p>
            <a:pPr>
              <a:defRPr/>
            </a:pPr>
            <a:r>
              <a:rPr lang="en-US" altLang="en-US" dirty="0"/>
              <a:t>Objectives</a:t>
            </a:r>
          </a:p>
        </p:txBody>
      </p:sp>
      <p:sp>
        <p:nvSpPr>
          <p:cNvPr id="33795" name="Rectangle 3"/>
          <p:cNvSpPr>
            <a:spLocks noGrp="1" noChangeArrowheads="1"/>
          </p:cNvSpPr>
          <p:nvPr>
            <p:ph type="body" idx="1"/>
          </p:nvPr>
        </p:nvSpPr>
        <p:spPr>
          <a:xfrm>
            <a:off x="1849438" y="1557338"/>
            <a:ext cx="8513762" cy="4572000"/>
          </a:xfrm>
        </p:spPr>
        <p:txBody>
          <a:bodyPr/>
          <a:lstStyle/>
          <a:p>
            <a:pPr>
              <a:spcAft>
                <a:spcPts val="1800"/>
              </a:spcAft>
            </a:pPr>
            <a:r>
              <a:rPr lang="en-US" altLang="en-US" b="0" smtClean="0"/>
              <a:t>Is web GIS a viable option for GIS in education?</a:t>
            </a:r>
          </a:p>
          <a:p>
            <a:pPr>
              <a:spcAft>
                <a:spcPts val="1800"/>
              </a:spcAft>
            </a:pPr>
            <a:r>
              <a:rPr lang="en-US" altLang="en-US" b="0" smtClean="0"/>
              <a:t>What are the benefits and limitations of web GIS use in education?</a:t>
            </a:r>
          </a:p>
          <a:p>
            <a:pPr>
              <a:spcAft>
                <a:spcPts val="1800"/>
              </a:spcAft>
            </a:pPr>
            <a:r>
              <a:rPr lang="en-US" altLang="en-US" b="0" smtClean="0"/>
              <a:t>What are some factors of success?</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box(out)">
                                      <p:cBhvr>
                                        <p:cTn id="7" dur="500"/>
                                        <p:tgtEl>
                                          <p:spTgt spid="337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3795">
                                            <p:txEl>
                                              <p:pRg st="1" end="1"/>
                                            </p:txEl>
                                          </p:spTgt>
                                        </p:tgtEl>
                                        <p:attrNameLst>
                                          <p:attrName>style.visibility</p:attrName>
                                        </p:attrNameLst>
                                      </p:cBhvr>
                                      <p:to>
                                        <p:strVal val="visible"/>
                                      </p:to>
                                    </p:set>
                                    <p:animEffect transition="in" filter="box(out)">
                                      <p:cBhvr>
                                        <p:cTn id="12" dur="500"/>
                                        <p:tgtEl>
                                          <p:spTgt spid="337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33795">
                                            <p:txEl>
                                              <p:pRg st="2" end="2"/>
                                            </p:txEl>
                                          </p:spTgt>
                                        </p:tgtEl>
                                        <p:attrNameLst>
                                          <p:attrName>style.visibility</p:attrName>
                                        </p:attrNameLst>
                                      </p:cBhvr>
                                      <p:to>
                                        <p:strVal val="visible"/>
                                      </p:to>
                                    </p:set>
                                    <p:animEffect transition="in" filter="box(out)">
                                      <p:cBhvr>
                                        <p:cTn id="17" dur="500"/>
                                        <p:tgtEl>
                                          <p:spTgt spid="337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defRPr/>
            </a:pPr>
            <a:r>
              <a:rPr lang="en-US" altLang="en-US"/>
              <a:t>Current Status</a:t>
            </a:r>
          </a:p>
        </p:txBody>
      </p:sp>
      <p:sp>
        <p:nvSpPr>
          <p:cNvPr id="44035" name="Rectangle 3"/>
          <p:cNvSpPr>
            <a:spLocks noGrp="1" noChangeArrowheads="1"/>
          </p:cNvSpPr>
          <p:nvPr>
            <p:ph type="body" idx="1"/>
          </p:nvPr>
        </p:nvSpPr>
        <p:spPr/>
        <p:txBody>
          <a:bodyPr/>
          <a:lstStyle/>
          <a:p>
            <a:pPr>
              <a:buFontTx/>
              <a:buNone/>
            </a:pPr>
            <a:endParaRPr lang="en-US" altLang="en-US" smtClean="0"/>
          </a:p>
          <a:p>
            <a:r>
              <a:rPr lang="en-US" altLang="en-US" smtClean="0"/>
              <a:t> 2% of schools own a GIS</a:t>
            </a:r>
          </a:p>
          <a:p>
            <a:pPr>
              <a:buFontTx/>
              <a:buNone/>
            </a:pPr>
            <a:endParaRPr lang="en-US" altLang="en-US" smtClean="0"/>
          </a:p>
          <a:p>
            <a:r>
              <a:rPr lang="en-US" altLang="en-US" smtClean="0"/>
              <a:t> Only </a:t>
            </a:r>
            <a:r>
              <a:rPr lang="en-US" altLang="en-US" i="1" smtClean="0"/>
              <a:t>half</a:t>
            </a:r>
            <a:r>
              <a:rPr lang="en-US" altLang="en-US" smtClean="0"/>
              <a:t> of those schools use it</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4035">
                                            <p:txEl>
                                              <p:pRg st="1" end="1"/>
                                            </p:txEl>
                                          </p:spTgt>
                                        </p:tgtEl>
                                        <p:attrNameLst>
                                          <p:attrName>style.visibility</p:attrName>
                                        </p:attrNameLst>
                                      </p:cBhvr>
                                      <p:to>
                                        <p:strVal val="visible"/>
                                      </p:to>
                                    </p:set>
                                    <p:animEffect transition="in" filter="box(out)">
                                      <p:cBhvr>
                                        <p:cTn id="7" dur="500"/>
                                        <p:tgtEl>
                                          <p:spTgt spid="4403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44035">
                                            <p:txEl>
                                              <p:pRg st="3" end="3"/>
                                            </p:txEl>
                                          </p:spTgt>
                                        </p:tgtEl>
                                        <p:attrNameLst>
                                          <p:attrName>style.visibility</p:attrName>
                                        </p:attrNameLst>
                                      </p:cBhvr>
                                      <p:to>
                                        <p:strVal val="visible"/>
                                      </p:to>
                                    </p:set>
                                    <p:animEffect transition="in" filter="box(out)">
                                      <p:cBhvr>
                                        <p:cTn id="12" dur="500"/>
                                        <p:tgtEl>
                                          <p:spTgt spid="440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524000" y="1"/>
            <a:ext cx="9144000" cy="981075"/>
          </a:xfrm>
        </p:spPr>
        <p:txBody>
          <a:bodyPr/>
          <a:lstStyle/>
          <a:p>
            <a:pPr>
              <a:defRPr/>
            </a:pPr>
            <a:r>
              <a:rPr lang="en-US" altLang="en-US" dirty="0"/>
              <a:t>Why so low?</a:t>
            </a:r>
          </a:p>
        </p:txBody>
      </p:sp>
      <p:sp>
        <p:nvSpPr>
          <p:cNvPr id="46083" name="Rectangle 3"/>
          <p:cNvSpPr>
            <a:spLocks noGrp="1" noChangeArrowheads="1"/>
          </p:cNvSpPr>
          <p:nvPr>
            <p:ph type="body" idx="1"/>
          </p:nvPr>
        </p:nvSpPr>
        <p:spPr>
          <a:xfrm>
            <a:off x="1811338" y="981076"/>
            <a:ext cx="8640762" cy="5343525"/>
          </a:xfrm>
        </p:spPr>
        <p:txBody>
          <a:bodyPr/>
          <a:lstStyle/>
          <a:p>
            <a:pPr>
              <a:spcAft>
                <a:spcPts val="1200"/>
              </a:spcAft>
            </a:pPr>
            <a:r>
              <a:rPr lang="en-US" altLang="en-US" b="0" smtClean="0"/>
              <a:t>Full GIS too technical for most teachers</a:t>
            </a:r>
          </a:p>
          <a:p>
            <a:pPr>
              <a:spcAft>
                <a:spcPts val="1200"/>
              </a:spcAft>
            </a:pPr>
            <a:r>
              <a:rPr lang="en-US" altLang="en-US" b="0" smtClean="0"/>
              <a:t>Time consuming:</a:t>
            </a:r>
          </a:p>
          <a:p>
            <a:pPr lvl="1">
              <a:spcAft>
                <a:spcPts val="1200"/>
              </a:spcAft>
            </a:pPr>
            <a:r>
              <a:rPr lang="en-US" altLang="en-US"/>
              <a:t>Learning</a:t>
            </a:r>
          </a:p>
          <a:p>
            <a:pPr lvl="1">
              <a:spcAft>
                <a:spcPts val="1200"/>
              </a:spcAft>
            </a:pPr>
            <a:r>
              <a:rPr lang="en-US" altLang="en-US"/>
              <a:t>Teaching (takes away from core curriculum)</a:t>
            </a:r>
          </a:p>
          <a:p>
            <a:pPr>
              <a:spcAft>
                <a:spcPts val="1200"/>
              </a:spcAft>
            </a:pPr>
            <a:r>
              <a:rPr lang="en-US" altLang="en-US" b="0" smtClean="0"/>
              <a:t>Lack of resources</a:t>
            </a:r>
          </a:p>
          <a:p>
            <a:pPr lvl="1">
              <a:spcAft>
                <a:spcPts val="1200"/>
              </a:spcAft>
            </a:pPr>
            <a:r>
              <a:rPr lang="en-US" altLang="en-US"/>
              <a:t>Training</a:t>
            </a:r>
          </a:p>
          <a:p>
            <a:pPr lvl="1">
              <a:spcAft>
                <a:spcPts val="1200"/>
              </a:spcAft>
            </a:pPr>
            <a:r>
              <a:rPr lang="en-US" altLang="en-US"/>
              <a:t>Adequate technology</a:t>
            </a:r>
          </a:p>
          <a:p>
            <a:pPr lvl="1">
              <a:spcAft>
                <a:spcPts val="1200"/>
              </a:spcAft>
            </a:pPr>
            <a:r>
              <a:rPr lang="en-US" altLang="en-US"/>
              <a:t>Money to support these</a:t>
            </a:r>
          </a:p>
          <a:p>
            <a:pPr>
              <a:spcAft>
                <a:spcPts val="1200"/>
              </a:spcAft>
            </a:pPr>
            <a:r>
              <a:rPr lang="en-US" altLang="en-US" b="0" smtClean="0"/>
              <a:t>Few curriculum resources</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wipe(left)">
                                      <p:cBhvr>
                                        <p:cTn id="7" dur="500"/>
                                        <p:tgtEl>
                                          <p:spTgt spid="460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6083">
                                            <p:txEl>
                                              <p:pRg st="1" end="1"/>
                                            </p:txEl>
                                          </p:spTgt>
                                        </p:tgtEl>
                                        <p:attrNameLst>
                                          <p:attrName>style.visibility</p:attrName>
                                        </p:attrNameLst>
                                      </p:cBhvr>
                                      <p:to>
                                        <p:strVal val="visible"/>
                                      </p:to>
                                    </p:set>
                                    <p:animEffect transition="in" filter="wipe(left)">
                                      <p:cBhvr>
                                        <p:cTn id="12" dur="500"/>
                                        <p:tgtEl>
                                          <p:spTgt spid="46083">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6083">
                                            <p:txEl>
                                              <p:pRg st="2" end="2"/>
                                            </p:txEl>
                                          </p:spTgt>
                                        </p:tgtEl>
                                        <p:attrNameLst>
                                          <p:attrName>style.visibility</p:attrName>
                                        </p:attrNameLst>
                                      </p:cBhvr>
                                      <p:to>
                                        <p:strVal val="visible"/>
                                      </p:to>
                                    </p:set>
                                    <p:animEffect transition="in" filter="wipe(left)">
                                      <p:cBhvr>
                                        <p:cTn id="15" dur="500"/>
                                        <p:tgtEl>
                                          <p:spTgt spid="46083">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6083">
                                            <p:txEl>
                                              <p:pRg st="3" end="3"/>
                                            </p:txEl>
                                          </p:spTgt>
                                        </p:tgtEl>
                                        <p:attrNameLst>
                                          <p:attrName>style.visibility</p:attrName>
                                        </p:attrNameLst>
                                      </p:cBhvr>
                                      <p:to>
                                        <p:strVal val="visible"/>
                                      </p:to>
                                    </p:set>
                                    <p:animEffect transition="in" filter="wipe(left)">
                                      <p:cBhvr>
                                        <p:cTn id="18" dur="500"/>
                                        <p:tgtEl>
                                          <p:spTgt spid="46083">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46083">
                                            <p:txEl>
                                              <p:pRg st="4" end="4"/>
                                            </p:txEl>
                                          </p:spTgt>
                                        </p:tgtEl>
                                        <p:attrNameLst>
                                          <p:attrName>style.visibility</p:attrName>
                                        </p:attrNameLst>
                                      </p:cBhvr>
                                      <p:to>
                                        <p:strVal val="visible"/>
                                      </p:to>
                                    </p:set>
                                    <p:animEffect transition="in" filter="wipe(left)">
                                      <p:cBhvr>
                                        <p:cTn id="23" dur="500"/>
                                        <p:tgtEl>
                                          <p:spTgt spid="46083">
                                            <p:txEl>
                                              <p:pRg st="4" end="4"/>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46083">
                                            <p:txEl>
                                              <p:pRg st="5" end="5"/>
                                            </p:txEl>
                                          </p:spTgt>
                                        </p:tgtEl>
                                        <p:attrNameLst>
                                          <p:attrName>style.visibility</p:attrName>
                                        </p:attrNameLst>
                                      </p:cBhvr>
                                      <p:to>
                                        <p:strVal val="visible"/>
                                      </p:to>
                                    </p:set>
                                    <p:animEffect transition="in" filter="wipe(left)">
                                      <p:cBhvr>
                                        <p:cTn id="26" dur="500"/>
                                        <p:tgtEl>
                                          <p:spTgt spid="46083">
                                            <p:txEl>
                                              <p:pRg st="5" end="5"/>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46083">
                                            <p:txEl>
                                              <p:pRg st="6" end="6"/>
                                            </p:txEl>
                                          </p:spTgt>
                                        </p:tgtEl>
                                        <p:attrNameLst>
                                          <p:attrName>style.visibility</p:attrName>
                                        </p:attrNameLst>
                                      </p:cBhvr>
                                      <p:to>
                                        <p:strVal val="visible"/>
                                      </p:to>
                                    </p:set>
                                    <p:animEffect transition="in" filter="wipe(left)">
                                      <p:cBhvr>
                                        <p:cTn id="29" dur="500"/>
                                        <p:tgtEl>
                                          <p:spTgt spid="46083">
                                            <p:txEl>
                                              <p:pRg st="6" end="6"/>
                                            </p:txEl>
                                          </p:spTgt>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46083">
                                            <p:txEl>
                                              <p:pRg st="7" end="7"/>
                                            </p:txEl>
                                          </p:spTgt>
                                        </p:tgtEl>
                                        <p:attrNameLst>
                                          <p:attrName>style.visibility</p:attrName>
                                        </p:attrNameLst>
                                      </p:cBhvr>
                                      <p:to>
                                        <p:strVal val="visible"/>
                                      </p:to>
                                    </p:set>
                                    <p:animEffect transition="in" filter="wipe(left)">
                                      <p:cBhvr>
                                        <p:cTn id="32" dur="500"/>
                                        <p:tgtEl>
                                          <p:spTgt spid="46083">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6083">
                                            <p:txEl>
                                              <p:pRg st="8" end="8"/>
                                            </p:txEl>
                                          </p:spTgt>
                                        </p:tgtEl>
                                        <p:attrNameLst>
                                          <p:attrName>style.visibility</p:attrName>
                                        </p:attrNameLst>
                                      </p:cBhvr>
                                      <p:to>
                                        <p:strVal val="visible"/>
                                      </p:to>
                                    </p:set>
                                    <p:animEffect transition="in" filter="wipe(left)">
                                      <p:cBhvr>
                                        <p:cTn id="37" dur="500"/>
                                        <p:tgtEl>
                                          <p:spTgt spid="4608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3">
            <a:extLst>
              <a:ext uri="{28A0092B-C50C-407E-A947-70E740481C1C}">
                <a14:useLocalDpi xmlns:a14="http://schemas.microsoft.com/office/drawing/2010/main" val="0"/>
              </a:ext>
            </a:extLst>
          </a:blip>
          <a:srcRect b="3751"/>
          <a:stretch>
            <a:fillRect/>
          </a:stretch>
        </p:blipFill>
        <p:spPr bwMode="auto">
          <a:xfrm>
            <a:off x="3048000" y="914400"/>
            <a:ext cx="60960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 name="Group 2"/>
          <p:cNvGrpSpPr>
            <a:grpSpLocks/>
          </p:cNvGrpSpPr>
          <p:nvPr/>
        </p:nvGrpSpPr>
        <p:grpSpPr bwMode="auto">
          <a:xfrm>
            <a:off x="1752600" y="2667000"/>
            <a:ext cx="1371600" cy="750332"/>
            <a:chOff x="228600" y="2667000"/>
            <a:chExt cx="1371600" cy="750332"/>
          </a:xfrm>
        </p:grpSpPr>
        <p:sp>
          <p:nvSpPr>
            <p:cNvPr id="46103" name="Text Box 3"/>
            <p:cNvSpPr txBox="1">
              <a:spLocks noChangeArrowheads="1"/>
            </p:cNvSpPr>
            <p:nvPr/>
          </p:nvSpPr>
          <p:spPr bwMode="auto">
            <a:xfrm>
              <a:off x="228600" y="3048000"/>
              <a:ext cx="10254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t>Toolbar</a:t>
              </a:r>
            </a:p>
          </p:txBody>
        </p:sp>
        <p:sp>
          <p:nvSpPr>
            <p:cNvPr id="46104" name="Line 8"/>
            <p:cNvSpPr>
              <a:spLocks noChangeShapeType="1"/>
            </p:cNvSpPr>
            <p:nvPr/>
          </p:nvSpPr>
          <p:spPr bwMode="auto">
            <a:xfrm flipV="1">
              <a:off x="762000" y="2667000"/>
              <a:ext cx="838200" cy="38100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 name="Group 4"/>
          <p:cNvGrpSpPr>
            <a:grpSpLocks/>
          </p:cNvGrpSpPr>
          <p:nvPr/>
        </p:nvGrpSpPr>
        <p:grpSpPr bwMode="auto">
          <a:xfrm>
            <a:off x="7620000" y="3505201"/>
            <a:ext cx="2664196" cy="1332131"/>
            <a:chOff x="6096000" y="3505200"/>
            <a:chExt cx="2664196" cy="1332131"/>
          </a:xfrm>
        </p:grpSpPr>
        <p:sp>
          <p:nvSpPr>
            <p:cNvPr id="46101" name="Text Box 7"/>
            <p:cNvSpPr txBox="1">
              <a:spLocks noChangeArrowheads="1"/>
            </p:cNvSpPr>
            <p:nvPr/>
          </p:nvSpPr>
          <p:spPr bwMode="auto">
            <a:xfrm>
              <a:off x="7848600" y="4191000"/>
              <a:ext cx="91159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t>Map</a:t>
              </a:r>
            </a:p>
            <a:p>
              <a:pPr>
                <a:spcBef>
                  <a:spcPct val="0"/>
                </a:spcBef>
                <a:buClrTx/>
                <a:buFontTx/>
                <a:buNone/>
              </a:pPr>
              <a:r>
                <a:rPr lang="en-US" altLang="en-US" sz="1800" b="0"/>
                <a:t>Frame</a:t>
              </a:r>
            </a:p>
          </p:txBody>
        </p:sp>
        <p:sp>
          <p:nvSpPr>
            <p:cNvPr id="46102" name="Line 9"/>
            <p:cNvSpPr>
              <a:spLocks noChangeShapeType="1"/>
            </p:cNvSpPr>
            <p:nvPr/>
          </p:nvSpPr>
          <p:spPr bwMode="auto">
            <a:xfrm flipH="1" flipV="1">
              <a:off x="6096000" y="3505200"/>
              <a:ext cx="2133600" cy="68580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7" name="Group 6"/>
          <p:cNvGrpSpPr>
            <a:grpSpLocks/>
          </p:cNvGrpSpPr>
          <p:nvPr/>
        </p:nvGrpSpPr>
        <p:grpSpPr bwMode="auto">
          <a:xfrm>
            <a:off x="5105401" y="4953000"/>
            <a:ext cx="1181927" cy="1131332"/>
            <a:chOff x="3581400" y="4953000"/>
            <a:chExt cx="1181927" cy="1131332"/>
          </a:xfrm>
        </p:grpSpPr>
        <p:sp>
          <p:nvSpPr>
            <p:cNvPr id="46099" name="Text Box 4"/>
            <p:cNvSpPr txBox="1">
              <a:spLocks noChangeArrowheads="1"/>
            </p:cNvSpPr>
            <p:nvPr/>
          </p:nvSpPr>
          <p:spPr bwMode="auto">
            <a:xfrm>
              <a:off x="3581400" y="5715000"/>
              <a:ext cx="11819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t>Text Box</a:t>
              </a:r>
            </a:p>
          </p:txBody>
        </p:sp>
        <p:sp>
          <p:nvSpPr>
            <p:cNvPr id="46100" name="Line 11"/>
            <p:cNvSpPr>
              <a:spLocks noChangeShapeType="1"/>
            </p:cNvSpPr>
            <p:nvPr/>
          </p:nvSpPr>
          <p:spPr bwMode="auto">
            <a:xfrm flipV="1">
              <a:off x="4191000" y="4953000"/>
              <a:ext cx="0" cy="76200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6" name="Group 5"/>
          <p:cNvGrpSpPr>
            <a:grpSpLocks/>
          </p:cNvGrpSpPr>
          <p:nvPr/>
        </p:nvGrpSpPr>
        <p:grpSpPr bwMode="auto">
          <a:xfrm>
            <a:off x="8305801" y="5334000"/>
            <a:ext cx="1007981" cy="750332"/>
            <a:chOff x="6781800" y="5334000"/>
            <a:chExt cx="1007981" cy="750332"/>
          </a:xfrm>
        </p:grpSpPr>
        <p:sp>
          <p:nvSpPr>
            <p:cNvPr id="46097" name="Text Box 5"/>
            <p:cNvSpPr txBox="1">
              <a:spLocks noChangeArrowheads="1"/>
            </p:cNvSpPr>
            <p:nvPr/>
          </p:nvSpPr>
          <p:spPr bwMode="auto">
            <a:xfrm>
              <a:off x="7010400" y="5715000"/>
              <a:ext cx="77938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t>Links</a:t>
              </a:r>
            </a:p>
          </p:txBody>
        </p:sp>
        <p:sp>
          <p:nvSpPr>
            <p:cNvPr id="46098" name="Line 12"/>
            <p:cNvSpPr>
              <a:spLocks noChangeShapeType="1"/>
            </p:cNvSpPr>
            <p:nvPr/>
          </p:nvSpPr>
          <p:spPr bwMode="auto">
            <a:xfrm flipH="1" flipV="1">
              <a:off x="6781800" y="5334000"/>
              <a:ext cx="609600" cy="38100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4" name="Group 3"/>
          <p:cNvGrpSpPr>
            <a:grpSpLocks/>
          </p:cNvGrpSpPr>
          <p:nvPr/>
        </p:nvGrpSpPr>
        <p:grpSpPr bwMode="auto">
          <a:xfrm>
            <a:off x="8839200" y="1981200"/>
            <a:ext cx="1500434" cy="914400"/>
            <a:chOff x="7315200" y="1981200"/>
            <a:chExt cx="1500434" cy="914400"/>
          </a:xfrm>
        </p:grpSpPr>
        <p:sp>
          <p:nvSpPr>
            <p:cNvPr id="46095" name="Text Box 6"/>
            <p:cNvSpPr txBox="1">
              <a:spLocks noChangeArrowheads="1"/>
            </p:cNvSpPr>
            <p:nvPr/>
          </p:nvSpPr>
          <p:spPr bwMode="auto">
            <a:xfrm>
              <a:off x="7772400" y="1981200"/>
              <a:ext cx="104323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t>Layers/</a:t>
              </a:r>
            </a:p>
            <a:p>
              <a:pPr>
                <a:spcBef>
                  <a:spcPct val="0"/>
                </a:spcBef>
                <a:buClrTx/>
                <a:buFontTx/>
                <a:buNone/>
              </a:pPr>
              <a:r>
                <a:rPr lang="en-US" altLang="en-US" sz="1800" b="0"/>
                <a:t>Legend</a:t>
              </a:r>
            </a:p>
          </p:txBody>
        </p:sp>
        <p:sp>
          <p:nvSpPr>
            <p:cNvPr id="46096" name="Line 13"/>
            <p:cNvSpPr>
              <a:spLocks noChangeShapeType="1"/>
            </p:cNvSpPr>
            <p:nvPr/>
          </p:nvSpPr>
          <p:spPr bwMode="auto">
            <a:xfrm flipH="1">
              <a:off x="7315200" y="2895600"/>
              <a:ext cx="762000"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6088" name="Text Box 14"/>
          <p:cNvSpPr txBox="1">
            <a:spLocks noChangeArrowheads="1"/>
          </p:cNvSpPr>
          <p:nvPr/>
        </p:nvSpPr>
        <p:spPr bwMode="auto">
          <a:xfrm>
            <a:off x="4495800" y="152401"/>
            <a:ext cx="2446338"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3600"/>
              <a:t>Web GIS</a:t>
            </a:r>
          </a:p>
        </p:txBody>
      </p:sp>
      <p:grpSp>
        <p:nvGrpSpPr>
          <p:cNvPr id="8" name="Group 7"/>
          <p:cNvGrpSpPr>
            <a:grpSpLocks/>
          </p:cNvGrpSpPr>
          <p:nvPr/>
        </p:nvGrpSpPr>
        <p:grpSpPr bwMode="auto">
          <a:xfrm>
            <a:off x="1828800" y="5257800"/>
            <a:ext cx="1608902" cy="826532"/>
            <a:chOff x="304800" y="5257800"/>
            <a:chExt cx="1608902" cy="826532"/>
          </a:xfrm>
        </p:grpSpPr>
        <p:sp>
          <p:nvSpPr>
            <p:cNvPr id="46093" name="Line 10"/>
            <p:cNvSpPr>
              <a:spLocks noChangeShapeType="1"/>
            </p:cNvSpPr>
            <p:nvPr/>
          </p:nvSpPr>
          <p:spPr bwMode="auto">
            <a:xfrm flipV="1">
              <a:off x="1219200" y="5257800"/>
              <a:ext cx="609600" cy="45720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94" name="Text Box 15"/>
            <p:cNvSpPr txBox="1">
              <a:spLocks noChangeArrowheads="1"/>
            </p:cNvSpPr>
            <p:nvPr/>
          </p:nvSpPr>
          <p:spPr bwMode="auto">
            <a:xfrm>
              <a:off x="304800" y="5715000"/>
              <a:ext cx="16089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t>Mode Frame</a:t>
              </a:r>
            </a:p>
          </p:txBody>
        </p:sp>
      </p:grpSp>
      <p:grpSp>
        <p:nvGrpSpPr>
          <p:cNvPr id="2" name="Group 1"/>
          <p:cNvGrpSpPr>
            <a:grpSpLocks/>
          </p:cNvGrpSpPr>
          <p:nvPr/>
        </p:nvGrpSpPr>
        <p:grpSpPr bwMode="auto">
          <a:xfrm>
            <a:off x="1524000" y="1371601"/>
            <a:ext cx="2057400" cy="646331"/>
            <a:chOff x="0" y="1371600"/>
            <a:chExt cx="2057400" cy="646331"/>
          </a:xfrm>
        </p:grpSpPr>
        <p:sp>
          <p:nvSpPr>
            <p:cNvPr id="46091" name="Line 16"/>
            <p:cNvSpPr>
              <a:spLocks noChangeShapeType="1"/>
            </p:cNvSpPr>
            <p:nvPr/>
          </p:nvSpPr>
          <p:spPr bwMode="auto">
            <a:xfrm>
              <a:off x="1143000" y="1905000"/>
              <a:ext cx="914400" cy="7620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92" name="Text Box 18"/>
            <p:cNvSpPr txBox="1">
              <a:spLocks noChangeArrowheads="1"/>
            </p:cNvSpPr>
            <p:nvPr/>
          </p:nvSpPr>
          <p:spPr bwMode="auto">
            <a:xfrm>
              <a:off x="0" y="1371600"/>
              <a:ext cx="138588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t>Overview</a:t>
              </a:r>
            </a:p>
            <a:p>
              <a:pPr>
                <a:spcBef>
                  <a:spcPct val="0"/>
                </a:spcBef>
                <a:buClrTx/>
                <a:buFontTx/>
                <a:buNone/>
              </a:pPr>
              <a:r>
                <a:rPr lang="en-US" altLang="en-US" sz="1800" b="0"/>
                <a:t>Map</a:t>
              </a:r>
            </a:p>
          </p:txBody>
        </p:sp>
      </p:gr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6082"/>
                                        </p:tgtEl>
                                        <p:attrNameLst>
                                          <p:attrName>style.visibility</p:attrName>
                                        </p:attrNameLst>
                                      </p:cBhvr>
                                      <p:to>
                                        <p:strVal val="visible"/>
                                      </p:to>
                                    </p:set>
                                    <p:animEffect transition="in" filter="fade">
                                      <p:cBhvr>
                                        <p:cTn id="7" dur="500"/>
                                        <p:tgtEl>
                                          <p:spTgt spid="460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130" name="Group 1"/>
          <p:cNvGrpSpPr>
            <a:grpSpLocks/>
          </p:cNvGrpSpPr>
          <p:nvPr/>
        </p:nvGrpSpPr>
        <p:grpSpPr bwMode="auto">
          <a:xfrm>
            <a:off x="6305551" y="1760538"/>
            <a:ext cx="4149725" cy="5097462"/>
            <a:chOff x="4648200" y="1592263"/>
            <a:chExt cx="4149725" cy="5096669"/>
          </a:xfrm>
        </p:grpSpPr>
        <p:grpSp>
          <p:nvGrpSpPr>
            <p:cNvPr id="48134" name="Group 2"/>
            <p:cNvGrpSpPr>
              <a:grpSpLocks/>
            </p:cNvGrpSpPr>
            <p:nvPr/>
          </p:nvGrpSpPr>
          <p:grpSpPr bwMode="auto">
            <a:xfrm>
              <a:off x="5330825" y="1973263"/>
              <a:ext cx="3200400" cy="3886200"/>
              <a:chOff x="3360" y="1776"/>
              <a:chExt cx="2016" cy="2448"/>
            </a:xfrm>
          </p:grpSpPr>
          <p:pic>
            <p:nvPicPr>
              <p:cNvPr id="48146" name="Picture 3" descr="viewe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0" y="2496"/>
                <a:ext cx="2016" cy="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47" name="Picture 4" descr="viewer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0" y="1776"/>
                <a:ext cx="2016" cy="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8135" name="Rectangle 5"/>
            <p:cNvSpPr>
              <a:spLocks noChangeArrowheads="1"/>
            </p:cNvSpPr>
            <p:nvPr/>
          </p:nvSpPr>
          <p:spPr bwMode="auto">
            <a:xfrm>
              <a:off x="5102225" y="1668463"/>
              <a:ext cx="3581400" cy="4419600"/>
            </a:xfrm>
            <a:prstGeom prst="rect">
              <a:avLst/>
            </a:prstGeom>
            <a:solidFill>
              <a:srgbClr val="41FF41">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48136" name="Rectangle 6"/>
            <p:cNvSpPr>
              <a:spLocks noChangeArrowheads="1"/>
            </p:cNvSpPr>
            <p:nvPr/>
          </p:nvSpPr>
          <p:spPr bwMode="auto">
            <a:xfrm>
              <a:off x="5486400" y="1592263"/>
              <a:ext cx="3276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lgn="r">
                <a:spcBef>
                  <a:spcPct val="0"/>
                </a:spcBef>
                <a:buClrTx/>
                <a:buFontTx/>
                <a:buNone/>
              </a:pPr>
              <a:r>
                <a:rPr lang="en-US" altLang="en-US" sz="1800" b="0" i="1">
                  <a:latin typeface="Helvetica" panose="020B0604020202020204" pitchFamily="34" charset="0"/>
                </a:rPr>
                <a:t>World Wide Web</a:t>
              </a:r>
              <a:endParaRPr lang="en-US" altLang="en-US" sz="1800" i="1">
                <a:latin typeface="Helvetica" panose="020B0604020202020204" pitchFamily="34" charset="0"/>
              </a:endParaRPr>
            </a:p>
          </p:txBody>
        </p:sp>
        <p:sp>
          <p:nvSpPr>
            <p:cNvPr id="48137" name="Rectangle 7"/>
            <p:cNvSpPr>
              <a:spLocks noChangeArrowheads="1"/>
            </p:cNvSpPr>
            <p:nvPr/>
          </p:nvSpPr>
          <p:spPr bwMode="auto">
            <a:xfrm>
              <a:off x="6892925" y="2959497"/>
              <a:ext cx="1447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lgn="r">
                <a:spcBef>
                  <a:spcPct val="0"/>
                </a:spcBef>
                <a:buClrTx/>
                <a:buFontTx/>
                <a:buNone/>
              </a:pPr>
              <a:r>
                <a:rPr lang="en-US" altLang="en-US" sz="1600" b="0" i="1">
                  <a:latin typeface="Helvetica" panose="020B0604020202020204" pitchFamily="34" charset="0"/>
                </a:rPr>
                <a:t>Internet</a:t>
              </a:r>
            </a:p>
          </p:txBody>
        </p:sp>
        <p:sp>
          <p:nvSpPr>
            <p:cNvPr id="48138" name="Rectangle 8"/>
            <p:cNvSpPr>
              <a:spLocks noChangeArrowheads="1"/>
            </p:cNvSpPr>
            <p:nvPr/>
          </p:nvSpPr>
          <p:spPr bwMode="auto">
            <a:xfrm>
              <a:off x="7083425" y="4640263"/>
              <a:ext cx="1447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lgn="r">
                <a:spcBef>
                  <a:spcPct val="0"/>
                </a:spcBef>
                <a:buClrTx/>
                <a:buFontTx/>
                <a:buNone/>
              </a:pPr>
              <a:r>
                <a:rPr lang="en-US" altLang="en-US" sz="1600" b="0" i="1">
                  <a:latin typeface="Helvetica" panose="020B0604020202020204" pitchFamily="34" charset="0"/>
                </a:rPr>
                <a:t>Email</a:t>
              </a:r>
            </a:p>
          </p:txBody>
        </p:sp>
        <p:sp>
          <p:nvSpPr>
            <p:cNvPr id="48139" name="Rectangle 9"/>
            <p:cNvSpPr>
              <a:spLocks noChangeArrowheads="1"/>
            </p:cNvSpPr>
            <p:nvPr/>
          </p:nvSpPr>
          <p:spPr bwMode="auto">
            <a:xfrm>
              <a:off x="6778625" y="2278063"/>
              <a:ext cx="1447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lgn="r">
                <a:spcBef>
                  <a:spcPct val="0"/>
                </a:spcBef>
                <a:buClrTx/>
                <a:buFontTx/>
                <a:buNone/>
              </a:pPr>
              <a:r>
                <a:rPr lang="en-US" altLang="en-US" sz="1600" b="0" i="1">
                  <a:latin typeface="Helvetica" panose="020B0604020202020204" pitchFamily="34" charset="0"/>
                </a:rPr>
                <a:t>Clients</a:t>
              </a:r>
            </a:p>
          </p:txBody>
        </p:sp>
        <p:sp>
          <p:nvSpPr>
            <p:cNvPr id="48140" name="Rectangle 10"/>
            <p:cNvSpPr>
              <a:spLocks noChangeArrowheads="1"/>
            </p:cNvSpPr>
            <p:nvPr/>
          </p:nvSpPr>
          <p:spPr bwMode="auto">
            <a:xfrm>
              <a:off x="5864225" y="3878263"/>
              <a:ext cx="1447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lgn="r">
                <a:spcBef>
                  <a:spcPct val="0"/>
                </a:spcBef>
                <a:buClrTx/>
                <a:buFontTx/>
                <a:buNone/>
              </a:pPr>
              <a:r>
                <a:rPr lang="en-US" altLang="en-US" sz="1600" b="0" i="1">
                  <a:latin typeface="Helvetica" panose="020B0604020202020204" pitchFamily="34" charset="0"/>
                </a:rPr>
                <a:t>Servers</a:t>
              </a:r>
            </a:p>
          </p:txBody>
        </p:sp>
        <p:sp>
          <p:nvSpPr>
            <p:cNvPr id="48141" name="Rectangle 11"/>
            <p:cNvSpPr>
              <a:spLocks noChangeArrowheads="1"/>
            </p:cNvSpPr>
            <p:nvPr/>
          </p:nvSpPr>
          <p:spPr bwMode="auto">
            <a:xfrm>
              <a:off x="5483225" y="4868863"/>
              <a:ext cx="1447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lgn="r">
                <a:spcBef>
                  <a:spcPct val="0"/>
                </a:spcBef>
                <a:buClrTx/>
                <a:buFontTx/>
                <a:buNone/>
              </a:pPr>
              <a:r>
                <a:rPr lang="en-US" altLang="en-US" sz="1600" b="0" i="1">
                  <a:latin typeface="Helvetica" panose="020B0604020202020204" pitchFamily="34" charset="0"/>
                </a:rPr>
                <a:t>FTP</a:t>
              </a:r>
            </a:p>
          </p:txBody>
        </p:sp>
        <p:pic>
          <p:nvPicPr>
            <p:cNvPr id="48142" name="Picture 12"/>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48200" y="1651000"/>
              <a:ext cx="16002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8143" name="Picture 13" descr="satuss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4400" y="3454400"/>
              <a:ext cx="1676400" cy="127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44" name="Picture 15" descr="delorme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83475" y="3416698"/>
              <a:ext cx="13144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45" name="Picture 16"/>
            <p:cNvPicPr>
              <a:picLocks noChangeAspect="1" noChangeArrowheads="1"/>
            </p:cNvPicPr>
            <p:nvPr/>
          </p:nvPicPr>
          <p:blipFill>
            <a:blip r:embed="rId8" cstate="print">
              <a:lum bright="-12000" contrast="8000"/>
              <a:extLst>
                <a:ext uri="{28A0092B-C50C-407E-A947-70E740481C1C}">
                  <a14:useLocalDpi xmlns:a14="http://schemas.microsoft.com/office/drawing/2010/main" val="0"/>
                </a:ext>
              </a:extLst>
            </a:blip>
            <a:srcRect/>
            <a:stretch>
              <a:fillRect/>
            </a:stretch>
          </p:blipFill>
          <p:spPr bwMode="auto">
            <a:xfrm>
              <a:off x="4775200" y="5258594"/>
              <a:ext cx="1905000" cy="143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93233" name="Rectangle 17"/>
          <p:cNvSpPr>
            <a:spLocks noGrp="1" noChangeArrowheads="1"/>
          </p:cNvSpPr>
          <p:nvPr>
            <p:ph type="title"/>
          </p:nvPr>
        </p:nvSpPr>
        <p:spPr>
          <a:xfrm>
            <a:off x="1531938" y="161925"/>
            <a:ext cx="9144000" cy="762000"/>
          </a:xfrm>
        </p:spPr>
        <p:txBody>
          <a:bodyPr/>
          <a:lstStyle/>
          <a:p>
            <a:pPr>
              <a:defRPr/>
            </a:pPr>
            <a:r>
              <a:rPr lang="en-US" altLang="en-US" dirty="0">
                <a:solidFill>
                  <a:schemeClr val="hlink"/>
                </a:solidFill>
              </a:rPr>
              <a:t>Opportunity in Web-based Mapping</a:t>
            </a:r>
          </a:p>
        </p:txBody>
      </p:sp>
      <p:sp>
        <p:nvSpPr>
          <p:cNvPr id="393234" name="Rectangle 18"/>
          <p:cNvSpPr>
            <a:spLocks noGrp="1" noChangeArrowheads="1"/>
          </p:cNvSpPr>
          <p:nvPr>
            <p:ph type="body" sz="half" idx="1"/>
          </p:nvPr>
        </p:nvSpPr>
        <p:spPr>
          <a:xfrm>
            <a:off x="1531939" y="1268414"/>
            <a:ext cx="4916487" cy="5292725"/>
          </a:xfrm>
        </p:spPr>
        <p:txBody>
          <a:bodyPr/>
          <a:lstStyle/>
          <a:p>
            <a:pPr>
              <a:spcAft>
                <a:spcPts val="1200"/>
              </a:spcAft>
            </a:pPr>
            <a:r>
              <a:rPr lang="en-US" altLang="en-US" sz="2600"/>
              <a:t>Disaster relief and Emergency management</a:t>
            </a:r>
          </a:p>
          <a:p>
            <a:pPr>
              <a:spcAft>
                <a:spcPts val="1200"/>
              </a:spcAft>
            </a:pPr>
            <a:r>
              <a:rPr lang="en-US" altLang="en-US" sz="2600"/>
              <a:t>Global and national geospatial information infrastructures</a:t>
            </a:r>
          </a:p>
          <a:p>
            <a:pPr lvl="1">
              <a:spcAft>
                <a:spcPts val="1200"/>
              </a:spcAft>
            </a:pPr>
            <a:r>
              <a:rPr lang="en-US" altLang="en-US" sz="2600"/>
              <a:t>Digital Earth, NSDI, GSDI</a:t>
            </a:r>
          </a:p>
          <a:p>
            <a:pPr>
              <a:spcAft>
                <a:spcPts val="1200"/>
              </a:spcAft>
            </a:pPr>
            <a:r>
              <a:rPr lang="en-US" altLang="en-US" sz="2600"/>
              <a:t>Crime management</a:t>
            </a:r>
          </a:p>
          <a:p>
            <a:pPr>
              <a:spcAft>
                <a:spcPts val="1200"/>
              </a:spcAft>
            </a:pPr>
            <a:r>
              <a:rPr lang="en-US" altLang="en-US" sz="2600"/>
              <a:t>Environmental Monitoring</a:t>
            </a:r>
          </a:p>
          <a:p>
            <a:pPr>
              <a:spcAft>
                <a:spcPts val="1200"/>
              </a:spcAft>
            </a:pPr>
            <a:r>
              <a:rPr lang="en-US" altLang="en-US" sz="2600"/>
              <a:t>Many others...</a:t>
            </a:r>
          </a:p>
        </p:txBody>
      </p:sp>
      <p:pic>
        <p:nvPicPr>
          <p:cNvPr id="48133" name="Picture 14" descr="navtech"/>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566150" y="5280026"/>
            <a:ext cx="1828800" cy="149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advTm="0">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3234">
                                            <p:txEl>
                                              <p:pRg st="0" end="0"/>
                                            </p:txEl>
                                          </p:spTgt>
                                        </p:tgtEl>
                                        <p:attrNameLst>
                                          <p:attrName>style.visibility</p:attrName>
                                        </p:attrNameLst>
                                      </p:cBhvr>
                                      <p:to>
                                        <p:strVal val="visible"/>
                                      </p:to>
                                    </p:set>
                                    <p:animEffect transition="in" filter="fade">
                                      <p:cBhvr>
                                        <p:cTn id="7" dur="500"/>
                                        <p:tgtEl>
                                          <p:spTgt spid="39323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93234">
                                            <p:txEl>
                                              <p:pRg st="1" end="1"/>
                                            </p:txEl>
                                          </p:spTgt>
                                        </p:tgtEl>
                                        <p:attrNameLst>
                                          <p:attrName>style.visibility</p:attrName>
                                        </p:attrNameLst>
                                      </p:cBhvr>
                                      <p:to>
                                        <p:strVal val="visible"/>
                                      </p:to>
                                    </p:set>
                                    <p:animEffect transition="in" filter="fade">
                                      <p:cBhvr>
                                        <p:cTn id="12" dur="500"/>
                                        <p:tgtEl>
                                          <p:spTgt spid="393234">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93234">
                                            <p:txEl>
                                              <p:pRg st="2" end="2"/>
                                            </p:txEl>
                                          </p:spTgt>
                                        </p:tgtEl>
                                        <p:attrNameLst>
                                          <p:attrName>style.visibility</p:attrName>
                                        </p:attrNameLst>
                                      </p:cBhvr>
                                      <p:to>
                                        <p:strVal val="visible"/>
                                      </p:to>
                                    </p:set>
                                    <p:animEffect transition="in" filter="fade">
                                      <p:cBhvr>
                                        <p:cTn id="15" dur="500"/>
                                        <p:tgtEl>
                                          <p:spTgt spid="393234">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93234">
                                            <p:txEl>
                                              <p:pRg st="3" end="3"/>
                                            </p:txEl>
                                          </p:spTgt>
                                        </p:tgtEl>
                                        <p:attrNameLst>
                                          <p:attrName>style.visibility</p:attrName>
                                        </p:attrNameLst>
                                      </p:cBhvr>
                                      <p:to>
                                        <p:strVal val="visible"/>
                                      </p:to>
                                    </p:set>
                                    <p:animEffect transition="in" filter="fade">
                                      <p:cBhvr>
                                        <p:cTn id="20" dur="500"/>
                                        <p:tgtEl>
                                          <p:spTgt spid="393234">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93234">
                                            <p:txEl>
                                              <p:pRg st="4" end="4"/>
                                            </p:txEl>
                                          </p:spTgt>
                                        </p:tgtEl>
                                        <p:attrNameLst>
                                          <p:attrName>style.visibility</p:attrName>
                                        </p:attrNameLst>
                                      </p:cBhvr>
                                      <p:to>
                                        <p:strVal val="visible"/>
                                      </p:to>
                                    </p:set>
                                    <p:animEffect transition="in" filter="fade">
                                      <p:cBhvr>
                                        <p:cTn id="25" dur="500"/>
                                        <p:tgtEl>
                                          <p:spTgt spid="393234">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93234">
                                            <p:txEl>
                                              <p:pRg st="5" end="5"/>
                                            </p:txEl>
                                          </p:spTgt>
                                        </p:tgtEl>
                                        <p:attrNameLst>
                                          <p:attrName>style.visibility</p:attrName>
                                        </p:attrNameLst>
                                      </p:cBhvr>
                                      <p:to>
                                        <p:strVal val="visible"/>
                                      </p:to>
                                    </p:set>
                                    <p:animEffect transition="in" filter="fade">
                                      <p:cBhvr>
                                        <p:cTn id="30" dur="500"/>
                                        <p:tgtEl>
                                          <p:spTgt spid="39323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234"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5919789" y="450850"/>
            <a:ext cx="47069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50000"/>
              </a:spcBef>
              <a:buClrTx/>
              <a:buFontTx/>
              <a:buNone/>
            </a:pPr>
            <a:r>
              <a:rPr lang="en-US" altLang="en-US" b="0" i="1">
                <a:solidFill>
                  <a:srgbClr val="FFFFFF"/>
                </a:solidFill>
              </a:rPr>
              <a:t>Web Mapping Defined</a:t>
            </a:r>
          </a:p>
        </p:txBody>
      </p:sp>
      <p:sp>
        <p:nvSpPr>
          <p:cNvPr id="395267" name="Text Box 3"/>
          <p:cNvSpPr txBox="1">
            <a:spLocks noChangeArrowheads="1"/>
          </p:cNvSpPr>
          <p:nvPr/>
        </p:nvSpPr>
        <p:spPr bwMode="auto">
          <a:xfrm>
            <a:off x="1473200" y="152400"/>
            <a:ext cx="44958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0000"/>
              </a:lnSpc>
              <a:spcBef>
                <a:spcPct val="20000"/>
              </a:spcBef>
              <a:defRPr/>
            </a:pPr>
            <a:r>
              <a:rPr lang="en-US" altLang="en-US" sz="2800" dirty="0">
                <a:effectLst>
                  <a:outerShdw blurRad="38100" dist="38100" dir="2700000" algn="tl">
                    <a:srgbClr val="000000"/>
                  </a:outerShdw>
                </a:effectLst>
              </a:rPr>
              <a:t>Web servers and map viewer clients interact to - </a:t>
            </a:r>
            <a:endParaRPr lang="en-US" altLang="en-US" sz="2000" dirty="0">
              <a:effectLst>
                <a:outerShdw blurRad="38100" dist="38100" dir="2700000" algn="tl">
                  <a:srgbClr val="000000"/>
                </a:outerShdw>
              </a:effectLst>
            </a:endParaRPr>
          </a:p>
        </p:txBody>
      </p:sp>
      <p:sp>
        <p:nvSpPr>
          <p:cNvPr id="395348" name="Text Box 84"/>
          <p:cNvSpPr txBox="1">
            <a:spLocks noChangeArrowheads="1"/>
          </p:cNvSpPr>
          <p:nvPr/>
        </p:nvSpPr>
        <p:spPr bwMode="auto">
          <a:xfrm>
            <a:off x="1357313" y="2462214"/>
            <a:ext cx="4495801"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nSpc>
                <a:spcPct val="80000"/>
              </a:lnSpc>
              <a:spcBef>
                <a:spcPct val="20000"/>
              </a:spcBef>
              <a:spcAft>
                <a:spcPct val="30000"/>
              </a:spcAft>
              <a:buFontTx/>
              <a:buChar char="•"/>
              <a:defRPr/>
            </a:pPr>
            <a:r>
              <a:rPr lang="en-US" altLang="en-US" dirty="0">
                <a:solidFill>
                  <a:schemeClr val="hlink"/>
                </a:solidFill>
                <a:effectLst>
                  <a:outerShdw blurRad="38100" dist="38100" dir="2700000" algn="tl">
                    <a:srgbClr val="000000"/>
                  </a:outerShdw>
                </a:effectLst>
              </a:rPr>
              <a:t> Display multiple layers of geographic data within a single web application</a:t>
            </a:r>
            <a:endParaRPr lang="en-US" altLang="en-US" dirty="0">
              <a:effectLst>
                <a:outerShdw blurRad="38100" dist="38100" dir="2700000" algn="tl">
                  <a:srgbClr val="000000"/>
                </a:outerShdw>
              </a:effectLst>
            </a:endParaRPr>
          </a:p>
        </p:txBody>
      </p:sp>
      <p:sp>
        <p:nvSpPr>
          <p:cNvPr id="395349" name="Text Box 85"/>
          <p:cNvSpPr txBox="1">
            <a:spLocks noChangeArrowheads="1"/>
          </p:cNvSpPr>
          <p:nvPr/>
        </p:nvSpPr>
        <p:spPr bwMode="auto">
          <a:xfrm>
            <a:off x="1308100" y="3543300"/>
            <a:ext cx="4419600"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nSpc>
                <a:spcPct val="80000"/>
              </a:lnSpc>
              <a:spcBef>
                <a:spcPct val="20000"/>
              </a:spcBef>
              <a:spcAft>
                <a:spcPct val="30000"/>
              </a:spcAft>
              <a:buFontTx/>
              <a:buChar char="•"/>
              <a:defRPr/>
            </a:pPr>
            <a:r>
              <a:rPr lang="en-US" altLang="en-US" dirty="0">
                <a:effectLst>
                  <a:outerShdw blurRad="38100" dist="38100" dir="2700000" algn="tl">
                    <a:srgbClr val="000000"/>
                  </a:outerShdw>
                </a:effectLst>
              </a:rPr>
              <a:t> </a:t>
            </a:r>
            <a:r>
              <a:rPr lang="en-US" altLang="en-US" dirty="0">
                <a:solidFill>
                  <a:schemeClr val="hlink"/>
                </a:solidFill>
                <a:effectLst>
                  <a:outerShdw blurRad="38100" dist="38100" dir="2700000" algn="tl">
                    <a:srgbClr val="000000"/>
                  </a:outerShdw>
                </a:effectLst>
              </a:rPr>
              <a:t>Query</a:t>
            </a:r>
            <a:r>
              <a:rPr lang="en-US" altLang="en-US" dirty="0">
                <a:effectLst>
                  <a:outerShdw blurRad="38100" dist="38100" dir="2700000" algn="tl">
                    <a:srgbClr val="000000"/>
                  </a:outerShdw>
                </a:effectLst>
              </a:rPr>
              <a:t> and update</a:t>
            </a:r>
          </a:p>
        </p:txBody>
      </p:sp>
      <p:sp>
        <p:nvSpPr>
          <p:cNvPr id="395350" name="Text Box 86"/>
          <p:cNvSpPr txBox="1">
            <a:spLocks noChangeArrowheads="1"/>
          </p:cNvSpPr>
          <p:nvPr/>
        </p:nvSpPr>
        <p:spPr bwMode="auto">
          <a:xfrm>
            <a:off x="1290638" y="4378326"/>
            <a:ext cx="4876801"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nSpc>
                <a:spcPct val="80000"/>
              </a:lnSpc>
              <a:spcBef>
                <a:spcPct val="20000"/>
              </a:spcBef>
              <a:spcAft>
                <a:spcPct val="30000"/>
              </a:spcAft>
              <a:buFontTx/>
              <a:buChar char="•"/>
              <a:defRPr/>
            </a:pPr>
            <a:r>
              <a:rPr lang="en-US" altLang="en-US" i="1" dirty="0">
                <a:effectLst>
                  <a:outerShdw blurRad="38100" dist="38100" dir="2700000" algn="tl">
                    <a:srgbClr val="000000"/>
                  </a:outerShdw>
                </a:effectLst>
              </a:rPr>
              <a:t> Provide interface for visualization, Decision Support, etc</a:t>
            </a:r>
            <a:r>
              <a:rPr lang="en-US" altLang="en-US" dirty="0">
                <a:effectLst>
                  <a:outerShdw blurRad="38100" dist="38100" dir="2700000" algn="tl">
                    <a:srgbClr val="000000"/>
                  </a:outerShdw>
                </a:effectLst>
              </a:rPr>
              <a:t>.</a:t>
            </a:r>
          </a:p>
        </p:txBody>
      </p:sp>
      <p:sp>
        <p:nvSpPr>
          <p:cNvPr id="395351" name="Text Box 87"/>
          <p:cNvSpPr txBox="1">
            <a:spLocks noChangeArrowheads="1"/>
          </p:cNvSpPr>
          <p:nvPr/>
        </p:nvSpPr>
        <p:spPr bwMode="auto">
          <a:xfrm>
            <a:off x="1716089" y="5540376"/>
            <a:ext cx="4435475"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0000"/>
              </a:lnSpc>
              <a:spcBef>
                <a:spcPct val="20000"/>
              </a:spcBef>
              <a:spcAft>
                <a:spcPct val="30000"/>
              </a:spcAft>
              <a:buFontTx/>
              <a:buChar char="•"/>
              <a:defRPr/>
            </a:pPr>
            <a:r>
              <a:rPr lang="en-US" altLang="en-US" dirty="0">
                <a:effectLst>
                  <a:outerShdw blurRad="38100" dist="38100" dir="2700000" algn="tl">
                    <a:srgbClr val="000000"/>
                  </a:outerShdw>
                </a:effectLst>
              </a:rPr>
              <a:t> Support geocoded raster, vector, matrix, and other data</a:t>
            </a:r>
          </a:p>
        </p:txBody>
      </p:sp>
      <p:sp>
        <p:nvSpPr>
          <p:cNvPr id="395352" name="Text Box 88"/>
          <p:cNvSpPr txBox="1">
            <a:spLocks noChangeArrowheads="1"/>
          </p:cNvSpPr>
          <p:nvPr/>
        </p:nvSpPr>
        <p:spPr bwMode="auto">
          <a:xfrm>
            <a:off x="1782764" y="1425576"/>
            <a:ext cx="382587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Tx/>
              <a:buChar char="•"/>
              <a:defRPr/>
            </a:pPr>
            <a:r>
              <a:rPr lang="en-US" altLang="en-US" dirty="0">
                <a:effectLst>
                  <a:outerShdw blurRad="38100" dist="38100" dir="2700000" algn="tl">
                    <a:srgbClr val="000000"/>
                  </a:outerShdw>
                </a:effectLst>
              </a:rPr>
              <a:t> </a:t>
            </a:r>
            <a:r>
              <a:rPr lang="en-US" altLang="en-US" dirty="0">
                <a:solidFill>
                  <a:schemeClr val="hlink"/>
                </a:solidFill>
                <a:effectLst>
                  <a:outerShdw blurRad="38100" dist="38100" dir="2700000" algn="tl">
                    <a:srgbClr val="000000"/>
                  </a:outerShdw>
                </a:effectLst>
              </a:rPr>
              <a:t>Discover, access and retrieve views from multiple servers</a:t>
            </a:r>
            <a:endParaRPr lang="en-US" altLang="en-US" dirty="0">
              <a:effectLst>
                <a:outerShdw blurRad="38100" dist="38100" dir="2700000" algn="tl">
                  <a:srgbClr val="000000"/>
                </a:outerShdw>
              </a:effectLst>
            </a:endParaRPr>
          </a:p>
        </p:txBody>
      </p:sp>
      <p:grpSp>
        <p:nvGrpSpPr>
          <p:cNvPr id="50185" name="Group 2"/>
          <p:cNvGrpSpPr>
            <a:grpSpLocks/>
          </p:cNvGrpSpPr>
          <p:nvPr/>
        </p:nvGrpSpPr>
        <p:grpSpPr bwMode="auto">
          <a:xfrm>
            <a:off x="5591176" y="1119188"/>
            <a:ext cx="5141916" cy="5422900"/>
            <a:chOff x="4006851" y="723900"/>
            <a:chExt cx="5141916" cy="5422900"/>
          </a:xfrm>
        </p:grpSpPr>
        <p:grpSp>
          <p:nvGrpSpPr>
            <p:cNvPr id="50186" name="Group 113"/>
            <p:cNvGrpSpPr>
              <a:grpSpLocks/>
            </p:cNvGrpSpPr>
            <p:nvPr/>
          </p:nvGrpSpPr>
          <p:grpSpPr bwMode="auto">
            <a:xfrm>
              <a:off x="8169279" y="3355976"/>
              <a:ext cx="979488" cy="1506538"/>
              <a:chOff x="5178" y="2618"/>
              <a:chExt cx="617" cy="949"/>
            </a:xfrm>
          </p:grpSpPr>
          <p:sp>
            <p:nvSpPr>
              <p:cNvPr id="50327" name="Line 114"/>
              <p:cNvSpPr>
                <a:spLocks noChangeShapeType="1"/>
              </p:cNvSpPr>
              <p:nvPr/>
            </p:nvSpPr>
            <p:spPr bwMode="auto">
              <a:xfrm flipV="1">
                <a:off x="5461" y="2618"/>
                <a:ext cx="0" cy="288"/>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0328" name="Group 115"/>
              <p:cNvGrpSpPr>
                <a:grpSpLocks/>
              </p:cNvGrpSpPr>
              <p:nvPr/>
            </p:nvGrpSpPr>
            <p:grpSpPr bwMode="auto">
              <a:xfrm>
                <a:off x="5244" y="2863"/>
                <a:ext cx="434" cy="327"/>
                <a:chOff x="4575" y="3370"/>
                <a:chExt cx="819" cy="627"/>
              </a:xfrm>
            </p:grpSpPr>
            <p:sp>
              <p:nvSpPr>
                <p:cNvPr id="395380" name="Rectangle 116"/>
                <p:cNvSpPr>
                  <a:spLocks noChangeArrowheads="1"/>
                </p:cNvSpPr>
                <p:nvPr/>
              </p:nvSpPr>
              <p:spPr bwMode="auto">
                <a:xfrm>
                  <a:off x="4583" y="3422"/>
                  <a:ext cx="808" cy="512"/>
                </a:xfrm>
                <a:prstGeom prst="rect">
                  <a:avLst/>
                </a:prstGeom>
                <a:gradFill rotWithShape="0">
                  <a:gsLst>
                    <a:gs pos="0">
                      <a:schemeClr val="bg1"/>
                    </a:gs>
                    <a:gs pos="50000">
                      <a:srgbClr val="B760F9"/>
                    </a:gs>
                    <a:gs pos="100000">
                      <a:schemeClr val="bg1"/>
                    </a:gs>
                  </a:gsLst>
                  <a:lin ang="0" scaled="1"/>
                </a:gra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395381" name="Oval 117"/>
                <p:cNvSpPr>
                  <a:spLocks noChangeArrowheads="1"/>
                </p:cNvSpPr>
                <p:nvPr/>
              </p:nvSpPr>
              <p:spPr bwMode="auto">
                <a:xfrm>
                  <a:off x="4586" y="3909"/>
                  <a:ext cx="808" cy="88"/>
                </a:xfrm>
                <a:prstGeom prst="ellipse">
                  <a:avLst/>
                </a:prstGeom>
                <a:gradFill rotWithShape="0">
                  <a:gsLst>
                    <a:gs pos="0">
                      <a:schemeClr val="bg1"/>
                    </a:gs>
                    <a:gs pos="50000">
                      <a:srgbClr val="B760F9"/>
                    </a:gs>
                    <a:gs pos="100000">
                      <a:schemeClr val="bg1"/>
                    </a:gs>
                  </a:gsLst>
                  <a:lin ang="0" scaled="1"/>
                </a:gra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50332" name="Oval 118"/>
                <p:cNvSpPr>
                  <a:spLocks noChangeArrowheads="1"/>
                </p:cNvSpPr>
                <p:nvPr/>
              </p:nvSpPr>
              <p:spPr bwMode="auto">
                <a:xfrm>
                  <a:off x="4582" y="3370"/>
                  <a:ext cx="808" cy="87"/>
                </a:xfrm>
                <a:prstGeom prst="ellipse">
                  <a:avLst/>
                </a:prstGeom>
                <a:gradFill rotWithShape="0">
                  <a:gsLst>
                    <a:gs pos="0">
                      <a:srgbClr val="B760F9"/>
                    </a:gs>
                    <a:gs pos="100000">
                      <a:schemeClr val="bg1"/>
                    </a:gs>
                  </a:gsLst>
                  <a:lin ang="0" scaled="1"/>
                </a:gra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395383" name="Oval 119"/>
                <p:cNvSpPr>
                  <a:spLocks noChangeArrowheads="1"/>
                </p:cNvSpPr>
                <p:nvPr/>
              </p:nvSpPr>
              <p:spPr bwMode="auto">
                <a:xfrm>
                  <a:off x="4575" y="3876"/>
                  <a:ext cx="817" cy="107"/>
                </a:xfrm>
                <a:prstGeom prst="ellipse">
                  <a:avLst/>
                </a:prstGeom>
                <a:gradFill rotWithShape="0">
                  <a:gsLst>
                    <a:gs pos="0">
                      <a:schemeClr val="bg1"/>
                    </a:gs>
                    <a:gs pos="50000">
                      <a:srgbClr val="B760F9"/>
                    </a:gs>
                    <a:gs pos="100000">
                      <a:schemeClr val="bg1"/>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grpSp>
          <p:sp>
            <p:nvSpPr>
              <p:cNvPr id="50329" name="Text Box 120"/>
              <p:cNvSpPr txBox="1">
                <a:spLocks noChangeArrowheads="1"/>
              </p:cNvSpPr>
              <p:nvPr/>
            </p:nvSpPr>
            <p:spPr bwMode="auto">
              <a:xfrm>
                <a:off x="5178" y="3160"/>
                <a:ext cx="617"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latin typeface="Times New Roman" panose="02020603050405020304" pitchFamily="18" charset="0"/>
                  </a:rPr>
                  <a:t>Federal</a:t>
                </a:r>
              </a:p>
              <a:p>
                <a:pPr>
                  <a:spcBef>
                    <a:spcPct val="0"/>
                  </a:spcBef>
                  <a:buClrTx/>
                  <a:buFontTx/>
                  <a:buNone/>
                </a:pPr>
                <a:r>
                  <a:rPr lang="en-US" altLang="en-US" sz="1800" b="0">
                    <a:latin typeface="Times New Roman" panose="02020603050405020304" pitchFamily="18" charset="0"/>
                  </a:rPr>
                  <a:t>Program</a:t>
                </a:r>
              </a:p>
            </p:txBody>
          </p:sp>
        </p:grpSp>
        <p:grpSp>
          <p:nvGrpSpPr>
            <p:cNvPr id="50187" name="Group 1"/>
            <p:cNvGrpSpPr>
              <a:grpSpLocks/>
            </p:cNvGrpSpPr>
            <p:nvPr/>
          </p:nvGrpSpPr>
          <p:grpSpPr bwMode="auto">
            <a:xfrm>
              <a:off x="4006851" y="723900"/>
              <a:ext cx="5086349" cy="5422900"/>
              <a:chOff x="4006851" y="723900"/>
              <a:chExt cx="5086349" cy="5422900"/>
            </a:xfrm>
          </p:grpSpPr>
          <p:grpSp>
            <p:nvGrpSpPr>
              <p:cNvPr id="50188" name="Group 4"/>
              <p:cNvGrpSpPr>
                <a:grpSpLocks/>
              </p:cNvGrpSpPr>
              <p:nvPr/>
            </p:nvGrpSpPr>
            <p:grpSpPr bwMode="auto">
              <a:xfrm>
                <a:off x="4792663" y="1497013"/>
                <a:ext cx="4249737" cy="989012"/>
                <a:chOff x="3051" y="1447"/>
                <a:chExt cx="2677" cy="623"/>
              </a:xfrm>
            </p:grpSpPr>
            <p:sp>
              <p:nvSpPr>
                <p:cNvPr id="50321" name="Rectangle 5"/>
                <p:cNvSpPr>
                  <a:spLocks noChangeArrowheads="1"/>
                </p:cNvSpPr>
                <p:nvPr/>
              </p:nvSpPr>
              <p:spPr bwMode="auto">
                <a:xfrm>
                  <a:off x="3051" y="1447"/>
                  <a:ext cx="2677" cy="623"/>
                </a:xfrm>
                <a:prstGeom prst="rect">
                  <a:avLst/>
                </a:prstGeom>
                <a:solidFill>
                  <a:srgbClr val="00CC66">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latin typeface="Times New Roman" panose="02020603050405020304" pitchFamily="18" charset="0"/>
                  </a:endParaRPr>
                </a:p>
              </p:txBody>
            </p:sp>
            <p:grpSp>
              <p:nvGrpSpPr>
                <p:cNvPr id="50322" name="Group 6"/>
                <p:cNvGrpSpPr>
                  <a:grpSpLocks/>
                </p:cNvGrpSpPr>
                <p:nvPr/>
              </p:nvGrpSpPr>
              <p:grpSpPr bwMode="auto">
                <a:xfrm>
                  <a:off x="4550" y="1471"/>
                  <a:ext cx="578" cy="555"/>
                  <a:chOff x="3562" y="1228"/>
                  <a:chExt cx="614" cy="535"/>
                </a:xfrm>
              </p:grpSpPr>
              <p:grpSp>
                <p:nvGrpSpPr>
                  <p:cNvPr id="50323" name="Group 7"/>
                  <p:cNvGrpSpPr>
                    <a:grpSpLocks/>
                  </p:cNvGrpSpPr>
                  <p:nvPr/>
                </p:nvGrpSpPr>
                <p:grpSpPr bwMode="auto">
                  <a:xfrm>
                    <a:off x="3562" y="1228"/>
                    <a:ext cx="614" cy="535"/>
                    <a:chOff x="3562" y="1228"/>
                    <a:chExt cx="614" cy="535"/>
                  </a:xfrm>
                </p:grpSpPr>
                <p:sp>
                  <p:nvSpPr>
                    <p:cNvPr id="50325" name="Freeform 8"/>
                    <p:cNvSpPr>
                      <a:spLocks/>
                    </p:cNvSpPr>
                    <p:nvPr/>
                  </p:nvSpPr>
                  <p:spPr bwMode="auto">
                    <a:xfrm>
                      <a:off x="3562" y="1228"/>
                      <a:ext cx="561" cy="483"/>
                    </a:xfrm>
                    <a:custGeom>
                      <a:avLst/>
                      <a:gdLst>
                        <a:gd name="T0" fmla="*/ 76 w 561"/>
                        <a:gd name="T1" fmla="*/ 0 h 483"/>
                        <a:gd name="T2" fmla="*/ 74 w 561"/>
                        <a:gd name="T3" fmla="*/ 336 h 483"/>
                        <a:gd name="T4" fmla="*/ 0 w 561"/>
                        <a:gd name="T5" fmla="*/ 442 h 483"/>
                        <a:gd name="T6" fmla="*/ 0 w 561"/>
                        <a:gd name="T7" fmla="*/ 480 h 483"/>
                        <a:gd name="T8" fmla="*/ 560 w 561"/>
                        <a:gd name="T9" fmla="*/ 482 h 483"/>
                        <a:gd name="T10" fmla="*/ 560 w 561"/>
                        <a:gd name="T11" fmla="*/ 442 h 483"/>
                        <a:gd name="T12" fmla="*/ 496 w 561"/>
                        <a:gd name="T13" fmla="*/ 342 h 483"/>
                        <a:gd name="T14" fmla="*/ 498 w 561"/>
                        <a:gd name="T15" fmla="*/ 8 h 483"/>
                        <a:gd name="T16" fmla="*/ 76 w 561"/>
                        <a:gd name="T17" fmla="*/ 0 h 4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61" h="483">
                          <a:moveTo>
                            <a:pt x="76" y="0"/>
                          </a:moveTo>
                          <a:lnTo>
                            <a:pt x="74" y="336"/>
                          </a:lnTo>
                          <a:lnTo>
                            <a:pt x="0" y="442"/>
                          </a:lnTo>
                          <a:lnTo>
                            <a:pt x="0" y="480"/>
                          </a:lnTo>
                          <a:lnTo>
                            <a:pt x="560" y="482"/>
                          </a:lnTo>
                          <a:lnTo>
                            <a:pt x="560" y="442"/>
                          </a:lnTo>
                          <a:lnTo>
                            <a:pt x="496" y="342"/>
                          </a:lnTo>
                          <a:lnTo>
                            <a:pt x="498" y="8"/>
                          </a:lnTo>
                          <a:lnTo>
                            <a:pt x="7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50326" name="Picture 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66" y="1233"/>
                      <a:ext cx="610" cy="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50324" name="Picture 1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672" y="1262"/>
                    <a:ext cx="39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grpSp>
            <p:nvGrpSpPr>
              <p:cNvPr id="50189" name="Group 11"/>
              <p:cNvGrpSpPr>
                <a:grpSpLocks/>
              </p:cNvGrpSpPr>
              <p:nvPr/>
            </p:nvGrpSpPr>
            <p:grpSpPr bwMode="auto">
              <a:xfrm>
                <a:off x="5511800" y="876300"/>
                <a:ext cx="2038350" cy="1889125"/>
                <a:chOff x="3504" y="1056"/>
                <a:chExt cx="1284" cy="1190"/>
              </a:xfrm>
            </p:grpSpPr>
            <p:sp>
              <p:nvSpPr>
                <p:cNvPr id="50283" name="AutoShape 12"/>
                <p:cNvSpPr>
                  <a:spLocks noChangeArrowheads="1"/>
                </p:cNvSpPr>
                <p:nvPr/>
              </p:nvSpPr>
              <p:spPr bwMode="auto">
                <a:xfrm>
                  <a:off x="3619" y="1405"/>
                  <a:ext cx="949" cy="223"/>
                </a:xfrm>
                <a:prstGeom prst="parallelogram">
                  <a:avLst>
                    <a:gd name="adj" fmla="val 106134"/>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84" name="Freeform 13"/>
                <p:cNvSpPr>
                  <a:spLocks/>
                </p:cNvSpPr>
                <p:nvPr/>
              </p:nvSpPr>
              <p:spPr bwMode="auto">
                <a:xfrm>
                  <a:off x="3924" y="1344"/>
                  <a:ext cx="432" cy="272"/>
                </a:xfrm>
                <a:custGeom>
                  <a:avLst/>
                  <a:gdLst>
                    <a:gd name="T0" fmla="*/ 2 w 815"/>
                    <a:gd name="T1" fmla="*/ 86 h 521"/>
                    <a:gd name="T2" fmla="*/ 7 w 815"/>
                    <a:gd name="T3" fmla="*/ 74 h 521"/>
                    <a:gd name="T4" fmla="*/ 10 w 815"/>
                    <a:gd name="T5" fmla="*/ 64 h 521"/>
                    <a:gd name="T6" fmla="*/ 17 w 815"/>
                    <a:gd name="T7" fmla="*/ 53 h 521"/>
                    <a:gd name="T8" fmla="*/ 25 w 815"/>
                    <a:gd name="T9" fmla="*/ 45 h 521"/>
                    <a:gd name="T10" fmla="*/ 17 w 815"/>
                    <a:gd name="T11" fmla="*/ 32 h 521"/>
                    <a:gd name="T12" fmla="*/ 24 w 815"/>
                    <a:gd name="T13" fmla="*/ 27 h 521"/>
                    <a:gd name="T14" fmla="*/ 39 w 815"/>
                    <a:gd name="T15" fmla="*/ 23 h 521"/>
                    <a:gd name="T16" fmla="*/ 54 w 815"/>
                    <a:gd name="T17" fmla="*/ 23 h 521"/>
                    <a:gd name="T18" fmla="*/ 64 w 815"/>
                    <a:gd name="T19" fmla="*/ 27 h 521"/>
                    <a:gd name="T20" fmla="*/ 76 w 815"/>
                    <a:gd name="T21" fmla="*/ 28 h 521"/>
                    <a:gd name="T22" fmla="*/ 81 w 815"/>
                    <a:gd name="T23" fmla="*/ 24 h 521"/>
                    <a:gd name="T24" fmla="*/ 86 w 815"/>
                    <a:gd name="T25" fmla="*/ 28 h 521"/>
                    <a:gd name="T26" fmla="*/ 94 w 815"/>
                    <a:gd name="T27" fmla="*/ 26 h 521"/>
                    <a:gd name="T28" fmla="*/ 109 w 815"/>
                    <a:gd name="T29" fmla="*/ 33 h 521"/>
                    <a:gd name="T30" fmla="*/ 115 w 815"/>
                    <a:gd name="T31" fmla="*/ 43 h 521"/>
                    <a:gd name="T32" fmla="*/ 126 w 815"/>
                    <a:gd name="T33" fmla="*/ 57 h 521"/>
                    <a:gd name="T34" fmla="*/ 134 w 815"/>
                    <a:gd name="T35" fmla="*/ 57 h 521"/>
                    <a:gd name="T36" fmla="*/ 124 w 815"/>
                    <a:gd name="T37" fmla="*/ 46 h 521"/>
                    <a:gd name="T38" fmla="*/ 105 w 815"/>
                    <a:gd name="T39" fmla="*/ 29 h 521"/>
                    <a:gd name="T40" fmla="*/ 102 w 815"/>
                    <a:gd name="T41" fmla="*/ 13 h 521"/>
                    <a:gd name="T42" fmla="*/ 121 w 815"/>
                    <a:gd name="T43" fmla="*/ 4 h 521"/>
                    <a:gd name="T44" fmla="*/ 130 w 815"/>
                    <a:gd name="T45" fmla="*/ 1 h 521"/>
                    <a:gd name="T46" fmla="*/ 142 w 815"/>
                    <a:gd name="T47" fmla="*/ 10 h 521"/>
                    <a:gd name="T48" fmla="*/ 141 w 815"/>
                    <a:gd name="T49" fmla="*/ 18 h 521"/>
                    <a:gd name="T50" fmla="*/ 153 w 815"/>
                    <a:gd name="T51" fmla="*/ 19 h 521"/>
                    <a:gd name="T52" fmla="*/ 162 w 815"/>
                    <a:gd name="T53" fmla="*/ 34 h 521"/>
                    <a:gd name="T54" fmla="*/ 180 w 815"/>
                    <a:gd name="T55" fmla="*/ 30 h 521"/>
                    <a:gd name="T56" fmla="*/ 193 w 815"/>
                    <a:gd name="T57" fmla="*/ 28 h 521"/>
                    <a:gd name="T58" fmla="*/ 207 w 815"/>
                    <a:gd name="T59" fmla="*/ 33 h 521"/>
                    <a:gd name="T60" fmla="*/ 221 w 815"/>
                    <a:gd name="T61" fmla="*/ 38 h 521"/>
                    <a:gd name="T62" fmla="*/ 228 w 815"/>
                    <a:gd name="T63" fmla="*/ 54 h 521"/>
                    <a:gd name="T64" fmla="*/ 225 w 815"/>
                    <a:gd name="T65" fmla="*/ 69 h 521"/>
                    <a:gd name="T66" fmla="*/ 212 w 815"/>
                    <a:gd name="T67" fmla="*/ 79 h 521"/>
                    <a:gd name="T68" fmla="*/ 200 w 815"/>
                    <a:gd name="T69" fmla="*/ 87 h 521"/>
                    <a:gd name="T70" fmla="*/ 191 w 815"/>
                    <a:gd name="T71" fmla="*/ 93 h 521"/>
                    <a:gd name="T72" fmla="*/ 180 w 815"/>
                    <a:gd name="T73" fmla="*/ 104 h 521"/>
                    <a:gd name="T74" fmla="*/ 170 w 815"/>
                    <a:gd name="T75" fmla="*/ 111 h 521"/>
                    <a:gd name="T76" fmla="*/ 153 w 815"/>
                    <a:gd name="T77" fmla="*/ 116 h 521"/>
                    <a:gd name="T78" fmla="*/ 139 w 815"/>
                    <a:gd name="T79" fmla="*/ 117 h 521"/>
                    <a:gd name="T80" fmla="*/ 131 w 815"/>
                    <a:gd name="T81" fmla="*/ 109 h 521"/>
                    <a:gd name="T82" fmla="*/ 121 w 815"/>
                    <a:gd name="T83" fmla="*/ 112 h 521"/>
                    <a:gd name="T84" fmla="*/ 114 w 815"/>
                    <a:gd name="T85" fmla="*/ 122 h 521"/>
                    <a:gd name="T86" fmla="*/ 107 w 815"/>
                    <a:gd name="T87" fmla="*/ 121 h 521"/>
                    <a:gd name="T88" fmla="*/ 107 w 815"/>
                    <a:gd name="T89" fmla="*/ 129 h 521"/>
                    <a:gd name="T90" fmla="*/ 105 w 815"/>
                    <a:gd name="T91" fmla="*/ 137 h 521"/>
                    <a:gd name="T92" fmla="*/ 86 w 815"/>
                    <a:gd name="T93" fmla="*/ 138 h 521"/>
                    <a:gd name="T94" fmla="*/ 92 w 815"/>
                    <a:gd name="T95" fmla="*/ 119 h 521"/>
                    <a:gd name="T96" fmla="*/ 99 w 815"/>
                    <a:gd name="T97" fmla="*/ 109 h 521"/>
                    <a:gd name="T98" fmla="*/ 91 w 815"/>
                    <a:gd name="T99" fmla="*/ 98 h 521"/>
                    <a:gd name="T100" fmla="*/ 82 w 815"/>
                    <a:gd name="T101" fmla="*/ 90 h 521"/>
                    <a:gd name="T102" fmla="*/ 63 w 815"/>
                    <a:gd name="T103" fmla="*/ 82 h 521"/>
                    <a:gd name="T104" fmla="*/ 55 w 815"/>
                    <a:gd name="T105" fmla="*/ 91 h 521"/>
                    <a:gd name="T106" fmla="*/ 38 w 815"/>
                    <a:gd name="T107" fmla="*/ 101 h 521"/>
                    <a:gd name="T108" fmla="*/ 23 w 815"/>
                    <a:gd name="T109" fmla="*/ 96 h 521"/>
                    <a:gd name="T110" fmla="*/ 11 w 815"/>
                    <a:gd name="T111" fmla="*/ 97 h 52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815" h="521">
                      <a:moveTo>
                        <a:pt x="15" y="338"/>
                      </a:moveTo>
                      <a:lnTo>
                        <a:pt x="8" y="334"/>
                      </a:lnTo>
                      <a:lnTo>
                        <a:pt x="0" y="330"/>
                      </a:lnTo>
                      <a:lnTo>
                        <a:pt x="7" y="315"/>
                      </a:lnTo>
                      <a:lnTo>
                        <a:pt x="10" y="306"/>
                      </a:lnTo>
                      <a:lnTo>
                        <a:pt x="15" y="293"/>
                      </a:lnTo>
                      <a:lnTo>
                        <a:pt x="21" y="281"/>
                      </a:lnTo>
                      <a:lnTo>
                        <a:pt x="26" y="272"/>
                      </a:lnTo>
                      <a:lnTo>
                        <a:pt x="29" y="266"/>
                      </a:lnTo>
                      <a:lnTo>
                        <a:pt x="29" y="259"/>
                      </a:lnTo>
                      <a:lnTo>
                        <a:pt x="30" y="243"/>
                      </a:lnTo>
                      <a:lnTo>
                        <a:pt x="35" y="235"/>
                      </a:lnTo>
                      <a:lnTo>
                        <a:pt x="44" y="232"/>
                      </a:lnTo>
                      <a:lnTo>
                        <a:pt x="53" y="212"/>
                      </a:lnTo>
                      <a:lnTo>
                        <a:pt x="58" y="202"/>
                      </a:lnTo>
                      <a:lnTo>
                        <a:pt x="63" y="196"/>
                      </a:lnTo>
                      <a:lnTo>
                        <a:pt x="73" y="186"/>
                      </a:lnTo>
                      <a:lnTo>
                        <a:pt x="78" y="183"/>
                      </a:lnTo>
                      <a:lnTo>
                        <a:pt x="87" y="176"/>
                      </a:lnTo>
                      <a:lnTo>
                        <a:pt x="91" y="164"/>
                      </a:lnTo>
                      <a:lnTo>
                        <a:pt x="84" y="156"/>
                      </a:lnTo>
                      <a:lnTo>
                        <a:pt x="73" y="146"/>
                      </a:lnTo>
                      <a:lnTo>
                        <a:pt x="62" y="127"/>
                      </a:lnTo>
                      <a:lnTo>
                        <a:pt x="62" y="117"/>
                      </a:lnTo>
                      <a:lnTo>
                        <a:pt x="65" y="112"/>
                      </a:lnTo>
                      <a:lnTo>
                        <a:pt x="67" y="106"/>
                      </a:lnTo>
                      <a:lnTo>
                        <a:pt x="75" y="101"/>
                      </a:lnTo>
                      <a:lnTo>
                        <a:pt x="87" y="99"/>
                      </a:lnTo>
                      <a:lnTo>
                        <a:pt x="89" y="92"/>
                      </a:lnTo>
                      <a:lnTo>
                        <a:pt x="94" y="86"/>
                      </a:lnTo>
                      <a:lnTo>
                        <a:pt x="128" y="82"/>
                      </a:lnTo>
                      <a:lnTo>
                        <a:pt x="139" y="84"/>
                      </a:lnTo>
                      <a:lnTo>
                        <a:pt x="146" y="86"/>
                      </a:lnTo>
                      <a:lnTo>
                        <a:pt x="153" y="80"/>
                      </a:lnTo>
                      <a:lnTo>
                        <a:pt x="174" y="81"/>
                      </a:lnTo>
                      <a:lnTo>
                        <a:pt x="190" y="86"/>
                      </a:lnTo>
                      <a:lnTo>
                        <a:pt x="205" y="88"/>
                      </a:lnTo>
                      <a:lnTo>
                        <a:pt x="215" y="94"/>
                      </a:lnTo>
                      <a:lnTo>
                        <a:pt x="223" y="96"/>
                      </a:lnTo>
                      <a:lnTo>
                        <a:pt x="228" y="98"/>
                      </a:lnTo>
                      <a:lnTo>
                        <a:pt x="235" y="95"/>
                      </a:lnTo>
                      <a:lnTo>
                        <a:pt x="246" y="92"/>
                      </a:lnTo>
                      <a:lnTo>
                        <a:pt x="259" y="97"/>
                      </a:lnTo>
                      <a:lnTo>
                        <a:pt x="269" y="101"/>
                      </a:lnTo>
                      <a:lnTo>
                        <a:pt x="274" y="106"/>
                      </a:lnTo>
                      <a:lnTo>
                        <a:pt x="279" y="98"/>
                      </a:lnTo>
                      <a:lnTo>
                        <a:pt x="283" y="91"/>
                      </a:lnTo>
                      <a:lnTo>
                        <a:pt x="286" y="89"/>
                      </a:lnTo>
                      <a:lnTo>
                        <a:pt x="293" y="98"/>
                      </a:lnTo>
                      <a:lnTo>
                        <a:pt x="298" y="105"/>
                      </a:lnTo>
                      <a:lnTo>
                        <a:pt x="301" y="106"/>
                      </a:lnTo>
                      <a:lnTo>
                        <a:pt x="305" y="102"/>
                      </a:lnTo>
                      <a:lnTo>
                        <a:pt x="311" y="94"/>
                      </a:lnTo>
                      <a:lnTo>
                        <a:pt x="319" y="97"/>
                      </a:lnTo>
                      <a:lnTo>
                        <a:pt x="330" y="93"/>
                      </a:lnTo>
                      <a:lnTo>
                        <a:pt x="336" y="93"/>
                      </a:lnTo>
                      <a:lnTo>
                        <a:pt x="349" y="98"/>
                      </a:lnTo>
                      <a:lnTo>
                        <a:pt x="363" y="106"/>
                      </a:lnTo>
                      <a:lnTo>
                        <a:pt x="374" y="114"/>
                      </a:lnTo>
                      <a:lnTo>
                        <a:pt x="386" y="121"/>
                      </a:lnTo>
                      <a:lnTo>
                        <a:pt x="391" y="132"/>
                      </a:lnTo>
                      <a:lnTo>
                        <a:pt x="400" y="140"/>
                      </a:lnTo>
                      <a:lnTo>
                        <a:pt x="410" y="148"/>
                      </a:lnTo>
                      <a:lnTo>
                        <a:pt x="409" y="158"/>
                      </a:lnTo>
                      <a:lnTo>
                        <a:pt x="417" y="168"/>
                      </a:lnTo>
                      <a:lnTo>
                        <a:pt x="432" y="175"/>
                      </a:lnTo>
                      <a:lnTo>
                        <a:pt x="433" y="192"/>
                      </a:lnTo>
                      <a:lnTo>
                        <a:pt x="448" y="209"/>
                      </a:lnTo>
                      <a:lnTo>
                        <a:pt x="461" y="216"/>
                      </a:lnTo>
                      <a:lnTo>
                        <a:pt x="476" y="220"/>
                      </a:lnTo>
                      <a:lnTo>
                        <a:pt x="495" y="228"/>
                      </a:lnTo>
                      <a:lnTo>
                        <a:pt x="477" y="208"/>
                      </a:lnTo>
                      <a:lnTo>
                        <a:pt x="468" y="193"/>
                      </a:lnTo>
                      <a:lnTo>
                        <a:pt x="456" y="191"/>
                      </a:lnTo>
                      <a:lnTo>
                        <a:pt x="452" y="188"/>
                      </a:lnTo>
                      <a:lnTo>
                        <a:pt x="441" y="168"/>
                      </a:lnTo>
                      <a:lnTo>
                        <a:pt x="418" y="143"/>
                      </a:lnTo>
                      <a:lnTo>
                        <a:pt x="407" y="135"/>
                      </a:lnTo>
                      <a:lnTo>
                        <a:pt x="403" y="122"/>
                      </a:lnTo>
                      <a:lnTo>
                        <a:pt x="376" y="106"/>
                      </a:lnTo>
                      <a:lnTo>
                        <a:pt x="370" y="99"/>
                      </a:lnTo>
                      <a:lnTo>
                        <a:pt x="350" y="79"/>
                      </a:lnTo>
                      <a:lnTo>
                        <a:pt x="352" y="55"/>
                      </a:lnTo>
                      <a:lnTo>
                        <a:pt x="362" y="46"/>
                      </a:lnTo>
                      <a:lnTo>
                        <a:pt x="390" y="39"/>
                      </a:lnTo>
                      <a:lnTo>
                        <a:pt x="411" y="41"/>
                      </a:lnTo>
                      <a:lnTo>
                        <a:pt x="419" y="22"/>
                      </a:lnTo>
                      <a:lnTo>
                        <a:pt x="432" y="14"/>
                      </a:lnTo>
                      <a:lnTo>
                        <a:pt x="446" y="9"/>
                      </a:lnTo>
                      <a:lnTo>
                        <a:pt x="458" y="0"/>
                      </a:lnTo>
                      <a:lnTo>
                        <a:pt x="458" y="17"/>
                      </a:lnTo>
                      <a:lnTo>
                        <a:pt x="465" y="1"/>
                      </a:lnTo>
                      <a:lnTo>
                        <a:pt x="482" y="8"/>
                      </a:lnTo>
                      <a:lnTo>
                        <a:pt x="487" y="16"/>
                      </a:lnTo>
                      <a:lnTo>
                        <a:pt x="497" y="34"/>
                      </a:lnTo>
                      <a:lnTo>
                        <a:pt x="504" y="36"/>
                      </a:lnTo>
                      <a:lnTo>
                        <a:pt x="510" y="48"/>
                      </a:lnTo>
                      <a:lnTo>
                        <a:pt x="501" y="50"/>
                      </a:lnTo>
                      <a:lnTo>
                        <a:pt x="502" y="60"/>
                      </a:lnTo>
                      <a:lnTo>
                        <a:pt x="501" y="66"/>
                      </a:lnTo>
                      <a:lnTo>
                        <a:pt x="510" y="75"/>
                      </a:lnTo>
                      <a:lnTo>
                        <a:pt x="521" y="76"/>
                      </a:lnTo>
                      <a:lnTo>
                        <a:pt x="537" y="78"/>
                      </a:lnTo>
                      <a:lnTo>
                        <a:pt x="546" y="70"/>
                      </a:lnTo>
                      <a:lnTo>
                        <a:pt x="557" y="76"/>
                      </a:lnTo>
                      <a:lnTo>
                        <a:pt x="569" y="97"/>
                      </a:lnTo>
                      <a:lnTo>
                        <a:pt x="575" y="117"/>
                      </a:lnTo>
                      <a:lnTo>
                        <a:pt x="578" y="124"/>
                      </a:lnTo>
                      <a:lnTo>
                        <a:pt x="599" y="113"/>
                      </a:lnTo>
                      <a:lnTo>
                        <a:pt x="615" y="120"/>
                      </a:lnTo>
                      <a:lnTo>
                        <a:pt x="629" y="116"/>
                      </a:lnTo>
                      <a:lnTo>
                        <a:pt x="642" y="111"/>
                      </a:lnTo>
                      <a:lnTo>
                        <a:pt x="648" y="124"/>
                      </a:lnTo>
                      <a:lnTo>
                        <a:pt x="661" y="115"/>
                      </a:lnTo>
                      <a:lnTo>
                        <a:pt x="671" y="104"/>
                      </a:lnTo>
                      <a:lnTo>
                        <a:pt x="687" y="102"/>
                      </a:lnTo>
                      <a:lnTo>
                        <a:pt x="702" y="107"/>
                      </a:lnTo>
                      <a:lnTo>
                        <a:pt x="716" y="100"/>
                      </a:lnTo>
                      <a:lnTo>
                        <a:pt x="732" y="107"/>
                      </a:lnTo>
                      <a:lnTo>
                        <a:pt x="737" y="123"/>
                      </a:lnTo>
                      <a:lnTo>
                        <a:pt x="752" y="121"/>
                      </a:lnTo>
                      <a:lnTo>
                        <a:pt x="761" y="119"/>
                      </a:lnTo>
                      <a:lnTo>
                        <a:pt x="778" y="129"/>
                      </a:lnTo>
                      <a:lnTo>
                        <a:pt x="787" y="137"/>
                      </a:lnTo>
                      <a:lnTo>
                        <a:pt x="789" y="152"/>
                      </a:lnTo>
                      <a:lnTo>
                        <a:pt x="804" y="168"/>
                      </a:lnTo>
                      <a:lnTo>
                        <a:pt x="806" y="189"/>
                      </a:lnTo>
                      <a:lnTo>
                        <a:pt x="814" y="199"/>
                      </a:lnTo>
                      <a:lnTo>
                        <a:pt x="811" y="216"/>
                      </a:lnTo>
                      <a:lnTo>
                        <a:pt x="813" y="228"/>
                      </a:lnTo>
                      <a:lnTo>
                        <a:pt x="804" y="243"/>
                      </a:lnTo>
                      <a:lnTo>
                        <a:pt x="800" y="255"/>
                      </a:lnTo>
                      <a:lnTo>
                        <a:pt x="791" y="260"/>
                      </a:lnTo>
                      <a:lnTo>
                        <a:pt x="779" y="264"/>
                      </a:lnTo>
                      <a:lnTo>
                        <a:pt x="767" y="271"/>
                      </a:lnTo>
                      <a:lnTo>
                        <a:pt x="754" y="291"/>
                      </a:lnTo>
                      <a:lnTo>
                        <a:pt x="747" y="291"/>
                      </a:lnTo>
                      <a:lnTo>
                        <a:pt x="743" y="304"/>
                      </a:lnTo>
                      <a:lnTo>
                        <a:pt x="734" y="310"/>
                      </a:lnTo>
                      <a:lnTo>
                        <a:pt x="713" y="319"/>
                      </a:lnTo>
                      <a:lnTo>
                        <a:pt x="702" y="339"/>
                      </a:lnTo>
                      <a:lnTo>
                        <a:pt x="699" y="340"/>
                      </a:lnTo>
                      <a:lnTo>
                        <a:pt x="692" y="349"/>
                      </a:lnTo>
                      <a:lnTo>
                        <a:pt x="681" y="343"/>
                      </a:lnTo>
                      <a:lnTo>
                        <a:pt x="672" y="357"/>
                      </a:lnTo>
                      <a:lnTo>
                        <a:pt x="658" y="365"/>
                      </a:lnTo>
                      <a:lnTo>
                        <a:pt x="644" y="368"/>
                      </a:lnTo>
                      <a:lnTo>
                        <a:pt x="639" y="381"/>
                      </a:lnTo>
                      <a:lnTo>
                        <a:pt x="621" y="366"/>
                      </a:lnTo>
                      <a:lnTo>
                        <a:pt x="625" y="386"/>
                      </a:lnTo>
                      <a:lnTo>
                        <a:pt x="620" y="400"/>
                      </a:lnTo>
                      <a:lnTo>
                        <a:pt x="606" y="407"/>
                      </a:lnTo>
                      <a:lnTo>
                        <a:pt x="596" y="418"/>
                      </a:lnTo>
                      <a:lnTo>
                        <a:pt x="570" y="414"/>
                      </a:lnTo>
                      <a:lnTo>
                        <a:pt x="557" y="418"/>
                      </a:lnTo>
                      <a:lnTo>
                        <a:pt x="545" y="427"/>
                      </a:lnTo>
                      <a:lnTo>
                        <a:pt x="526" y="426"/>
                      </a:lnTo>
                      <a:lnTo>
                        <a:pt x="512" y="428"/>
                      </a:lnTo>
                      <a:lnTo>
                        <a:pt x="506" y="435"/>
                      </a:lnTo>
                      <a:lnTo>
                        <a:pt x="494" y="430"/>
                      </a:lnTo>
                      <a:lnTo>
                        <a:pt x="478" y="423"/>
                      </a:lnTo>
                      <a:lnTo>
                        <a:pt x="471" y="411"/>
                      </a:lnTo>
                      <a:lnTo>
                        <a:pt x="460" y="416"/>
                      </a:lnTo>
                      <a:lnTo>
                        <a:pt x="466" y="401"/>
                      </a:lnTo>
                      <a:lnTo>
                        <a:pt x="472" y="379"/>
                      </a:lnTo>
                      <a:lnTo>
                        <a:pt x="457" y="399"/>
                      </a:lnTo>
                      <a:lnTo>
                        <a:pt x="447" y="403"/>
                      </a:lnTo>
                      <a:lnTo>
                        <a:pt x="432" y="410"/>
                      </a:lnTo>
                      <a:lnTo>
                        <a:pt x="421" y="415"/>
                      </a:lnTo>
                      <a:lnTo>
                        <a:pt x="414" y="423"/>
                      </a:lnTo>
                      <a:lnTo>
                        <a:pt x="410" y="437"/>
                      </a:lnTo>
                      <a:lnTo>
                        <a:pt x="408" y="448"/>
                      </a:lnTo>
                      <a:lnTo>
                        <a:pt x="395" y="432"/>
                      </a:lnTo>
                      <a:lnTo>
                        <a:pt x="387" y="426"/>
                      </a:lnTo>
                      <a:lnTo>
                        <a:pt x="384" y="434"/>
                      </a:lnTo>
                      <a:lnTo>
                        <a:pt x="380" y="442"/>
                      </a:lnTo>
                      <a:lnTo>
                        <a:pt x="384" y="454"/>
                      </a:lnTo>
                      <a:lnTo>
                        <a:pt x="381" y="460"/>
                      </a:lnTo>
                      <a:lnTo>
                        <a:pt x="378" y="467"/>
                      </a:lnTo>
                      <a:lnTo>
                        <a:pt x="379" y="474"/>
                      </a:lnTo>
                      <a:lnTo>
                        <a:pt x="380" y="482"/>
                      </a:lnTo>
                      <a:lnTo>
                        <a:pt x="369" y="483"/>
                      </a:lnTo>
                      <a:lnTo>
                        <a:pt x="371" y="496"/>
                      </a:lnTo>
                      <a:lnTo>
                        <a:pt x="373" y="503"/>
                      </a:lnTo>
                      <a:lnTo>
                        <a:pt x="358" y="501"/>
                      </a:lnTo>
                      <a:lnTo>
                        <a:pt x="347" y="507"/>
                      </a:lnTo>
                      <a:lnTo>
                        <a:pt x="333" y="520"/>
                      </a:lnTo>
                      <a:lnTo>
                        <a:pt x="305" y="506"/>
                      </a:lnTo>
                      <a:lnTo>
                        <a:pt x="318" y="487"/>
                      </a:lnTo>
                      <a:lnTo>
                        <a:pt x="334" y="475"/>
                      </a:lnTo>
                      <a:lnTo>
                        <a:pt x="334" y="461"/>
                      </a:lnTo>
                      <a:lnTo>
                        <a:pt x="326" y="434"/>
                      </a:lnTo>
                      <a:lnTo>
                        <a:pt x="335" y="426"/>
                      </a:lnTo>
                      <a:lnTo>
                        <a:pt x="343" y="428"/>
                      </a:lnTo>
                      <a:lnTo>
                        <a:pt x="344" y="411"/>
                      </a:lnTo>
                      <a:lnTo>
                        <a:pt x="352" y="399"/>
                      </a:lnTo>
                      <a:lnTo>
                        <a:pt x="356" y="388"/>
                      </a:lnTo>
                      <a:lnTo>
                        <a:pt x="346" y="376"/>
                      </a:lnTo>
                      <a:lnTo>
                        <a:pt x="333" y="368"/>
                      </a:lnTo>
                      <a:lnTo>
                        <a:pt x="323" y="360"/>
                      </a:lnTo>
                      <a:lnTo>
                        <a:pt x="323" y="357"/>
                      </a:lnTo>
                      <a:lnTo>
                        <a:pt x="309" y="343"/>
                      </a:lnTo>
                      <a:lnTo>
                        <a:pt x="304" y="332"/>
                      </a:lnTo>
                      <a:lnTo>
                        <a:pt x="290" y="331"/>
                      </a:lnTo>
                      <a:lnTo>
                        <a:pt x="280" y="323"/>
                      </a:lnTo>
                      <a:lnTo>
                        <a:pt x="262" y="313"/>
                      </a:lnTo>
                      <a:lnTo>
                        <a:pt x="244" y="303"/>
                      </a:lnTo>
                      <a:lnTo>
                        <a:pt x="225" y="302"/>
                      </a:lnTo>
                      <a:lnTo>
                        <a:pt x="212" y="308"/>
                      </a:lnTo>
                      <a:lnTo>
                        <a:pt x="216" y="326"/>
                      </a:lnTo>
                      <a:lnTo>
                        <a:pt x="209" y="330"/>
                      </a:lnTo>
                      <a:lnTo>
                        <a:pt x="194" y="336"/>
                      </a:lnTo>
                      <a:lnTo>
                        <a:pt x="186" y="346"/>
                      </a:lnTo>
                      <a:lnTo>
                        <a:pt x="168" y="350"/>
                      </a:lnTo>
                      <a:lnTo>
                        <a:pt x="154" y="353"/>
                      </a:lnTo>
                      <a:lnTo>
                        <a:pt x="136" y="372"/>
                      </a:lnTo>
                      <a:lnTo>
                        <a:pt x="127" y="358"/>
                      </a:lnTo>
                      <a:lnTo>
                        <a:pt x="110" y="353"/>
                      </a:lnTo>
                      <a:lnTo>
                        <a:pt x="97" y="358"/>
                      </a:lnTo>
                      <a:lnTo>
                        <a:pt x="83" y="352"/>
                      </a:lnTo>
                      <a:lnTo>
                        <a:pt x="67" y="354"/>
                      </a:lnTo>
                      <a:lnTo>
                        <a:pt x="56" y="344"/>
                      </a:lnTo>
                      <a:lnTo>
                        <a:pt x="48" y="350"/>
                      </a:lnTo>
                      <a:lnTo>
                        <a:pt x="38" y="354"/>
                      </a:lnTo>
                      <a:lnTo>
                        <a:pt x="27" y="347"/>
                      </a:lnTo>
                      <a:lnTo>
                        <a:pt x="14" y="338"/>
                      </a:lnTo>
                      <a:lnTo>
                        <a:pt x="15" y="338"/>
                      </a:lnTo>
                    </a:path>
                  </a:pathLst>
                </a:custGeom>
                <a:solidFill>
                  <a:srgbClr val="037C03"/>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285" name="Freeform 14"/>
                <p:cNvSpPr>
                  <a:spLocks/>
                </p:cNvSpPr>
                <p:nvPr/>
              </p:nvSpPr>
              <p:spPr bwMode="auto">
                <a:xfrm>
                  <a:off x="4199" y="1591"/>
                  <a:ext cx="9" cy="9"/>
                </a:xfrm>
                <a:custGeom>
                  <a:avLst/>
                  <a:gdLst>
                    <a:gd name="T0" fmla="*/ 4 w 17"/>
                    <a:gd name="T1" fmla="*/ 4 h 17"/>
                    <a:gd name="T2" fmla="*/ 2 w 17"/>
                    <a:gd name="T3" fmla="*/ 3 h 17"/>
                    <a:gd name="T4" fmla="*/ 0 w 17"/>
                    <a:gd name="T5" fmla="*/ 0 h 17"/>
                    <a:gd name="T6" fmla="*/ 4 w 17"/>
                    <a:gd name="T7" fmla="*/ 4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16" y="16"/>
                      </a:moveTo>
                      <a:lnTo>
                        <a:pt x="5" y="9"/>
                      </a:lnTo>
                      <a:lnTo>
                        <a:pt x="0" y="0"/>
                      </a:lnTo>
                      <a:lnTo>
                        <a:pt x="16" y="16"/>
                      </a:lnTo>
                    </a:path>
                  </a:pathLst>
                </a:custGeom>
                <a:solidFill>
                  <a:srgbClr val="037C03"/>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286" name="Freeform 15"/>
                <p:cNvSpPr>
                  <a:spLocks/>
                </p:cNvSpPr>
                <p:nvPr/>
              </p:nvSpPr>
              <p:spPr bwMode="auto">
                <a:xfrm>
                  <a:off x="4195" y="1562"/>
                  <a:ext cx="113" cy="60"/>
                </a:xfrm>
                <a:custGeom>
                  <a:avLst/>
                  <a:gdLst>
                    <a:gd name="T0" fmla="*/ 18 w 213"/>
                    <a:gd name="T1" fmla="*/ 31 h 114"/>
                    <a:gd name="T2" fmla="*/ 16 w 213"/>
                    <a:gd name="T3" fmla="*/ 28 h 114"/>
                    <a:gd name="T4" fmla="*/ 16 w 213"/>
                    <a:gd name="T5" fmla="*/ 27 h 114"/>
                    <a:gd name="T6" fmla="*/ 16 w 213"/>
                    <a:gd name="T7" fmla="*/ 25 h 114"/>
                    <a:gd name="T8" fmla="*/ 15 w 213"/>
                    <a:gd name="T9" fmla="*/ 22 h 114"/>
                    <a:gd name="T10" fmla="*/ 15 w 213"/>
                    <a:gd name="T11" fmla="*/ 20 h 114"/>
                    <a:gd name="T12" fmla="*/ 12 w 213"/>
                    <a:gd name="T13" fmla="*/ 18 h 114"/>
                    <a:gd name="T14" fmla="*/ 6 w 213"/>
                    <a:gd name="T15" fmla="*/ 19 h 114"/>
                    <a:gd name="T16" fmla="*/ 2 w 213"/>
                    <a:gd name="T17" fmla="*/ 18 h 114"/>
                    <a:gd name="T18" fmla="*/ 0 w 213"/>
                    <a:gd name="T19" fmla="*/ 18 h 114"/>
                    <a:gd name="T20" fmla="*/ 3 w 213"/>
                    <a:gd name="T21" fmla="*/ 13 h 114"/>
                    <a:gd name="T22" fmla="*/ 6 w 213"/>
                    <a:gd name="T23" fmla="*/ 15 h 114"/>
                    <a:gd name="T24" fmla="*/ 10 w 213"/>
                    <a:gd name="T25" fmla="*/ 13 h 114"/>
                    <a:gd name="T26" fmla="*/ 11 w 213"/>
                    <a:gd name="T27" fmla="*/ 11 h 114"/>
                    <a:gd name="T28" fmla="*/ 12 w 213"/>
                    <a:gd name="T29" fmla="*/ 8 h 114"/>
                    <a:gd name="T30" fmla="*/ 13 w 213"/>
                    <a:gd name="T31" fmla="*/ 6 h 114"/>
                    <a:gd name="T32" fmla="*/ 18 w 213"/>
                    <a:gd name="T33" fmla="*/ 4 h 114"/>
                    <a:gd name="T34" fmla="*/ 20 w 213"/>
                    <a:gd name="T35" fmla="*/ 2 h 114"/>
                    <a:gd name="T36" fmla="*/ 23 w 213"/>
                    <a:gd name="T37" fmla="*/ 2 h 114"/>
                    <a:gd name="T38" fmla="*/ 27 w 213"/>
                    <a:gd name="T39" fmla="*/ 0 h 114"/>
                    <a:gd name="T40" fmla="*/ 29 w 213"/>
                    <a:gd name="T41" fmla="*/ 2 h 114"/>
                    <a:gd name="T42" fmla="*/ 30 w 213"/>
                    <a:gd name="T43" fmla="*/ 4 h 114"/>
                    <a:gd name="T44" fmla="*/ 33 w 213"/>
                    <a:gd name="T45" fmla="*/ 6 h 114"/>
                    <a:gd name="T46" fmla="*/ 35 w 213"/>
                    <a:gd name="T47" fmla="*/ 9 h 114"/>
                    <a:gd name="T48" fmla="*/ 38 w 213"/>
                    <a:gd name="T49" fmla="*/ 12 h 114"/>
                    <a:gd name="T50" fmla="*/ 40 w 213"/>
                    <a:gd name="T51" fmla="*/ 11 h 114"/>
                    <a:gd name="T52" fmla="*/ 42 w 213"/>
                    <a:gd name="T53" fmla="*/ 9 h 114"/>
                    <a:gd name="T54" fmla="*/ 44 w 213"/>
                    <a:gd name="T55" fmla="*/ 6 h 114"/>
                    <a:gd name="T56" fmla="*/ 46 w 213"/>
                    <a:gd name="T57" fmla="*/ 7 h 114"/>
                    <a:gd name="T58" fmla="*/ 48 w 213"/>
                    <a:gd name="T59" fmla="*/ 7 h 114"/>
                    <a:gd name="T60" fmla="*/ 49 w 213"/>
                    <a:gd name="T61" fmla="*/ 5 h 114"/>
                    <a:gd name="T62" fmla="*/ 52 w 213"/>
                    <a:gd name="T63" fmla="*/ 6 h 114"/>
                    <a:gd name="T64" fmla="*/ 58 w 213"/>
                    <a:gd name="T65" fmla="*/ 6 h 114"/>
                    <a:gd name="T66" fmla="*/ 59 w 213"/>
                    <a:gd name="T67" fmla="*/ 8 h 114"/>
                    <a:gd name="T68" fmla="*/ 59 w 213"/>
                    <a:gd name="T69" fmla="*/ 9 h 114"/>
                    <a:gd name="T70" fmla="*/ 57 w 213"/>
                    <a:gd name="T71" fmla="*/ 9 h 114"/>
                    <a:gd name="T72" fmla="*/ 54 w 213"/>
                    <a:gd name="T73" fmla="*/ 9 h 114"/>
                    <a:gd name="T74" fmla="*/ 51 w 213"/>
                    <a:gd name="T75" fmla="*/ 11 h 114"/>
                    <a:gd name="T76" fmla="*/ 50 w 213"/>
                    <a:gd name="T77" fmla="*/ 11 h 114"/>
                    <a:gd name="T78" fmla="*/ 48 w 213"/>
                    <a:gd name="T79" fmla="*/ 14 h 114"/>
                    <a:gd name="T80" fmla="*/ 44 w 213"/>
                    <a:gd name="T81" fmla="*/ 14 h 114"/>
                    <a:gd name="T82" fmla="*/ 42 w 213"/>
                    <a:gd name="T83" fmla="*/ 14 h 114"/>
                    <a:gd name="T84" fmla="*/ 40 w 213"/>
                    <a:gd name="T85" fmla="*/ 17 h 114"/>
                    <a:gd name="T86" fmla="*/ 39 w 213"/>
                    <a:gd name="T87" fmla="*/ 18 h 114"/>
                    <a:gd name="T88" fmla="*/ 38 w 213"/>
                    <a:gd name="T89" fmla="*/ 20 h 114"/>
                    <a:gd name="T90" fmla="*/ 35 w 213"/>
                    <a:gd name="T91" fmla="*/ 21 h 114"/>
                    <a:gd name="T92" fmla="*/ 31 w 213"/>
                    <a:gd name="T93" fmla="*/ 22 h 114"/>
                    <a:gd name="T94" fmla="*/ 30 w 213"/>
                    <a:gd name="T95" fmla="*/ 24 h 114"/>
                    <a:gd name="T96" fmla="*/ 29 w 213"/>
                    <a:gd name="T97" fmla="*/ 27 h 114"/>
                    <a:gd name="T98" fmla="*/ 27 w 213"/>
                    <a:gd name="T99" fmla="*/ 29 h 114"/>
                    <a:gd name="T100" fmla="*/ 25 w 213"/>
                    <a:gd name="T101" fmla="*/ 30 h 114"/>
                    <a:gd name="T102" fmla="*/ 22 w 213"/>
                    <a:gd name="T103" fmla="*/ 31 h 114"/>
                    <a:gd name="T104" fmla="*/ 18 w 213"/>
                    <a:gd name="T105" fmla="*/ 31 h 11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13" h="114">
                      <a:moveTo>
                        <a:pt x="62" y="111"/>
                      </a:moveTo>
                      <a:lnTo>
                        <a:pt x="59" y="103"/>
                      </a:lnTo>
                      <a:lnTo>
                        <a:pt x="58" y="96"/>
                      </a:lnTo>
                      <a:lnTo>
                        <a:pt x="59" y="89"/>
                      </a:lnTo>
                      <a:lnTo>
                        <a:pt x="54" y="80"/>
                      </a:lnTo>
                      <a:lnTo>
                        <a:pt x="52" y="72"/>
                      </a:lnTo>
                      <a:lnTo>
                        <a:pt x="41" y="67"/>
                      </a:lnTo>
                      <a:lnTo>
                        <a:pt x="23" y="68"/>
                      </a:lnTo>
                      <a:lnTo>
                        <a:pt x="7" y="67"/>
                      </a:lnTo>
                      <a:lnTo>
                        <a:pt x="0" y="64"/>
                      </a:lnTo>
                      <a:lnTo>
                        <a:pt x="11" y="46"/>
                      </a:lnTo>
                      <a:lnTo>
                        <a:pt x="21" y="55"/>
                      </a:lnTo>
                      <a:lnTo>
                        <a:pt x="35" y="47"/>
                      </a:lnTo>
                      <a:lnTo>
                        <a:pt x="39" y="39"/>
                      </a:lnTo>
                      <a:lnTo>
                        <a:pt x="44" y="28"/>
                      </a:lnTo>
                      <a:lnTo>
                        <a:pt x="47" y="20"/>
                      </a:lnTo>
                      <a:lnTo>
                        <a:pt x="62" y="15"/>
                      </a:lnTo>
                      <a:lnTo>
                        <a:pt x="69" y="8"/>
                      </a:lnTo>
                      <a:lnTo>
                        <a:pt x="81" y="6"/>
                      </a:lnTo>
                      <a:lnTo>
                        <a:pt x="94" y="0"/>
                      </a:lnTo>
                      <a:lnTo>
                        <a:pt x="103" y="6"/>
                      </a:lnTo>
                      <a:lnTo>
                        <a:pt x="108" y="16"/>
                      </a:lnTo>
                      <a:lnTo>
                        <a:pt x="119" y="23"/>
                      </a:lnTo>
                      <a:lnTo>
                        <a:pt x="125" y="32"/>
                      </a:lnTo>
                      <a:lnTo>
                        <a:pt x="135" y="43"/>
                      </a:lnTo>
                      <a:lnTo>
                        <a:pt x="142" y="38"/>
                      </a:lnTo>
                      <a:lnTo>
                        <a:pt x="150" y="33"/>
                      </a:lnTo>
                      <a:lnTo>
                        <a:pt x="157" y="22"/>
                      </a:lnTo>
                      <a:lnTo>
                        <a:pt x="164" y="26"/>
                      </a:lnTo>
                      <a:lnTo>
                        <a:pt x="171" y="24"/>
                      </a:lnTo>
                      <a:lnTo>
                        <a:pt x="173" y="19"/>
                      </a:lnTo>
                      <a:lnTo>
                        <a:pt x="185" y="20"/>
                      </a:lnTo>
                      <a:lnTo>
                        <a:pt x="208" y="23"/>
                      </a:lnTo>
                      <a:lnTo>
                        <a:pt x="212" y="30"/>
                      </a:lnTo>
                      <a:lnTo>
                        <a:pt x="210" y="35"/>
                      </a:lnTo>
                      <a:lnTo>
                        <a:pt x="201" y="33"/>
                      </a:lnTo>
                      <a:lnTo>
                        <a:pt x="193" y="35"/>
                      </a:lnTo>
                      <a:lnTo>
                        <a:pt x="183" y="40"/>
                      </a:lnTo>
                      <a:lnTo>
                        <a:pt x="178" y="38"/>
                      </a:lnTo>
                      <a:lnTo>
                        <a:pt x="169" y="50"/>
                      </a:lnTo>
                      <a:lnTo>
                        <a:pt x="155" y="49"/>
                      </a:lnTo>
                      <a:lnTo>
                        <a:pt x="148" y="51"/>
                      </a:lnTo>
                      <a:lnTo>
                        <a:pt x="142" y="61"/>
                      </a:lnTo>
                      <a:lnTo>
                        <a:pt x="137" y="66"/>
                      </a:lnTo>
                      <a:lnTo>
                        <a:pt x="133" y="72"/>
                      </a:lnTo>
                      <a:lnTo>
                        <a:pt x="125" y="76"/>
                      </a:lnTo>
                      <a:lnTo>
                        <a:pt x="110" y="78"/>
                      </a:lnTo>
                      <a:lnTo>
                        <a:pt x="106" y="88"/>
                      </a:lnTo>
                      <a:lnTo>
                        <a:pt x="102" y="97"/>
                      </a:lnTo>
                      <a:lnTo>
                        <a:pt x="97" y="106"/>
                      </a:lnTo>
                      <a:lnTo>
                        <a:pt x="88" y="109"/>
                      </a:lnTo>
                      <a:lnTo>
                        <a:pt x="80" y="113"/>
                      </a:lnTo>
                      <a:lnTo>
                        <a:pt x="62" y="111"/>
                      </a:lnTo>
                    </a:path>
                  </a:pathLst>
                </a:custGeom>
                <a:solidFill>
                  <a:srgbClr val="037C03"/>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287" name="AutoShape 16" descr="Narrow vertical"/>
                <p:cNvSpPr>
                  <a:spLocks noChangeArrowheads="1"/>
                </p:cNvSpPr>
                <p:nvPr/>
              </p:nvSpPr>
              <p:spPr bwMode="auto">
                <a:xfrm>
                  <a:off x="3915" y="1414"/>
                  <a:ext cx="323" cy="42"/>
                </a:xfrm>
                <a:prstGeom prst="parallelogram">
                  <a:avLst>
                    <a:gd name="adj" fmla="val 191799"/>
                  </a:avLst>
                </a:prstGeom>
                <a:pattFill prst="narVert">
                  <a:fgClr>
                    <a:schemeClr val="accent1"/>
                  </a:fgClr>
                  <a:bgClr>
                    <a:schemeClr val="bg1"/>
                  </a:bgClr>
                </a:patt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88" name="AutoShape 17" descr="Zig zag"/>
                <p:cNvSpPr>
                  <a:spLocks noChangeArrowheads="1"/>
                </p:cNvSpPr>
                <p:nvPr/>
              </p:nvSpPr>
              <p:spPr bwMode="auto">
                <a:xfrm>
                  <a:off x="4072" y="1447"/>
                  <a:ext cx="323" cy="42"/>
                </a:xfrm>
                <a:prstGeom prst="parallelogram">
                  <a:avLst>
                    <a:gd name="adj" fmla="val 191799"/>
                  </a:avLst>
                </a:prstGeom>
                <a:pattFill prst="zigZag">
                  <a:fgClr>
                    <a:schemeClr val="accent2"/>
                  </a:fgClr>
                  <a:bgClr>
                    <a:schemeClr val="folHlink"/>
                  </a:bgClr>
                </a:patt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89" name="Freeform 18"/>
                <p:cNvSpPr>
                  <a:spLocks/>
                </p:cNvSpPr>
                <p:nvPr/>
              </p:nvSpPr>
              <p:spPr bwMode="auto">
                <a:xfrm>
                  <a:off x="4021" y="1414"/>
                  <a:ext cx="230" cy="96"/>
                </a:xfrm>
                <a:custGeom>
                  <a:avLst/>
                  <a:gdLst>
                    <a:gd name="T0" fmla="*/ 0 w 433"/>
                    <a:gd name="T1" fmla="*/ 49 h 185"/>
                    <a:gd name="T2" fmla="*/ 2 w 433"/>
                    <a:gd name="T3" fmla="*/ 45 h 185"/>
                    <a:gd name="T4" fmla="*/ 7 w 433"/>
                    <a:gd name="T5" fmla="*/ 43 h 185"/>
                    <a:gd name="T6" fmla="*/ 11 w 433"/>
                    <a:gd name="T7" fmla="*/ 43 h 185"/>
                    <a:gd name="T8" fmla="*/ 16 w 433"/>
                    <a:gd name="T9" fmla="*/ 41 h 185"/>
                    <a:gd name="T10" fmla="*/ 20 w 433"/>
                    <a:gd name="T11" fmla="*/ 41 h 185"/>
                    <a:gd name="T12" fmla="*/ 25 w 433"/>
                    <a:gd name="T13" fmla="*/ 41 h 185"/>
                    <a:gd name="T14" fmla="*/ 29 w 433"/>
                    <a:gd name="T15" fmla="*/ 39 h 185"/>
                    <a:gd name="T16" fmla="*/ 34 w 433"/>
                    <a:gd name="T17" fmla="*/ 37 h 185"/>
                    <a:gd name="T18" fmla="*/ 38 w 433"/>
                    <a:gd name="T19" fmla="*/ 37 h 185"/>
                    <a:gd name="T20" fmla="*/ 40 w 433"/>
                    <a:gd name="T21" fmla="*/ 32 h 185"/>
                    <a:gd name="T22" fmla="*/ 45 w 433"/>
                    <a:gd name="T23" fmla="*/ 30 h 185"/>
                    <a:gd name="T24" fmla="*/ 49 w 433"/>
                    <a:gd name="T25" fmla="*/ 28 h 185"/>
                    <a:gd name="T26" fmla="*/ 54 w 433"/>
                    <a:gd name="T27" fmla="*/ 24 h 185"/>
                    <a:gd name="T28" fmla="*/ 58 w 433"/>
                    <a:gd name="T29" fmla="*/ 22 h 185"/>
                    <a:gd name="T30" fmla="*/ 63 w 433"/>
                    <a:gd name="T31" fmla="*/ 22 h 185"/>
                    <a:gd name="T32" fmla="*/ 67 w 433"/>
                    <a:gd name="T33" fmla="*/ 22 h 185"/>
                    <a:gd name="T34" fmla="*/ 72 w 433"/>
                    <a:gd name="T35" fmla="*/ 19 h 185"/>
                    <a:gd name="T36" fmla="*/ 76 w 433"/>
                    <a:gd name="T37" fmla="*/ 19 h 185"/>
                    <a:gd name="T38" fmla="*/ 81 w 433"/>
                    <a:gd name="T39" fmla="*/ 19 h 185"/>
                    <a:gd name="T40" fmla="*/ 88 w 433"/>
                    <a:gd name="T41" fmla="*/ 19 h 185"/>
                    <a:gd name="T42" fmla="*/ 92 w 433"/>
                    <a:gd name="T43" fmla="*/ 19 h 185"/>
                    <a:gd name="T44" fmla="*/ 97 w 433"/>
                    <a:gd name="T45" fmla="*/ 17 h 185"/>
                    <a:gd name="T46" fmla="*/ 101 w 433"/>
                    <a:gd name="T47" fmla="*/ 17 h 185"/>
                    <a:gd name="T48" fmla="*/ 104 w 433"/>
                    <a:gd name="T49" fmla="*/ 13 h 185"/>
                    <a:gd name="T50" fmla="*/ 108 w 433"/>
                    <a:gd name="T51" fmla="*/ 11 h 185"/>
                    <a:gd name="T52" fmla="*/ 113 w 433"/>
                    <a:gd name="T53" fmla="*/ 9 h 185"/>
                    <a:gd name="T54" fmla="*/ 115 w 433"/>
                    <a:gd name="T55" fmla="*/ 4 h 185"/>
                    <a:gd name="T56" fmla="*/ 120 w 433"/>
                    <a:gd name="T57" fmla="*/ 4 h 185"/>
                    <a:gd name="T58" fmla="*/ 122 w 433"/>
                    <a:gd name="T59" fmla="*/ 0 h 18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33" h="185">
                      <a:moveTo>
                        <a:pt x="0" y="184"/>
                      </a:moveTo>
                      <a:lnTo>
                        <a:pt x="8" y="168"/>
                      </a:lnTo>
                      <a:lnTo>
                        <a:pt x="24" y="160"/>
                      </a:lnTo>
                      <a:lnTo>
                        <a:pt x="40" y="160"/>
                      </a:lnTo>
                      <a:lnTo>
                        <a:pt x="56" y="152"/>
                      </a:lnTo>
                      <a:lnTo>
                        <a:pt x="72" y="152"/>
                      </a:lnTo>
                      <a:lnTo>
                        <a:pt x="88" y="152"/>
                      </a:lnTo>
                      <a:lnTo>
                        <a:pt x="104" y="144"/>
                      </a:lnTo>
                      <a:lnTo>
                        <a:pt x="120" y="136"/>
                      </a:lnTo>
                      <a:lnTo>
                        <a:pt x="136" y="136"/>
                      </a:lnTo>
                      <a:lnTo>
                        <a:pt x="144" y="120"/>
                      </a:lnTo>
                      <a:lnTo>
                        <a:pt x="160" y="112"/>
                      </a:lnTo>
                      <a:lnTo>
                        <a:pt x="176" y="104"/>
                      </a:lnTo>
                      <a:lnTo>
                        <a:pt x="192" y="88"/>
                      </a:lnTo>
                      <a:lnTo>
                        <a:pt x="208" y="80"/>
                      </a:lnTo>
                      <a:lnTo>
                        <a:pt x="224" y="80"/>
                      </a:lnTo>
                      <a:lnTo>
                        <a:pt x="240" y="80"/>
                      </a:lnTo>
                      <a:lnTo>
                        <a:pt x="256" y="72"/>
                      </a:lnTo>
                      <a:lnTo>
                        <a:pt x="272" y="72"/>
                      </a:lnTo>
                      <a:lnTo>
                        <a:pt x="288" y="72"/>
                      </a:lnTo>
                      <a:lnTo>
                        <a:pt x="312" y="72"/>
                      </a:lnTo>
                      <a:lnTo>
                        <a:pt x="328" y="72"/>
                      </a:lnTo>
                      <a:lnTo>
                        <a:pt x="344" y="64"/>
                      </a:lnTo>
                      <a:lnTo>
                        <a:pt x="360" y="64"/>
                      </a:lnTo>
                      <a:lnTo>
                        <a:pt x="368" y="48"/>
                      </a:lnTo>
                      <a:lnTo>
                        <a:pt x="384" y="40"/>
                      </a:lnTo>
                      <a:lnTo>
                        <a:pt x="400" y="32"/>
                      </a:lnTo>
                      <a:lnTo>
                        <a:pt x="408" y="16"/>
                      </a:lnTo>
                      <a:lnTo>
                        <a:pt x="424" y="16"/>
                      </a:lnTo>
                      <a:lnTo>
                        <a:pt x="432" y="0"/>
                      </a:lnTo>
                    </a:path>
                  </a:pathLst>
                </a:custGeom>
                <a:noFill/>
                <a:ln w="25400" cap="rnd" cmpd="sng">
                  <a:solidFill>
                    <a:srgbClr val="0200FD"/>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290" name="Freeform 19"/>
                <p:cNvSpPr>
                  <a:spLocks/>
                </p:cNvSpPr>
                <p:nvPr/>
              </p:nvSpPr>
              <p:spPr bwMode="auto">
                <a:xfrm>
                  <a:off x="4161" y="1447"/>
                  <a:ext cx="35" cy="63"/>
                </a:xfrm>
                <a:custGeom>
                  <a:avLst/>
                  <a:gdLst>
                    <a:gd name="T0" fmla="*/ 0 w 65"/>
                    <a:gd name="T1" fmla="*/ 32 h 121"/>
                    <a:gd name="T2" fmla="*/ 0 w 65"/>
                    <a:gd name="T3" fmla="*/ 28 h 121"/>
                    <a:gd name="T4" fmla="*/ 0 w 65"/>
                    <a:gd name="T5" fmla="*/ 24 h 121"/>
                    <a:gd name="T6" fmla="*/ 0 w 65"/>
                    <a:gd name="T7" fmla="*/ 19 h 121"/>
                    <a:gd name="T8" fmla="*/ 2 w 65"/>
                    <a:gd name="T9" fmla="*/ 15 h 121"/>
                    <a:gd name="T10" fmla="*/ 7 w 65"/>
                    <a:gd name="T11" fmla="*/ 15 h 121"/>
                    <a:gd name="T12" fmla="*/ 9 w 65"/>
                    <a:gd name="T13" fmla="*/ 11 h 121"/>
                    <a:gd name="T14" fmla="*/ 14 w 65"/>
                    <a:gd name="T15" fmla="*/ 9 h 121"/>
                    <a:gd name="T16" fmla="*/ 16 w 65"/>
                    <a:gd name="T17" fmla="*/ 4 h 121"/>
                    <a:gd name="T18" fmla="*/ 18 w 65"/>
                    <a:gd name="T19" fmla="*/ 0 h 1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5" h="121">
                      <a:moveTo>
                        <a:pt x="0" y="120"/>
                      </a:moveTo>
                      <a:lnTo>
                        <a:pt x="0" y="104"/>
                      </a:lnTo>
                      <a:lnTo>
                        <a:pt x="0" y="88"/>
                      </a:lnTo>
                      <a:lnTo>
                        <a:pt x="0" y="72"/>
                      </a:lnTo>
                      <a:lnTo>
                        <a:pt x="8" y="56"/>
                      </a:lnTo>
                      <a:lnTo>
                        <a:pt x="24" y="56"/>
                      </a:lnTo>
                      <a:lnTo>
                        <a:pt x="32" y="40"/>
                      </a:lnTo>
                      <a:lnTo>
                        <a:pt x="48" y="32"/>
                      </a:lnTo>
                      <a:lnTo>
                        <a:pt x="56" y="16"/>
                      </a:lnTo>
                      <a:lnTo>
                        <a:pt x="64" y="0"/>
                      </a:lnTo>
                    </a:path>
                  </a:pathLst>
                </a:custGeom>
                <a:noFill/>
                <a:ln w="25400" cap="rnd" cmpd="sng">
                  <a:solidFill>
                    <a:srgbClr val="0200FD"/>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291" name="Freeform 20"/>
                <p:cNvSpPr>
                  <a:spLocks/>
                </p:cNvSpPr>
                <p:nvPr/>
              </p:nvSpPr>
              <p:spPr bwMode="auto">
                <a:xfrm>
                  <a:off x="4055" y="1451"/>
                  <a:ext cx="56" cy="59"/>
                </a:xfrm>
                <a:custGeom>
                  <a:avLst/>
                  <a:gdLst>
                    <a:gd name="T0" fmla="*/ 0 w 105"/>
                    <a:gd name="T1" fmla="*/ 0 h 113"/>
                    <a:gd name="T2" fmla="*/ 5 w 105"/>
                    <a:gd name="T3" fmla="*/ 4 h 113"/>
                    <a:gd name="T4" fmla="*/ 11 w 105"/>
                    <a:gd name="T5" fmla="*/ 9 h 113"/>
                    <a:gd name="T6" fmla="*/ 16 w 105"/>
                    <a:gd name="T7" fmla="*/ 13 h 113"/>
                    <a:gd name="T8" fmla="*/ 18 w 105"/>
                    <a:gd name="T9" fmla="*/ 17 h 113"/>
                    <a:gd name="T10" fmla="*/ 23 w 105"/>
                    <a:gd name="T11" fmla="*/ 20 h 113"/>
                    <a:gd name="T12" fmla="*/ 25 w 105"/>
                    <a:gd name="T13" fmla="*/ 24 h 113"/>
                    <a:gd name="T14" fmla="*/ 25 w 105"/>
                    <a:gd name="T15" fmla="*/ 28 h 113"/>
                    <a:gd name="T16" fmla="*/ 29 w 105"/>
                    <a:gd name="T17" fmla="*/ 30 h 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05" h="113">
                      <a:moveTo>
                        <a:pt x="0" y="0"/>
                      </a:moveTo>
                      <a:lnTo>
                        <a:pt x="16" y="16"/>
                      </a:lnTo>
                      <a:lnTo>
                        <a:pt x="40" y="32"/>
                      </a:lnTo>
                      <a:lnTo>
                        <a:pt x="56" y="48"/>
                      </a:lnTo>
                      <a:lnTo>
                        <a:pt x="64" y="64"/>
                      </a:lnTo>
                      <a:lnTo>
                        <a:pt x="80" y="72"/>
                      </a:lnTo>
                      <a:lnTo>
                        <a:pt x="88" y="88"/>
                      </a:lnTo>
                      <a:lnTo>
                        <a:pt x="88" y="104"/>
                      </a:lnTo>
                      <a:lnTo>
                        <a:pt x="104" y="112"/>
                      </a:lnTo>
                    </a:path>
                  </a:pathLst>
                </a:custGeom>
                <a:noFill/>
                <a:ln w="25400" cap="rnd" cmpd="sng">
                  <a:solidFill>
                    <a:schemeClr val="hlink"/>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292" name="Freeform 21"/>
                <p:cNvSpPr>
                  <a:spLocks/>
                </p:cNvSpPr>
                <p:nvPr/>
              </p:nvSpPr>
              <p:spPr bwMode="auto">
                <a:xfrm>
                  <a:off x="4021" y="1426"/>
                  <a:ext cx="68" cy="59"/>
                </a:xfrm>
                <a:custGeom>
                  <a:avLst/>
                  <a:gdLst>
                    <a:gd name="T0" fmla="*/ 0 w 129"/>
                    <a:gd name="T1" fmla="*/ 30 h 113"/>
                    <a:gd name="T2" fmla="*/ 0 w 129"/>
                    <a:gd name="T3" fmla="*/ 26 h 113"/>
                    <a:gd name="T4" fmla="*/ 4 w 129"/>
                    <a:gd name="T5" fmla="*/ 22 h 113"/>
                    <a:gd name="T6" fmla="*/ 9 w 129"/>
                    <a:gd name="T7" fmla="*/ 20 h 113"/>
                    <a:gd name="T8" fmla="*/ 13 w 129"/>
                    <a:gd name="T9" fmla="*/ 17 h 113"/>
                    <a:gd name="T10" fmla="*/ 16 w 129"/>
                    <a:gd name="T11" fmla="*/ 13 h 113"/>
                    <a:gd name="T12" fmla="*/ 20 w 129"/>
                    <a:gd name="T13" fmla="*/ 11 h 113"/>
                    <a:gd name="T14" fmla="*/ 22 w 129"/>
                    <a:gd name="T15" fmla="*/ 7 h 113"/>
                    <a:gd name="T16" fmla="*/ 27 w 129"/>
                    <a:gd name="T17" fmla="*/ 4 h 113"/>
                    <a:gd name="T18" fmla="*/ 31 w 129"/>
                    <a:gd name="T19" fmla="*/ 2 h 113"/>
                    <a:gd name="T20" fmla="*/ 35 w 129"/>
                    <a:gd name="T21" fmla="*/ 0 h 11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9" h="113">
                      <a:moveTo>
                        <a:pt x="0" y="112"/>
                      </a:moveTo>
                      <a:lnTo>
                        <a:pt x="0" y="96"/>
                      </a:lnTo>
                      <a:lnTo>
                        <a:pt x="16" y="80"/>
                      </a:lnTo>
                      <a:lnTo>
                        <a:pt x="32" y="72"/>
                      </a:lnTo>
                      <a:lnTo>
                        <a:pt x="48" y="64"/>
                      </a:lnTo>
                      <a:lnTo>
                        <a:pt x="56" y="48"/>
                      </a:lnTo>
                      <a:lnTo>
                        <a:pt x="72" y="40"/>
                      </a:lnTo>
                      <a:lnTo>
                        <a:pt x="80" y="24"/>
                      </a:lnTo>
                      <a:lnTo>
                        <a:pt x="96" y="16"/>
                      </a:lnTo>
                      <a:lnTo>
                        <a:pt x="112" y="8"/>
                      </a:lnTo>
                      <a:lnTo>
                        <a:pt x="128" y="0"/>
                      </a:lnTo>
                    </a:path>
                  </a:pathLst>
                </a:custGeom>
                <a:noFill/>
                <a:ln w="25400" cap="rnd" cmpd="sng">
                  <a:solidFill>
                    <a:schemeClr val="hlink"/>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293" name="Freeform 22"/>
                <p:cNvSpPr>
                  <a:spLocks/>
                </p:cNvSpPr>
                <p:nvPr/>
              </p:nvSpPr>
              <p:spPr bwMode="auto">
                <a:xfrm>
                  <a:off x="4089" y="1418"/>
                  <a:ext cx="196" cy="80"/>
                </a:xfrm>
                <a:custGeom>
                  <a:avLst/>
                  <a:gdLst>
                    <a:gd name="T0" fmla="*/ 0 w 369"/>
                    <a:gd name="T1" fmla="*/ 31 h 153"/>
                    <a:gd name="T2" fmla="*/ 4 w 369"/>
                    <a:gd name="T3" fmla="*/ 31 h 153"/>
                    <a:gd name="T4" fmla="*/ 9 w 369"/>
                    <a:gd name="T5" fmla="*/ 31 h 153"/>
                    <a:gd name="T6" fmla="*/ 13 w 369"/>
                    <a:gd name="T7" fmla="*/ 31 h 153"/>
                    <a:gd name="T8" fmla="*/ 18 w 369"/>
                    <a:gd name="T9" fmla="*/ 33 h 153"/>
                    <a:gd name="T10" fmla="*/ 20 w 369"/>
                    <a:gd name="T11" fmla="*/ 37 h 153"/>
                    <a:gd name="T12" fmla="*/ 27 w 369"/>
                    <a:gd name="T13" fmla="*/ 41 h 153"/>
                    <a:gd name="T14" fmla="*/ 31 w 369"/>
                    <a:gd name="T15" fmla="*/ 41 h 153"/>
                    <a:gd name="T16" fmla="*/ 34 w 369"/>
                    <a:gd name="T17" fmla="*/ 37 h 153"/>
                    <a:gd name="T18" fmla="*/ 34 w 369"/>
                    <a:gd name="T19" fmla="*/ 33 h 153"/>
                    <a:gd name="T20" fmla="*/ 34 w 369"/>
                    <a:gd name="T21" fmla="*/ 28 h 153"/>
                    <a:gd name="T22" fmla="*/ 38 w 369"/>
                    <a:gd name="T23" fmla="*/ 26 h 153"/>
                    <a:gd name="T24" fmla="*/ 40 w 369"/>
                    <a:gd name="T25" fmla="*/ 22 h 153"/>
                    <a:gd name="T26" fmla="*/ 45 w 369"/>
                    <a:gd name="T27" fmla="*/ 22 h 153"/>
                    <a:gd name="T28" fmla="*/ 49 w 369"/>
                    <a:gd name="T29" fmla="*/ 24 h 153"/>
                    <a:gd name="T30" fmla="*/ 54 w 369"/>
                    <a:gd name="T31" fmla="*/ 22 h 153"/>
                    <a:gd name="T32" fmla="*/ 58 w 369"/>
                    <a:gd name="T33" fmla="*/ 20 h 153"/>
                    <a:gd name="T34" fmla="*/ 63 w 369"/>
                    <a:gd name="T35" fmla="*/ 17 h 153"/>
                    <a:gd name="T36" fmla="*/ 65 w 369"/>
                    <a:gd name="T37" fmla="*/ 22 h 153"/>
                    <a:gd name="T38" fmla="*/ 70 w 369"/>
                    <a:gd name="T39" fmla="*/ 24 h 153"/>
                    <a:gd name="T40" fmla="*/ 74 w 369"/>
                    <a:gd name="T41" fmla="*/ 22 h 153"/>
                    <a:gd name="T42" fmla="*/ 79 w 369"/>
                    <a:gd name="T43" fmla="*/ 20 h 153"/>
                    <a:gd name="T44" fmla="*/ 83 w 369"/>
                    <a:gd name="T45" fmla="*/ 15 h 153"/>
                    <a:gd name="T46" fmla="*/ 88 w 369"/>
                    <a:gd name="T47" fmla="*/ 13 h 153"/>
                    <a:gd name="T48" fmla="*/ 92 w 369"/>
                    <a:gd name="T49" fmla="*/ 11 h 153"/>
                    <a:gd name="T50" fmla="*/ 97 w 369"/>
                    <a:gd name="T51" fmla="*/ 7 h 153"/>
                    <a:gd name="T52" fmla="*/ 101 w 369"/>
                    <a:gd name="T53" fmla="*/ 4 h 153"/>
                    <a:gd name="T54" fmla="*/ 104 w 369"/>
                    <a:gd name="T55" fmla="*/ 0 h 15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69" h="153">
                      <a:moveTo>
                        <a:pt x="0" y="112"/>
                      </a:moveTo>
                      <a:lnTo>
                        <a:pt x="16" y="112"/>
                      </a:lnTo>
                      <a:lnTo>
                        <a:pt x="32" y="112"/>
                      </a:lnTo>
                      <a:lnTo>
                        <a:pt x="48" y="112"/>
                      </a:lnTo>
                      <a:lnTo>
                        <a:pt x="64" y="120"/>
                      </a:lnTo>
                      <a:lnTo>
                        <a:pt x="72" y="136"/>
                      </a:lnTo>
                      <a:lnTo>
                        <a:pt x="96" y="152"/>
                      </a:lnTo>
                      <a:lnTo>
                        <a:pt x="112" y="152"/>
                      </a:lnTo>
                      <a:lnTo>
                        <a:pt x="120" y="136"/>
                      </a:lnTo>
                      <a:lnTo>
                        <a:pt x="120" y="120"/>
                      </a:lnTo>
                      <a:lnTo>
                        <a:pt x="120" y="104"/>
                      </a:lnTo>
                      <a:lnTo>
                        <a:pt x="136" y="96"/>
                      </a:lnTo>
                      <a:lnTo>
                        <a:pt x="144" y="80"/>
                      </a:lnTo>
                      <a:lnTo>
                        <a:pt x="160" y="80"/>
                      </a:lnTo>
                      <a:lnTo>
                        <a:pt x="176" y="88"/>
                      </a:lnTo>
                      <a:lnTo>
                        <a:pt x="192" y="80"/>
                      </a:lnTo>
                      <a:lnTo>
                        <a:pt x="208" y="72"/>
                      </a:lnTo>
                      <a:lnTo>
                        <a:pt x="224" y="64"/>
                      </a:lnTo>
                      <a:lnTo>
                        <a:pt x="232" y="80"/>
                      </a:lnTo>
                      <a:lnTo>
                        <a:pt x="248" y="88"/>
                      </a:lnTo>
                      <a:lnTo>
                        <a:pt x="264" y="80"/>
                      </a:lnTo>
                      <a:lnTo>
                        <a:pt x="280" y="72"/>
                      </a:lnTo>
                      <a:lnTo>
                        <a:pt x="296" y="56"/>
                      </a:lnTo>
                      <a:lnTo>
                        <a:pt x="312" y="48"/>
                      </a:lnTo>
                      <a:lnTo>
                        <a:pt x="328" y="40"/>
                      </a:lnTo>
                      <a:lnTo>
                        <a:pt x="344" y="24"/>
                      </a:lnTo>
                      <a:lnTo>
                        <a:pt x="360" y="16"/>
                      </a:lnTo>
                      <a:lnTo>
                        <a:pt x="368" y="0"/>
                      </a:lnTo>
                    </a:path>
                  </a:pathLst>
                </a:custGeom>
                <a:noFill/>
                <a:ln w="25400" cap="rnd" cmpd="sng">
                  <a:solidFill>
                    <a:schemeClr val="hlink"/>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294" name="Rectangle 23"/>
                <p:cNvSpPr>
                  <a:spLocks noChangeArrowheads="1"/>
                </p:cNvSpPr>
                <p:nvPr/>
              </p:nvSpPr>
              <p:spPr bwMode="auto">
                <a:xfrm>
                  <a:off x="3897" y="1415"/>
                  <a:ext cx="460"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000" b="0"/>
                    <a:t>Whoville</a:t>
                  </a:r>
                </a:p>
              </p:txBody>
            </p:sp>
            <p:sp>
              <p:nvSpPr>
                <p:cNvPr id="50295" name="Line 24"/>
                <p:cNvSpPr>
                  <a:spLocks noChangeShapeType="1"/>
                </p:cNvSpPr>
                <p:nvPr/>
              </p:nvSpPr>
              <p:spPr bwMode="auto">
                <a:xfrm>
                  <a:off x="4492" y="1666"/>
                  <a:ext cx="216" cy="112"/>
                </a:xfrm>
                <a:prstGeom prst="line">
                  <a:avLst/>
                </a:prstGeom>
                <a:noFill/>
                <a:ln w="508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296" name="Line 25"/>
                <p:cNvSpPr>
                  <a:spLocks noChangeShapeType="1"/>
                </p:cNvSpPr>
                <p:nvPr/>
              </p:nvSpPr>
              <p:spPr bwMode="auto">
                <a:xfrm flipV="1">
                  <a:off x="4037" y="1612"/>
                  <a:ext cx="0" cy="151"/>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0297" name="Group 26"/>
                <p:cNvGrpSpPr>
                  <a:grpSpLocks/>
                </p:cNvGrpSpPr>
                <p:nvPr/>
              </p:nvGrpSpPr>
              <p:grpSpPr bwMode="auto">
                <a:xfrm>
                  <a:off x="3542" y="1764"/>
                  <a:ext cx="1009" cy="482"/>
                  <a:chOff x="1370" y="1260"/>
                  <a:chExt cx="1901" cy="926"/>
                </a:xfrm>
              </p:grpSpPr>
              <p:grpSp>
                <p:nvGrpSpPr>
                  <p:cNvPr id="50299" name="Group 27"/>
                  <p:cNvGrpSpPr>
                    <a:grpSpLocks/>
                  </p:cNvGrpSpPr>
                  <p:nvPr/>
                </p:nvGrpSpPr>
                <p:grpSpPr bwMode="auto">
                  <a:xfrm>
                    <a:off x="1378" y="1620"/>
                    <a:ext cx="1672" cy="566"/>
                    <a:chOff x="1378" y="1620"/>
                    <a:chExt cx="1672" cy="566"/>
                  </a:xfrm>
                </p:grpSpPr>
                <p:sp>
                  <p:nvSpPr>
                    <p:cNvPr id="50315" name="AutoShape 28"/>
                    <p:cNvSpPr>
                      <a:spLocks noChangeArrowheads="1"/>
                    </p:cNvSpPr>
                    <p:nvPr/>
                  </p:nvSpPr>
                  <p:spPr bwMode="auto">
                    <a:xfrm>
                      <a:off x="1378" y="1778"/>
                      <a:ext cx="1672" cy="264"/>
                    </a:xfrm>
                    <a:prstGeom prst="parallelogram">
                      <a:avLst>
                        <a:gd name="adj" fmla="val 157952"/>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grpSp>
                  <p:nvGrpSpPr>
                    <p:cNvPr id="50316" name="Group 29"/>
                    <p:cNvGrpSpPr>
                      <a:grpSpLocks/>
                    </p:cNvGrpSpPr>
                    <p:nvPr/>
                  </p:nvGrpSpPr>
                  <p:grpSpPr bwMode="auto">
                    <a:xfrm>
                      <a:off x="1843" y="1620"/>
                      <a:ext cx="815" cy="533"/>
                      <a:chOff x="1843" y="1620"/>
                      <a:chExt cx="815" cy="533"/>
                    </a:xfrm>
                  </p:grpSpPr>
                  <p:sp>
                    <p:nvSpPr>
                      <p:cNvPr id="50318" name="Freeform 30"/>
                      <p:cNvSpPr>
                        <a:spLocks/>
                      </p:cNvSpPr>
                      <p:nvPr/>
                    </p:nvSpPr>
                    <p:spPr bwMode="auto">
                      <a:xfrm>
                        <a:off x="1843" y="1620"/>
                        <a:ext cx="815" cy="521"/>
                      </a:xfrm>
                      <a:custGeom>
                        <a:avLst/>
                        <a:gdLst>
                          <a:gd name="T0" fmla="*/ 7 w 815"/>
                          <a:gd name="T1" fmla="*/ 315 h 521"/>
                          <a:gd name="T2" fmla="*/ 26 w 815"/>
                          <a:gd name="T3" fmla="*/ 272 h 521"/>
                          <a:gd name="T4" fmla="*/ 35 w 815"/>
                          <a:gd name="T5" fmla="*/ 235 h 521"/>
                          <a:gd name="T6" fmla="*/ 63 w 815"/>
                          <a:gd name="T7" fmla="*/ 196 h 521"/>
                          <a:gd name="T8" fmla="*/ 91 w 815"/>
                          <a:gd name="T9" fmla="*/ 164 h 521"/>
                          <a:gd name="T10" fmla="*/ 62 w 815"/>
                          <a:gd name="T11" fmla="*/ 117 h 521"/>
                          <a:gd name="T12" fmla="*/ 87 w 815"/>
                          <a:gd name="T13" fmla="*/ 99 h 521"/>
                          <a:gd name="T14" fmla="*/ 139 w 815"/>
                          <a:gd name="T15" fmla="*/ 84 h 521"/>
                          <a:gd name="T16" fmla="*/ 190 w 815"/>
                          <a:gd name="T17" fmla="*/ 86 h 521"/>
                          <a:gd name="T18" fmla="*/ 228 w 815"/>
                          <a:gd name="T19" fmla="*/ 98 h 521"/>
                          <a:gd name="T20" fmla="*/ 269 w 815"/>
                          <a:gd name="T21" fmla="*/ 101 h 521"/>
                          <a:gd name="T22" fmla="*/ 286 w 815"/>
                          <a:gd name="T23" fmla="*/ 89 h 521"/>
                          <a:gd name="T24" fmla="*/ 305 w 815"/>
                          <a:gd name="T25" fmla="*/ 102 h 521"/>
                          <a:gd name="T26" fmla="*/ 336 w 815"/>
                          <a:gd name="T27" fmla="*/ 93 h 521"/>
                          <a:gd name="T28" fmla="*/ 386 w 815"/>
                          <a:gd name="T29" fmla="*/ 121 h 521"/>
                          <a:gd name="T30" fmla="*/ 409 w 815"/>
                          <a:gd name="T31" fmla="*/ 158 h 521"/>
                          <a:gd name="T32" fmla="*/ 448 w 815"/>
                          <a:gd name="T33" fmla="*/ 209 h 521"/>
                          <a:gd name="T34" fmla="*/ 477 w 815"/>
                          <a:gd name="T35" fmla="*/ 208 h 521"/>
                          <a:gd name="T36" fmla="*/ 441 w 815"/>
                          <a:gd name="T37" fmla="*/ 168 h 521"/>
                          <a:gd name="T38" fmla="*/ 376 w 815"/>
                          <a:gd name="T39" fmla="*/ 106 h 521"/>
                          <a:gd name="T40" fmla="*/ 362 w 815"/>
                          <a:gd name="T41" fmla="*/ 46 h 521"/>
                          <a:gd name="T42" fmla="*/ 432 w 815"/>
                          <a:gd name="T43" fmla="*/ 14 h 521"/>
                          <a:gd name="T44" fmla="*/ 465 w 815"/>
                          <a:gd name="T45" fmla="*/ 1 h 521"/>
                          <a:gd name="T46" fmla="*/ 504 w 815"/>
                          <a:gd name="T47" fmla="*/ 36 h 521"/>
                          <a:gd name="T48" fmla="*/ 501 w 815"/>
                          <a:gd name="T49" fmla="*/ 66 h 521"/>
                          <a:gd name="T50" fmla="*/ 546 w 815"/>
                          <a:gd name="T51" fmla="*/ 70 h 521"/>
                          <a:gd name="T52" fmla="*/ 578 w 815"/>
                          <a:gd name="T53" fmla="*/ 124 h 521"/>
                          <a:gd name="T54" fmla="*/ 642 w 815"/>
                          <a:gd name="T55" fmla="*/ 111 h 521"/>
                          <a:gd name="T56" fmla="*/ 687 w 815"/>
                          <a:gd name="T57" fmla="*/ 102 h 521"/>
                          <a:gd name="T58" fmla="*/ 737 w 815"/>
                          <a:gd name="T59" fmla="*/ 123 h 521"/>
                          <a:gd name="T60" fmla="*/ 787 w 815"/>
                          <a:gd name="T61" fmla="*/ 137 h 521"/>
                          <a:gd name="T62" fmla="*/ 814 w 815"/>
                          <a:gd name="T63" fmla="*/ 199 h 521"/>
                          <a:gd name="T64" fmla="*/ 800 w 815"/>
                          <a:gd name="T65" fmla="*/ 255 h 521"/>
                          <a:gd name="T66" fmla="*/ 754 w 815"/>
                          <a:gd name="T67" fmla="*/ 291 h 521"/>
                          <a:gd name="T68" fmla="*/ 713 w 815"/>
                          <a:gd name="T69" fmla="*/ 319 h 521"/>
                          <a:gd name="T70" fmla="*/ 681 w 815"/>
                          <a:gd name="T71" fmla="*/ 343 h 521"/>
                          <a:gd name="T72" fmla="*/ 639 w 815"/>
                          <a:gd name="T73" fmla="*/ 381 h 521"/>
                          <a:gd name="T74" fmla="*/ 606 w 815"/>
                          <a:gd name="T75" fmla="*/ 407 h 521"/>
                          <a:gd name="T76" fmla="*/ 545 w 815"/>
                          <a:gd name="T77" fmla="*/ 427 h 521"/>
                          <a:gd name="T78" fmla="*/ 494 w 815"/>
                          <a:gd name="T79" fmla="*/ 430 h 521"/>
                          <a:gd name="T80" fmla="*/ 466 w 815"/>
                          <a:gd name="T81" fmla="*/ 401 h 521"/>
                          <a:gd name="T82" fmla="*/ 432 w 815"/>
                          <a:gd name="T83" fmla="*/ 410 h 521"/>
                          <a:gd name="T84" fmla="*/ 408 w 815"/>
                          <a:gd name="T85" fmla="*/ 448 h 521"/>
                          <a:gd name="T86" fmla="*/ 380 w 815"/>
                          <a:gd name="T87" fmla="*/ 442 h 521"/>
                          <a:gd name="T88" fmla="*/ 379 w 815"/>
                          <a:gd name="T89" fmla="*/ 474 h 521"/>
                          <a:gd name="T90" fmla="*/ 373 w 815"/>
                          <a:gd name="T91" fmla="*/ 503 h 521"/>
                          <a:gd name="T92" fmla="*/ 305 w 815"/>
                          <a:gd name="T93" fmla="*/ 506 h 521"/>
                          <a:gd name="T94" fmla="*/ 326 w 815"/>
                          <a:gd name="T95" fmla="*/ 434 h 521"/>
                          <a:gd name="T96" fmla="*/ 352 w 815"/>
                          <a:gd name="T97" fmla="*/ 399 h 521"/>
                          <a:gd name="T98" fmla="*/ 323 w 815"/>
                          <a:gd name="T99" fmla="*/ 360 h 521"/>
                          <a:gd name="T100" fmla="*/ 290 w 815"/>
                          <a:gd name="T101" fmla="*/ 331 h 521"/>
                          <a:gd name="T102" fmla="*/ 225 w 815"/>
                          <a:gd name="T103" fmla="*/ 302 h 521"/>
                          <a:gd name="T104" fmla="*/ 194 w 815"/>
                          <a:gd name="T105" fmla="*/ 336 h 521"/>
                          <a:gd name="T106" fmla="*/ 136 w 815"/>
                          <a:gd name="T107" fmla="*/ 372 h 521"/>
                          <a:gd name="T108" fmla="*/ 83 w 815"/>
                          <a:gd name="T109" fmla="*/ 352 h 521"/>
                          <a:gd name="T110" fmla="*/ 38 w 815"/>
                          <a:gd name="T111" fmla="*/ 354 h 52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815" h="521">
                            <a:moveTo>
                              <a:pt x="15" y="338"/>
                            </a:moveTo>
                            <a:lnTo>
                              <a:pt x="8" y="334"/>
                            </a:lnTo>
                            <a:lnTo>
                              <a:pt x="0" y="330"/>
                            </a:lnTo>
                            <a:lnTo>
                              <a:pt x="7" y="315"/>
                            </a:lnTo>
                            <a:lnTo>
                              <a:pt x="10" y="306"/>
                            </a:lnTo>
                            <a:lnTo>
                              <a:pt x="15" y="293"/>
                            </a:lnTo>
                            <a:lnTo>
                              <a:pt x="21" y="281"/>
                            </a:lnTo>
                            <a:lnTo>
                              <a:pt x="26" y="272"/>
                            </a:lnTo>
                            <a:lnTo>
                              <a:pt x="29" y="266"/>
                            </a:lnTo>
                            <a:lnTo>
                              <a:pt x="29" y="259"/>
                            </a:lnTo>
                            <a:lnTo>
                              <a:pt x="30" y="243"/>
                            </a:lnTo>
                            <a:lnTo>
                              <a:pt x="35" y="235"/>
                            </a:lnTo>
                            <a:lnTo>
                              <a:pt x="44" y="232"/>
                            </a:lnTo>
                            <a:lnTo>
                              <a:pt x="53" y="212"/>
                            </a:lnTo>
                            <a:lnTo>
                              <a:pt x="58" y="202"/>
                            </a:lnTo>
                            <a:lnTo>
                              <a:pt x="63" y="196"/>
                            </a:lnTo>
                            <a:lnTo>
                              <a:pt x="73" y="186"/>
                            </a:lnTo>
                            <a:lnTo>
                              <a:pt x="78" y="183"/>
                            </a:lnTo>
                            <a:lnTo>
                              <a:pt x="87" y="176"/>
                            </a:lnTo>
                            <a:lnTo>
                              <a:pt x="91" y="164"/>
                            </a:lnTo>
                            <a:lnTo>
                              <a:pt x="84" y="156"/>
                            </a:lnTo>
                            <a:lnTo>
                              <a:pt x="73" y="146"/>
                            </a:lnTo>
                            <a:lnTo>
                              <a:pt x="62" y="127"/>
                            </a:lnTo>
                            <a:lnTo>
                              <a:pt x="62" y="117"/>
                            </a:lnTo>
                            <a:lnTo>
                              <a:pt x="65" y="112"/>
                            </a:lnTo>
                            <a:lnTo>
                              <a:pt x="67" y="106"/>
                            </a:lnTo>
                            <a:lnTo>
                              <a:pt x="75" y="101"/>
                            </a:lnTo>
                            <a:lnTo>
                              <a:pt x="87" y="99"/>
                            </a:lnTo>
                            <a:lnTo>
                              <a:pt x="89" y="92"/>
                            </a:lnTo>
                            <a:lnTo>
                              <a:pt x="94" y="86"/>
                            </a:lnTo>
                            <a:lnTo>
                              <a:pt x="128" y="82"/>
                            </a:lnTo>
                            <a:lnTo>
                              <a:pt x="139" y="84"/>
                            </a:lnTo>
                            <a:lnTo>
                              <a:pt x="146" y="86"/>
                            </a:lnTo>
                            <a:lnTo>
                              <a:pt x="153" y="80"/>
                            </a:lnTo>
                            <a:lnTo>
                              <a:pt x="174" y="81"/>
                            </a:lnTo>
                            <a:lnTo>
                              <a:pt x="190" y="86"/>
                            </a:lnTo>
                            <a:lnTo>
                              <a:pt x="205" y="88"/>
                            </a:lnTo>
                            <a:lnTo>
                              <a:pt x="215" y="94"/>
                            </a:lnTo>
                            <a:lnTo>
                              <a:pt x="223" y="96"/>
                            </a:lnTo>
                            <a:lnTo>
                              <a:pt x="228" y="98"/>
                            </a:lnTo>
                            <a:lnTo>
                              <a:pt x="235" y="95"/>
                            </a:lnTo>
                            <a:lnTo>
                              <a:pt x="246" y="92"/>
                            </a:lnTo>
                            <a:lnTo>
                              <a:pt x="259" y="97"/>
                            </a:lnTo>
                            <a:lnTo>
                              <a:pt x="269" y="101"/>
                            </a:lnTo>
                            <a:lnTo>
                              <a:pt x="274" y="106"/>
                            </a:lnTo>
                            <a:lnTo>
                              <a:pt x="279" y="98"/>
                            </a:lnTo>
                            <a:lnTo>
                              <a:pt x="283" y="91"/>
                            </a:lnTo>
                            <a:lnTo>
                              <a:pt x="286" y="89"/>
                            </a:lnTo>
                            <a:lnTo>
                              <a:pt x="293" y="98"/>
                            </a:lnTo>
                            <a:lnTo>
                              <a:pt x="298" y="105"/>
                            </a:lnTo>
                            <a:lnTo>
                              <a:pt x="301" y="106"/>
                            </a:lnTo>
                            <a:lnTo>
                              <a:pt x="305" y="102"/>
                            </a:lnTo>
                            <a:lnTo>
                              <a:pt x="311" y="94"/>
                            </a:lnTo>
                            <a:lnTo>
                              <a:pt x="319" y="97"/>
                            </a:lnTo>
                            <a:lnTo>
                              <a:pt x="330" y="93"/>
                            </a:lnTo>
                            <a:lnTo>
                              <a:pt x="336" y="93"/>
                            </a:lnTo>
                            <a:lnTo>
                              <a:pt x="349" y="98"/>
                            </a:lnTo>
                            <a:lnTo>
                              <a:pt x="363" y="106"/>
                            </a:lnTo>
                            <a:lnTo>
                              <a:pt x="374" y="114"/>
                            </a:lnTo>
                            <a:lnTo>
                              <a:pt x="386" y="121"/>
                            </a:lnTo>
                            <a:lnTo>
                              <a:pt x="391" y="132"/>
                            </a:lnTo>
                            <a:lnTo>
                              <a:pt x="400" y="140"/>
                            </a:lnTo>
                            <a:lnTo>
                              <a:pt x="410" y="148"/>
                            </a:lnTo>
                            <a:lnTo>
                              <a:pt x="409" y="158"/>
                            </a:lnTo>
                            <a:lnTo>
                              <a:pt x="417" y="168"/>
                            </a:lnTo>
                            <a:lnTo>
                              <a:pt x="432" y="175"/>
                            </a:lnTo>
                            <a:lnTo>
                              <a:pt x="433" y="192"/>
                            </a:lnTo>
                            <a:lnTo>
                              <a:pt x="448" y="209"/>
                            </a:lnTo>
                            <a:lnTo>
                              <a:pt x="461" y="216"/>
                            </a:lnTo>
                            <a:lnTo>
                              <a:pt x="476" y="220"/>
                            </a:lnTo>
                            <a:lnTo>
                              <a:pt x="495" y="228"/>
                            </a:lnTo>
                            <a:lnTo>
                              <a:pt x="477" y="208"/>
                            </a:lnTo>
                            <a:lnTo>
                              <a:pt x="468" y="193"/>
                            </a:lnTo>
                            <a:lnTo>
                              <a:pt x="456" y="191"/>
                            </a:lnTo>
                            <a:lnTo>
                              <a:pt x="452" y="188"/>
                            </a:lnTo>
                            <a:lnTo>
                              <a:pt x="441" y="168"/>
                            </a:lnTo>
                            <a:lnTo>
                              <a:pt x="418" y="143"/>
                            </a:lnTo>
                            <a:lnTo>
                              <a:pt x="407" y="135"/>
                            </a:lnTo>
                            <a:lnTo>
                              <a:pt x="403" y="122"/>
                            </a:lnTo>
                            <a:lnTo>
                              <a:pt x="376" y="106"/>
                            </a:lnTo>
                            <a:lnTo>
                              <a:pt x="370" y="99"/>
                            </a:lnTo>
                            <a:lnTo>
                              <a:pt x="350" y="79"/>
                            </a:lnTo>
                            <a:lnTo>
                              <a:pt x="352" y="55"/>
                            </a:lnTo>
                            <a:lnTo>
                              <a:pt x="362" y="46"/>
                            </a:lnTo>
                            <a:lnTo>
                              <a:pt x="390" y="39"/>
                            </a:lnTo>
                            <a:lnTo>
                              <a:pt x="411" y="41"/>
                            </a:lnTo>
                            <a:lnTo>
                              <a:pt x="419" y="22"/>
                            </a:lnTo>
                            <a:lnTo>
                              <a:pt x="432" y="14"/>
                            </a:lnTo>
                            <a:lnTo>
                              <a:pt x="446" y="9"/>
                            </a:lnTo>
                            <a:lnTo>
                              <a:pt x="458" y="0"/>
                            </a:lnTo>
                            <a:lnTo>
                              <a:pt x="458" y="17"/>
                            </a:lnTo>
                            <a:lnTo>
                              <a:pt x="465" y="1"/>
                            </a:lnTo>
                            <a:lnTo>
                              <a:pt x="482" y="8"/>
                            </a:lnTo>
                            <a:lnTo>
                              <a:pt x="487" y="16"/>
                            </a:lnTo>
                            <a:lnTo>
                              <a:pt x="497" y="34"/>
                            </a:lnTo>
                            <a:lnTo>
                              <a:pt x="504" y="36"/>
                            </a:lnTo>
                            <a:lnTo>
                              <a:pt x="510" y="48"/>
                            </a:lnTo>
                            <a:lnTo>
                              <a:pt x="501" y="50"/>
                            </a:lnTo>
                            <a:lnTo>
                              <a:pt x="502" y="60"/>
                            </a:lnTo>
                            <a:lnTo>
                              <a:pt x="501" y="66"/>
                            </a:lnTo>
                            <a:lnTo>
                              <a:pt x="510" y="75"/>
                            </a:lnTo>
                            <a:lnTo>
                              <a:pt x="521" y="76"/>
                            </a:lnTo>
                            <a:lnTo>
                              <a:pt x="537" y="78"/>
                            </a:lnTo>
                            <a:lnTo>
                              <a:pt x="546" y="70"/>
                            </a:lnTo>
                            <a:lnTo>
                              <a:pt x="557" y="76"/>
                            </a:lnTo>
                            <a:lnTo>
                              <a:pt x="569" y="97"/>
                            </a:lnTo>
                            <a:lnTo>
                              <a:pt x="575" y="117"/>
                            </a:lnTo>
                            <a:lnTo>
                              <a:pt x="578" y="124"/>
                            </a:lnTo>
                            <a:lnTo>
                              <a:pt x="599" y="113"/>
                            </a:lnTo>
                            <a:lnTo>
                              <a:pt x="615" y="120"/>
                            </a:lnTo>
                            <a:lnTo>
                              <a:pt x="629" y="116"/>
                            </a:lnTo>
                            <a:lnTo>
                              <a:pt x="642" y="111"/>
                            </a:lnTo>
                            <a:lnTo>
                              <a:pt x="648" y="124"/>
                            </a:lnTo>
                            <a:lnTo>
                              <a:pt x="661" y="115"/>
                            </a:lnTo>
                            <a:lnTo>
                              <a:pt x="671" y="104"/>
                            </a:lnTo>
                            <a:lnTo>
                              <a:pt x="687" y="102"/>
                            </a:lnTo>
                            <a:lnTo>
                              <a:pt x="702" y="107"/>
                            </a:lnTo>
                            <a:lnTo>
                              <a:pt x="716" y="100"/>
                            </a:lnTo>
                            <a:lnTo>
                              <a:pt x="732" y="107"/>
                            </a:lnTo>
                            <a:lnTo>
                              <a:pt x="737" y="123"/>
                            </a:lnTo>
                            <a:lnTo>
                              <a:pt x="752" y="121"/>
                            </a:lnTo>
                            <a:lnTo>
                              <a:pt x="761" y="119"/>
                            </a:lnTo>
                            <a:lnTo>
                              <a:pt x="778" y="129"/>
                            </a:lnTo>
                            <a:lnTo>
                              <a:pt x="787" y="137"/>
                            </a:lnTo>
                            <a:lnTo>
                              <a:pt x="789" y="152"/>
                            </a:lnTo>
                            <a:lnTo>
                              <a:pt x="804" y="168"/>
                            </a:lnTo>
                            <a:lnTo>
                              <a:pt x="806" y="189"/>
                            </a:lnTo>
                            <a:lnTo>
                              <a:pt x="814" y="199"/>
                            </a:lnTo>
                            <a:lnTo>
                              <a:pt x="811" y="216"/>
                            </a:lnTo>
                            <a:lnTo>
                              <a:pt x="813" y="228"/>
                            </a:lnTo>
                            <a:lnTo>
                              <a:pt x="804" y="243"/>
                            </a:lnTo>
                            <a:lnTo>
                              <a:pt x="800" y="255"/>
                            </a:lnTo>
                            <a:lnTo>
                              <a:pt x="791" y="260"/>
                            </a:lnTo>
                            <a:lnTo>
                              <a:pt x="779" y="264"/>
                            </a:lnTo>
                            <a:lnTo>
                              <a:pt x="767" y="271"/>
                            </a:lnTo>
                            <a:lnTo>
                              <a:pt x="754" y="291"/>
                            </a:lnTo>
                            <a:lnTo>
                              <a:pt x="747" y="291"/>
                            </a:lnTo>
                            <a:lnTo>
                              <a:pt x="743" y="304"/>
                            </a:lnTo>
                            <a:lnTo>
                              <a:pt x="734" y="310"/>
                            </a:lnTo>
                            <a:lnTo>
                              <a:pt x="713" y="319"/>
                            </a:lnTo>
                            <a:lnTo>
                              <a:pt x="702" y="339"/>
                            </a:lnTo>
                            <a:lnTo>
                              <a:pt x="699" y="340"/>
                            </a:lnTo>
                            <a:lnTo>
                              <a:pt x="692" y="349"/>
                            </a:lnTo>
                            <a:lnTo>
                              <a:pt x="681" y="343"/>
                            </a:lnTo>
                            <a:lnTo>
                              <a:pt x="672" y="357"/>
                            </a:lnTo>
                            <a:lnTo>
                              <a:pt x="658" y="365"/>
                            </a:lnTo>
                            <a:lnTo>
                              <a:pt x="644" y="368"/>
                            </a:lnTo>
                            <a:lnTo>
                              <a:pt x="639" y="381"/>
                            </a:lnTo>
                            <a:lnTo>
                              <a:pt x="621" y="366"/>
                            </a:lnTo>
                            <a:lnTo>
                              <a:pt x="625" y="386"/>
                            </a:lnTo>
                            <a:lnTo>
                              <a:pt x="620" y="400"/>
                            </a:lnTo>
                            <a:lnTo>
                              <a:pt x="606" y="407"/>
                            </a:lnTo>
                            <a:lnTo>
                              <a:pt x="596" y="418"/>
                            </a:lnTo>
                            <a:lnTo>
                              <a:pt x="570" y="414"/>
                            </a:lnTo>
                            <a:lnTo>
                              <a:pt x="557" y="418"/>
                            </a:lnTo>
                            <a:lnTo>
                              <a:pt x="545" y="427"/>
                            </a:lnTo>
                            <a:lnTo>
                              <a:pt x="526" y="426"/>
                            </a:lnTo>
                            <a:lnTo>
                              <a:pt x="512" y="428"/>
                            </a:lnTo>
                            <a:lnTo>
                              <a:pt x="506" y="435"/>
                            </a:lnTo>
                            <a:lnTo>
                              <a:pt x="494" y="430"/>
                            </a:lnTo>
                            <a:lnTo>
                              <a:pt x="478" y="423"/>
                            </a:lnTo>
                            <a:lnTo>
                              <a:pt x="471" y="411"/>
                            </a:lnTo>
                            <a:lnTo>
                              <a:pt x="460" y="416"/>
                            </a:lnTo>
                            <a:lnTo>
                              <a:pt x="466" y="401"/>
                            </a:lnTo>
                            <a:lnTo>
                              <a:pt x="472" y="379"/>
                            </a:lnTo>
                            <a:lnTo>
                              <a:pt x="457" y="399"/>
                            </a:lnTo>
                            <a:lnTo>
                              <a:pt x="447" y="403"/>
                            </a:lnTo>
                            <a:lnTo>
                              <a:pt x="432" y="410"/>
                            </a:lnTo>
                            <a:lnTo>
                              <a:pt x="421" y="415"/>
                            </a:lnTo>
                            <a:lnTo>
                              <a:pt x="414" y="423"/>
                            </a:lnTo>
                            <a:lnTo>
                              <a:pt x="410" y="437"/>
                            </a:lnTo>
                            <a:lnTo>
                              <a:pt x="408" y="448"/>
                            </a:lnTo>
                            <a:lnTo>
                              <a:pt x="395" y="432"/>
                            </a:lnTo>
                            <a:lnTo>
                              <a:pt x="387" y="426"/>
                            </a:lnTo>
                            <a:lnTo>
                              <a:pt x="384" y="434"/>
                            </a:lnTo>
                            <a:lnTo>
                              <a:pt x="380" y="442"/>
                            </a:lnTo>
                            <a:lnTo>
                              <a:pt x="384" y="454"/>
                            </a:lnTo>
                            <a:lnTo>
                              <a:pt x="381" y="460"/>
                            </a:lnTo>
                            <a:lnTo>
                              <a:pt x="378" y="467"/>
                            </a:lnTo>
                            <a:lnTo>
                              <a:pt x="379" y="474"/>
                            </a:lnTo>
                            <a:lnTo>
                              <a:pt x="380" y="482"/>
                            </a:lnTo>
                            <a:lnTo>
                              <a:pt x="369" y="483"/>
                            </a:lnTo>
                            <a:lnTo>
                              <a:pt x="371" y="496"/>
                            </a:lnTo>
                            <a:lnTo>
                              <a:pt x="373" y="503"/>
                            </a:lnTo>
                            <a:lnTo>
                              <a:pt x="358" y="501"/>
                            </a:lnTo>
                            <a:lnTo>
                              <a:pt x="347" y="507"/>
                            </a:lnTo>
                            <a:lnTo>
                              <a:pt x="333" y="520"/>
                            </a:lnTo>
                            <a:lnTo>
                              <a:pt x="305" y="506"/>
                            </a:lnTo>
                            <a:lnTo>
                              <a:pt x="318" y="487"/>
                            </a:lnTo>
                            <a:lnTo>
                              <a:pt x="334" y="475"/>
                            </a:lnTo>
                            <a:lnTo>
                              <a:pt x="334" y="461"/>
                            </a:lnTo>
                            <a:lnTo>
                              <a:pt x="326" y="434"/>
                            </a:lnTo>
                            <a:lnTo>
                              <a:pt x="335" y="426"/>
                            </a:lnTo>
                            <a:lnTo>
                              <a:pt x="343" y="428"/>
                            </a:lnTo>
                            <a:lnTo>
                              <a:pt x="344" y="411"/>
                            </a:lnTo>
                            <a:lnTo>
                              <a:pt x="352" y="399"/>
                            </a:lnTo>
                            <a:lnTo>
                              <a:pt x="356" y="388"/>
                            </a:lnTo>
                            <a:lnTo>
                              <a:pt x="346" y="376"/>
                            </a:lnTo>
                            <a:lnTo>
                              <a:pt x="333" y="368"/>
                            </a:lnTo>
                            <a:lnTo>
                              <a:pt x="323" y="360"/>
                            </a:lnTo>
                            <a:lnTo>
                              <a:pt x="323" y="357"/>
                            </a:lnTo>
                            <a:lnTo>
                              <a:pt x="309" y="343"/>
                            </a:lnTo>
                            <a:lnTo>
                              <a:pt x="304" y="332"/>
                            </a:lnTo>
                            <a:lnTo>
                              <a:pt x="290" y="331"/>
                            </a:lnTo>
                            <a:lnTo>
                              <a:pt x="280" y="323"/>
                            </a:lnTo>
                            <a:lnTo>
                              <a:pt x="262" y="313"/>
                            </a:lnTo>
                            <a:lnTo>
                              <a:pt x="244" y="303"/>
                            </a:lnTo>
                            <a:lnTo>
                              <a:pt x="225" y="302"/>
                            </a:lnTo>
                            <a:lnTo>
                              <a:pt x="212" y="308"/>
                            </a:lnTo>
                            <a:lnTo>
                              <a:pt x="216" y="326"/>
                            </a:lnTo>
                            <a:lnTo>
                              <a:pt x="209" y="330"/>
                            </a:lnTo>
                            <a:lnTo>
                              <a:pt x="194" y="336"/>
                            </a:lnTo>
                            <a:lnTo>
                              <a:pt x="186" y="346"/>
                            </a:lnTo>
                            <a:lnTo>
                              <a:pt x="168" y="350"/>
                            </a:lnTo>
                            <a:lnTo>
                              <a:pt x="154" y="353"/>
                            </a:lnTo>
                            <a:lnTo>
                              <a:pt x="136" y="372"/>
                            </a:lnTo>
                            <a:lnTo>
                              <a:pt x="127" y="358"/>
                            </a:lnTo>
                            <a:lnTo>
                              <a:pt x="110" y="353"/>
                            </a:lnTo>
                            <a:lnTo>
                              <a:pt x="97" y="358"/>
                            </a:lnTo>
                            <a:lnTo>
                              <a:pt x="83" y="352"/>
                            </a:lnTo>
                            <a:lnTo>
                              <a:pt x="67" y="354"/>
                            </a:lnTo>
                            <a:lnTo>
                              <a:pt x="56" y="344"/>
                            </a:lnTo>
                            <a:lnTo>
                              <a:pt x="48" y="350"/>
                            </a:lnTo>
                            <a:lnTo>
                              <a:pt x="38" y="354"/>
                            </a:lnTo>
                            <a:lnTo>
                              <a:pt x="27" y="347"/>
                            </a:lnTo>
                            <a:lnTo>
                              <a:pt x="14" y="338"/>
                            </a:lnTo>
                            <a:lnTo>
                              <a:pt x="15" y="338"/>
                            </a:lnTo>
                          </a:path>
                        </a:pathLst>
                      </a:custGeom>
                      <a:solidFill>
                        <a:srgbClr val="037C03"/>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319" name="Freeform 31"/>
                      <p:cNvSpPr>
                        <a:spLocks/>
                      </p:cNvSpPr>
                      <p:nvPr/>
                    </p:nvSpPr>
                    <p:spPr bwMode="auto">
                      <a:xfrm>
                        <a:off x="2361" y="2094"/>
                        <a:ext cx="17" cy="17"/>
                      </a:xfrm>
                      <a:custGeom>
                        <a:avLst/>
                        <a:gdLst>
                          <a:gd name="T0" fmla="*/ 16 w 17"/>
                          <a:gd name="T1" fmla="*/ 16 h 17"/>
                          <a:gd name="T2" fmla="*/ 5 w 17"/>
                          <a:gd name="T3" fmla="*/ 9 h 17"/>
                          <a:gd name="T4" fmla="*/ 0 w 17"/>
                          <a:gd name="T5" fmla="*/ 0 h 17"/>
                          <a:gd name="T6" fmla="*/ 16 w 17"/>
                          <a:gd name="T7" fmla="*/ 16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16" y="16"/>
                            </a:moveTo>
                            <a:lnTo>
                              <a:pt x="5" y="9"/>
                            </a:lnTo>
                            <a:lnTo>
                              <a:pt x="0" y="0"/>
                            </a:lnTo>
                            <a:lnTo>
                              <a:pt x="16" y="16"/>
                            </a:lnTo>
                          </a:path>
                        </a:pathLst>
                      </a:custGeom>
                      <a:solidFill>
                        <a:srgbClr val="037C03"/>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320" name="Freeform 32"/>
                      <p:cNvSpPr>
                        <a:spLocks/>
                      </p:cNvSpPr>
                      <p:nvPr/>
                    </p:nvSpPr>
                    <p:spPr bwMode="auto">
                      <a:xfrm>
                        <a:off x="2353" y="2039"/>
                        <a:ext cx="213" cy="114"/>
                      </a:xfrm>
                      <a:custGeom>
                        <a:avLst/>
                        <a:gdLst>
                          <a:gd name="T0" fmla="*/ 62 w 213"/>
                          <a:gd name="T1" fmla="*/ 111 h 114"/>
                          <a:gd name="T2" fmla="*/ 59 w 213"/>
                          <a:gd name="T3" fmla="*/ 103 h 114"/>
                          <a:gd name="T4" fmla="*/ 58 w 213"/>
                          <a:gd name="T5" fmla="*/ 96 h 114"/>
                          <a:gd name="T6" fmla="*/ 59 w 213"/>
                          <a:gd name="T7" fmla="*/ 89 h 114"/>
                          <a:gd name="T8" fmla="*/ 54 w 213"/>
                          <a:gd name="T9" fmla="*/ 80 h 114"/>
                          <a:gd name="T10" fmla="*/ 52 w 213"/>
                          <a:gd name="T11" fmla="*/ 72 h 114"/>
                          <a:gd name="T12" fmla="*/ 41 w 213"/>
                          <a:gd name="T13" fmla="*/ 67 h 114"/>
                          <a:gd name="T14" fmla="*/ 23 w 213"/>
                          <a:gd name="T15" fmla="*/ 68 h 114"/>
                          <a:gd name="T16" fmla="*/ 7 w 213"/>
                          <a:gd name="T17" fmla="*/ 67 h 114"/>
                          <a:gd name="T18" fmla="*/ 0 w 213"/>
                          <a:gd name="T19" fmla="*/ 64 h 114"/>
                          <a:gd name="T20" fmla="*/ 11 w 213"/>
                          <a:gd name="T21" fmla="*/ 46 h 114"/>
                          <a:gd name="T22" fmla="*/ 21 w 213"/>
                          <a:gd name="T23" fmla="*/ 55 h 114"/>
                          <a:gd name="T24" fmla="*/ 35 w 213"/>
                          <a:gd name="T25" fmla="*/ 47 h 114"/>
                          <a:gd name="T26" fmla="*/ 39 w 213"/>
                          <a:gd name="T27" fmla="*/ 39 h 114"/>
                          <a:gd name="T28" fmla="*/ 44 w 213"/>
                          <a:gd name="T29" fmla="*/ 28 h 114"/>
                          <a:gd name="T30" fmla="*/ 47 w 213"/>
                          <a:gd name="T31" fmla="*/ 20 h 114"/>
                          <a:gd name="T32" fmla="*/ 62 w 213"/>
                          <a:gd name="T33" fmla="*/ 15 h 114"/>
                          <a:gd name="T34" fmla="*/ 69 w 213"/>
                          <a:gd name="T35" fmla="*/ 8 h 114"/>
                          <a:gd name="T36" fmla="*/ 81 w 213"/>
                          <a:gd name="T37" fmla="*/ 6 h 114"/>
                          <a:gd name="T38" fmla="*/ 94 w 213"/>
                          <a:gd name="T39" fmla="*/ 0 h 114"/>
                          <a:gd name="T40" fmla="*/ 103 w 213"/>
                          <a:gd name="T41" fmla="*/ 6 h 114"/>
                          <a:gd name="T42" fmla="*/ 108 w 213"/>
                          <a:gd name="T43" fmla="*/ 16 h 114"/>
                          <a:gd name="T44" fmla="*/ 119 w 213"/>
                          <a:gd name="T45" fmla="*/ 23 h 114"/>
                          <a:gd name="T46" fmla="*/ 125 w 213"/>
                          <a:gd name="T47" fmla="*/ 32 h 114"/>
                          <a:gd name="T48" fmla="*/ 135 w 213"/>
                          <a:gd name="T49" fmla="*/ 43 h 114"/>
                          <a:gd name="T50" fmla="*/ 142 w 213"/>
                          <a:gd name="T51" fmla="*/ 38 h 114"/>
                          <a:gd name="T52" fmla="*/ 150 w 213"/>
                          <a:gd name="T53" fmla="*/ 33 h 114"/>
                          <a:gd name="T54" fmla="*/ 157 w 213"/>
                          <a:gd name="T55" fmla="*/ 22 h 114"/>
                          <a:gd name="T56" fmla="*/ 164 w 213"/>
                          <a:gd name="T57" fmla="*/ 26 h 114"/>
                          <a:gd name="T58" fmla="*/ 171 w 213"/>
                          <a:gd name="T59" fmla="*/ 24 h 114"/>
                          <a:gd name="T60" fmla="*/ 173 w 213"/>
                          <a:gd name="T61" fmla="*/ 19 h 114"/>
                          <a:gd name="T62" fmla="*/ 185 w 213"/>
                          <a:gd name="T63" fmla="*/ 20 h 114"/>
                          <a:gd name="T64" fmla="*/ 208 w 213"/>
                          <a:gd name="T65" fmla="*/ 23 h 114"/>
                          <a:gd name="T66" fmla="*/ 212 w 213"/>
                          <a:gd name="T67" fmla="*/ 30 h 114"/>
                          <a:gd name="T68" fmla="*/ 210 w 213"/>
                          <a:gd name="T69" fmla="*/ 35 h 114"/>
                          <a:gd name="T70" fmla="*/ 201 w 213"/>
                          <a:gd name="T71" fmla="*/ 33 h 114"/>
                          <a:gd name="T72" fmla="*/ 193 w 213"/>
                          <a:gd name="T73" fmla="*/ 35 h 114"/>
                          <a:gd name="T74" fmla="*/ 183 w 213"/>
                          <a:gd name="T75" fmla="*/ 40 h 114"/>
                          <a:gd name="T76" fmla="*/ 178 w 213"/>
                          <a:gd name="T77" fmla="*/ 38 h 114"/>
                          <a:gd name="T78" fmla="*/ 169 w 213"/>
                          <a:gd name="T79" fmla="*/ 50 h 114"/>
                          <a:gd name="T80" fmla="*/ 155 w 213"/>
                          <a:gd name="T81" fmla="*/ 49 h 114"/>
                          <a:gd name="T82" fmla="*/ 148 w 213"/>
                          <a:gd name="T83" fmla="*/ 51 h 114"/>
                          <a:gd name="T84" fmla="*/ 142 w 213"/>
                          <a:gd name="T85" fmla="*/ 61 h 114"/>
                          <a:gd name="T86" fmla="*/ 137 w 213"/>
                          <a:gd name="T87" fmla="*/ 66 h 114"/>
                          <a:gd name="T88" fmla="*/ 133 w 213"/>
                          <a:gd name="T89" fmla="*/ 72 h 114"/>
                          <a:gd name="T90" fmla="*/ 125 w 213"/>
                          <a:gd name="T91" fmla="*/ 76 h 114"/>
                          <a:gd name="T92" fmla="*/ 110 w 213"/>
                          <a:gd name="T93" fmla="*/ 78 h 114"/>
                          <a:gd name="T94" fmla="*/ 106 w 213"/>
                          <a:gd name="T95" fmla="*/ 88 h 114"/>
                          <a:gd name="T96" fmla="*/ 102 w 213"/>
                          <a:gd name="T97" fmla="*/ 97 h 114"/>
                          <a:gd name="T98" fmla="*/ 97 w 213"/>
                          <a:gd name="T99" fmla="*/ 106 h 114"/>
                          <a:gd name="T100" fmla="*/ 88 w 213"/>
                          <a:gd name="T101" fmla="*/ 109 h 114"/>
                          <a:gd name="T102" fmla="*/ 80 w 213"/>
                          <a:gd name="T103" fmla="*/ 113 h 114"/>
                          <a:gd name="T104" fmla="*/ 62 w 213"/>
                          <a:gd name="T105" fmla="*/ 111 h 11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13" h="114">
                            <a:moveTo>
                              <a:pt x="62" y="111"/>
                            </a:moveTo>
                            <a:lnTo>
                              <a:pt x="59" y="103"/>
                            </a:lnTo>
                            <a:lnTo>
                              <a:pt x="58" y="96"/>
                            </a:lnTo>
                            <a:lnTo>
                              <a:pt x="59" y="89"/>
                            </a:lnTo>
                            <a:lnTo>
                              <a:pt x="54" y="80"/>
                            </a:lnTo>
                            <a:lnTo>
                              <a:pt x="52" y="72"/>
                            </a:lnTo>
                            <a:lnTo>
                              <a:pt x="41" y="67"/>
                            </a:lnTo>
                            <a:lnTo>
                              <a:pt x="23" y="68"/>
                            </a:lnTo>
                            <a:lnTo>
                              <a:pt x="7" y="67"/>
                            </a:lnTo>
                            <a:lnTo>
                              <a:pt x="0" y="64"/>
                            </a:lnTo>
                            <a:lnTo>
                              <a:pt x="11" y="46"/>
                            </a:lnTo>
                            <a:lnTo>
                              <a:pt x="21" y="55"/>
                            </a:lnTo>
                            <a:lnTo>
                              <a:pt x="35" y="47"/>
                            </a:lnTo>
                            <a:lnTo>
                              <a:pt x="39" y="39"/>
                            </a:lnTo>
                            <a:lnTo>
                              <a:pt x="44" y="28"/>
                            </a:lnTo>
                            <a:lnTo>
                              <a:pt x="47" y="20"/>
                            </a:lnTo>
                            <a:lnTo>
                              <a:pt x="62" y="15"/>
                            </a:lnTo>
                            <a:lnTo>
                              <a:pt x="69" y="8"/>
                            </a:lnTo>
                            <a:lnTo>
                              <a:pt x="81" y="6"/>
                            </a:lnTo>
                            <a:lnTo>
                              <a:pt x="94" y="0"/>
                            </a:lnTo>
                            <a:lnTo>
                              <a:pt x="103" y="6"/>
                            </a:lnTo>
                            <a:lnTo>
                              <a:pt x="108" y="16"/>
                            </a:lnTo>
                            <a:lnTo>
                              <a:pt x="119" y="23"/>
                            </a:lnTo>
                            <a:lnTo>
                              <a:pt x="125" y="32"/>
                            </a:lnTo>
                            <a:lnTo>
                              <a:pt x="135" y="43"/>
                            </a:lnTo>
                            <a:lnTo>
                              <a:pt x="142" y="38"/>
                            </a:lnTo>
                            <a:lnTo>
                              <a:pt x="150" y="33"/>
                            </a:lnTo>
                            <a:lnTo>
                              <a:pt x="157" y="22"/>
                            </a:lnTo>
                            <a:lnTo>
                              <a:pt x="164" y="26"/>
                            </a:lnTo>
                            <a:lnTo>
                              <a:pt x="171" y="24"/>
                            </a:lnTo>
                            <a:lnTo>
                              <a:pt x="173" y="19"/>
                            </a:lnTo>
                            <a:lnTo>
                              <a:pt x="185" y="20"/>
                            </a:lnTo>
                            <a:lnTo>
                              <a:pt x="208" y="23"/>
                            </a:lnTo>
                            <a:lnTo>
                              <a:pt x="212" y="30"/>
                            </a:lnTo>
                            <a:lnTo>
                              <a:pt x="210" y="35"/>
                            </a:lnTo>
                            <a:lnTo>
                              <a:pt x="201" y="33"/>
                            </a:lnTo>
                            <a:lnTo>
                              <a:pt x="193" y="35"/>
                            </a:lnTo>
                            <a:lnTo>
                              <a:pt x="183" y="40"/>
                            </a:lnTo>
                            <a:lnTo>
                              <a:pt x="178" y="38"/>
                            </a:lnTo>
                            <a:lnTo>
                              <a:pt x="169" y="50"/>
                            </a:lnTo>
                            <a:lnTo>
                              <a:pt x="155" y="49"/>
                            </a:lnTo>
                            <a:lnTo>
                              <a:pt x="148" y="51"/>
                            </a:lnTo>
                            <a:lnTo>
                              <a:pt x="142" y="61"/>
                            </a:lnTo>
                            <a:lnTo>
                              <a:pt x="137" y="66"/>
                            </a:lnTo>
                            <a:lnTo>
                              <a:pt x="133" y="72"/>
                            </a:lnTo>
                            <a:lnTo>
                              <a:pt x="125" y="76"/>
                            </a:lnTo>
                            <a:lnTo>
                              <a:pt x="110" y="78"/>
                            </a:lnTo>
                            <a:lnTo>
                              <a:pt x="106" y="88"/>
                            </a:lnTo>
                            <a:lnTo>
                              <a:pt x="102" y="97"/>
                            </a:lnTo>
                            <a:lnTo>
                              <a:pt x="97" y="106"/>
                            </a:lnTo>
                            <a:lnTo>
                              <a:pt x="88" y="109"/>
                            </a:lnTo>
                            <a:lnTo>
                              <a:pt x="80" y="113"/>
                            </a:lnTo>
                            <a:lnTo>
                              <a:pt x="62" y="111"/>
                            </a:lnTo>
                          </a:path>
                        </a:pathLst>
                      </a:custGeom>
                      <a:solidFill>
                        <a:srgbClr val="037C03"/>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50317" name="Rectangle 33"/>
                    <p:cNvSpPr>
                      <a:spLocks noChangeArrowheads="1"/>
                    </p:cNvSpPr>
                    <p:nvPr/>
                  </p:nvSpPr>
                  <p:spPr bwMode="auto">
                    <a:xfrm>
                      <a:off x="1394" y="2058"/>
                      <a:ext cx="1240" cy="12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grpSp>
              <p:grpSp>
                <p:nvGrpSpPr>
                  <p:cNvPr id="50300" name="Group 34"/>
                  <p:cNvGrpSpPr>
                    <a:grpSpLocks/>
                  </p:cNvGrpSpPr>
                  <p:nvPr/>
                </p:nvGrpSpPr>
                <p:grpSpPr bwMode="auto">
                  <a:xfrm>
                    <a:off x="1370" y="1602"/>
                    <a:ext cx="1672" cy="264"/>
                    <a:chOff x="1370" y="1602"/>
                    <a:chExt cx="1672" cy="264"/>
                  </a:xfrm>
                </p:grpSpPr>
                <p:sp>
                  <p:nvSpPr>
                    <p:cNvPr id="50311" name="AutoShape 35"/>
                    <p:cNvSpPr>
                      <a:spLocks noChangeArrowheads="1"/>
                    </p:cNvSpPr>
                    <p:nvPr/>
                  </p:nvSpPr>
                  <p:spPr bwMode="auto">
                    <a:xfrm>
                      <a:off x="1370" y="1602"/>
                      <a:ext cx="1672" cy="264"/>
                    </a:xfrm>
                    <a:prstGeom prst="parallelogram">
                      <a:avLst>
                        <a:gd name="adj" fmla="val 157952"/>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grpSp>
                  <p:nvGrpSpPr>
                    <p:cNvPr id="50312" name="Group 36"/>
                    <p:cNvGrpSpPr>
                      <a:grpSpLocks/>
                    </p:cNvGrpSpPr>
                    <p:nvPr/>
                  </p:nvGrpSpPr>
                  <p:grpSpPr bwMode="auto">
                    <a:xfrm>
                      <a:off x="1922" y="1674"/>
                      <a:ext cx="433" cy="185"/>
                      <a:chOff x="1922" y="1674"/>
                      <a:chExt cx="433" cy="185"/>
                    </a:xfrm>
                  </p:grpSpPr>
                  <p:sp>
                    <p:nvSpPr>
                      <p:cNvPr id="50313" name="Freeform 37"/>
                      <p:cNvSpPr>
                        <a:spLocks/>
                      </p:cNvSpPr>
                      <p:nvPr/>
                    </p:nvSpPr>
                    <p:spPr bwMode="auto">
                      <a:xfrm>
                        <a:off x="1922" y="1674"/>
                        <a:ext cx="433" cy="185"/>
                      </a:xfrm>
                      <a:custGeom>
                        <a:avLst/>
                        <a:gdLst>
                          <a:gd name="T0" fmla="*/ 0 w 433"/>
                          <a:gd name="T1" fmla="*/ 184 h 185"/>
                          <a:gd name="T2" fmla="*/ 8 w 433"/>
                          <a:gd name="T3" fmla="*/ 168 h 185"/>
                          <a:gd name="T4" fmla="*/ 24 w 433"/>
                          <a:gd name="T5" fmla="*/ 160 h 185"/>
                          <a:gd name="T6" fmla="*/ 40 w 433"/>
                          <a:gd name="T7" fmla="*/ 160 h 185"/>
                          <a:gd name="T8" fmla="*/ 56 w 433"/>
                          <a:gd name="T9" fmla="*/ 152 h 185"/>
                          <a:gd name="T10" fmla="*/ 72 w 433"/>
                          <a:gd name="T11" fmla="*/ 152 h 185"/>
                          <a:gd name="T12" fmla="*/ 88 w 433"/>
                          <a:gd name="T13" fmla="*/ 152 h 185"/>
                          <a:gd name="T14" fmla="*/ 104 w 433"/>
                          <a:gd name="T15" fmla="*/ 144 h 185"/>
                          <a:gd name="T16" fmla="*/ 120 w 433"/>
                          <a:gd name="T17" fmla="*/ 136 h 185"/>
                          <a:gd name="T18" fmla="*/ 136 w 433"/>
                          <a:gd name="T19" fmla="*/ 136 h 185"/>
                          <a:gd name="T20" fmla="*/ 144 w 433"/>
                          <a:gd name="T21" fmla="*/ 120 h 185"/>
                          <a:gd name="T22" fmla="*/ 160 w 433"/>
                          <a:gd name="T23" fmla="*/ 112 h 185"/>
                          <a:gd name="T24" fmla="*/ 176 w 433"/>
                          <a:gd name="T25" fmla="*/ 104 h 185"/>
                          <a:gd name="T26" fmla="*/ 192 w 433"/>
                          <a:gd name="T27" fmla="*/ 88 h 185"/>
                          <a:gd name="T28" fmla="*/ 208 w 433"/>
                          <a:gd name="T29" fmla="*/ 80 h 185"/>
                          <a:gd name="T30" fmla="*/ 224 w 433"/>
                          <a:gd name="T31" fmla="*/ 80 h 185"/>
                          <a:gd name="T32" fmla="*/ 240 w 433"/>
                          <a:gd name="T33" fmla="*/ 80 h 185"/>
                          <a:gd name="T34" fmla="*/ 256 w 433"/>
                          <a:gd name="T35" fmla="*/ 72 h 185"/>
                          <a:gd name="T36" fmla="*/ 272 w 433"/>
                          <a:gd name="T37" fmla="*/ 72 h 185"/>
                          <a:gd name="T38" fmla="*/ 288 w 433"/>
                          <a:gd name="T39" fmla="*/ 72 h 185"/>
                          <a:gd name="T40" fmla="*/ 312 w 433"/>
                          <a:gd name="T41" fmla="*/ 72 h 185"/>
                          <a:gd name="T42" fmla="*/ 328 w 433"/>
                          <a:gd name="T43" fmla="*/ 72 h 185"/>
                          <a:gd name="T44" fmla="*/ 344 w 433"/>
                          <a:gd name="T45" fmla="*/ 64 h 185"/>
                          <a:gd name="T46" fmla="*/ 360 w 433"/>
                          <a:gd name="T47" fmla="*/ 64 h 185"/>
                          <a:gd name="T48" fmla="*/ 368 w 433"/>
                          <a:gd name="T49" fmla="*/ 48 h 185"/>
                          <a:gd name="T50" fmla="*/ 384 w 433"/>
                          <a:gd name="T51" fmla="*/ 40 h 185"/>
                          <a:gd name="T52" fmla="*/ 400 w 433"/>
                          <a:gd name="T53" fmla="*/ 32 h 185"/>
                          <a:gd name="T54" fmla="*/ 408 w 433"/>
                          <a:gd name="T55" fmla="*/ 16 h 185"/>
                          <a:gd name="T56" fmla="*/ 424 w 433"/>
                          <a:gd name="T57" fmla="*/ 16 h 185"/>
                          <a:gd name="T58" fmla="*/ 432 w 433"/>
                          <a:gd name="T59" fmla="*/ 0 h 18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33" h="185">
                            <a:moveTo>
                              <a:pt x="0" y="184"/>
                            </a:moveTo>
                            <a:lnTo>
                              <a:pt x="8" y="168"/>
                            </a:lnTo>
                            <a:lnTo>
                              <a:pt x="24" y="160"/>
                            </a:lnTo>
                            <a:lnTo>
                              <a:pt x="40" y="160"/>
                            </a:lnTo>
                            <a:lnTo>
                              <a:pt x="56" y="152"/>
                            </a:lnTo>
                            <a:lnTo>
                              <a:pt x="72" y="152"/>
                            </a:lnTo>
                            <a:lnTo>
                              <a:pt x="88" y="152"/>
                            </a:lnTo>
                            <a:lnTo>
                              <a:pt x="104" y="144"/>
                            </a:lnTo>
                            <a:lnTo>
                              <a:pt x="120" y="136"/>
                            </a:lnTo>
                            <a:lnTo>
                              <a:pt x="136" y="136"/>
                            </a:lnTo>
                            <a:lnTo>
                              <a:pt x="144" y="120"/>
                            </a:lnTo>
                            <a:lnTo>
                              <a:pt x="160" y="112"/>
                            </a:lnTo>
                            <a:lnTo>
                              <a:pt x="176" y="104"/>
                            </a:lnTo>
                            <a:lnTo>
                              <a:pt x="192" y="88"/>
                            </a:lnTo>
                            <a:lnTo>
                              <a:pt x="208" y="80"/>
                            </a:lnTo>
                            <a:lnTo>
                              <a:pt x="224" y="80"/>
                            </a:lnTo>
                            <a:lnTo>
                              <a:pt x="240" y="80"/>
                            </a:lnTo>
                            <a:lnTo>
                              <a:pt x="256" y="72"/>
                            </a:lnTo>
                            <a:lnTo>
                              <a:pt x="272" y="72"/>
                            </a:lnTo>
                            <a:lnTo>
                              <a:pt x="288" y="72"/>
                            </a:lnTo>
                            <a:lnTo>
                              <a:pt x="312" y="72"/>
                            </a:lnTo>
                            <a:lnTo>
                              <a:pt x="328" y="72"/>
                            </a:lnTo>
                            <a:lnTo>
                              <a:pt x="344" y="64"/>
                            </a:lnTo>
                            <a:lnTo>
                              <a:pt x="360" y="64"/>
                            </a:lnTo>
                            <a:lnTo>
                              <a:pt x="368" y="48"/>
                            </a:lnTo>
                            <a:lnTo>
                              <a:pt x="384" y="40"/>
                            </a:lnTo>
                            <a:lnTo>
                              <a:pt x="400" y="32"/>
                            </a:lnTo>
                            <a:lnTo>
                              <a:pt x="408" y="16"/>
                            </a:lnTo>
                            <a:lnTo>
                              <a:pt x="424" y="16"/>
                            </a:lnTo>
                            <a:lnTo>
                              <a:pt x="432" y="0"/>
                            </a:lnTo>
                          </a:path>
                        </a:pathLst>
                      </a:custGeom>
                      <a:noFill/>
                      <a:ln w="25400" cap="rnd" cmpd="sng">
                        <a:solidFill>
                          <a:srgbClr val="0200FD"/>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314" name="Freeform 38"/>
                      <p:cNvSpPr>
                        <a:spLocks/>
                      </p:cNvSpPr>
                      <p:nvPr/>
                    </p:nvSpPr>
                    <p:spPr bwMode="auto">
                      <a:xfrm>
                        <a:off x="2186" y="1738"/>
                        <a:ext cx="65" cy="121"/>
                      </a:xfrm>
                      <a:custGeom>
                        <a:avLst/>
                        <a:gdLst>
                          <a:gd name="T0" fmla="*/ 0 w 65"/>
                          <a:gd name="T1" fmla="*/ 120 h 121"/>
                          <a:gd name="T2" fmla="*/ 0 w 65"/>
                          <a:gd name="T3" fmla="*/ 104 h 121"/>
                          <a:gd name="T4" fmla="*/ 0 w 65"/>
                          <a:gd name="T5" fmla="*/ 88 h 121"/>
                          <a:gd name="T6" fmla="*/ 0 w 65"/>
                          <a:gd name="T7" fmla="*/ 72 h 121"/>
                          <a:gd name="T8" fmla="*/ 8 w 65"/>
                          <a:gd name="T9" fmla="*/ 56 h 121"/>
                          <a:gd name="T10" fmla="*/ 24 w 65"/>
                          <a:gd name="T11" fmla="*/ 56 h 121"/>
                          <a:gd name="T12" fmla="*/ 32 w 65"/>
                          <a:gd name="T13" fmla="*/ 40 h 121"/>
                          <a:gd name="T14" fmla="*/ 48 w 65"/>
                          <a:gd name="T15" fmla="*/ 32 h 121"/>
                          <a:gd name="T16" fmla="*/ 56 w 65"/>
                          <a:gd name="T17" fmla="*/ 16 h 121"/>
                          <a:gd name="T18" fmla="*/ 64 w 65"/>
                          <a:gd name="T19" fmla="*/ 0 h 1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5" h="121">
                            <a:moveTo>
                              <a:pt x="0" y="120"/>
                            </a:moveTo>
                            <a:lnTo>
                              <a:pt x="0" y="104"/>
                            </a:lnTo>
                            <a:lnTo>
                              <a:pt x="0" y="88"/>
                            </a:lnTo>
                            <a:lnTo>
                              <a:pt x="0" y="72"/>
                            </a:lnTo>
                            <a:lnTo>
                              <a:pt x="8" y="56"/>
                            </a:lnTo>
                            <a:lnTo>
                              <a:pt x="24" y="56"/>
                            </a:lnTo>
                            <a:lnTo>
                              <a:pt x="32" y="40"/>
                            </a:lnTo>
                            <a:lnTo>
                              <a:pt x="48" y="32"/>
                            </a:lnTo>
                            <a:lnTo>
                              <a:pt x="56" y="16"/>
                            </a:lnTo>
                            <a:lnTo>
                              <a:pt x="64" y="0"/>
                            </a:lnTo>
                          </a:path>
                        </a:pathLst>
                      </a:custGeom>
                      <a:noFill/>
                      <a:ln w="25400" cap="rnd" cmpd="sng">
                        <a:solidFill>
                          <a:srgbClr val="0200FD"/>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nvGrpSpPr>
                  <p:cNvPr id="50301" name="Group 39"/>
                  <p:cNvGrpSpPr>
                    <a:grpSpLocks/>
                  </p:cNvGrpSpPr>
                  <p:nvPr/>
                </p:nvGrpSpPr>
                <p:grpSpPr bwMode="auto">
                  <a:xfrm>
                    <a:off x="1402" y="1412"/>
                    <a:ext cx="1869" cy="422"/>
                    <a:chOff x="1402" y="1412"/>
                    <a:chExt cx="1869" cy="422"/>
                  </a:xfrm>
                </p:grpSpPr>
                <p:sp>
                  <p:nvSpPr>
                    <p:cNvPr id="50307" name="AutoShape 40"/>
                    <p:cNvSpPr>
                      <a:spLocks noChangeArrowheads="1"/>
                    </p:cNvSpPr>
                    <p:nvPr/>
                  </p:nvSpPr>
                  <p:spPr bwMode="auto">
                    <a:xfrm>
                      <a:off x="1402" y="1412"/>
                      <a:ext cx="1672" cy="264"/>
                    </a:xfrm>
                    <a:prstGeom prst="parallelogram">
                      <a:avLst>
                        <a:gd name="adj" fmla="val 157952"/>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grpSp>
                  <p:nvGrpSpPr>
                    <p:cNvPr id="50308" name="Group 41"/>
                    <p:cNvGrpSpPr>
                      <a:grpSpLocks/>
                    </p:cNvGrpSpPr>
                    <p:nvPr/>
                  </p:nvGrpSpPr>
                  <p:grpSpPr bwMode="auto">
                    <a:xfrm>
                      <a:off x="1799" y="1487"/>
                      <a:ext cx="1472" cy="347"/>
                      <a:chOff x="1799" y="1487"/>
                      <a:chExt cx="1472" cy="347"/>
                    </a:xfrm>
                  </p:grpSpPr>
                  <p:sp>
                    <p:nvSpPr>
                      <p:cNvPr id="50309" name="Rectangle 42"/>
                      <p:cNvSpPr>
                        <a:spLocks noChangeArrowheads="1"/>
                      </p:cNvSpPr>
                      <p:nvPr/>
                    </p:nvSpPr>
                    <p:spPr bwMode="auto">
                      <a:xfrm>
                        <a:off x="1799" y="1487"/>
                        <a:ext cx="867" cy="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000" b="0"/>
                          <a:t>Whoville</a:t>
                        </a:r>
                      </a:p>
                    </p:txBody>
                  </p:sp>
                  <p:sp>
                    <p:nvSpPr>
                      <p:cNvPr id="50310" name="Rectangle 43"/>
                      <p:cNvSpPr>
                        <a:spLocks noChangeArrowheads="1"/>
                      </p:cNvSpPr>
                      <p:nvPr/>
                    </p:nvSpPr>
                    <p:spPr bwMode="auto">
                      <a:xfrm>
                        <a:off x="2191" y="1535"/>
                        <a:ext cx="1080" cy="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000" b="0"/>
                          <a:t>Cedar Lake</a:t>
                        </a:r>
                      </a:p>
                    </p:txBody>
                  </p:sp>
                </p:grpSp>
              </p:grpSp>
              <p:grpSp>
                <p:nvGrpSpPr>
                  <p:cNvPr id="50302" name="Group 44"/>
                  <p:cNvGrpSpPr>
                    <a:grpSpLocks/>
                  </p:cNvGrpSpPr>
                  <p:nvPr/>
                </p:nvGrpSpPr>
                <p:grpSpPr bwMode="auto">
                  <a:xfrm>
                    <a:off x="1402" y="1260"/>
                    <a:ext cx="1672" cy="264"/>
                    <a:chOff x="1402" y="1260"/>
                    <a:chExt cx="1672" cy="264"/>
                  </a:xfrm>
                </p:grpSpPr>
                <p:sp>
                  <p:nvSpPr>
                    <p:cNvPr id="50303" name="AutoShape 45"/>
                    <p:cNvSpPr>
                      <a:spLocks noChangeArrowheads="1"/>
                    </p:cNvSpPr>
                    <p:nvPr/>
                  </p:nvSpPr>
                  <p:spPr bwMode="auto">
                    <a:xfrm>
                      <a:off x="1402" y="1260"/>
                      <a:ext cx="1672" cy="264"/>
                    </a:xfrm>
                    <a:prstGeom prst="parallelogram">
                      <a:avLst>
                        <a:gd name="adj" fmla="val 157952"/>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grpSp>
                  <p:nvGrpSpPr>
                    <p:cNvPr id="50304" name="Group 46"/>
                    <p:cNvGrpSpPr>
                      <a:grpSpLocks/>
                    </p:cNvGrpSpPr>
                    <p:nvPr/>
                  </p:nvGrpSpPr>
                  <p:grpSpPr bwMode="auto">
                    <a:xfrm>
                      <a:off x="1730" y="1332"/>
                      <a:ext cx="904" cy="144"/>
                      <a:chOff x="1730" y="1332"/>
                      <a:chExt cx="904" cy="144"/>
                    </a:xfrm>
                  </p:grpSpPr>
                  <p:sp>
                    <p:nvSpPr>
                      <p:cNvPr id="50305" name="AutoShape 47" descr="Narrow vertical"/>
                      <p:cNvSpPr>
                        <a:spLocks noChangeArrowheads="1"/>
                      </p:cNvSpPr>
                      <p:nvPr/>
                    </p:nvSpPr>
                    <p:spPr bwMode="auto">
                      <a:xfrm>
                        <a:off x="1730" y="1332"/>
                        <a:ext cx="608" cy="80"/>
                      </a:xfrm>
                      <a:prstGeom prst="parallelogram">
                        <a:avLst>
                          <a:gd name="adj" fmla="val 189543"/>
                        </a:avLst>
                      </a:prstGeom>
                      <a:pattFill prst="narVert">
                        <a:fgClr>
                          <a:schemeClr val="accent1"/>
                        </a:fgClr>
                        <a:bgClr>
                          <a:schemeClr val="bg1"/>
                        </a:bgClr>
                      </a:patt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306" name="AutoShape 48" descr="Zig zag"/>
                      <p:cNvSpPr>
                        <a:spLocks noChangeArrowheads="1"/>
                      </p:cNvSpPr>
                      <p:nvPr/>
                    </p:nvSpPr>
                    <p:spPr bwMode="auto">
                      <a:xfrm>
                        <a:off x="2026" y="1396"/>
                        <a:ext cx="608" cy="80"/>
                      </a:xfrm>
                      <a:prstGeom prst="parallelogram">
                        <a:avLst>
                          <a:gd name="adj" fmla="val 189543"/>
                        </a:avLst>
                      </a:prstGeom>
                      <a:pattFill prst="zigZag">
                        <a:fgClr>
                          <a:schemeClr val="accent2"/>
                        </a:fgClr>
                        <a:bgClr>
                          <a:schemeClr val="folHlink"/>
                        </a:bgClr>
                      </a:patt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grpSp>
              </p:grpSp>
            </p:grpSp>
            <p:sp>
              <p:nvSpPr>
                <p:cNvPr id="50298" name="Rectangle 49"/>
                <p:cNvSpPr>
                  <a:spLocks noChangeArrowheads="1"/>
                </p:cNvSpPr>
                <p:nvPr/>
              </p:nvSpPr>
              <p:spPr bwMode="auto">
                <a:xfrm>
                  <a:off x="3504" y="1056"/>
                  <a:ext cx="128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t>Integrated View</a:t>
                  </a:r>
                </a:p>
              </p:txBody>
            </p:sp>
          </p:grpSp>
          <p:grpSp>
            <p:nvGrpSpPr>
              <p:cNvPr id="50190" name="Group 50"/>
              <p:cNvGrpSpPr>
                <a:grpSpLocks/>
              </p:cNvGrpSpPr>
              <p:nvPr/>
            </p:nvGrpSpPr>
            <p:grpSpPr bwMode="auto">
              <a:xfrm>
                <a:off x="4673600" y="3097213"/>
                <a:ext cx="4300538" cy="430212"/>
                <a:chOff x="2976" y="2455"/>
                <a:chExt cx="2709" cy="271"/>
              </a:xfrm>
            </p:grpSpPr>
            <p:grpSp>
              <p:nvGrpSpPr>
                <p:cNvPr id="50250" name="Group 51"/>
                <p:cNvGrpSpPr>
                  <a:grpSpLocks/>
                </p:cNvGrpSpPr>
                <p:nvPr/>
              </p:nvGrpSpPr>
              <p:grpSpPr bwMode="auto">
                <a:xfrm>
                  <a:off x="2976" y="2472"/>
                  <a:ext cx="2709" cy="254"/>
                  <a:chOff x="303" y="2619"/>
                  <a:chExt cx="5104" cy="488"/>
                </a:xfrm>
              </p:grpSpPr>
              <p:sp>
                <p:nvSpPr>
                  <p:cNvPr id="50252" name="Oval 52"/>
                  <p:cNvSpPr>
                    <a:spLocks noChangeArrowheads="1"/>
                  </p:cNvSpPr>
                  <p:nvPr/>
                </p:nvSpPr>
                <p:spPr bwMode="auto">
                  <a:xfrm>
                    <a:off x="303" y="2752"/>
                    <a:ext cx="668" cy="259"/>
                  </a:xfrm>
                  <a:prstGeom prst="ellipse">
                    <a:avLst/>
                  </a:prstGeom>
                  <a:solidFill>
                    <a:srgbClr val="99CCFF"/>
                  </a:solidFill>
                  <a:ln w="254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53" name="Oval 53"/>
                  <p:cNvSpPr>
                    <a:spLocks noChangeArrowheads="1"/>
                  </p:cNvSpPr>
                  <p:nvPr/>
                </p:nvSpPr>
                <p:spPr bwMode="auto">
                  <a:xfrm>
                    <a:off x="417" y="2848"/>
                    <a:ext cx="669" cy="259"/>
                  </a:xfrm>
                  <a:prstGeom prst="ellipse">
                    <a:avLst/>
                  </a:prstGeom>
                  <a:solidFill>
                    <a:srgbClr val="99CCFF"/>
                  </a:solidFill>
                  <a:ln w="254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54" name="Oval 54"/>
                  <p:cNvSpPr>
                    <a:spLocks noChangeArrowheads="1"/>
                  </p:cNvSpPr>
                  <p:nvPr/>
                </p:nvSpPr>
                <p:spPr bwMode="auto">
                  <a:xfrm>
                    <a:off x="632" y="2830"/>
                    <a:ext cx="668" cy="259"/>
                  </a:xfrm>
                  <a:prstGeom prst="ellipse">
                    <a:avLst/>
                  </a:prstGeom>
                  <a:solidFill>
                    <a:srgbClr val="99CCFF"/>
                  </a:solidFill>
                  <a:ln w="254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55" name="Oval 55"/>
                  <p:cNvSpPr>
                    <a:spLocks noChangeArrowheads="1"/>
                  </p:cNvSpPr>
                  <p:nvPr/>
                </p:nvSpPr>
                <p:spPr bwMode="auto">
                  <a:xfrm>
                    <a:off x="1102" y="2830"/>
                    <a:ext cx="668" cy="259"/>
                  </a:xfrm>
                  <a:prstGeom prst="ellipse">
                    <a:avLst/>
                  </a:prstGeom>
                  <a:solidFill>
                    <a:srgbClr val="99CCFF"/>
                  </a:solidFill>
                  <a:ln w="254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56" name="Oval 56"/>
                  <p:cNvSpPr>
                    <a:spLocks noChangeArrowheads="1"/>
                  </p:cNvSpPr>
                  <p:nvPr/>
                </p:nvSpPr>
                <p:spPr bwMode="auto">
                  <a:xfrm>
                    <a:off x="1647" y="2830"/>
                    <a:ext cx="670" cy="259"/>
                  </a:xfrm>
                  <a:prstGeom prst="ellipse">
                    <a:avLst/>
                  </a:prstGeom>
                  <a:solidFill>
                    <a:srgbClr val="99CCFF"/>
                  </a:solidFill>
                  <a:ln w="254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57" name="Oval 57"/>
                  <p:cNvSpPr>
                    <a:spLocks noChangeArrowheads="1"/>
                  </p:cNvSpPr>
                  <p:nvPr/>
                </p:nvSpPr>
                <p:spPr bwMode="auto">
                  <a:xfrm>
                    <a:off x="2120" y="2781"/>
                    <a:ext cx="668" cy="259"/>
                  </a:xfrm>
                  <a:prstGeom prst="ellipse">
                    <a:avLst/>
                  </a:prstGeom>
                  <a:solidFill>
                    <a:srgbClr val="99CCFF"/>
                  </a:solidFill>
                  <a:ln w="254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58" name="Oval 58"/>
                  <p:cNvSpPr>
                    <a:spLocks noChangeArrowheads="1"/>
                  </p:cNvSpPr>
                  <p:nvPr/>
                </p:nvSpPr>
                <p:spPr bwMode="auto">
                  <a:xfrm>
                    <a:off x="2596" y="2782"/>
                    <a:ext cx="670" cy="259"/>
                  </a:xfrm>
                  <a:prstGeom prst="ellipse">
                    <a:avLst/>
                  </a:prstGeom>
                  <a:solidFill>
                    <a:srgbClr val="99CCFF"/>
                  </a:solidFill>
                  <a:ln w="254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59" name="Oval 59"/>
                  <p:cNvSpPr>
                    <a:spLocks noChangeArrowheads="1"/>
                  </p:cNvSpPr>
                  <p:nvPr/>
                </p:nvSpPr>
                <p:spPr bwMode="auto">
                  <a:xfrm>
                    <a:off x="3093" y="2795"/>
                    <a:ext cx="668" cy="259"/>
                  </a:xfrm>
                  <a:prstGeom prst="ellipse">
                    <a:avLst/>
                  </a:prstGeom>
                  <a:solidFill>
                    <a:srgbClr val="99CCFF"/>
                  </a:solidFill>
                  <a:ln w="254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60" name="Oval 60"/>
                  <p:cNvSpPr>
                    <a:spLocks noChangeArrowheads="1"/>
                  </p:cNvSpPr>
                  <p:nvPr/>
                </p:nvSpPr>
                <p:spPr bwMode="auto">
                  <a:xfrm>
                    <a:off x="3623" y="2796"/>
                    <a:ext cx="669" cy="259"/>
                  </a:xfrm>
                  <a:prstGeom prst="ellipse">
                    <a:avLst/>
                  </a:prstGeom>
                  <a:solidFill>
                    <a:srgbClr val="99CCFF"/>
                  </a:solidFill>
                  <a:ln w="254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61" name="Oval 61"/>
                  <p:cNvSpPr>
                    <a:spLocks noChangeArrowheads="1"/>
                  </p:cNvSpPr>
                  <p:nvPr/>
                </p:nvSpPr>
                <p:spPr bwMode="auto">
                  <a:xfrm>
                    <a:off x="480" y="2675"/>
                    <a:ext cx="669" cy="259"/>
                  </a:xfrm>
                  <a:prstGeom prst="ellipse">
                    <a:avLst/>
                  </a:prstGeom>
                  <a:solidFill>
                    <a:srgbClr val="99CCFF"/>
                  </a:solidFill>
                  <a:ln w="254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62" name="Oval 62"/>
                  <p:cNvSpPr>
                    <a:spLocks noChangeArrowheads="1"/>
                  </p:cNvSpPr>
                  <p:nvPr/>
                </p:nvSpPr>
                <p:spPr bwMode="auto">
                  <a:xfrm>
                    <a:off x="986" y="2697"/>
                    <a:ext cx="667" cy="259"/>
                  </a:xfrm>
                  <a:prstGeom prst="ellipse">
                    <a:avLst/>
                  </a:prstGeom>
                  <a:solidFill>
                    <a:srgbClr val="99CCFF"/>
                  </a:solidFill>
                  <a:ln w="254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63" name="Oval 63"/>
                  <p:cNvSpPr>
                    <a:spLocks noChangeArrowheads="1"/>
                  </p:cNvSpPr>
                  <p:nvPr/>
                </p:nvSpPr>
                <p:spPr bwMode="auto">
                  <a:xfrm>
                    <a:off x="1504" y="2704"/>
                    <a:ext cx="669" cy="259"/>
                  </a:xfrm>
                  <a:prstGeom prst="ellipse">
                    <a:avLst/>
                  </a:prstGeom>
                  <a:solidFill>
                    <a:srgbClr val="99CCFF"/>
                  </a:solidFill>
                  <a:ln w="254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64" name="Oval 64"/>
                  <p:cNvSpPr>
                    <a:spLocks noChangeArrowheads="1"/>
                  </p:cNvSpPr>
                  <p:nvPr/>
                </p:nvSpPr>
                <p:spPr bwMode="auto">
                  <a:xfrm>
                    <a:off x="1935" y="2696"/>
                    <a:ext cx="669" cy="259"/>
                  </a:xfrm>
                  <a:prstGeom prst="ellipse">
                    <a:avLst/>
                  </a:prstGeom>
                  <a:solidFill>
                    <a:srgbClr val="99CCFF"/>
                  </a:solidFill>
                  <a:ln w="254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65" name="Oval 65"/>
                  <p:cNvSpPr>
                    <a:spLocks noChangeArrowheads="1"/>
                  </p:cNvSpPr>
                  <p:nvPr/>
                </p:nvSpPr>
                <p:spPr bwMode="auto">
                  <a:xfrm>
                    <a:off x="2388" y="2683"/>
                    <a:ext cx="669" cy="259"/>
                  </a:xfrm>
                  <a:prstGeom prst="ellipse">
                    <a:avLst/>
                  </a:prstGeom>
                  <a:solidFill>
                    <a:srgbClr val="99CCFF"/>
                  </a:solidFill>
                  <a:ln w="254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66" name="Oval 66"/>
                  <p:cNvSpPr>
                    <a:spLocks noChangeArrowheads="1"/>
                  </p:cNvSpPr>
                  <p:nvPr/>
                </p:nvSpPr>
                <p:spPr bwMode="auto">
                  <a:xfrm>
                    <a:off x="2834" y="2654"/>
                    <a:ext cx="669" cy="259"/>
                  </a:xfrm>
                  <a:prstGeom prst="ellipse">
                    <a:avLst/>
                  </a:prstGeom>
                  <a:solidFill>
                    <a:srgbClr val="99CCFF"/>
                  </a:solidFill>
                  <a:ln w="254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67" name="Oval 67"/>
                  <p:cNvSpPr>
                    <a:spLocks noChangeArrowheads="1"/>
                  </p:cNvSpPr>
                  <p:nvPr/>
                </p:nvSpPr>
                <p:spPr bwMode="auto">
                  <a:xfrm>
                    <a:off x="3303" y="2683"/>
                    <a:ext cx="667" cy="259"/>
                  </a:xfrm>
                  <a:prstGeom prst="ellipse">
                    <a:avLst/>
                  </a:prstGeom>
                  <a:solidFill>
                    <a:srgbClr val="99CCFF"/>
                  </a:solidFill>
                  <a:ln w="254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68" name="Oval 68"/>
                  <p:cNvSpPr>
                    <a:spLocks noChangeArrowheads="1"/>
                  </p:cNvSpPr>
                  <p:nvPr/>
                </p:nvSpPr>
                <p:spPr bwMode="auto">
                  <a:xfrm>
                    <a:off x="3589" y="2619"/>
                    <a:ext cx="669" cy="259"/>
                  </a:xfrm>
                  <a:prstGeom prst="ellipse">
                    <a:avLst/>
                  </a:prstGeom>
                  <a:solidFill>
                    <a:srgbClr val="99CCFF"/>
                  </a:solidFill>
                  <a:ln w="254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69" name="Oval 69"/>
                  <p:cNvSpPr>
                    <a:spLocks noChangeArrowheads="1"/>
                  </p:cNvSpPr>
                  <p:nvPr/>
                </p:nvSpPr>
                <p:spPr bwMode="auto">
                  <a:xfrm>
                    <a:off x="4025" y="2810"/>
                    <a:ext cx="668" cy="259"/>
                  </a:xfrm>
                  <a:prstGeom prst="ellipse">
                    <a:avLst/>
                  </a:prstGeom>
                  <a:solidFill>
                    <a:srgbClr val="99CCFF"/>
                  </a:solidFill>
                  <a:ln w="254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70" name="Oval 70"/>
                  <p:cNvSpPr>
                    <a:spLocks noChangeArrowheads="1"/>
                  </p:cNvSpPr>
                  <p:nvPr/>
                </p:nvSpPr>
                <p:spPr bwMode="auto">
                  <a:xfrm>
                    <a:off x="4150" y="2668"/>
                    <a:ext cx="669" cy="259"/>
                  </a:xfrm>
                  <a:prstGeom prst="ellipse">
                    <a:avLst/>
                  </a:prstGeom>
                  <a:solidFill>
                    <a:srgbClr val="99CCFF"/>
                  </a:solidFill>
                  <a:ln w="254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71" name="Oval 71"/>
                  <p:cNvSpPr>
                    <a:spLocks noChangeArrowheads="1"/>
                  </p:cNvSpPr>
                  <p:nvPr/>
                </p:nvSpPr>
                <p:spPr bwMode="auto">
                  <a:xfrm>
                    <a:off x="4572" y="2760"/>
                    <a:ext cx="669" cy="259"/>
                  </a:xfrm>
                  <a:prstGeom prst="ellipse">
                    <a:avLst/>
                  </a:prstGeom>
                  <a:solidFill>
                    <a:srgbClr val="99CCFF"/>
                  </a:solidFill>
                  <a:ln w="254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72" name="Oval 72"/>
                  <p:cNvSpPr>
                    <a:spLocks noChangeArrowheads="1"/>
                  </p:cNvSpPr>
                  <p:nvPr/>
                </p:nvSpPr>
                <p:spPr bwMode="auto">
                  <a:xfrm>
                    <a:off x="4739" y="2648"/>
                    <a:ext cx="668" cy="259"/>
                  </a:xfrm>
                  <a:prstGeom prst="ellipse">
                    <a:avLst/>
                  </a:prstGeom>
                  <a:solidFill>
                    <a:srgbClr val="99CCFF"/>
                  </a:solidFill>
                  <a:ln w="254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73" name="Oval 73"/>
                  <p:cNvSpPr>
                    <a:spLocks noChangeArrowheads="1"/>
                  </p:cNvSpPr>
                  <p:nvPr/>
                </p:nvSpPr>
                <p:spPr bwMode="auto">
                  <a:xfrm>
                    <a:off x="412" y="2759"/>
                    <a:ext cx="688" cy="275"/>
                  </a:xfrm>
                  <a:prstGeom prst="ellipse">
                    <a:avLst/>
                  </a:prstGeom>
                  <a:solidFill>
                    <a:srgbClr val="99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74" name="Oval 74"/>
                  <p:cNvSpPr>
                    <a:spLocks noChangeArrowheads="1"/>
                  </p:cNvSpPr>
                  <p:nvPr/>
                </p:nvSpPr>
                <p:spPr bwMode="auto">
                  <a:xfrm>
                    <a:off x="1024" y="2752"/>
                    <a:ext cx="689" cy="275"/>
                  </a:xfrm>
                  <a:prstGeom prst="ellipse">
                    <a:avLst/>
                  </a:prstGeom>
                  <a:solidFill>
                    <a:srgbClr val="99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75" name="Oval 75"/>
                  <p:cNvSpPr>
                    <a:spLocks noChangeArrowheads="1"/>
                  </p:cNvSpPr>
                  <p:nvPr/>
                </p:nvSpPr>
                <p:spPr bwMode="auto">
                  <a:xfrm>
                    <a:off x="1349" y="2763"/>
                    <a:ext cx="688" cy="275"/>
                  </a:xfrm>
                  <a:prstGeom prst="ellipse">
                    <a:avLst/>
                  </a:prstGeom>
                  <a:solidFill>
                    <a:srgbClr val="99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76" name="Oval 76"/>
                  <p:cNvSpPr>
                    <a:spLocks noChangeArrowheads="1"/>
                  </p:cNvSpPr>
                  <p:nvPr/>
                </p:nvSpPr>
                <p:spPr bwMode="auto">
                  <a:xfrm>
                    <a:off x="1828" y="2756"/>
                    <a:ext cx="689" cy="275"/>
                  </a:xfrm>
                  <a:prstGeom prst="ellipse">
                    <a:avLst/>
                  </a:prstGeom>
                  <a:solidFill>
                    <a:srgbClr val="99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77" name="Oval 77"/>
                  <p:cNvSpPr>
                    <a:spLocks noChangeArrowheads="1"/>
                  </p:cNvSpPr>
                  <p:nvPr/>
                </p:nvSpPr>
                <p:spPr bwMode="auto">
                  <a:xfrm>
                    <a:off x="2273" y="2728"/>
                    <a:ext cx="689" cy="275"/>
                  </a:xfrm>
                  <a:prstGeom prst="ellipse">
                    <a:avLst/>
                  </a:prstGeom>
                  <a:solidFill>
                    <a:srgbClr val="99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78" name="Oval 78"/>
                  <p:cNvSpPr>
                    <a:spLocks noChangeArrowheads="1"/>
                  </p:cNvSpPr>
                  <p:nvPr/>
                </p:nvSpPr>
                <p:spPr bwMode="auto">
                  <a:xfrm>
                    <a:off x="2843" y="2721"/>
                    <a:ext cx="689" cy="275"/>
                  </a:xfrm>
                  <a:prstGeom prst="ellipse">
                    <a:avLst/>
                  </a:prstGeom>
                  <a:solidFill>
                    <a:srgbClr val="99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79" name="Oval 79"/>
                  <p:cNvSpPr>
                    <a:spLocks noChangeArrowheads="1"/>
                  </p:cNvSpPr>
                  <p:nvPr/>
                </p:nvSpPr>
                <p:spPr bwMode="auto">
                  <a:xfrm>
                    <a:off x="3414" y="2707"/>
                    <a:ext cx="691" cy="275"/>
                  </a:xfrm>
                  <a:prstGeom prst="ellipse">
                    <a:avLst/>
                  </a:prstGeom>
                  <a:solidFill>
                    <a:srgbClr val="99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80" name="Oval 80"/>
                  <p:cNvSpPr>
                    <a:spLocks noChangeArrowheads="1"/>
                  </p:cNvSpPr>
                  <p:nvPr/>
                </p:nvSpPr>
                <p:spPr bwMode="auto">
                  <a:xfrm>
                    <a:off x="3777" y="2721"/>
                    <a:ext cx="687" cy="275"/>
                  </a:xfrm>
                  <a:prstGeom prst="ellipse">
                    <a:avLst/>
                  </a:prstGeom>
                  <a:solidFill>
                    <a:srgbClr val="99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81" name="Oval 81"/>
                  <p:cNvSpPr>
                    <a:spLocks noChangeArrowheads="1"/>
                  </p:cNvSpPr>
                  <p:nvPr/>
                </p:nvSpPr>
                <p:spPr bwMode="auto">
                  <a:xfrm>
                    <a:off x="4544" y="2735"/>
                    <a:ext cx="676" cy="263"/>
                  </a:xfrm>
                  <a:prstGeom prst="ellipse">
                    <a:avLst/>
                  </a:prstGeom>
                  <a:solidFill>
                    <a:srgbClr val="99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82" name="Oval 82"/>
                  <p:cNvSpPr>
                    <a:spLocks noChangeArrowheads="1"/>
                  </p:cNvSpPr>
                  <p:nvPr/>
                </p:nvSpPr>
                <p:spPr bwMode="auto">
                  <a:xfrm>
                    <a:off x="4062" y="2721"/>
                    <a:ext cx="689" cy="275"/>
                  </a:xfrm>
                  <a:prstGeom prst="ellipse">
                    <a:avLst/>
                  </a:prstGeom>
                  <a:solidFill>
                    <a:srgbClr val="99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grpSp>
            <p:sp>
              <p:nvSpPr>
                <p:cNvPr id="50251" name="Text Box 83"/>
                <p:cNvSpPr txBox="1">
                  <a:spLocks noChangeArrowheads="1"/>
                </p:cNvSpPr>
                <p:nvPr/>
              </p:nvSpPr>
              <p:spPr bwMode="auto">
                <a:xfrm>
                  <a:off x="3878" y="2455"/>
                  <a:ext cx="65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571500" indent="-285750" defTabSz="76200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defTabSz="7620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714500" indent="-228600" defTabSz="7620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286000" indent="-228600" defTabSz="7620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743200" indent="-228600" defTabSz="7620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3200400" indent="-228600" defTabSz="7620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657600" indent="-228600" defTabSz="7620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4114800" indent="-228600" defTabSz="7620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eaLnBrk="1" hangingPunct="1">
                    <a:spcBef>
                      <a:spcPct val="0"/>
                    </a:spcBef>
                    <a:buClrTx/>
                    <a:buFontTx/>
                    <a:buNone/>
                  </a:pPr>
                  <a:r>
                    <a:rPr lang="en-US" altLang="en-US" sz="2000" b="0">
                      <a:latin typeface="Arial" panose="020B0604020202020204" pitchFamily="34" charset="0"/>
                    </a:rPr>
                    <a:t>Internet</a:t>
                  </a:r>
                </a:p>
              </p:txBody>
            </p:sp>
          </p:grpSp>
          <p:grpSp>
            <p:nvGrpSpPr>
              <p:cNvPr id="50191" name="Group 89"/>
              <p:cNvGrpSpPr>
                <a:grpSpLocks/>
              </p:cNvGrpSpPr>
              <p:nvPr/>
            </p:nvGrpSpPr>
            <p:grpSpPr bwMode="auto">
              <a:xfrm>
                <a:off x="5489575" y="3354388"/>
                <a:ext cx="762000" cy="1908175"/>
                <a:chOff x="3490" y="2617"/>
                <a:chExt cx="480" cy="1202"/>
              </a:xfrm>
            </p:grpSpPr>
            <p:sp>
              <p:nvSpPr>
                <p:cNvPr id="50243" name="Line 90"/>
                <p:cNvSpPr>
                  <a:spLocks noChangeShapeType="1"/>
                </p:cNvSpPr>
                <p:nvPr/>
              </p:nvSpPr>
              <p:spPr bwMode="auto">
                <a:xfrm flipV="1">
                  <a:off x="3732" y="2617"/>
                  <a:ext cx="0" cy="647"/>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0244" name="Group 91"/>
                <p:cNvGrpSpPr>
                  <a:grpSpLocks/>
                </p:cNvGrpSpPr>
                <p:nvPr/>
              </p:nvGrpSpPr>
              <p:grpSpPr bwMode="auto">
                <a:xfrm>
                  <a:off x="3519" y="3291"/>
                  <a:ext cx="435" cy="327"/>
                  <a:chOff x="1523" y="3360"/>
                  <a:chExt cx="819" cy="627"/>
                </a:xfrm>
              </p:grpSpPr>
              <p:sp>
                <p:nvSpPr>
                  <p:cNvPr id="395356" name="Rectangle 92"/>
                  <p:cNvSpPr>
                    <a:spLocks noChangeArrowheads="1"/>
                  </p:cNvSpPr>
                  <p:nvPr/>
                </p:nvSpPr>
                <p:spPr bwMode="auto">
                  <a:xfrm>
                    <a:off x="1531" y="3412"/>
                    <a:ext cx="808" cy="512"/>
                  </a:xfrm>
                  <a:prstGeom prst="rect">
                    <a:avLst/>
                  </a:prstGeom>
                  <a:gradFill rotWithShape="0">
                    <a:gsLst>
                      <a:gs pos="0">
                        <a:schemeClr val="bg1"/>
                      </a:gs>
                      <a:gs pos="50000">
                        <a:srgbClr val="B760F9"/>
                      </a:gs>
                      <a:gs pos="100000">
                        <a:schemeClr val="bg1"/>
                      </a:gs>
                    </a:gsLst>
                    <a:lin ang="0" scaled="1"/>
                  </a:gra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395357" name="Oval 93"/>
                  <p:cNvSpPr>
                    <a:spLocks noChangeArrowheads="1"/>
                  </p:cNvSpPr>
                  <p:nvPr/>
                </p:nvSpPr>
                <p:spPr bwMode="auto">
                  <a:xfrm>
                    <a:off x="1534" y="3899"/>
                    <a:ext cx="808" cy="88"/>
                  </a:xfrm>
                  <a:prstGeom prst="ellipse">
                    <a:avLst/>
                  </a:prstGeom>
                  <a:gradFill rotWithShape="0">
                    <a:gsLst>
                      <a:gs pos="0">
                        <a:schemeClr val="bg1"/>
                      </a:gs>
                      <a:gs pos="50000">
                        <a:srgbClr val="B760F9"/>
                      </a:gs>
                      <a:gs pos="100000">
                        <a:schemeClr val="bg1"/>
                      </a:gs>
                    </a:gsLst>
                    <a:lin ang="0" scaled="1"/>
                  </a:gra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50248" name="Oval 94"/>
                  <p:cNvSpPr>
                    <a:spLocks noChangeArrowheads="1"/>
                  </p:cNvSpPr>
                  <p:nvPr/>
                </p:nvSpPr>
                <p:spPr bwMode="auto">
                  <a:xfrm>
                    <a:off x="1530" y="3360"/>
                    <a:ext cx="808" cy="87"/>
                  </a:xfrm>
                  <a:prstGeom prst="ellipse">
                    <a:avLst/>
                  </a:prstGeom>
                  <a:gradFill rotWithShape="0">
                    <a:gsLst>
                      <a:gs pos="0">
                        <a:srgbClr val="B760F9"/>
                      </a:gs>
                      <a:gs pos="100000">
                        <a:schemeClr val="bg1"/>
                      </a:gs>
                    </a:gsLst>
                    <a:lin ang="0" scaled="1"/>
                  </a:gra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395359" name="Oval 95"/>
                  <p:cNvSpPr>
                    <a:spLocks noChangeArrowheads="1"/>
                  </p:cNvSpPr>
                  <p:nvPr/>
                </p:nvSpPr>
                <p:spPr bwMode="auto">
                  <a:xfrm>
                    <a:off x="1523" y="3866"/>
                    <a:ext cx="817" cy="107"/>
                  </a:xfrm>
                  <a:prstGeom prst="ellipse">
                    <a:avLst/>
                  </a:prstGeom>
                  <a:gradFill rotWithShape="0">
                    <a:gsLst>
                      <a:gs pos="0">
                        <a:schemeClr val="bg1"/>
                      </a:gs>
                      <a:gs pos="50000">
                        <a:srgbClr val="B760F9"/>
                      </a:gs>
                      <a:gs pos="100000">
                        <a:schemeClr val="bg1"/>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grpSp>
            <p:sp>
              <p:nvSpPr>
                <p:cNvPr id="50245" name="Text Box 96"/>
                <p:cNvSpPr txBox="1">
                  <a:spLocks noChangeArrowheads="1"/>
                </p:cNvSpPr>
                <p:nvPr/>
              </p:nvSpPr>
              <p:spPr bwMode="auto">
                <a:xfrm>
                  <a:off x="3490" y="3586"/>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latin typeface="Times New Roman" panose="02020603050405020304" pitchFamily="18" charset="0"/>
                    </a:rPr>
                    <a:t>Crime</a:t>
                  </a:r>
                </a:p>
              </p:txBody>
            </p:sp>
          </p:grpSp>
          <p:grpSp>
            <p:nvGrpSpPr>
              <p:cNvPr id="50192" name="Group 97"/>
              <p:cNvGrpSpPr>
                <a:grpSpLocks/>
              </p:cNvGrpSpPr>
              <p:nvPr/>
            </p:nvGrpSpPr>
            <p:grpSpPr bwMode="auto">
              <a:xfrm>
                <a:off x="6410325" y="3406775"/>
                <a:ext cx="984250" cy="1501775"/>
                <a:chOff x="4070" y="2650"/>
                <a:chExt cx="620" cy="946"/>
              </a:xfrm>
            </p:grpSpPr>
            <p:sp>
              <p:nvSpPr>
                <p:cNvPr id="50236" name="Line 98"/>
                <p:cNvSpPr>
                  <a:spLocks noChangeShapeType="1"/>
                </p:cNvSpPr>
                <p:nvPr/>
              </p:nvSpPr>
              <p:spPr bwMode="auto">
                <a:xfrm flipV="1">
                  <a:off x="4357" y="2650"/>
                  <a:ext cx="0" cy="243"/>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0237" name="Group 99"/>
                <p:cNvGrpSpPr>
                  <a:grpSpLocks/>
                </p:cNvGrpSpPr>
                <p:nvPr/>
              </p:nvGrpSpPr>
              <p:grpSpPr bwMode="auto">
                <a:xfrm>
                  <a:off x="4140" y="2866"/>
                  <a:ext cx="435" cy="327"/>
                  <a:chOff x="2496" y="3375"/>
                  <a:chExt cx="819" cy="627"/>
                </a:xfrm>
              </p:grpSpPr>
              <p:sp>
                <p:nvSpPr>
                  <p:cNvPr id="395364" name="Rectangle 100"/>
                  <p:cNvSpPr>
                    <a:spLocks noChangeArrowheads="1"/>
                  </p:cNvSpPr>
                  <p:nvPr/>
                </p:nvSpPr>
                <p:spPr bwMode="auto">
                  <a:xfrm>
                    <a:off x="2504" y="3427"/>
                    <a:ext cx="808" cy="512"/>
                  </a:xfrm>
                  <a:prstGeom prst="rect">
                    <a:avLst/>
                  </a:prstGeom>
                  <a:gradFill rotWithShape="0">
                    <a:gsLst>
                      <a:gs pos="0">
                        <a:schemeClr val="bg1"/>
                      </a:gs>
                      <a:gs pos="50000">
                        <a:srgbClr val="B760F9"/>
                      </a:gs>
                      <a:gs pos="100000">
                        <a:schemeClr val="bg1"/>
                      </a:gs>
                    </a:gsLst>
                    <a:lin ang="0" scaled="1"/>
                  </a:gra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395365" name="Oval 101"/>
                  <p:cNvSpPr>
                    <a:spLocks noChangeArrowheads="1"/>
                  </p:cNvSpPr>
                  <p:nvPr/>
                </p:nvSpPr>
                <p:spPr bwMode="auto">
                  <a:xfrm>
                    <a:off x="2507" y="3914"/>
                    <a:ext cx="808" cy="88"/>
                  </a:xfrm>
                  <a:prstGeom prst="ellipse">
                    <a:avLst/>
                  </a:prstGeom>
                  <a:gradFill rotWithShape="0">
                    <a:gsLst>
                      <a:gs pos="0">
                        <a:schemeClr val="bg1"/>
                      </a:gs>
                      <a:gs pos="50000">
                        <a:srgbClr val="B760F9"/>
                      </a:gs>
                      <a:gs pos="100000">
                        <a:schemeClr val="bg1"/>
                      </a:gs>
                    </a:gsLst>
                    <a:lin ang="0" scaled="1"/>
                  </a:gra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50241" name="Oval 102"/>
                  <p:cNvSpPr>
                    <a:spLocks noChangeArrowheads="1"/>
                  </p:cNvSpPr>
                  <p:nvPr/>
                </p:nvSpPr>
                <p:spPr bwMode="auto">
                  <a:xfrm>
                    <a:off x="2503" y="3375"/>
                    <a:ext cx="808" cy="87"/>
                  </a:xfrm>
                  <a:prstGeom prst="ellipse">
                    <a:avLst/>
                  </a:prstGeom>
                  <a:gradFill rotWithShape="0">
                    <a:gsLst>
                      <a:gs pos="0">
                        <a:srgbClr val="B760F9"/>
                      </a:gs>
                      <a:gs pos="100000">
                        <a:schemeClr val="bg1"/>
                      </a:gs>
                    </a:gsLst>
                    <a:lin ang="0" scaled="1"/>
                  </a:gra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395367" name="Oval 103"/>
                  <p:cNvSpPr>
                    <a:spLocks noChangeArrowheads="1"/>
                  </p:cNvSpPr>
                  <p:nvPr/>
                </p:nvSpPr>
                <p:spPr bwMode="auto">
                  <a:xfrm>
                    <a:off x="2496" y="3881"/>
                    <a:ext cx="817" cy="107"/>
                  </a:xfrm>
                  <a:prstGeom prst="ellipse">
                    <a:avLst/>
                  </a:prstGeom>
                  <a:gradFill rotWithShape="0">
                    <a:gsLst>
                      <a:gs pos="0">
                        <a:schemeClr val="bg1"/>
                      </a:gs>
                      <a:gs pos="50000">
                        <a:srgbClr val="B760F9"/>
                      </a:gs>
                      <a:gs pos="100000">
                        <a:schemeClr val="bg1"/>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grpSp>
            <p:sp>
              <p:nvSpPr>
                <p:cNvPr id="50238" name="Text Box 104"/>
                <p:cNvSpPr txBox="1">
                  <a:spLocks noChangeArrowheads="1"/>
                </p:cNvSpPr>
                <p:nvPr/>
              </p:nvSpPr>
              <p:spPr bwMode="auto">
                <a:xfrm>
                  <a:off x="4070" y="3192"/>
                  <a:ext cx="62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latin typeface="Times New Roman" panose="02020603050405020304" pitchFamily="18" charset="0"/>
                    </a:rPr>
                    <a:t>Social </a:t>
                  </a:r>
                </a:p>
                <a:p>
                  <a:pPr>
                    <a:spcBef>
                      <a:spcPct val="0"/>
                    </a:spcBef>
                    <a:buClrTx/>
                    <a:buFontTx/>
                    <a:buNone/>
                  </a:pPr>
                  <a:r>
                    <a:rPr lang="en-US" altLang="en-US" sz="1800" b="0">
                      <a:latin typeface="Times New Roman" panose="02020603050405020304" pitchFamily="18" charset="0"/>
                    </a:rPr>
                    <a:t>Services</a:t>
                  </a:r>
                </a:p>
              </p:txBody>
            </p:sp>
          </p:grpSp>
          <p:grpSp>
            <p:nvGrpSpPr>
              <p:cNvPr id="50193" name="Group 105"/>
              <p:cNvGrpSpPr>
                <a:grpSpLocks/>
              </p:cNvGrpSpPr>
              <p:nvPr/>
            </p:nvGrpSpPr>
            <p:grpSpPr bwMode="auto">
              <a:xfrm>
                <a:off x="7405688" y="3408364"/>
                <a:ext cx="762000" cy="2693988"/>
                <a:chOff x="4697" y="2651"/>
                <a:chExt cx="480" cy="1697"/>
              </a:xfrm>
            </p:grpSpPr>
            <p:sp>
              <p:nvSpPr>
                <p:cNvPr id="50229" name="Line 106"/>
                <p:cNvSpPr>
                  <a:spLocks noChangeShapeType="1"/>
                </p:cNvSpPr>
                <p:nvPr/>
              </p:nvSpPr>
              <p:spPr bwMode="auto">
                <a:xfrm flipV="1">
                  <a:off x="4908" y="2651"/>
                  <a:ext cx="1" cy="993"/>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0230" name="Group 107"/>
                <p:cNvGrpSpPr>
                  <a:grpSpLocks/>
                </p:cNvGrpSpPr>
                <p:nvPr/>
              </p:nvGrpSpPr>
              <p:grpSpPr bwMode="auto">
                <a:xfrm>
                  <a:off x="4704" y="3648"/>
                  <a:ext cx="435" cy="327"/>
                  <a:chOff x="3536" y="3375"/>
                  <a:chExt cx="819" cy="627"/>
                </a:xfrm>
              </p:grpSpPr>
              <p:sp>
                <p:nvSpPr>
                  <p:cNvPr id="395372" name="Rectangle 108"/>
                  <p:cNvSpPr>
                    <a:spLocks noChangeArrowheads="1"/>
                  </p:cNvSpPr>
                  <p:nvPr/>
                </p:nvSpPr>
                <p:spPr bwMode="auto">
                  <a:xfrm>
                    <a:off x="3544" y="3427"/>
                    <a:ext cx="808" cy="512"/>
                  </a:xfrm>
                  <a:prstGeom prst="rect">
                    <a:avLst/>
                  </a:prstGeom>
                  <a:gradFill rotWithShape="0">
                    <a:gsLst>
                      <a:gs pos="0">
                        <a:schemeClr val="bg1"/>
                      </a:gs>
                      <a:gs pos="50000">
                        <a:srgbClr val="B760F9"/>
                      </a:gs>
                      <a:gs pos="100000">
                        <a:schemeClr val="bg1"/>
                      </a:gs>
                    </a:gsLst>
                    <a:lin ang="0" scaled="1"/>
                  </a:gra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395373" name="Oval 109"/>
                  <p:cNvSpPr>
                    <a:spLocks noChangeArrowheads="1"/>
                  </p:cNvSpPr>
                  <p:nvPr/>
                </p:nvSpPr>
                <p:spPr bwMode="auto">
                  <a:xfrm>
                    <a:off x="3547" y="3914"/>
                    <a:ext cx="808" cy="88"/>
                  </a:xfrm>
                  <a:prstGeom prst="ellipse">
                    <a:avLst/>
                  </a:prstGeom>
                  <a:gradFill rotWithShape="0">
                    <a:gsLst>
                      <a:gs pos="0">
                        <a:schemeClr val="bg1"/>
                      </a:gs>
                      <a:gs pos="50000">
                        <a:srgbClr val="B760F9"/>
                      </a:gs>
                      <a:gs pos="100000">
                        <a:schemeClr val="bg1"/>
                      </a:gs>
                    </a:gsLst>
                    <a:lin ang="0" scaled="1"/>
                  </a:gra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50234" name="Oval 110"/>
                  <p:cNvSpPr>
                    <a:spLocks noChangeArrowheads="1"/>
                  </p:cNvSpPr>
                  <p:nvPr/>
                </p:nvSpPr>
                <p:spPr bwMode="auto">
                  <a:xfrm>
                    <a:off x="3543" y="3375"/>
                    <a:ext cx="808" cy="87"/>
                  </a:xfrm>
                  <a:prstGeom prst="ellipse">
                    <a:avLst/>
                  </a:prstGeom>
                  <a:gradFill rotWithShape="0">
                    <a:gsLst>
                      <a:gs pos="0">
                        <a:srgbClr val="B760F9"/>
                      </a:gs>
                      <a:gs pos="100000">
                        <a:schemeClr val="bg1"/>
                      </a:gs>
                    </a:gsLst>
                    <a:lin ang="0" scaled="1"/>
                  </a:gra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395375" name="Oval 111"/>
                  <p:cNvSpPr>
                    <a:spLocks noChangeArrowheads="1"/>
                  </p:cNvSpPr>
                  <p:nvPr/>
                </p:nvSpPr>
                <p:spPr bwMode="auto">
                  <a:xfrm>
                    <a:off x="3536" y="3881"/>
                    <a:ext cx="817" cy="107"/>
                  </a:xfrm>
                  <a:prstGeom prst="ellipse">
                    <a:avLst/>
                  </a:prstGeom>
                  <a:gradFill rotWithShape="0">
                    <a:gsLst>
                      <a:gs pos="0">
                        <a:schemeClr val="bg1"/>
                      </a:gs>
                      <a:gs pos="50000">
                        <a:srgbClr val="B760F9"/>
                      </a:gs>
                      <a:gs pos="100000">
                        <a:schemeClr val="bg1"/>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grpSp>
            <p:sp>
              <p:nvSpPr>
                <p:cNvPr id="50231" name="Text Box 112"/>
                <p:cNvSpPr txBox="1">
                  <a:spLocks noChangeArrowheads="1"/>
                </p:cNvSpPr>
                <p:nvPr/>
              </p:nvSpPr>
              <p:spPr bwMode="auto">
                <a:xfrm>
                  <a:off x="4697" y="3941"/>
                  <a:ext cx="480"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latin typeface="Times New Roman" panose="02020603050405020304" pitchFamily="18" charset="0"/>
                    </a:rPr>
                    <a:t>Land</a:t>
                  </a:r>
                </a:p>
                <a:p>
                  <a:pPr>
                    <a:spcBef>
                      <a:spcPct val="0"/>
                    </a:spcBef>
                    <a:buClrTx/>
                    <a:buFontTx/>
                    <a:buNone/>
                  </a:pPr>
                  <a:r>
                    <a:rPr lang="en-US" altLang="en-US" sz="1800" b="0">
                      <a:latin typeface="Times New Roman" panose="02020603050405020304" pitchFamily="18" charset="0"/>
                    </a:rPr>
                    <a:t>Parcel</a:t>
                  </a:r>
                </a:p>
              </p:txBody>
            </p:sp>
          </p:grpSp>
          <p:grpSp>
            <p:nvGrpSpPr>
              <p:cNvPr id="50194" name="Group 121"/>
              <p:cNvGrpSpPr>
                <a:grpSpLocks/>
              </p:cNvGrpSpPr>
              <p:nvPr/>
            </p:nvGrpSpPr>
            <p:grpSpPr bwMode="auto">
              <a:xfrm>
                <a:off x="5797553" y="3506788"/>
                <a:ext cx="947738" cy="2640012"/>
                <a:chOff x="3684" y="2713"/>
                <a:chExt cx="597" cy="1663"/>
              </a:xfrm>
            </p:grpSpPr>
            <p:sp>
              <p:nvSpPr>
                <p:cNvPr id="50222" name="Line 122"/>
                <p:cNvSpPr>
                  <a:spLocks noChangeShapeType="1"/>
                </p:cNvSpPr>
                <p:nvPr/>
              </p:nvSpPr>
              <p:spPr bwMode="auto">
                <a:xfrm flipH="1" flipV="1">
                  <a:off x="4008" y="2713"/>
                  <a:ext cx="0" cy="1147"/>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0223" name="Group 123"/>
                <p:cNvGrpSpPr>
                  <a:grpSpLocks/>
                </p:cNvGrpSpPr>
                <p:nvPr/>
              </p:nvGrpSpPr>
              <p:grpSpPr bwMode="auto">
                <a:xfrm>
                  <a:off x="3805" y="3851"/>
                  <a:ext cx="435" cy="327"/>
                  <a:chOff x="1523" y="3360"/>
                  <a:chExt cx="819" cy="627"/>
                </a:xfrm>
              </p:grpSpPr>
              <p:sp>
                <p:nvSpPr>
                  <p:cNvPr id="395388" name="Rectangle 124"/>
                  <p:cNvSpPr>
                    <a:spLocks noChangeArrowheads="1"/>
                  </p:cNvSpPr>
                  <p:nvPr/>
                </p:nvSpPr>
                <p:spPr bwMode="auto">
                  <a:xfrm>
                    <a:off x="1531" y="3412"/>
                    <a:ext cx="808" cy="512"/>
                  </a:xfrm>
                  <a:prstGeom prst="rect">
                    <a:avLst/>
                  </a:prstGeom>
                  <a:gradFill rotWithShape="0">
                    <a:gsLst>
                      <a:gs pos="0">
                        <a:schemeClr val="bg1"/>
                      </a:gs>
                      <a:gs pos="50000">
                        <a:srgbClr val="B760F9"/>
                      </a:gs>
                      <a:gs pos="100000">
                        <a:schemeClr val="bg1"/>
                      </a:gs>
                    </a:gsLst>
                    <a:lin ang="0" scaled="1"/>
                  </a:gra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395389" name="Oval 125"/>
                  <p:cNvSpPr>
                    <a:spLocks noChangeArrowheads="1"/>
                  </p:cNvSpPr>
                  <p:nvPr/>
                </p:nvSpPr>
                <p:spPr bwMode="auto">
                  <a:xfrm>
                    <a:off x="1534" y="3899"/>
                    <a:ext cx="808" cy="88"/>
                  </a:xfrm>
                  <a:prstGeom prst="ellipse">
                    <a:avLst/>
                  </a:prstGeom>
                  <a:gradFill rotWithShape="0">
                    <a:gsLst>
                      <a:gs pos="0">
                        <a:schemeClr val="bg1"/>
                      </a:gs>
                      <a:gs pos="50000">
                        <a:srgbClr val="B760F9"/>
                      </a:gs>
                      <a:gs pos="100000">
                        <a:schemeClr val="bg1"/>
                      </a:gs>
                    </a:gsLst>
                    <a:lin ang="0" scaled="1"/>
                  </a:gra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50227" name="Oval 126"/>
                  <p:cNvSpPr>
                    <a:spLocks noChangeArrowheads="1"/>
                  </p:cNvSpPr>
                  <p:nvPr/>
                </p:nvSpPr>
                <p:spPr bwMode="auto">
                  <a:xfrm>
                    <a:off x="1530" y="3360"/>
                    <a:ext cx="808" cy="87"/>
                  </a:xfrm>
                  <a:prstGeom prst="ellipse">
                    <a:avLst/>
                  </a:prstGeom>
                  <a:gradFill rotWithShape="0">
                    <a:gsLst>
                      <a:gs pos="0">
                        <a:srgbClr val="B760F9"/>
                      </a:gs>
                      <a:gs pos="100000">
                        <a:schemeClr val="bg1"/>
                      </a:gs>
                    </a:gsLst>
                    <a:lin ang="0" scaled="1"/>
                  </a:gra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395391" name="Oval 127"/>
                  <p:cNvSpPr>
                    <a:spLocks noChangeArrowheads="1"/>
                  </p:cNvSpPr>
                  <p:nvPr/>
                </p:nvSpPr>
                <p:spPr bwMode="auto">
                  <a:xfrm>
                    <a:off x="1523" y="3866"/>
                    <a:ext cx="817" cy="107"/>
                  </a:xfrm>
                  <a:prstGeom prst="ellipse">
                    <a:avLst/>
                  </a:prstGeom>
                  <a:gradFill rotWithShape="0">
                    <a:gsLst>
                      <a:gs pos="0">
                        <a:schemeClr val="bg1"/>
                      </a:gs>
                      <a:gs pos="50000">
                        <a:srgbClr val="B760F9"/>
                      </a:gs>
                      <a:gs pos="100000">
                        <a:schemeClr val="bg1"/>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grpSp>
            <p:sp>
              <p:nvSpPr>
                <p:cNvPr id="50224" name="Text Box 128"/>
                <p:cNvSpPr txBox="1">
                  <a:spLocks noChangeArrowheads="1"/>
                </p:cNvSpPr>
                <p:nvPr/>
              </p:nvSpPr>
              <p:spPr bwMode="auto">
                <a:xfrm>
                  <a:off x="3684" y="4143"/>
                  <a:ext cx="59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latin typeface="Times New Roman" panose="02020603050405020304" pitchFamily="18" charset="0"/>
                    </a:rPr>
                    <a:t>Weather</a:t>
                  </a:r>
                </a:p>
              </p:txBody>
            </p:sp>
          </p:grpSp>
          <p:grpSp>
            <p:nvGrpSpPr>
              <p:cNvPr id="50195" name="Group 129"/>
              <p:cNvGrpSpPr>
                <a:grpSpLocks/>
              </p:cNvGrpSpPr>
              <p:nvPr/>
            </p:nvGrpSpPr>
            <p:grpSpPr bwMode="auto">
              <a:xfrm>
                <a:off x="4456113" y="3295650"/>
                <a:ext cx="1390650" cy="1200150"/>
                <a:chOff x="2839" y="2580"/>
                <a:chExt cx="876" cy="756"/>
              </a:xfrm>
            </p:grpSpPr>
            <p:sp>
              <p:nvSpPr>
                <p:cNvPr id="50215" name="Line 130"/>
                <p:cNvSpPr>
                  <a:spLocks noChangeShapeType="1"/>
                </p:cNvSpPr>
                <p:nvPr/>
              </p:nvSpPr>
              <p:spPr bwMode="auto">
                <a:xfrm flipV="1">
                  <a:off x="3320" y="2580"/>
                  <a:ext cx="0" cy="299"/>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0216" name="Group 131"/>
                <p:cNvGrpSpPr>
                  <a:grpSpLocks/>
                </p:cNvGrpSpPr>
                <p:nvPr/>
              </p:nvGrpSpPr>
              <p:grpSpPr bwMode="auto">
                <a:xfrm>
                  <a:off x="3103" y="2859"/>
                  <a:ext cx="435" cy="327"/>
                  <a:chOff x="543" y="3362"/>
                  <a:chExt cx="819" cy="627"/>
                </a:xfrm>
              </p:grpSpPr>
              <p:sp>
                <p:nvSpPr>
                  <p:cNvPr id="395396" name="Rectangle 132"/>
                  <p:cNvSpPr>
                    <a:spLocks noChangeArrowheads="1"/>
                  </p:cNvSpPr>
                  <p:nvPr/>
                </p:nvSpPr>
                <p:spPr bwMode="auto">
                  <a:xfrm>
                    <a:off x="551" y="3414"/>
                    <a:ext cx="808" cy="512"/>
                  </a:xfrm>
                  <a:prstGeom prst="rect">
                    <a:avLst/>
                  </a:prstGeom>
                  <a:gradFill rotWithShape="0">
                    <a:gsLst>
                      <a:gs pos="0">
                        <a:schemeClr val="bg1"/>
                      </a:gs>
                      <a:gs pos="50000">
                        <a:srgbClr val="B760F9"/>
                      </a:gs>
                      <a:gs pos="100000">
                        <a:schemeClr val="bg1"/>
                      </a:gs>
                    </a:gsLst>
                    <a:lin ang="0" scaled="1"/>
                  </a:gra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395397" name="Oval 133"/>
                  <p:cNvSpPr>
                    <a:spLocks noChangeArrowheads="1"/>
                  </p:cNvSpPr>
                  <p:nvPr/>
                </p:nvSpPr>
                <p:spPr bwMode="auto">
                  <a:xfrm>
                    <a:off x="554" y="3901"/>
                    <a:ext cx="808" cy="88"/>
                  </a:xfrm>
                  <a:prstGeom prst="ellipse">
                    <a:avLst/>
                  </a:prstGeom>
                  <a:gradFill rotWithShape="0">
                    <a:gsLst>
                      <a:gs pos="0">
                        <a:schemeClr val="bg1"/>
                      </a:gs>
                      <a:gs pos="50000">
                        <a:srgbClr val="B760F9"/>
                      </a:gs>
                      <a:gs pos="100000">
                        <a:schemeClr val="bg1"/>
                      </a:gs>
                    </a:gsLst>
                    <a:lin ang="0" scaled="1"/>
                  </a:gra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50220" name="Oval 134"/>
                  <p:cNvSpPr>
                    <a:spLocks noChangeArrowheads="1"/>
                  </p:cNvSpPr>
                  <p:nvPr/>
                </p:nvSpPr>
                <p:spPr bwMode="auto">
                  <a:xfrm>
                    <a:off x="550" y="3362"/>
                    <a:ext cx="808" cy="87"/>
                  </a:xfrm>
                  <a:prstGeom prst="ellipse">
                    <a:avLst/>
                  </a:prstGeom>
                  <a:gradFill rotWithShape="0">
                    <a:gsLst>
                      <a:gs pos="0">
                        <a:srgbClr val="B760F9"/>
                      </a:gs>
                      <a:gs pos="100000">
                        <a:schemeClr val="bg1"/>
                      </a:gs>
                    </a:gsLst>
                    <a:lin ang="0" scaled="1"/>
                  </a:gra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395399" name="Oval 135"/>
                  <p:cNvSpPr>
                    <a:spLocks noChangeArrowheads="1"/>
                  </p:cNvSpPr>
                  <p:nvPr/>
                </p:nvSpPr>
                <p:spPr bwMode="auto">
                  <a:xfrm>
                    <a:off x="543" y="3868"/>
                    <a:ext cx="817" cy="107"/>
                  </a:xfrm>
                  <a:prstGeom prst="ellipse">
                    <a:avLst/>
                  </a:prstGeom>
                  <a:gradFill rotWithShape="0">
                    <a:gsLst>
                      <a:gs pos="0">
                        <a:schemeClr val="bg1"/>
                      </a:gs>
                      <a:gs pos="50000">
                        <a:srgbClr val="B760F9"/>
                      </a:gs>
                      <a:gs pos="100000">
                        <a:schemeClr val="bg1"/>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grpSp>
            <p:sp>
              <p:nvSpPr>
                <p:cNvPr id="50217" name="Text Box 136"/>
                <p:cNvSpPr txBox="1">
                  <a:spLocks noChangeArrowheads="1"/>
                </p:cNvSpPr>
                <p:nvPr/>
              </p:nvSpPr>
              <p:spPr bwMode="auto">
                <a:xfrm>
                  <a:off x="2839" y="3103"/>
                  <a:ext cx="87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latin typeface="Times New Roman" panose="02020603050405020304" pitchFamily="18" charset="0"/>
                    </a:rPr>
                    <a:t>Environment</a:t>
                  </a:r>
                </a:p>
              </p:txBody>
            </p:sp>
          </p:grpSp>
          <p:grpSp>
            <p:nvGrpSpPr>
              <p:cNvPr id="50196" name="Group 137"/>
              <p:cNvGrpSpPr>
                <a:grpSpLocks/>
              </p:cNvGrpSpPr>
              <p:nvPr/>
            </p:nvGrpSpPr>
            <p:grpSpPr bwMode="auto">
              <a:xfrm>
                <a:off x="7813675" y="723900"/>
                <a:ext cx="1279525" cy="2549525"/>
                <a:chOff x="4954" y="960"/>
                <a:chExt cx="806" cy="1606"/>
              </a:xfrm>
            </p:grpSpPr>
            <p:sp>
              <p:nvSpPr>
                <p:cNvPr id="50211" name="Rectangle 138"/>
                <p:cNvSpPr>
                  <a:spLocks noChangeArrowheads="1"/>
                </p:cNvSpPr>
                <p:nvPr/>
              </p:nvSpPr>
              <p:spPr bwMode="auto">
                <a:xfrm flipH="1">
                  <a:off x="5422" y="1700"/>
                  <a:ext cx="7" cy="3"/>
                </a:xfrm>
                <a:prstGeom prst="rect">
                  <a:avLst/>
                </a:prstGeom>
                <a:solidFill>
                  <a:srgbClr val="0080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50212" name="Rectangle 139"/>
                <p:cNvSpPr>
                  <a:spLocks noChangeArrowheads="1"/>
                </p:cNvSpPr>
                <p:nvPr/>
              </p:nvSpPr>
              <p:spPr bwMode="auto">
                <a:xfrm>
                  <a:off x="5026" y="1320"/>
                  <a:ext cx="686" cy="514"/>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900" b="0"/>
                    <a:t>Parcels</a:t>
                  </a:r>
                </a:p>
                <a:p>
                  <a:pPr>
                    <a:spcBef>
                      <a:spcPct val="0"/>
                    </a:spcBef>
                    <a:buClrTx/>
                    <a:buFontTx/>
                    <a:buNone/>
                  </a:pPr>
                  <a:r>
                    <a:rPr lang="en-US" altLang="en-US" sz="1000" b="0"/>
                    <a:t>Roads</a:t>
                  </a:r>
                  <a:endParaRPr lang="en-US" altLang="en-US" sz="900" b="0"/>
                </a:p>
                <a:p>
                  <a:pPr>
                    <a:spcBef>
                      <a:spcPct val="0"/>
                    </a:spcBef>
                    <a:buClrTx/>
                    <a:buFontTx/>
                    <a:buNone/>
                  </a:pPr>
                  <a:r>
                    <a:rPr lang="en-US" altLang="en-US" sz="900" b="0"/>
                    <a:t>Images</a:t>
                  </a:r>
                </a:p>
                <a:p>
                  <a:pPr>
                    <a:spcBef>
                      <a:spcPct val="0"/>
                    </a:spcBef>
                    <a:buClrTx/>
                    <a:buFontTx/>
                    <a:buNone/>
                  </a:pPr>
                  <a:r>
                    <a:rPr lang="en-US" altLang="en-US" sz="900" b="0"/>
                    <a:t>Boundaries</a:t>
                  </a:r>
                </a:p>
                <a:p>
                  <a:pPr>
                    <a:spcBef>
                      <a:spcPct val="0"/>
                    </a:spcBef>
                    <a:buClrTx/>
                    <a:buFontTx/>
                    <a:buNone/>
                  </a:pPr>
                  <a:r>
                    <a:rPr lang="en-US" altLang="en-US" sz="900" b="0"/>
                    <a:t>      ...</a:t>
                  </a:r>
                </a:p>
              </p:txBody>
            </p:sp>
            <p:sp>
              <p:nvSpPr>
                <p:cNvPr id="50213" name="Rectangle 140"/>
                <p:cNvSpPr>
                  <a:spLocks noChangeArrowheads="1"/>
                </p:cNvSpPr>
                <p:nvPr/>
              </p:nvSpPr>
              <p:spPr bwMode="auto">
                <a:xfrm>
                  <a:off x="4954" y="960"/>
                  <a:ext cx="80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400" b="0"/>
                    <a:t>Catalog</a:t>
                  </a:r>
                  <a:br>
                    <a:rPr lang="en-US" altLang="en-US" sz="1400" b="0"/>
                  </a:br>
                  <a:r>
                    <a:rPr lang="en-US" altLang="en-US" sz="1400" b="0"/>
                    <a:t>View</a:t>
                  </a:r>
                </a:p>
              </p:txBody>
            </p:sp>
            <p:sp>
              <p:nvSpPr>
                <p:cNvPr id="50214" name="Line 141"/>
                <p:cNvSpPr>
                  <a:spLocks noChangeShapeType="1"/>
                </p:cNvSpPr>
                <p:nvPr/>
              </p:nvSpPr>
              <p:spPr bwMode="auto">
                <a:xfrm flipV="1">
                  <a:off x="5304" y="1803"/>
                  <a:ext cx="0" cy="763"/>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0197" name="AutoShape 142"/>
              <p:cNvSpPr>
                <a:spLocks noChangeArrowheads="1"/>
              </p:cNvSpPr>
              <p:nvPr/>
            </p:nvSpPr>
            <p:spPr bwMode="auto">
              <a:xfrm>
                <a:off x="7531100" y="2495550"/>
                <a:ext cx="323850" cy="628650"/>
              </a:xfrm>
              <a:prstGeom prst="downArrow">
                <a:avLst>
                  <a:gd name="adj1" fmla="val 50000"/>
                  <a:gd name="adj2" fmla="val 48529"/>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grpSp>
            <p:nvGrpSpPr>
              <p:cNvPr id="50198" name="Group 143"/>
              <p:cNvGrpSpPr>
                <a:grpSpLocks/>
              </p:cNvGrpSpPr>
              <p:nvPr/>
            </p:nvGrpSpPr>
            <p:grpSpPr bwMode="auto">
              <a:xfrm>
                <a:off x="4006851" y="3259139"/>
                <a:ext cx="1671638" cy="2801938"/>
                <a:chOff x="2556" y="2557"/>
                <a:chExt cx="1053" cy="1765"/>
              </a:xfrm>
            </p:grpSpPr>
            <p:sp>
              <p:nvSpPr>
                <p:cNvPr id="50204" name="Line 144"/>
                <p:cNvSpPr>
                  <a:spLocks noChangeShapeType="1"/>
                </p:cNvSpPr>
                <p:nvPr/>
              </p:nvSpPr>
              <p:spPr bwMode="auto">
                <a:xfrm flipH="1" flipV="1">
                  <a:off x="3072" y="2557"/>
                  <a:ext cx="0" cy="107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0205" name="Group 145"/>
                <p:cNvGrpSpPr>
                  <a:grpSpLocks/>
                </p:cNvGrpSpPr>
                <p:nvPr/>
              </p:nvGrpSpPr>
              <p:grpSpPr bwMode="auto">
                <a:xfrm>
                  <a:off x="2869" y="3623"/>
                  <a:ext cx="435" cy="327"/>
                  <a:chOff x="1523" y="3360"/>
                  <a:chExt cx="819" cy="627"/>
                </a:xfrm>
              </p:grpSpPr>
              <p:sp>
                <p:nvSpPr>
                  <p:cNvPr id="395410" name="Rectangle 146"/>
                  <p:cNvSpPr>
                    <a:spLocks noChangeArrowheads="1"/>
                  </p:cNvSpPr>
                  <p:nvPr/>
                </p:nvSpPr>
                <p:spPr bwMode="auto">
                  <a:xfrm>
                    <a:off x="1531" y="3412"/>
                    <a:ext cx="808" cy="512"/>
                  </a:xfrm>
                  <a:prstGeom prst="rect">
                    <a:avLst/>
                  </a:prstGeom>
                  <a:gradFill rotWithShape="0">
                    <a:gsLst>
                      <a:gs pos="0">
                        <a:schemeClr val="bg1"/>
                      </a:gs>
                      <a:gs pos="50000">
                        <a:srgbClr val="B760F9"/>
                      </a:gs>
                      <a:gs pos="100000">
                        <a:schemeClr val="bg1"/>
                      </a:gs>
                    </a:gsLst>
                    <a:lin ang="0" scaled="1"/>
                  </a:gra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395411" name="Oval 147"/>
                  <p:cNvSpPr>
                    <a:spLocks noChangeArrowheads="1"/>
                  </p:cNvSpPr>
                  <p:nvPr/>
                </p:nvSpPr>
                <p:spPr bwMode="auto">
                  <a:xfrm>
                    <a:off x="1534" y="3899"/>
                    <a:ext cx="808" cy="88"/>
                  </a:xfrm>
                  <a:prstGeom prst="ellipse">
                    <a:avLst/>
                  </a:prstGeom>
                  <a:gradFill rotWithShape="0">
                    <a:gsLst>
                      <a:gs pos="0">
                        <a:schemeClr val="bg1"/>
                      </a:gs>
                      <a:gs pos="50000">
                        <a:srgbClr val="B760F9"/>
                      </a:gs>
                      <a:gs pos="100000">
                        <a:schemeClr val="bg1"/>
                      </a:gs>
                    </a:gsLst>
                    <a:lin ang="0" scaled="1"/>
                  </a:gra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50209" name="Oval 148"/>
                  <p:cNvSpPr>
                    <a:spLocks noChangeArrowheads="1"/>
                  </p:cNvSpPr>
                  <p:nvPr/>
                </p:nvSpPr>
                <p:spPr bwMode="auto">
                  <a:xfrm>
                    <a:off x="1530" y="3360"/>
                    <a:ext cx="808" cy="87"/>
                  </a:xfrm>
                  <a:prstGeom prst="ellipse">
                    <a:avLst/>
                  </a:prstGeom>
                  <a:gradFill rotWithShape="0">
                    <a:gsLst>
                      <a:gs pos="0">
                        <a:srgbClr val="B760F9"/>
                      </a:gs>
                      <a:gs pos="100000">
                        <a:schemeClr val="bg1"/>
                      </a:gs>
                    </a:gsLst>
                    <a:lin ang="0" scaled="1"/>
                  </a:gra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endParaRPr lang="en-US" altLang="en-US" sz="1800" b="0"/>
                  </a:p>
                </p:txBody>
              </p:sp>
              <p:sp>
                <p:nvSpPr>
                  <p:cNvPr id="395413" name="Oval 149"/>
                  <p:cNvSpPr>
                    <a:spLocks noChangeArrowheads="1"/>
                  </p:cNvSpPr>
                  <p:nvPr/>
                </p:nvSpPr>
                <p:spPr bwMode="auto">
                  <a:xfrm>
                    <a:off x="1523" y="3866"/>
                    <a:ext cx="817" cy="107"/>
                  </a:xfrm>
                  <a:prstGeom prst="ellipse">
                    <a:avLst/>
                  </a:prstGeom>
                  <a:gradFill rotWithShape="0">
                    <a:gsLst>
                      <a:gs pos="0">
                        <a:schemeClr val="bg1"/>
                      </a:gs>
                      <a:gs pos="50000">
                        <a:srgbClr val="B760F9"/>
                      </a:gs>
                      <a:gs pos="100000">
                        <a:schemeClr val="bg1"/>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grpSp>
            <p:sp>
              <p:nvSpPr>
                <p:cNvPr id="50206" name="Text Box 150"/>
                <p:cNvSpPr txBox="1">
                  <a:spLocks noChangeArrowheads="1"/>
                </p:cNvSpPr>
                <p:nvPr/>
              </p:nvSpPr>
              <p:spPr bwMode="auto">
                <a:xfrm>
                  <a:off x="2556" y="3915"/>
                  <a:ext cx="1053"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spcBef>
                      <a:spcPct val="0"/>
                    </a:spcBef>
                    <a:buClrTx/>
                    <a:buFontTx/>
                    <a:buNone/>
                  </a:pPr>
                  <a:r>
                    <a:rPr lang="en-US" altLang="en-US" sz="1800" b="0">
                      <a:latin typeface="Times New Roman" panose="02020603050405020304" pitchFamily="18" charset="0"/>
                    </a:rPr>
                    <a:t>Framework</a:t>
                  </a:r>
                </a:p>
                <a:p>
                  <a:pPr>
                    <a:spcBef>
                      <a:spcPct val="0"/>
                    </a:spcBef>
                    <a:buClrTx/>
                    <a:buFontTx/>
                    <a:buNone/>
                  </a:pPr>
                  <a:r>
                    <a:rPr lang="en-US" altLang="en-US" sz="1800" b="0">
                      <a:latin typeface="Times New Roman" panose="02020603050405020304" pitchFamily="18" charset="0"/>
                    </a:rPr>
                    <a:t>(Clearinghouse)</a:t>
                  </a:r>
                </a:p>
              </p:txBody>
            </p:sp>
          </p:grpSp>
          <p:grpSp>
            <p:nvGrpSpPr>
              <p:cNvPr id="50199" name="Group 151"/>
              <p:cNvGrpSpPr>
                <a:grpSpLocks/>
              </p:cNvGrpSpPr>
              <p:nvPr/>
            </p:nvGrpSpPr>
            <p:grpSpPr bwMode="auto">
              <a:xfrm>
                <a:off x="5003800" y="2100263"/>
                <a:ext cx="581025" cy="1155700"/>
                <a:chOff x="3184" y="1827"/>
                <a:chExt cx="366" cy="728"/>
              </a:xfrm>
            </p:grpSpPr>
            <p:sp>
              <p:nvSpPr>
                <p:cNvPr id="50200" name="Freeform 152"/>
                <p:cNvSpPr>
                  <a:spLocks/>
                </p:cNvSpPr>
                <p:nvPr/>
              </p:nvSpPr>
              <p:spPr bwMode="auto">
                <a:xfrm>
                  <a:off x="3416" y="2136"/>
                  <a:ext cx="134" cy="419"/>
                </a:xfrm>
                <a:custGeom>
                  <a:avLst/>
                  <a:gdLst>
                    <a:gd name="T0" fmla="*/ 0 w 252"/>
                    <a:gd name="T1" fmla="*/ 218 h 804"/>
                    <a:gd name="T2" fmla="*/ 0 w 252"/>
                    <a:gd name="T3" fmla="*/ 0 h 804"/>
                    <a:gd name="T4" fmla="*/ 71 w 252"/>
                    <a:gd name="T5" fmla="*/ 0 h 804"/>
                    <a:gd name="T6" fmla="*/ 0 60000 65536"/>
                    <a:gd name="T7" fmla="*/ 0 60000 65536"/>
                    <a:gd name="T8" fmla="*/ 0 60000 65536"/>
                  </a:gdLst>
                  <a:ahLst/>
                  <a:cxnLst>
                    <a:cxn ang="T6">
                      <a:pos x="T0" y="T1"/>
                    </a:cxn>
                    <a:cxn ang="T7">
                      <a:pos x="T2" y="T3"/>
                    </a:cxn>
                    <a:cxn ang="T8">
                      <a:pos x="T4" y="T5"/>
                    </a:cxn>
                  </a:cxnLst>
                  <a:rect l="0" t="0" r="r" b="b"/>
                  <a:pathLst>
                    <a:path w="252" h="804">
                      <a:moveTo>
                        <a:pt x="0" y="803"/>
                      </a:moveTo>
                      <a:lnTo>
                        <a:pt x="0" y="0"/>
                      </a:lnTo>
                      <a:lnTo>
                        <a:pt x="251" y="0"/>
                      </a:lnTo>
                    </a:path>
                  </a:pathLst>
                </a:custGeom>
                <a:noFill/>
                <a:ln w="25400" cap="rnd" cmpd="sng">
                  <a:solidFill>
                    <a:schemeClr val="tx1"/>
                  </a:solidFill>
                  <a:prstDash val="solid"/>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201" name="Freeform 153"/>
                <p:cNvSpPr>
                  <a:spLocks/>
                </p:cNvSpPr>
                <p:nvPr/>
              </p:nvSpPr>
              <p:spPr bwMode="auto">
                <a:xfrm>
                  <a:off x="3344" y="2045"/>
                  <a:ext cx="200" cy="494"/>
                </a:xfrm>
                <a:custGeom>
                  <a:avLst/>
                  <a:gdLst>
                    <a:gd name="T0" fmla="*/ 0 w 378"/>
                    <a:gd name="T1" fmla="*/ 257 h 949"/>
                    <a:gd name="T2" fmla="*/ 0 w 378"/>
                    <a:gd name="T3" fmla="*/ 0 h 949"/>
                    <a:gd name="T4" fmla="*/ 105 w 378"/>
                    <a:gd name="T5" fmla="*/ 0 h 949"/>
                    <a:gd name="T6" fmla="*/ 0 60000 65536"/>
                    <a:gd name="T7" fmla="*/ 0 60000 65536"/>
                    <a:gd name="T8" fmla="*/ 0 60000 65536"/>
                  </a:gdLst>
                  <a:ahLst/>
                  <a:cxnLst>
                    <a:cxn ang="T6">
                      <a:pos x="T0" y="T1"/>
                    </a:cxn>
                    <a:cxn ang="T7">
                      <a:pos x="T2" y="T3"/>
                    </a:cxn>
                    <a:cxn ang="T8">
                      <a:pos x="T4" y="T5"/>
                    </a:cxn>
                  </a:cxnLst>
                  <a:rect l="0" t="0" r="r" b="b"/>
                  <a:pathLst>
                    <a:path w="378" h="949">
                      <a:moveTo>
                        <a:pt x="0" y="948"/>
                      </a:moveTo>
                      <a:lnTo>
                        <a:pt x="0" y="0"/>
                      </a:lnTo>
                      <a:lnTo>
                        <a:pt x="377" y="0"/>
                      </a:lnTo>
                    </a:path>
                  </a:pathLst>
                </a:custGeom>
                <a:noFill/>
                <a:ln w="25400" cap="rnd" cmpd="sng">
                  <a:solidFill>
                    <a:schemeClr val="tx1"/>
                  </a:solidFill>
                  <a:prstDash val="solid"/>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202" name="Freeform 154"/>
                <p:cNvSpPr>
                  <a:spLocks/>
                </p:cNvSpPr>
                <p:nvPr/>
              </p:nvSpPr>
              <p:spPr bwMode="auto">
                <a:xfrm>
                  <a:off x="3271" y="1948"/>
                  <a:ext cx="279" cy="576"/>
                </a:xfrm>
                <a:custGeom>
                  <a:avLst/>
                  <a:gdLst>
                    <a:gd name="T0" fmla="*/ 0 w 524"/>
                    <a:gd name="T1" fmla="*/ 300 h 1104"/>
                    <a:gd name="T2" fmla="*/ 0 w 524"/>
                    <a:gd name="T3" fmla="*/ 0 h 1104"/>
                    <a:gd name="T4" fmla="*/ 148 w 524"/>
                    <a:gd name="T5" fmla="*/ 0 h 1104"/>
                    <a:gd name="T6" fmla="*/ 0 60000 65536"/>
                    <a:gd name="T7" fmla="*/ 0 60000 65536"/>
                    <a:gd name="T8" fmla="*/ 0 60000 65536"/>
                  </a:gdLst>
                  <a:ahLst/>
                  <a:cxnLst>
                    <a:cxn ang="T6">
                      <a:pos x="T0" y="T1"/>
                    </a:cxn>
                    <a:cxn ang="T7">
                      <a:pos x="T2" y="T3"/>
                    </a:cxn>
                    <a:cxn ang="T8">
                      <a:pos x="T4" y="T5"/>
                    </a:cxn>
                  </a:cxnLst>
                  <a:rect l="0" t="0" r="r" b="b"/>
                  <a:pathLst>
                    <a:path w="524" h="1104">
                      <a:moveTo>
                        <a:pt x="0" y="1103"/>
                      </a:moveTo>
                      <a:lnTo>
                        <a:pt x="0" y="0"/>
                      </a:lnTo>
                      <a:lnTo>
                        <a:pt x="523" y="0"/>
                      </a:lnTo>
                    </a:path>
                  </a:pathLst>
                </a:custGeom>
                <a:noFill/>
                <a:ln w="25400" cap="rnd" cmpd="sng">
                  <a:solidFill>
                    <a:schemeClr val="tx1"/>
                  </a:solidFill>
                  <a:prstDash val="solid"/>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203" name="Freeform 155"/>
                <p:cNvSpPr>
                  <a:spLocks/>
                </p:cNvSpPr>
                <p:nvPr/>
              </p:nvSpPr>
              <p:spPr bwMode="auto">
                <a:xfrm>
                  <a:off x="3184" y="1827"/>
                  <a:ext cx="355" cy="711"/>
                </a:xfrm>
                <a:custGeom>
                  <a:avLst/>
                  <a:gdLst>
                    <a:gd name="T0" fmla="*/ 0 w 669"/>
                    <a:gd name="T1" fmla="*/ 370 h 1365"/>
                    <a:gd name="T2" fmla="*/ 0 w 669"/>
                    <a:gd name="T3" fmla="*/ 0 h 1365"/>
                    <a:gd name="T4" fmla="*/ 188 w 669"/>
                    <a:gd name="T5" fmla="*/ 0 h 1365"/>
                    <a:gd name="T6" fmla="*/ 0 60000 65536"/>
                    <a:gd name="T7" fmla="*/ 0 60000 65536"/>
                    <a:gd name="T8" fmla="*/ 0 60000 65536"/>
                  </a:gdLst>
                  <a:ahLst/>
                  <a:cxnLst>
                    <a:cxn ang="T6">
                      <a:pos x="T0" y="T1"/>
                    </a:cxn>
                    <a:cxn ang="T7">
                      <a:pos x="T2" y="T3"/>
                    </a:cxn>
                    <a:cxn ang="T8">
                      <a:pos x="T4" y="T5"/>
                    </a:cxn>
                  </a:cxnLst>
                  <a:rect l="0" t="0" r="r" b="b"/>
                  <a:pathLst>
                    <a:path w="669" h="1365">
                      <a:moveTo>
                        <a:pt x="0" y="1364"/>
                      </a:moveTo>
                      <a:lnTo>
                        <a:pt x="0" y="0"/>
                      </a:lnTo>
                      <a:lnTo>
                        <a:pt x="668" y="0"/>
                      </a:lnTo>
                    </a:path>
                  </a:pathLst>
                </a:custGeom>
                <a:noFill/>
                <a:ln w="25400" cap="rnd" cmpd="sng">
                  <a:solidFill>
                    <a:schemeClr val="tx1"/>
                  </a:solidFill>
                  <a:prstDash val="solid"/>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5352"/>
                                        </p:tgtEl>
                                        <p:attrNameLst>
                                          <p:attrName>style.visibility</p:attrName>
                                        </p:attrNameLst>
                                      </p:cBhvr>
                                      <p:to>
                                        <p:strVal val="visible"/>
                                      </p:to>
                                    </p:set>
                                    <p:animEffect transition="in" filter="fade">
                                      <p:cBhvr>
                                        <p:cTn id="7" dur="500"/>
                                        <p:tgtEl>
                                          <p:spTgt spid="3953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95348"/>
                                        </p:tgtEl>
                                        <p:attrNameLst>
                                          <p:attrName>style.visibility</p:attrName>
                                        </p:attrNameLst>
                                      </p:cBhvr>
                                      <p:to>
                                        <p:strVal val="visible"/>
                                      </p:to>
                                    </p:set>
                                    <p:animEffect transition="in" filter="fade">
                                      <p:cBhvr>
                                        <p:cTn id="12" dur="500"/>
                                        <p:tgtEl>
                                          <p:spTgt spid="3953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95349"/>
                                        </p:tgtEl>
                                        <p:attrNameLst>
                                          <p:attrName>style.visibility</p:attrName>
                                        </p:attrNameLst>
                                      </p:cBhvr>
                                      <p:to>
                                        <p:strVal val="visible"/>
                                      </p:to>
                                    </p:set>
                                    <p:animEffect transition="in" filter="fade">
                                      <p:cBhvr>
                                        <p:cTn id="17" dur="500"/>
                                        <p:tgtEl>
                                          <p:spTgt spid="3953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95350"/>
                                        </p:tgtEl>
                                        <p:attrNameLst>
                                          <p:attrName>style.visibility</p:attrName>
                                        </p:attrNameLst>
                                      </p:cBhvr>
                                      <p:to>
                                        <p:strVal val="visible"/>
                                      </p:to>
                                    </p:set>
                                    <p:animEffect transition="in" filter="fade">
                                      <p:cBhvr>
                                        <p:cTn id="22" dur="500"/>
                                        <p:tgtEl>
                                          <p:spTgt spid="39535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95351"/>
                                        </p:tgtEl>
                                        <p:attrNameLst>
                                          <p:attrName>style.visibility</p:attrName>
                                        </p:attrNameLst>
                                      </p:cBhvr>
                                      <p:to>
                                        <p:strVal val="visible"/>
                                      </p:to>
                                    </p:set>
                                    <p:animEffect transition="in" filter="fade">
                                      <p:cBhvr>
                                        <p:cTn id="27" dur="500"/>
                                        <p:tgtEl>
                                          <p:spTgt spid="395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348" grpId="0"/>
      <p:bldP spid="395349" grpId="0"/>
      <p:bldP spid="395350" grpId="0"/>
      <p:bldP spid="395351" grpId="0"/>
      <p:bldP spid="39535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14"/>
          <p:cNvSpPr txBox="1">
            <a:spLocks noChangeArrowheads="1"/>
          </p:cNvSpPr>
          <p:nvPr/>
        </p:nvSpPr>
        <p:spPr bwMode="auto">
          <a:xfrm>
            <a:off x="1524000" y="152401"/>
            <a:ext cx="9144000"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Char char="•"/>
              <a:defRPr sz="3200" b="1">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1"/>
              </a:buClr>
              <a:buFont typeface="Wingdings" panose="05000000000000000000" pitchFamily="2" charset="2"/>
              <a:buChar char="§"/>
              <a:defRPr sz="2800" b="1">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2"/>
              </a:buClr>
              <a:buChar char="•"/>
              <a:defRPr sz="2400" b="1">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tx2"/>
              </a:buClr>
              <a:buFont typeface="Wingdings" panose="05000000000000000000" pitchFamily="2" charset="2"/>
              <a:buChar char="§"/>
              <a:defRPr sz="2000" b="1">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folHlink"/>
              </a:buClr>
              <a:buChar char="•"/>
              <a:defRPr sz="20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Char char="•"/>
              <a:defRPr sz="2000" b="1">
                <a:solidFill>
                  <a:schemeClr val="tx1"/>
                </a:solidFill>
                <a:latin typeface="Verdana" panose="020B0604030504040204" pitchFamily="34" charset="0"/>
                <a:cs typeface="Arial" panose="020B0604020202020204" pitchFamily="34" charset="0"/>
              </a:defRPr>
            </a:lvl9pPr>
          </a:lstStyle>
          <a:p>
            <a:pPr algn="ctr">
              <a:spcBef>
                <a:spcPct val="0"/>
              </a:spcBef>
              <a:buClrTx/>
              <a:buFontTx/>
              <a:buNone/>
            </a:pPr>
            <a:r>
              <a:rPr lang="en-US" altLang="en-US" sz="3600"/>
              <a:t>Relation of Web GIS Components</a:t>
            </a:r>
          </a:p>
        </p:txBody>
      </p:sp>
      <p:pic>
        <p:nvPicPr>
          <p:cNvPr id="2" name="Picture 1"/>
          <p:cNvPicPr>
            <a:picLocks noChangeAspect="1"/>
          </p:cNvPicPr>
          <p:nvPr/>
        </p:nvPicPr>
        <p:blipFill>
          <a:blip r:embed="rId3"/>
          <a:stretch>
            <a:fillRect/>
          </a:stretch>
        </p:blipFill>
        <p:spPr>
          <a:xfrm>
            <a:off x="1685925" y="944724"/>
            <a:ext cx="8820150" cy="5040560"/>
          </a:xfrm>
          <a:prstGeom prst="rect">
            <a:avLst/>
          </a:prstGeom>
          <a:scene3d>
            <a:camera prst="orthographicFront"/>
            <a:lightRig rig="threePt" dir="t"/>
          </a:scene3d>
          <a:sp3d contourW="82550"/>
        </p:spPr>
      </p:pic>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524000" y="1"/>
            <a:ext cx="9144000" cy="981075"/>
          </a:xfrm>
        </p:spPr>
        <p:txBody>
          <a:bodyPr/>
          <a:lstStyle/>
          <a:p>
            <a:pPr>
              <a:defRPr/>
            </a:pPr>
            <a:r>
              <a:rPr lang="en-US" altLang="en-US" dirty="0" smtClean="0"/>
              <a:t>OSS for Spatial Analysis</a:t>
            </a:r>
            <a:endParaRPr lang="en-US" altLang="en-US" dirty="0"/>
          </a:p>
        </p:txBody>
      </p:sp>
      <p:sp>
        <p:nvSpPr>
          <p:cNvPr id="46083" name="Rectangle 3"/>
          <p:cNvSpPr>
            <a:spLocks noGrp="1" noChangeArrowheads="1"/>
          </p:cNvSpPr>
          <p:nvPr>
            <p:ph type="body" idx="1"/>
          </p:nvPr>
        </p:nvSpPr>
        <p:spPr>
          <a:xfrm>
            <a:off x="1811338" y="981076"/>
            <a:ext cx="8640762" cy="5343525"/>
          </a:xfrm>
        </p:spPr>
        <p:txBody>
          <a:bodyPr/>
          <a:lstStyle/>
          <a:p>
            <a:pPr>
              <a:spcAft>
                <a:spcPts val="1200"/>
              </a:spcAft>
              <a:defRPr/>
            </a:pPr>
            <a:r>
              <a:rPr lang="en-US" b="0" dirty="0" smtClean="0"/>
              <a:t>Spatial </a:t>
            </a:r>
            <a:r>
              <a:rPr lang="en-US" b="0" dirty="0"/>
              <a:t>analysis software</a:t>
            </a:r>
            <a:r>
              <a:rPr lang="en-US" b="0" dirty="0" smtClean="0"/>
              <a:t> is </a:t>
            </a:r>
            <a:r>
              <a:rPr lang="en-US" b="0" dirty="0" smtClean="0">
                <a:hlinkClick r:id="rId3" tooltip="Software"/>
              </a:rPr>
              <a:t>software</a:t>
            </a:r>
            <a:r>
              <a:rPr lang="en-US" b="0" dirty="0" smtClean="0"/>
              <a:t> written to enable and facilitate </a:t>
            </a:r>
            <a:r>
              <a:rPr lang="en-US" b="0" dirty="0" smtClean="0">
                <a:hlinkClick r:id="rId4" tooltip="Spatial analysis"/>
              </a:rPr>
              <a:t>spatial analysis</a:t>
            </a:r>
            <a:r>
              <a:rPr lang="en-US" b="0" dirty="0" smtClean="0"/>
              <a:t>.</a:t>
            </a:r>
          </a:p>
          <a:p>
            <a:pPr marL="0" indent="0">
              <a:spcAft>
                <a:spcPts val="1200"/>
              </a:spcAft>
              <a:buNone/>
              <a:defRPr/>
            </a:pPr>
            <a:endParaRPr lang="en-US" b="0" dirty="0" smtClean="0"/>
          </a:p>
          <a:p>
            <a:pPr>
              <a:spcAft>
                <a:spcPts val="1200"/>
              </a:spcAft>
              <a:defRPr/>
            </a:pPr>
            <a:r>
              <a:rPr lang="en-US" b="0" dirty="0" smtClean="0"/>
              <a:t>Currently, there are several packages, both </a:t>
            </a:r>
            <a:r>
              <a:rPr lang="en-US" b="0" dirty="0" smtClean="0">
                <a:hlinkClick r:id="rId5" tooltip="Free software"/>
              </a:rPr>
              <a:t>free software</a:t>
            </a:r>
            <a:r>
              <a:rPr lang="en-US" b="0" dirty="0" smtClean="0"/>
              <a:t> and </a:t>
            </a:r>
            <a:r>
              <a:rPr lang="en-US" b="0" dirty="0" smtClean="0">
                <a:hlinkClick r:id="rId6" tooltip="Proprietary software"/>
              </a:rPr>
              <a:t>proprietary software</a:t>
            </a:r>
            <a:r>
              <a:rPr lang="en-US" b="0" dirty="0" smtClean="0"/>
              <a:t>, which cover most of the spatial data infrastructure stack.</a:t>
            </a:r>
            <a:endParaRPr lang="en-US" altLang="en-US" b="0" dirty="0" smtClean="0"/>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fade">
                                      <p:cBhvr>
                                        <p:cTn id="7" dur="500"/>
                                        <p:tgtEl>
                                          <p:spTgt spid="460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6083">
                                            <p:txEl>
                                              <p:pRg st="2" end="2"/>
                                            </p:txEl>
                                          </p:spTgt>
                                        </p:tgtEl>
                                        <p:attrNameLst>
                                          <p:attrName>style.visibility</p:attrName>
                                        </p:attrNameLst>
                                      </p:cBhvr>
                                      <p:to>
                                        <p:strVal val="visible"/>
                                      </p:to>
                                    </p:set>
                                    <p:animEffect transition="in" filter="fade">
                                      <p:cBhvr>
                                        <p:cTn id="12" dur="500"/>
                                        <p:tgtEl>
                                          <p:spTgt spid="460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524000" y="1"/>
            <a:ext cx="9144000" cy="981075"/>
          </a:xfrm>
        </p:spPr>
        <p:txBody>
          <a:bodyPr/>
          <a:lstStyle/>
          <a:p>
            <a:pPr>
              <a:defRPr/>
            </a:pPr>
            <a:r>
              <a:rPr lang="en-US" altLang="en-US" dirty="0" smtClean="0"/>
              <a:t>OSS for Spatial Analysis</a:t>
            </a:r>
            <a:endParaRPr lang="en-US" altLang="en-US" dirty="0"/>
          </a:p>
        </p:txBody>
      </p:sp>
      <p:sp>
        <p:nvSpPr>
          <p:cNvPr id="46083" name="Rectangle 3"/>
          <p:cNvSpPr>
            <a:spLocks noGrp="1" noChangeArrowheads="1"/>
          </p:cNvSpPr>
          <p:nvPr>
            <p:ph type="body" idx="1"/>
          </p:nvPr>
        </p:nvSpPr>
        <p:spPr>
          <a:xfrm>
            <a:off x="1811338" y="981076"/>
            <a:ext cx="8640762" cy="5688013"/>
          </a:xfrm>
        </p:spPr>
        <p:txBody>
          <a:bodyPr>
            <a:normAutofit lnSpcReduction="10000"/>
          </a:bodyPr>
          <a:lstStyle/>
          <a:p>
            <a:pPr>
              <a:spcAft>
                <a:spcPts val="1200"/>
              </a:spcAft>
              <a:defRPr/>
            </a:pPr>
            <a:r>
              <a:rPr lang="en-US" dirty="0"/>
              <a:t>QGIS:</a:t>
            </a:r>
          </a:p>
          <a:p>
            <a:pPr marL="822960">
              <a:spcAft>
                <a:spcPts val="1200"/>
              </a:spcAft>
              <a:buFont typeface="Wingdings" panose="05000000000000000000" pitchFamily="2" charset="2"/>
              <a:buChar char="ü"/>
              <a:defRPr/>
            </a:pPr>
            <a:r>
              <a:rPr lang="en-US" sz="2400" dirty="0"/>
              <a:t>Free: Yes</a:t>
            </a:r>
          </a:p>
          <a:p>
            <a:pPr marL="822960">
              <a:spcAft>
                <a:spcPts val="1200"/>
              </a:spcAft>
              <a:buFont typeface="Wingdings" panose="05000000000000000000" pitchFamily="2" charset="2"/>
              <a:buChar char="ü"/>
              <a:defRPr/>
            </a:pPr>
            <a:r>
              <a:rPr lang="en-US" sz="2400" dirty="0"/>
              <a:t>OS: </a:t>
            </a:r>
            <a:r>
              <a:rPr lang="en-US" sz="2400" dirty="0">
                <a:hlinkClick r:id="rId3" tooltip="Linux"/>
              </a:rPr>
              <a:t>Linux</a:t>
            </a:r>
            <a:r>
              <a:rPr lang="en-US" sz="2400" dirty="0"/>
              <a:t>, </a:t>
            </a:r>
            <a:r>
              <a:rPr lang="en-US" sz="2400" dirty="0">
                <a:hlinkClick r:id="rId4" tooltip="MAC OS"/>
              </a:rPr>
              <a:t>MAC OS</a:t>
            </a:r>
            <a:r>
              <a:rPr lang="en-US" sz="2400" dirty="0"/>
              <a:t>, </a:t>
            </a:r>
            <a:r>
              <a:rPr lang="en-US" sz="2400" dirty="0">
                <a:hlinkClick r:id="rId5" tooltip="Microsoft Windows"/>
              </a:rPr>
              <a:t>Windows</a:t>
            </a:r>
            <a:r>
              <a:rPr lang="en-US" sz="2400" dirty="0"/>
              <a:t> </a:t>
            </a:r>
          </a:p>
          <a:p>
            <a:pPr marL="822960">
              <a:spcAft>
                <a:spcPts val="1200"/>
              </a:spcAft>
              <a:buFont typeface="Wingdings" panose="05000000000000000000" pitchFamily="2" charset="2"/>
              <a:buChar char="ü"/>
              <a:defRPr/>
            </a:pPr>
            <a:r>
              <a:rPr lang="en-US" sz="2400" dirty="0"/>
              <a:t>Developer: QGIS Development Team</a:t>
            </a:r>
          </a:p>
          <a:p>
            <a:pPr marL="822960">
              <a:spcAft>
                <a:spcPts val="1200"/>
              </a:spcAft>
              <a:buFont typeface="Wingdings" panose="05000000000000000000" pitchFamily="2" charset="2"/>
              <a:buChar char="ü"/>
              <a:defRPr/>
            </a:pPr>
            <a:r>
              <a:rPr lang="en-US" sz="2400" dirty="0">
                <a:hlinkClick r:id="rId6"/>
              </a:rPr>
              <a:t>URL: qgis.org</a:t>
            </a:r>
            <a:endParaRPr lang="en-US" sz="2400" dirty="0"/>
          </a:p>
          <a:p>
            <a:pPr marL="822960">
              <a:spcAft>
                <a:spcPts val="1200"/>
              </a:spcAft>
              <a:buFont typeface="Wingdings" panose="05000000000000000000" pitchFamily="2" charset="2"/>
              <a:buChar char="ü"/>
              <a:defRPr/>
            </a:pPr>
            <a:r>
              <a:rPr lang="en-US" sz="2400" dirty="0"/>
              <a:t>Field of Interest: Visualization</a:t>
            </a:r>
          </a:p>
          <a:p>
            <a:pPr marL="822960">
              <a:spcAft>
                <a:spcPts val="1200"/>
              </a:spcAft>
              <a:buFont typeface="Wingdings" panose="05000000000000000000" pitchFamily="2" charset="2"/>
              <a:buChar char="ü"/>
              <a:defRPr/>
            </a:pPr>
            <a:r>
              <a:rPr lang="en-US" sz="2400" dirty="0"/>
              <a:t>Main Features: Easy to use, ability to expand functionality with </a:t>
            </a:r>
            <a:r>
              <a:rPr lang="en-US" sz="2400" dirty="0">
                <a:hlinkClick r:id="rId7" tooltip="Python (programming language)"/>
              </a:rPr>
              <a:t>Python</a:t>
            </a:r>
            <a:r>
              <a:rPr lang="en-US" sz="2400" dirty="0"/>
              <a:t> plugins. </a:t>
            </a:r>
            <a:r>
              <a:rPr lang="en-US" sz="2400" dirty="0" err="1"/>
              <a:t>Geoprocessing</a:t>
            </a:r>
            <a:r>
              <a:rPr lang="en-US" sz="2400" dirty="0"/>
              <a:t> functions included.</a:t>
            </a:r>
          </a:p>
          <a:p>
            <a:pPr marL="822960">
              <a:spcAft>
                <a:spcPts val="1200"/>
              </a:spcAft>
              <a:buFont typeface="Wingdings" panose="05000000000000000000" pitchFamily="2" charset="2"/>
              <a:buChar char="ü"/>
              <a:defRPr/>
            </a:pPr>
            <a:r>
              <a:rPr lang="en-US" sz="2400" dirty="0"/>
              <a:t>Language: C++</a:t>
            </a:r>
          </a:p>
          <a:p>
            <a:pPr marL="822960">
              <a:spcAft>
                <a:spcPts val="1200"/>
              </a:spcAft>
              <a:buFont typeface="Wingdings" panose="05000000000000000000" pitchFamily="2" charset="2"/>
              <a:buChar char="ü"/>
              <a:defRPr/>
            </a:pPr>
            <a:r>
              <a:rPr lang="en-US" sz="2400" dirty="0"/>
              <a:t>License: </a:t>
            </a:r>
            <a:r>
              <a:rPr lang="en-US" sz="2400" dirty="0">
                <a:hlinkClick r:id="rId8" tooltip="GNU General Public License"/>
              </a:rPr>
              <a:t>GPL</a:t>
            </a:r>
            <a:endParaRPr lang="en-US" sz="2400" dirty="0"/>
          </a:p>
          <a:p>
            <a:pPr>
              <a:spcAft>
                <a:spcPts val="1200"/>
              </a:spcAft>
              <a:defRPr/>
            </a:pPr>
            <a:endParaRPr lang="en-US"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fade">
                                      <p:cBhvr>
                                        <p:cTn id="7" dur="500"/>
                                        <p:tgtEl>
                                          <p:spTgt spid="460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6083">
                                            <p:txEl>
                                              <p:pRg st="1" end="1"/>
                                            </p:txEl>
                                          </p:spTgt>
                                        </p:tgtEl>
                                        <p:attrNameLst>
                                          <p:attrName>style.visibility</p:attrName>
                                        </p:attrNameLst>
                                      </p:cBhvr>
                                      <p:to>
                                        <p:strVal val="visible"/>
                                      </p:to>
                                    </p:set>
                                    <p:animEffect transition="in" filter="fade">
                                      <p:cBhvr>
                                        <p:cTn id="12" dur="500"/>
                                        <p:tgtEl>
                                          <p:spTgt spid="460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6083">
                                            <p:txEl>
                                              <p:pRg st="2" end="2"/>
                                            </p:txEl>
                                          </p:spTgt>
                                        </p:tgtEl>
                                        <p:attrNameLst>
                                          <p:attrName>style.visibility</p:attrName>
                                        </p:attrNameLst>
                                      </p:cBhvr>
                                      <p:to>
                                        <p:strVal val="visible"/>
                                      </p:to>
                                    </p:set>
                                    <p:animEffect transition="in" filter="fade">
                                      <p:cBhvr>
                                        <p:cTn id="17" dur="500"/>
                                        <p:tgtEl>
                                          <p:spTgt spid="460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6083">
                                            <p:txEl>
                                              <p:pRg st="3" end="3"/>
                                            </p:txEl>
                                          </p:spTgt>
                                        </p:tgtEl>
                                        <p:attrNameLst>
                                          <p:attrName>style.visibility</p:attrName>
                                        </p:attrNameLst>
                                      </p:cBhvr>
                                      <p:to>
                                        <p:strVal val="visible"/>
                                      </p:to>
                                    </p:set>
                                    <p:animEffect transition="in" filter="fade">
                                      <p:cBhvr>
                                        <p:cTn id="22" dur="500"/>
                                        <p:tgtEl>
                                          <p:spTgt spid="4608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6083">
                                            <p:txEl>
                                              <p:pRg st="4" end="4"/>
                                            </p:txEl>
                                          </p:spTgt>
                                        </p:tgtEl>
                                        <p:attrNameLst>
                                          <p:attrName>style.visibility</p:attrName>
                                        </p:attrNameLst>
                                      </p:cBhvr>
                                      <p:to>
                                        <p:strVal val="visible"/>
                                      </p:to>
                                    </p:set>
                                    <p:animEffect transition="in" filter="fade">
                                      <p:cBhvr>
                                        <p:cTn id="27" dur="500"/>
                                        <p:tgtEl>
                                          <p:spTgt spid="4608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6083">
                                            <p:txEl>
                                              <p:pRg st="5" end="5"/>
                                            </p:txEl>
                                          </p:spTgt>
                                        </p:tgtEl>
                                        <p:attrNameLst>
                                          <p:attrName>style.visibility</p:attrName>
                                        </p:attrNameLst>
                                      </p:cBhvr>
                                      <p:to>
                                        <p:strVal val="visible"/>
                                      </p:to>
                                    </p:set>
                                    <p:animEffect transition="in" filter="fade">
                                      <p:cBhvr>
                                        <p:cTn id="32" dur="500"/>
                                        <p:tgtEl>
                                          <p:spTgt spid="4608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6083">
                                            <p:txEl>
                                              <p:pRg st="6" end="6"/>
                                            </p:txEl>
                                          </p:spTgt>
                                        </p:tgtEl>
                                        <p:attrNameLst>
                                          <p:attrName>style.visibility</p:attrName>
                                        </p:attrNameLst>
                                      </p:cBhvr>
                                      <p:to>
                                        <p:strVal val="visible"/>
                                      </p:to>
                                    </p:set>
                                    <p:animEffect transition="in" filter="fade">
                                      <p:cBhvr>
                                        <p:cTn id="37" dur="500"/>
                                        <p:tgtEl>
                                          <p:spTgt spid="4608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6083">
                                            <p:txEl>
                                              <p:pRg st="7" end="7"/>
                                            </p:txEl>
                                          </p:spTgt>
                                        </p:tgtEl>
                                        <p:attrNameLst>
                                          <p:attrName>style.visibility</p:attrName>
                                        </p:attrNameLst>
                                      </p:cBhvr>
                                      <p:to>
                                        <p:strVal val="visible"/>
                                      </p:to>
                                    </p:set>
                                    <p:animEffect transition="in" filter="fade">
                                      <p:cBhvr>
                                        <p:cTn id="42" dur="500"/>
                                        <p:tgtEl>
                                          <p:spTgt spid="4608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6083">
                                            <p:txEl>
                                              <p:pRg st="8" end="8"/>
                                            </p:txEl>
                                          </p:spTgt>
                                        </p:tgtEl>
                                        <p:attrNameLst>
                                          <p:attrName>style.visibility</p:attrName>
                                        </p:attrNameLst>
                                      </p:cBhvr>
                                      <p:to>
                                        <p:strVal val="visible"/>
                                      </p:to>
                                    </p:set>
                                    <p:animEffect transition="in" filter="fade">
                                      <p:cBhvr>
                                        <p:cTn id="47" dur="500"/>
                                        <p:tgtEl>
                                          <p:spTgt spid="4608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524000" y="1"/>
            <a:ext cx="9144000" cy="981075"/>
          </a:xfrm>
        </p:spPr>
        <p:txBody>
          <a:bodyPr/>
          <a:lstStyle/>
          <a:p>
            <a:pPr>
              <a:defRPr/>
            </a:pPr>
            <a:r>
              <a:rPr lang="en-US" altLang="en-US" dirty="0" smtClean="0"/>
              <a:t>OSS for Spatial Analysis</a:t>
            </a:r>
            <a:endParaRPr lang="en-US" altLang="en-US" dirty="0"/>
          </a:p>
        </p:txBody>
      </p:sp>
      <p:sp>
        <p:nvSpPr>
          <p:cNvPr id="46083" name="Rectangle 3"/>
          <p:cNvSpPr>
            <a:spLocks noGrp="1" noChangeArrowheads="1"/>
          </p:cNvSpPr>
          <p:nvPr>
            <p:ph type="body" idx="1"/>
          </p:nvPr>
        </p:nvSpPr>
        <p:spPr>
          <a:xfrm>
            <a:off x="1811338" y="981076"/>
            <a:ext cx="8640762" cy="5688013"/>
          </a:xfrm>
        </p:spPr>
        <p:txBody>
          <a:bodyPr>
            <a:normAutofit lnSpcReduction="10000"/>
          </a:bodyPr>
          <a:lstStyle/>
          <a:p>
            <a:pPr>
              <a:spcAft>
                <a:spcPts val="1200"/>
              </a:spcAft>
              <a:defRPr/>
            </a:pPr>
            <a:r>
              <a:rPr lang="en-US" dirty="0"/>
              <a:t>IL WIS Open:</a:t>
            </a:r>
          </a:p>
          <a:p>
            <a:pPr marL="822960">
              <a:spcAft>
                <a:spcPts val="600"/>
              </a:spcAft>
              <a:buFont typeface="Wingdings" panose="05000000000000000000" pitchFamily="2" charset="2"/>
              <a:buChar char="ü"/>
              <a:defRPr/>
            </a:pPr>
            <a:r>
              <a:rPr lang="en-US" sz="2400" dirty="0"/>
              <a:t>Free: Yes</a:t>
            </a:r>
          </a:p>
          <a:p>
            <a:pPr marL="822960">
              <a:spcAft>
                <a:spcPts val="600"/>
              </a:spcAft>
              <a:buFont typeface="Wingdings" panose="05000000000000000000" pitchFamily="2" charset="2"/>
              <a:buChar char="ü"/>
              <a:defRPr/>
            </a:pPr>
            <a:r>
              <a:rPr lang="en-US" sz="2400" dirty="0"/>
              <a:t>OS: </a:t>
            </a:r>
            <a:r>
              <a:rPr lang="en-US" sz="2400" dirty="0">
                <a:hlinkClick r:id="rId3" tooltip="Microsoft Windows"/>
              </a:rPr>
              <a:t>Windows</a:t>
            </a:r>
            <a:r>
              <a:rPr lang="en-US" sz="2400" dirty="0"/>
              <a:t> </a:t>
            </a:r>
          </a:p>
          <a:p>
            <a:pPr marL="822960">
              <a:spcAft>
                <a:spcPts val="600"/>
              </a:spcAft>
              <a:buFont typeface="Wingdings" panose="05000000000000000000" pitchFamily="2" charset="2"/>
              <a:buChar char="ü"/>
              <a:defRPr/>
            </a:pPr>
            <a:r>
              <a:rPr lang="en-US" sz="2400" dirty="0"/>
              <a:t>Developer: </a:t>
            </a:r>
            <a:r>
              <a:rPr lang="en-US" sz="2400" u="sng" dirty="0">
                <a:hlinkClick r:id="rId4"/>
              </a:rPr>
              <a:t>ITC - Netherlands</a:t>
            </a:r>
            <a:endParaRPr lang="en-US" sz="2400" u="sng" dirty="0"/>
          </a:p>
          <a:p>
            <a:pPr marL="822960">
              <a:spcAft>
                <a:spcPts val="600"/>
              </a:spcAft>
              <a:buFont typeface="Wingdings" panose="05000000000000000000" pitchFamily="2" charset="2"/>
              <a:buChar char="ü"/>
              <a:defRPr/>
            </a:pPr>
            <a:r>
              <a:rPr lang="en-US" sz="2400" dirty="0">
                <a:hlinkClick r:id="rId5"/>
              </a:rPr>
              <a:t>URL: </a:t>
            </a:r>
            <a:r>
              <a:rPr lang="en-US" sz="2400" dirty="0"/>
              <a:t>www.52north.org</a:t>
            </a:r>
          </a:p>
          <a:p>
            <a:pPr marL="822960">
              <a:spcAft>
                <a:spcPts val="600"/>
              </a:spcAft>
              <a:buFont typeface="Wingdings" panose="05000000000000000000" pitchFamily="2" charset="2"/>
              <a:buChar char="ü"/>
              <a:defRPr/>
            </a:pPr>
            <a:r>
              <a:rPr lang="en-US" sz="2400" dirty="0"/>
              <a:t>Field of Interest: RS and GIS software which integrates image, vector and thematic data</a:t>
            </a:r>
          </a:p>
          <a:p>
            <a:pPr marL="822960">
              <a:spcAft>
                <a:spcPts val="600"/>
              </a:spcAft>
              <a:buFont typeface="Wingdings" panose="05000000000000000000" pitchFamily="2" charset="2"/>
              <a:buChar char="ü"/>
              <a:defRPr/>
            </a:pPr>
            <a:r>
              <a:rPr lang="en-US" sz="2400" dirty="0"/>
              <a:t>Main Features: Integrated raster and vector design; image processing tools; Advanced modeling and spatial data analysis; 3D visualization; geo-statistical analyses; </a:t>
            </a:r>
          </a:p>
          <a:p>
            <a:pPr marL="822960">
              <a:spcAft>
                <a:spcPts val="600"/>
              </a:spcAft>
              <a:buFont typeface="Wingdings" panose="05000000000000000000" pitchFamily="2" charset="2"/>
              <a:buChar char="ü"/>
              <a:defRPr/>
            </a:pPr>
            <a:r>
              <a:rPr lang="en-US" sz="2400" dirty="0"/>
              <a:t>Language: -</a:t>
            </a:r>
          </a:p>
          <a:p>
            <a:pPr marL="822960">
              <a:spcAft>
                <a:spcPts val="1200"/>
              </a:spcAft>
              <a:buFont typeface="Wingdings" panose="05000000000000000000" pitchFamily="2" charset="2"/>
              <a:buChar char="ü"/>
              <a:defRPr/>
            </a:pPr>
            <a:r>
              <a:rPr lang="en-US" sz="2400" dirty="0"/>
              <a:t>License: </a:t>
            </a:r>
            <a:r>
              <a:rPr lang="en-US" sz="2400" dirty="0">
                <a:hlinkClick r:id="rId6" tooltip="GNU General Public License"/>
              </a:rPr>
              <a:t>GPL</a:t>
            </a:r>
            <a:endParaRPr lang="en-US" sz="2400" dirty="0"/>
          </a:p>
          <a:p>
            <a:pPr>
              <a:spcAft>
                <a:spcPts val="1200"/>
              </a:spcAft>
              <a:defRPr/>
            </a:pPr>
            <a:endParaRPr lang="en-US"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fade">
                                      <p:cBhvr>
                                        <p:cTn id="7" dur="500"/>
                                        <p:tgtEl>
                                          <p:spTgt spid="460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6083">
                                            <p:txEl>
                                              <p:pRg st="1" end="1"/>
                                            </p:txEl>
                                          </p:spTgt>
                                        </p:tgtEl>
                                        <p:attrNameLst>
                                          <p:attrName>style.visibility</p:attrName>
                                        </p:attrNameLst>
                                      </p:cBhvr>
                                      <p:to>
                                        <p:strVal val="visible"/>
                                      </p:to>
                                    </p:set>
                                    <p:animEffect transition="in" filter="fade">
                                      <p:cBhvr>
                                        <p:cTn id="12" dur="500"/>
                                        <p:tgtEl>
                                          <p:spTgt spid="460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6083">
                                            <p:txEl>
                                              <p:pRg st="2" end="2"/>
                                            </p:txEl>
                                          </p:spTgt>
                                        </p:tgtEl>
                                        <p:attrNameLst>
                                          <p:attrName>style.visibility</p:attrName>
                                        </p:attrNameLst>
                                      </p:cBhvr>
                                      <p:to>
                                        <p:strVal val="visible"/>
                                      </p:to>
                                    </p:set>
                                    <p:animEffect transition="in" filter="fade">
                                      <p:cBhvr>
                                        <p:cTn id="17" dur="500"/>
                                        <p:tgtEl>
                                          <p:spTgt spid="460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6083">
                                            <p:txEl>
                                              <p:pRg st="3" end="3"/>
                                            </p:txEl>
                                          </p:spTgt>
                                        </p:tgtEl>
                                        <p:attrNameLst>
                                          <p:attrName>style.visibility</p:attrName>
                                        </p:attrNameLst>
                                      </p:cBhvr>
                                      <p:to>
                                        <p:strVal val="visible"/>
                                      </p:to>
                                    </p:set>
                                    <p:animEffect transition="in" filter="fade">
                                      <p:cBhvr>
                                        <p:cTn id="22" dur="500"/>
                                        <p:tgtEl>
                                          <p:spTgt spid="4608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6083">
                                            <p:txEl>
                                              <p:pRg st="4" end="4"/>
                                            </p:txEl>
                                          </p:spTgt>
                                        </p:tgtEl>
                                        <p:attrNameLst>
                                          <p:attrName>style.visibility</p:attrName>
                                        </p:attrNameLst>
                                      </p:cBhvr>
                                      <p:to>
                                        <p:strVal val="visible"/>
                                      </p:to>
                                    </p:set>
                                    <p:animEffect transition="in" filter="fade">
                                      <p:cBhvr>
                                        <p:cTn id="27" dur="500"/>
                                        <p:tgtEl>
                                          <p:spTgt spid="4608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6083">
                                            <p:txEl>
                                              <p:pRg st="5" end="5"/>
                                            </p:txEl>
                                          </p:spTgt>
                                        </p:tgtEl>
                                        <p:attrNameLst>
                                          <p:attrName>style.visibility</p:attrName>
                                        </p:attrNameLst>
                                      </p:cBhvr>
                                      <p:to>
                                        <p:strVal val="visible"/>
                                      </p:to>
                                    </p:set>
                                    <p:animEffect transition="in" filter="fade">
                                      <p:cBhvr>
                                        <p:cTn id="32" dur="500"/>
                                        <p:tgtEl>
                                          <p:spTgt spid="4608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6083">
                                            <p:txEl>
                                              <p:pRg st="6" end="6"/>
                                            </p:txEl>
                                          </p:spTgt>
                                        </p:tgtEl>
                                        <p:attrNameLst>
                                          <p:attrName>style.visibility</p:attrName>
                                        </p:attrNameLst>
                                      </p:cBhvr>
                                      <p:to>
                                        <p:strVal val="visible"/>
                                      </p:to>
                                    </p:set>
                                    <p:animEffect transition="in" filter="fade">
                                      <p:cBhvr>
                                        <p:cTn id="37" dur="500"/>
                                        <p:tgtEl>
                                          <p:spTgt spid="4608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6083">
                                            <p:txEl>
                                              <p:pRg st="7" end="7"/>
                                            </p:txEl>
                                          </p:spTgt>
                                        </p:tgtEl>
                                        <p:attrNameLst>
                                          <p:attrName>style.visibility</p:attrName>
                                        </p:attrNameLst>
                                      </p:cBhvr>
                                      <p:to>
                                        <p:strVal val="visible"/>
                                      </p:to>
                                    </p:set>
                                    <p:animEffect transition="in" filter="fade">
                                      <p:cBhvr>
                                        <p:cTn id="42" dur="500"/>
                                        <p:tgtEl>
                                          <p:spTgt spid="4608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6083">
                                            <p:txEl>
                                              <p:pRg st="8" end="8"/>
                                            </p:txEl>
                                          </p:spTgt>
                                        </p:tgtEl>
                                        <p:attrNameLst>
                                          <p:attrName>style.visibility</p:attrName>
                                        </p:attrNameLst>
                                      </p:cBhvr>
                                      <p:to>
                                        <p:strVal val="visible"/>
                                      </p:to>
                                    </p:set>
                                    <p:animEffect transition="in" filter="fade">
                                      <p:cBhvr>
                                        <p:cTn id="47" dur="500"/>
                                        <p:tgtEl>
                                          <p:spTgt spid="4608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524000" y="1"/>
            <a:ext cx="9144000" cy="981075"/>
          </a:xfrm>
        </p:spPr>
        <p:txBody>
          <a:bodyPr/>
          <a:lstStyle/>
          <a:p>
            <a:pPr>
              <a:defRPr/>
            </a:pPr>
            <a:r>
              <a:rPr lang="en-US" altLang="en-US" dirty="0" smtClean="0"/>
              <a:t>OSS for Spatial Analysis</a:t>
            </a:r>
            <a:endParaRPr lang="en-US" altLang="en-US" dirty="0"/>
          </a:p>
        </p:txBody>
      </p:sp>
      <p:sp>
        <p:nvSpPr>
          <p:cNvPr id="46083" name="Rectangle 3"/>
          <p:cNvSpPr>
            <a:spLocks noGrp="1" noChangeArrowheads="1"/>
          </p:cNvSpPr>
          <p:nvPr>
            <p:ph type="body" idx="1"/>
          </p:nvPr>
        </p:nvSpPr>
        <p:spPr>
          <a:xfrm>
            <a:off x="1811338" y="981076"/>
            <a:ext cx="8640762" cy="5688013"/>
          </a:xfrm>
        </p:spPr>
        <p:txBody>
          <a:bodyPr/>
          <a:lstStyle/>
          <a:p>
            <a:pPr>
              <a:spcAft>
                <a:spcPts val="1200"/>
              </a:spcAft>
              <a:defRPr/>
            </a:pPr>
            <a:r>
              <a:rPr lang="en-US" dirty="0"/>
              <a:t>GRASS:</a:t>
            </a:r>
          </a:p>
          <a:p>
            <a:pPr marL="822960">
              <a:spcAft>
                <a:spcPts val="600"/>
              </a:spcAft>
              <a:buFont typeface="Wingdings" panose="05000000000000000000" pitchFamily="2" charset="2"/>
              <a:buChar char="ü"/>
              <a:defRPr/>
            </a:pPr>
            <a:r>
              <a:rPr lang="en-US" sz="2400" dirty="0"/>
              <a:t>Free: Yes</a:t>
            </a:r>
          </a:p>
          <a:p>
            <a:pPr marL="822960">
              <a:spcAft>
                <a:spcPts val="600"/>
              </a:spcAft>
              <a:buFont typeface="Wingdings" panose="05000000000000000000" pitchFamily="2" charset="2"/>
              <a:buChar char="ü"/>
              <a:defRPr/>
            </a:pPr>
            <a:r>
              <a:rPr lang="en-US" sz="2400" dirty="0"/>
              <a:t>OS: </a:t>
            </a:r>
            <a:r>
              <a:rPr lang="en-US" sz="2400" dirty="0">
                <a:hlinkClick r:id="rId3" tooltip="Linux"/>
              </a:rPr>
              <a:t>Linux</a:t>
            </a:r>
            <a:r>
              <a:rPr lang="en-US" sz="2400" dirty="0"/>
              <a:t>, </a:t>
            </a:r>
            <a:r>
              <a:rPr lang="en-US" sz="2400" dirty="0">
                <a:hlinkClick r:id="rId4" tooltip="MAC OS"/>
              </a:rPr>
              <a:t>MAC OS</a:t>
            </a:r>
            <a:r>
              <a:rPr lang="en-US" sz="2400" dirty="0"/>
              <a:t>, </a:t>
            </a:r>
            <a:r>
              <a:rPr lang="en-US" sz="2400" dirty="0">
                <a:hlinkClick r:id="rId5" tooltip="Microsoft Windows"/>
              </a:rPr>
              <a:t>Windows</a:t>
            </a:r>
            <a:r>
              <a:rPr lang="en-US" sz="2400" dirty="0"/>
              <a:t> </a:t>
            </a:r>
          </a:p>
          <a:p>
            <a:pPr marL="822960">
              <a:spcAft>
                <a:spcPts val="600"/>
              </a:spcAft>
              <a:buFont typeface="Wingdings" panose="05000000000000000000" pitchFamily="2" charset="2"/>
              <a:buChar char="ü"/>
              <a:defRPr/>
            </a:pPr>
            <a:r>
              <a:rPr lang="en-US" sz="2400" dirty="0"/>
              <a:t>Developer: GRASS Development Team</a:t>
            </a:r>
            <a:endParaRPr lang="en-US" sz="2400" u="sng" dirty="0"/>
          </a:p>
          <a:p>
            <a:pPr marL="822960">
              <a:spcAft>
                <a:spcPts val="600"/>
              </a:spcAft>
              <a:buFont typeface="Wingdings" panose="05000000000000000000" pitchFamily="2" charset="2"/>
              <a:buChar char="ü"/>
              <a:defRPr/>
            </a:pPr>
            <a:r>
              <a:rPr lang="en-US" sz="2400" dirty="0"/>
              <a:t>URL: </a:t>
            </a:r>
            <a:r>
              <a:rPr lang="en-US" sz="2400" dirty="0">
                <a:hlinkClick r:id="rId6"/>
              </a:rPr>
              <a:t>http://grass.osgeo.org</a:t>
            </a:r>
            <a:endParaRPr lang="en-US" sz="2400" dirty="0"/>
          </a:p>
          <a:p>
            <a:pPr marL="822960">
              <a:spcAft>
                <a:spcPts val="600"/>
              </a:spcAft>
              <a:buFont typeface="Wingdings" panose="05000000000000000000" pitchFamily="2" charset="2"/>
              <a:buChar char="ü"/>
              <a:defRPr/>
            </a:pPr>
            <a:r>
              <a:rPr lang="en-US" sz="2400" dirty="0"/>
              <a:t>Field of Interest: GIS</a:t>
            </a:r>
          </a:p>
          <a:p>
            <a:pPr marL="822960">
              <a:spcAft>
                <a:spcPts val="600"/>
              </a:spcAft>
              <a:buFont typeface="Wingdings" panose="05000000000000000000" pitchFamily="2" charset="2"/>
              <a:buChar char="ü"/>
              <a:defRPr/>
            </a:pPr>
            <a:r>
              <a:rPr lang="en-US" sz="2400" dirty="0"/>
              <a:t>Main Features: Extensive set of GIS tools for both raster and </a:t>
            </a:r>
            <a:r>
              <a:rPr lang="en-US" sz="2400" dirty="0">
                <a:hlinkClick r:id="rId7" tooltip="Vector data (page does not exist)"/>
              </a:rPr>
              <a:t>vector data</a:t>
            </a:r>
            <a:r>
              <a:rPr lang="en-US" sz="2400" dirty="0"/>
              <a:t>, SQL, visualization, voxel </a:t>
            </a:r>
          </a:p>
          <a:p>
            <a:pPr marL="822960">
              <a:spcAft>
                <a:spcPts val="600"/>
              </a:spcAft>
              <a:buFont typeface="Wingdings" panose="05000000000000000000" pitchFamily="2" charset="2"/>
              <a:buChar char="ü"/>
              <a:defRPr/>
            </a:pPr>
            <a:r>
              <a:rPr lang="en-US" sz="2400" dirty="0"/>
              <a:t>Language: C, C++, Python, </a:t>
            </a:r>
            <a:r>
              <a:rPr lang="en-US" sz="2400" dirty="0" err="1"/>
              <a:t>Tcl</a:t>
            </a:r>
            <a:endParaRPr lang="en-US" sz="2400" dirty="0"/>
          </a:p>
          <a:p>
            <a:pPr marL="822960">
              <a:spcAft>
                <a:spcPts val="1200"/>
              </a:spcAft>
              <a:buFont typeface="Wingdings" panose="05000000000000000000" pitchFamily="2" charset="2"/>
              <a:buChar char="ü"/>
              <a:defRPr/>
            </a:pPr>
            <a:r>
              <a:rPr lang="en-US" sz="2400" dirty="0"/>
              <a:t>License: </a:t>
            </a:r>
            <a:r>
              <a:rPr lang="en-US" sz="2400" dirty="0">
                <a:hlinkClick r:id="rId8" tooltip="GNU General Public License"/>
              </a:rPr>
              <a:t>GPL</a:t>
            </a:r>
            <a:endParaRPr lang="en-US" sz="2400" dirty="0"/>
          </a:p>
          <a:p>
            <a:pPr>
              <a:spcAft>
                <a:spcPts val="1200"/>
              </a:spcAft>
              <a:defRPr/>
            </a:pPr>
            <a:endParaRPr lang="en-US"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fade">
                                      <p:cBhvr>
                                        <p:cTn id="7" dur="500"/>
                                        <p:tgtEl>
                                          <p:spTgt spid="460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6083">
                                            <p:txEl>
                                              <p:pRg st="1" end="1"/>
                                            </p:txEl>
                                          </p:spTgt>
                                        </p:tgtEl>
                                        <p:attrNameLst>
                                          <p:attrName>style.visibility</p:attrName>
                                        </p:attrNameLst>
                                      </p:cBhvr>
                                      <p:to>
                                        <p:strVal val="visible"/>
                                      </p:to>
                                    </p:set>
                                    <p:animEffect transition="in" filter="fade">
                                      <p:cBhvr>
                                        <p:cTn id="12" dur="500"/>
                                        <p:tgtEl>
                                          <p:spTgt spid="460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6083">
                                            <p:txEl>
                                              <p:pRg st="2" end="2"/>
                                            </p:txEl>
                                          </p:spTgt>
                                        </p:tgtEl>
                                        <p:attrNameLst>
                                          <p:attrName>style.visibility</p:attrName>
                                        </p:attrNameLst>
                                      </p:cBhvr>
                                      <p:to>
                                        <p:strVal val="visible"/>
                                      </p:to>
                                    </p:set>
                                    <p:animEffect transition="in" filter="fade">
                                      <p:cBhvr>
                                        <p:cTn id="17" dur="500"/>
                                        <p:tgtEl>
                                          <p:spTgt spid="460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6083">
                                            <p:txEl>
                                              <p:pRg st="3" end="3"/>
                                            </p:txEl>
                                          </p:spTgt>
                                        </p:tgtEl>
                                        <p:attrNameLst>
                                          <p:attrName>style.visibility</p:attrName>
                                        </p:attrNameLst>
                                      </p:cBhvr>
                                      <p:to>
                                        <p:strVal val="visible"/>
                                      </p:to>
                                    </p:set>
                                    <p:animEffect transition="in" filter="fade">
                                      <p:cBhvr>
                                        <p:cTn id="22" dur="500"/>
                                        <p:tgtEl>
                                          <p:spTgt spid="4608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6083">
                                            <p:txEl>
                                              <p:pRg st="4" end="4"/>
                                            </p:txEl>
                                          </p:spTgt>
                                        </p:tgtEl>
                                        <p:attrNameLst>
                                          <p:attrName>style.visibility</p:attrName>
                                        </p:attrNameLst>
                                      </p:cBhvr>
                                      <p:to>
                                        <p:strVal val="visible"/>
                                      </p:to>
                                    </p:set>
                                    <p:animEffect transition="in" filter="fade">
                                      <p:cBhvr>
                                        <p:cTn id="27" dur="500"/>
                                        <p:tgtEl>
                                          <p:spTgt spid="4608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6083">
                                            <p:txEl>
                                              <p:pRg st="5" end="5"/>
                                            </p:txEl>
                                          </p:spTgt>
                                        </p:tgtEl>
                                        <p:attrNameLst>
                                          <p:attrName>style.visibility</p:attrName>
                                        </p:attrNameLst>
                                      </p:cBhvr>
                                      <p:to>
                                        <p:strVal val="visible"/>
                                      </p:to>
                                    </p:set>
                                    <p:animEffect transition="in" filter="fade">
                                      <p:cBhvr>
                                        <p:cTn id="32" dur="500"/>
                                        <p:tgtEl>
                                          <p:spTgt spid="4608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6083">
                                            <p:txEl>
                                              <p:pRg st="6" end="6"/>
                                            </p:txEl>
                                          </p:spTgt>
                                        </p:tgtEl>
                                        <p:attrNameLst>
                                          <p:attrName>style.visibility</p:attrName>
                                        </p:attrNameLst>
                                      </p:cBhvr>
                                      <p:to>
                                        <p:strVal val="visible"/>
                                      </p:to>
                                    </p:set>
                                    <p:animEffect transition="in" filter="fade">
                                      <p:cBhvr>
                                        <p:cTn id="37" dur="500"/>
                                        <p:tgtEl>
                                          <p:spTgt spid="4608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6083">
                                            <p:txEl>
                                              <p:pRg st="7" end="7"/>
                                            </p:txEl>
                                          </p:spTgt>
                                        </p:tgtEl>
                                        <p:attrNameLst>
                                          <p:attrName>style.visibility</p:attrName>
                                        </p:attrNameLst>
                                      </p:cBhvr>
                                      <p:to>
                                        <p:strVal val="visible"/>
                                      </p:to>
                                    </p:set>
                                    <p:animEffect transition="in" filter="fade">
                                      <p:cBhvr>
                                        <p:cTn id="42" dur="500"/>
                                        <p:tgtEl>
                                          <p:spTgt spid="4608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6083">
                                            <p:txEl>
                                              <p:pRg st="8" end="8"/>
                                            </p:txEl>
                                          </p:spTgt>
                                        </p:tgtEl>
                                        <p:attrNameLst>
                                          <p:attrName>style.visibility</p:attrName>
                                        </p:attrNameLst>
                                      </p:cBhvr>
                                      <p:to>
                                        <p:strVal val="visible"/>
                                      </p:to>
                                    </p:set>
                                    <p:animEffect transition="in" filter="fade">
                                      <p:cBhvr>
                                        <p:cTn id="47" dur="500"/>
                                        <p:tgtEl>
                                          <p:spTgt spid="4608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524000" y="1"/>
            <a:ext cx="9144000" cy="981075"/>
          </a:xfrm>
        </p:spPr>
        <p:txBody>
          <a:bodyPr/>
          <a:lstStyle/>
          <a:p>
            <a:pPr>
              <a:defRPr/>
            </a:pPr>
            <a:r>
              <a:rPr lang="en-US" altLang="en-US" dirty="0" smtClean="0"/>
              <a:t>OSS for Spatial Analysis</a:t>
            </a:r>
            <a:endParaRPr lang="en-US" altLang="en-US" dirty="0"/>
          </a:p>
        </p:txBody>
      </p:sp>
      <p:sp>
        <p:nvSpPr>
          <p:cNvPr id="46083" name="Rectangle 3"/>
          <p:cNvSpPr>
            <a:spLocks noGrp="1" noChangeArrowheads="1"/>
          </p:cNvSpPr>
          <p:nvPr>
            <p:ph type="body" idx="1"/>
          </p:nvPr>
        </p:nvSpPr>
        <p:spPr>
          <a:xfrm>
            <a:off x="1811338" y="981076"/>
            <a:ext cx="8640762" cy="5688013"/>
          </a:xfrm>
        </p:spPr>
        <p:txBody>
          <a:bodyPr>
            <a:normAutofit lnSpcReduction="10000"/>
          </a:bodyPr>
          <a:lstStyle/>
          <a:p>
            <a:pPr>
              <a:spcAft>
                <a:spcPts val="1200"/>
              </a:spcAft>
              <a:defRPr/>
            </a:pPr>
            <a:r>
              <a:rPr lang="en-US" dirty="0"/>
              <a:t>R:</a:t>
            </a:r>
          </a:p>
          <a:p>
            <a:pPr marL="822960">
              <a:spcAft>
                <a:spcPts val="600"/>
              </a:spcAft>
              <a:buFont typeface="Wingdings" panose="05000000000000000000" pitchFamily="2" charset="2"/>
              <a:buChar char="ü"/>
              <a:defRPr/>
            </a:pPr>
            <a:r>
              <a:rPr lang="en-US" sz="2400" dirty="0"/>
              <a:t>Free: Yes</a:t>
            </a:r>
          </a:p>
          <a:p>
            <a:pPr marL="822960">
              <a:spcAft>
                <a:spcPts val="600"/>
              </a:spcAft>
              <a:buFont typeface="Wingdings" panose="05000000000000000000" pitchFamily="2" charset="2"/>
              <a:buChar char="ü"/>
              <a:defRPr/>
            </a:pPr>
            <a:r>
              <a:rPr lang="en-US" sz="2400" dirty="0"/>
              <a:t>OS: </a:t>
            </a:r>
            <a:r>
              <a:rPr lang="en-US" sz="2400" dirty="0">
                <a:hlinkClick r:id="rId3" tooltip="Linux"/>
              </a:rPr>
              <a:t>Linux</a:t>
            </a:r>
            <a:r>
              <a:rPr lang="en-US" sz="2400" dirty="0"/>
              <a:t>, </a:t>
            </a:r>
            <a:r>
              <a:rPr lang="en-US" sz="2400" dirty="0">
                <a:hlinkClick r:id="rId4" tooltip="MAC OS"/>
              </a:rPr>
              <a:t>MAC OS</a:t>
            </a:r>
            <a:r>
              <a:rPr lang="en-US" sz="2400" dirty="0"/>
              <a:t>, </a:t>
            </a:r>
            <a:r>
              <a:rPr lang="en-US" sz="2400" dirty="0">
                <a:hlinkClick r:id="rId5" tooltip="Microsoft Windows"/>
              </a:rPr>
              <a:t>Windows</a:t>
            </a:r>
            <a:r>
              <a:rPr lang="en-US" sz="2400" dirty="0"/>
              <a:t> </a:t>
            </a:r>
          </a:p>
          <a:p>
            <a:pPr marL="822960">
              <a:spcAft>
                <a:spcPts val="600"/>
              </a:spcAft>
              <a:buFont typeface="Wingdings" panose="05000000000000000000" pitchFamily="2" charset="2"/>
              <a:buChar char="ü"/>
              <a:defRPr/>
            </a:pPr>
            <a:r>
              <a:rPr lang="en-US" sz="2400" dirty="0"/>
              <a:t>Developer: </a:t>
            </a:r>
            <a:r>
              <a:rPr lang="en-US" sz="2400" dirty="0">
                <a:hlinkClick r:id="rId6" tooltip="Roger Bivand (page does not exist)"/>
              </a:rPr>
              <a:t>Roger </a:t>
            </a:r>
            <a:r>
              <a:rPr lang="en-US" sz="2400" dirty="0" err="1">
                <a:hlinkClick r:id="rId6" tooltip="Roger Bivand (page does not exist)"/>
              </a:rPr>
              <a:t>Bivand</a:t>
            </a:r>
            <a:r>
              <a:rPr lang="en-US" sz="2400" dirty="0"/>
              <a:t> (maintainer)</a:t>
            </a:r>
            <a:endParaRPr lang="en-US" sz="2400" u="sng" dirty="0"/>
          </a:p>
          <a:p>
            <a:pPr marL="822960">
              <a:spcAft>
                <a:spcPts val="600"/>
              </a:spcAft>
              <a:buFont typeface="Wingdings" panose="05000000000000000000" pitchFamily="2" charset="2"/>
              <a:buChar char="ü"/>
              <a:defRPr/>
            </a:pPr>
            <a:r>
              <a:rPr lang="en-US" sz="2400" dirty="0"/>
              <a:t>URL: </a:t>
            </a:r>
            <a:r>
              <a:rPr lang="en-US" sz="2400" dirty="0">
                <a:hlinkClick r:id="rId7"/>
              </a:rPr>
              <a:t>http://</a:t>
            </a:r>
            <a:r>
              <a:rPr lang="en-US" sz="2400" dirty="0"/>
              <a:t>cran.r-project.org</a:t>
            </a:r>
          </a:p>
          <a:p>
            <a:pPr marL="822960">
              <a:spcAft>
                <a:spcPts val="600"/>
              </a:spcAft>
              <a:buFont typeface="Wingdings" panose="05000000000000000000" pitchFamily="2" charset="2"/>
              <a:buChar char="ü"/>
              <a:defRPr/>
            </a:pPr>
            <a:r>
              <a:rPr lang="en-US" sz="2400" dirty="0"/>
              <a:t>Field of Interest: Analysis</a:t>
            </a:r>
          </a:p>
          <a:p>
            <a:pPr marL="822960">
              <a:spcAft>
                <a:spcPts val="600"/>
              </a:spcAft>
              <a:buFont typeface="Wingdings" panose="05000000000000000000" pitchFamily="2" charset="2"/>
              <a:buChar char="ü"/>
              <a:defRPr/>
            </a:pPr>
            <a:r>
              <a:rPr lang="en-US" sz="2400" dirty="0"/>
              <a:t>Main Features: classes for spatial data; handling spatial data; reading and writing spatial data; </a:t>
            </a:r>
            <a:r>
              <a:rPr lang="en-US" sz="2400" dirty="0">
                <a:hlinkClick r:id="rId8" tooltip="Point pattern (page does not exist)"/>
              </a:rPr>
              <a:t>point pattern</a:t>
            </a:r>
            <a:r>
              <a:rPr lang="en-US" sz="2400" dirty="0"/>
              <a:t> analysis; </a:t>
            </a:r>
            <a:r>
              <a:rPr lang="en-US" sz="2400" dirty="0" err="1">
                <a:hlinkClick r:id="rId9" tooltip="Geostatistics"/>
              </a:rPr>
              <a:t>geostatistics</a:t>
            </a:r>
            <a:r>
              <a:rPr lang="en-US" sz="2400" dirty="0"/>
              <a:t>; </a:t>
            </a:r>
            <a:r>
              <a:rPr lang="en-US" sz="2400" dirty="0">
                <a:hlinkClick r:id="rId10" tooltip="Disease"/>
              </a:rPr>
              <a:t>disease</a:t>
            </a:r>
            <a:r>
              <a:rPr lang="en-US" sz="2400" dirty="0"/>
              <a:t> mapping and areal data analysis; spatial regression and </a:t>
            </a:r>
            <a:r>
              <a:rPr lang="en-US" sz="2400" dirty="0">
                <a:hlinkClick r:id="rId11" tooltip="Ecology"/>
              </a:rPr>
              <a:t>ecological</a:t>
            </a:r>
            <a:r>
              <a:rPr lang="en-US" sz="2400" dirty="0"/>
              <a:t> analysis </a:t>
            </a:r>
          </a:p>
          <a:p>
            <a:pPr marL="822960">
              <a:spcAft>
                <a:spcPts val="600"/>
              </a:spcAft>
              <a:buFont typeface="Wingdings" panose="05000000000000000000" pitchFamily="2" charset="2"/>
              <a:buChar char="ü"/>
              <a:defRPr/>
            </a:pPr>
            <a:r>
              <a:rPr lang="en-US" sz="2400" dirty="0"/>
              <a:t>Language: R</a:t>
            </a:r>
          </a:p>
          <a:p>
            <a:pPr marL="822960">
              <a:spcAft>
                <a:spcPts val="1200"/>
              </a:spcAft>
              <a:buFont typeface="Wingdings" panose="05000000000000000000" pitchFamily="2" charset="2"/>
              <a:buChar char="ü"/>
              <a:defRPr/>
            </a:pPr>
            <a:r>
              <a:rPr lang="en-US" sz="2400" dirty="0"/>
              <a:t>License: </a:t>
            </a:r>
            <a:r>
              <a:rPr lang="en-US" sz="2400" dirty="0">
                <a:hlinkClick r:id="rId12" tooltip="GNU General Public License"/>
              </a:rPr>
              <a:t>GPL</a:t>
            </a:r>
            <a:r>
              <a:rPr lang="en-US" sz="2400" dirty="0"/>
              <a:t>-2</a:t>
            </a:r>
          </a:p>
          <a:p>
            <a:pPr>
              <a:spcAft>
                <a:spcPts val="1200"/>
              </a:spcAft>
              <a:defRPr/>
            </a:pPr>
            <a:endParaRPr lang="en-US"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fade">
                                      <p:cBhvr>
                                        <p:cTn id="7" dur="500"/>
                                        <p:tgtEl>
                                          <p:spTgt spid="460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6083">
                                            <p:txEl>
                                              <p:pRg st="1" end="1"/>
                                            </p:txEl>
                                          </p:spTgt>
                                        </p:tgtEl>
                                        <p:attrNameLst>
                                          <p:attrName>style.visibility</p:attrName>
                                        </p:attrNameLst>
                                      </p:cBhvr>
                                      <p:to>
                                        <p:strVal val="visible"/>
                                      </p:to>
                                    </p:set>
                                    <p:animEffect transition="in" filter="fade">
                                      <p:cBhvr>
                                        <p:cTn id="12" dur="500"/>
                                        <p:tgtEl>
                                          <p:spTgt spid="460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6083">
                                            <p:txEl>
                                              <p:pRg st="2" end="2"/>
                                            </p:txEl>
                                          </p:spTgt>
                                        </p:tgtEl>
                                        <p:attrNameLst>
                                          <p:attrName>style.visibility</p:attrName>
                                        </p:attrNameLst>
                                      </p:cBhvr>
                                      <p:to>
                                        <p:strVal val="visible"/>
                                      </p:to>
                                    </p:set>
                                    <p:animEffect transition="in" filter="fade">
                                      <p:cBhvr>
                                        <p:cTn id="17" dur="500"/>
                                        <p:tgtEl>
                                          <p:spTgt spid="460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6083">
                                            <p:txEl>
                                              <p:pRg st="3" end="3"/>
                                            </p:txEl>
                                          </p:spTgt>
                                        </p:tgtEl>
                                        <p:attrNameLst>
                                          <p:attrName>style.visibility</p:attrName>
                                        </p:attrNameLst>
                                      </p:cBhvr>
                                      <p:to>
                                        <p:strVal val="visible"/>
                                      </p:to>
                                    </p:set>
                                    <p:animEffect transition="in" filter="fade">
                                      <p:cBhvr>
                                        <p:cTn id="22" dur="500"/>
                                        <p:tgtEl>
                                          <p:spTgt spid="4608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6083">
                                            <p:txEl>
                                              <p:pRg st="4" end="4"/>
                                            </p:txEl>
                                          </p:spTgt>
                                        </p:tgtEl>
                                        <p:attrNameLst>
                                          <p:attrName>style.visibility</p:attrName>
                                        </p:attrNameLst>
                                      </p:cBhvr>
                                      <p:to>
                                        <p:strVal val="visible"/>
                                      </p:to>
                                    </p:set>
                                    <p:animEffect transition="in" filter="fade">
                                      <p:cBhvr>
                                        <p:cTn id="27" dur="500"/>
                                        <p:tgtEl>
                                          <p:spTgt spid="4608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6083">
                                            <p:txEl>
                                              <p:pRg st="5" end="5"/>
                                            </p:txEl>
                                          </p:spTgt>
                                        </p:tgtEl>
                                        <p:attrNameLst>
                                          <p:attrName>style.visibility</p:attrName>
                                        </p:attrNameLst>
                                      </p:cBhvr>
                                      <p:to>
                                        <p:strVal val="visible"/>
                                      </p:to>
                                    </p:set>
                                    <p:animEffect transition="in" filter="fade">
                                      <p:cBhvr>
                                        <p:cTn id="32" dur="500"/>
                                        <p:tgtEl>
                                          <p:spTgt spid="4608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6083">
                                            <p:txEl>
                                              <p:pRg st="6" end="6"/>
                                            </p:txEl>
                                          </p:spTgt>
                                        </p:tgtEl>
                                        <p:attrNameLst>
                                          <p:attrName>style.visibility</p:attrName>
                                        </p:attrNameLst>
                                      </p:cBhvr>
                                      <p:to>
                                        <p:strVal val="visible"/>
                                      </p:to>
                                    </p:set>
                                    <p:animEffect transition="in" filter="fade">
                                      <p:cBhvr>
                                        <p:cTn id="37" dur="500"/>
                                        <p:tgtEl>
                                          <p:spTgt spid="4608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6083">
                                            <p:txEl>
                                              <p:pRg st="7" end="7"/>
                                            </p:txEl>
                                          </p:spTgt>
                                        </p:tgtEl>
                                        <p:attrNameLst>
                                          <p:attrName>style.visibility</p:attrName>
                                        </p:attrNameLst>
                                      </p:cBhvr>
                                      <p:to>
                                        <p:strVal val="visible"/>
                                      </p:to>
                                    </p:set>
                                    <p:animEffect transition="in" filter="fade">
                                      <p:cBhvr>
                                        <p:cTn id="42" dur="500"/>
                                        <p:tgtEl>
                                          <p:spTgt spid="4608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6083">
                                            <p:txEl>
                                              <p:pRg st="8" end="8"/>
                                            </p:txEl>
                                          </p:spTgt>
                                        </p:tgtEl>
                                        <p:attrNameLst>
                                          <p:attrName>style.visibility</p:attrName>
                                        </p:attrNameLst>
                                      </p:cBhvr>
                                      <p:to>
                                        <p:strVal val="visible"/>
                                      </p:to>
                                    </p:set>
                                    <p:animEffect transition="in" filter="fade">
                                      <p:cBhvr>
                                        <p:cTn id="47" dur="500"/>
                                        <p:tgtEl>
                                          <p:spTgt spid="4608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p:cNvSpPr>
            <a:spLocks noGrp="1" noChangeArrowheads="1"/>
          </p:cNvSpPr>
          <p:nvPr>
            <p:ph type="title"/>
          </p:nvPr>
        </p:nvSpPr>
        <p:spPr>
          <a:xfrm>
            <a:off x="1897063" y="17464"/>
            <a:ext cx="8229600" cy="1139825"/>
          </a:xfrm>
        </p:spPr>
        <p:txBody>
          <a:bodyPr/>
          <a:lstStyle/>
          <a:p>
            <a:pPr eaLnBrk="1" hangingPunct="1">
              <a:defRPr/>
            </a:pPr>
            <a:r>
              <a:rPr lang="en-US" dirty="0" smtClean="0"/>
              <a:t>Assignment - 4</a:t>
            </a:r>
          </a:p>
        </p:txBody>
      </p:sp>
      <p:sp>
        <p:nvSpPr>
          <p:cNvPr id="83971" name="Rectangle 3"/>
          <p:cNvSpPr>
            <a:spLocks noGrp="1" noChangeArrowheads="1"/>
          </p:cNvSpPr>
          <p:nvPr>
            <p:ph type="body" idx="1"/>
          </p:nvPr>
        </p:nvSpPr>
        <p:spPr>
          <a:xfrm>
            <a:off x="2027239" y="1162050"/>
            <a:ext cx="8353425" cy="5329238"/>
          </a:xfrm>
        </p:spPr>
        <p:txBody>
          <a:bodyPr/>
          <a:lstStyle/>
          <a:p>
            <a:pPr marL="822960">
              <a:buFont typeface="Wingdings" panose="05000000000000000000" pitchFamily="2" charset="2"/>
              <a:buChar char="q"/>
              <a:defRPr/>
            </a:pPr>
            <a:r>
              <a:rPr lang="en-US" sz="3600" dirty="0"/>
              <a:t>Write answers to all the old questions (at least of 2 years).</a:t>
            </a:r>
          </a:p>
          <a:p>
            <a:pPr marL="480060" indent="0">
              <a:buNone/>
              <a:defRPr/>
            </a:pPr>
            <a:endParaRPr lang="en-US" sz="3600" dirty="0"/>
          </a:p>
          <a:p>
            <a:pPr marL="822960">
              <a:buFont typeface="Wingdings" panose="05000000000000000000" pitchFamily="2" charset="2"/>
              <a:buChar char="q"/>
              <a:defRPr/>
            </a:pPr>
            <a:r>
              <a:rPr lang="en-US" sz="3600" dirty="0"/>
              <a:t>Must be hand-written not digital copy.</a:t>
            </a:r>
          </a:p>
          <a:p>
            <a:pPr marL="480060" indent="0">
              <a:buNone/>
              <a:defRPr/>
            </a:pPr>
            <a:endParaRPr lang="en-US" sz="3600" dirty="0"/>
          </a:p>
          <a:p>
            <a:pPr marL="822960">
              <a:buFont typeface="Wingdings" panose="05000000000000000000" pitchFamily="2" charset="2"/>
              <a:buChar char="q"/>
              <a:defRPr/>
            </a:pPr>
            <a:r>
              <a:rPr lang="en-US" sz="3600" dirty="0"/>
              <a:t>Write a page about FOSS GIS</a:t>
            </a: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2347</Words>
  <Application>Microsoft Office PowerPoint</Application>
  <PresentationFormat>Widescreen</PresentationFormat>
  <Paragraphs>405</Paragraphs>
  <Slides>37</Slides>
  <Notes>21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37</vt:i4>
      </vt:variant>
    </vt:vector>
  </HeadingPairs>
  <TitlesOfParts>
    <vt:vector size="49" baseType="lpstr">
      <vt:lpstr>Arial</vt:lpstr>
      <vt:lpstr>Bodoni MT</vt:lpstr>
      <vt:lpstr>Calibri</vt:lpstr>
      <vt:lpstr>Calibri Light</vt:lpstr>
      <vt:lpstr>Comic Sans MS</vt:lpstr>
      <vt:lpstr>Garamond</vt:lpstr>
      <vt:lpstr>Helvetica</vt:lpstr>
      <vt:lpstr>Tahoma</vt:lpstr>
      <vt:lpstr>Times New Roman</vt:lpstr>
      <vt:lpstr>Verdana</vt:lpstr>
      <vt:lpstr>Wingdings</vt:lpstr>
      <vt:lpstr>Office Theme</vt:lpstr>
      <vt:lpstr>Open GIS   Chapter - 7</vt:lpstr>
      <vt:lpstr>Outlines</vt:lpstr>
      <vt:lpstr>FREE* GIS</vt:lpstr>
      <vt:lpstr>PowerPoint Presentation</vt:lpstr>
      <vt:lpstr>What is Open GIS?</vt:lpstr>
      <vt:lpstr>What is Open GIS?</vt:lpstr>
      <vt:lpstr>What is Open GIS?</vt:lpstr>
      <vt:lpstr>Open GIS Requirements</vt:lpstr>
      <vt:lpstr>Why Use Open Source GIS?</vt:lpstr>
      <vt:lpstr>Why Use Open Source GIS?</vt:lpstr>
      <vt:lpstr>Why Use Open Source GIS?</vt:lpstr>
      <vt:lpstr>Open Source Dev. Model </vt:lpstr>
      <vt:lpstr>Open Source GIS Domain</vt:lpstr>
      <vt:lpstr>Why Teach Open Source GIS?</vt:lpstr>
      <vt:lpstr>Open GIS Consortium</vt:lpstr>
      <vt:lpstr>Open GIS Consortium</vt:lpstr>
      <vt:lpstr> OGC Specs: Year of First Approval</vt:lpstr>
      <vt:lpstr>OGC Standard</vt:lpstr>
      <vt:lpstr>Cont. OGC Standard</vt:lpstr>
      <vt:lpstr>PowerPoint Presentation</vt:lpstr>
      <vt:lpstr>Who benefits from Open GIS</vt:lpstr>
      <vt:lpstr>What is Web GIS?</vt:lpstr>
      <vt:lpstr> </vt:lpstr>
      <vt:lpstr>Web GIS</vt:lpstr>
      <vt:lpstr>Objectives</vt:lpstr>
      <vt:lpstr>Current Status</vt:lpstr>
      <vt:lpstr>Why so low?</vt:lpstr>
      <vt:lpstr>PowerPoint Presentation</vt:lpstr>
      <vt:lpstr>Opportunity in Web-based Mapping</vt:lpstr>
      <vt:lpstr>PowerPoint Presentation</vt:lpstr>
      <vt:lpstr>PowerPoint Presentation</vt:lpstr>
      <vt:lpstr>OSS for Spatial Analysis</vt:lpstr>
      <vt:lpstr>OSS for Spatial Analysis</vt:lpstr>
      <vt:lpstr>OSS for Spatial Analysis</vt:lpstr>
      <vt:lpstr>OSS for Spatial Analysis</vt:lpstr>
      <vt:lpstr>OSS for Spatial Analysis</vt:lpstr>
      <vt:lpstr>Assignment - 4</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 GIS   Chapter - 7</dc:title>
  <dc:creator>Puranjan</dc:creator>
  <cp:lastModifiedBy>Puranjan</cp:lastModifiedBy>
  <cp:revision>1</cp:revision>
  <dcterms:created xsi:type="dcterms:W3CDTF">2017-01-29T16:02:44Z</dcterms:created>
  <dcterms:modified xsi:type="dcterms:W3CDTF">2017-01-29T16:03:01Z</dcterms:modified>
</cp:coreProperties>
</file>