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11979-9701-4345-BB4A-55160680B396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817AD-72DF-42AA-BEA4-12D6006C4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4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E47B2031-5868-4C5D-89F5-A2B1BF06233D}" type="slidenum">
              <a:rPr lang="en-US" altLang="en-US" smtClean="0">
                <a:latin typeface="Arial" panose="020B0604020202020204" pitchFamily="34" charset="0"/>
              </a:rPr>
              <a:pPr/>
              <a:t>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882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76BA968-1E6F-4EED-9B6C-E939C87F25C9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 w="12700" cap="flat">
            <a:solidFill>
              <a:schemeClr val="tx1"/>
            </a:solidFill>
          </a:ln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</a:pPr>
            <a:endParaRPr lang="ru-RU" altLang="en-US" sz="24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410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C5E7C28-D72A-4011-A32C-3D1AF6A79E99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 w="12700" cap="flat">
            <a:solidFill>
              <a:schemeClr val="tx1"/>
            </a:solidFill>
          </a:ln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</a:pPr>
            <a:endParaRPr lang="ru-RU" altLang="en-US" sz="24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570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82270-877A-42D7-BABC-EE271C5CEFAA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0D45-FA88-46EA-977C-7304006F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03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82270-877A-42D7-BABC-EE271C5CEFAA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0D45-FA88-46EA-977C-7304006F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63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82270-877A-42D7-BABC-EE271C5CEFAA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0D45-FA88-46EA-977C-7304006F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31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82270-877A-42D7-BABC-EE271C5CEFAA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0D45-FA88-46EA-977C-7304006F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43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82270-877A-42D7-BABC-EE271C5CEFAA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0D45-FA88-46EA-977C-7304006F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72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82270-877A-42D7-BABC-EE271C5CEFAA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0D45-FA88-46EA-977C-7304006F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61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82270-877A-42D7-BABC-EE271C5CEFAA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0D45-FA88-46EA-977C-7304006F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77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82270-877A-42D7-BABC-EE271C5CEFAA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0D45-FA88-46EA-977C-7304006F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2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82270-877A-42D7-BABC-EE271C5CEFAA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0D45-FA88-46EA-977C-7304006F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48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82270-877A-42D7-BABC-EE271C5CEFAA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0D45-FA88-46EA-977C-7304006F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6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82270-877A-42D7-BABC-EE271C5CEFAA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50D45-FA88-46EA-977C-7304006F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3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82270-877A-42D7-BABC-EE271C5CEFAA}" type="datetimeFigureOut">
              <a:rPr lang="en-US" smtClean="0"/>
              <a:t>1/29/2017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50D45-FA88-46EA-977C-7304006F8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9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59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ctrTitle"/>
          </p:nvPr>
        </p:nvSpPr>
        <p:spPr>
          <a:xfrm>
            <a:off x="1524000" y="2133600"/>
            <a:ext cx="9144000" cy="25908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5400" dirty="0"/>
              <a:t>Spatial Analysis </a:t>
            </a:r>
            <a:br>
              <a:rPr lang="en-US" sz="5400" dirty="0"/>
            </a:br>
            <a:r>
              <a:rPr lang="en-US" sz="5400" dirty="0"/>
              <a:t>and </a:t>
            </a:r>
            <a:br>
              <a:rPr lang="en-US" sz="5400" dirty="0"/>
            </a:br>
            <a:r>
              <a:rPr lang="en-US" sz="5400" dirty="0"/>
              <a:t>Visualization</a:t>
            </a:r>
            <a:r>
              <a:rPr lang="en-US" altLang="en-US" sz="3600" dirty="0"/>
              <a:t/>
            </a:r>
            <a:br>
              <a:rPr lang="en-US" altLang="en-US" sz="3600" dirty="0"/>
            </a:br>
            <a:r>
              <a:rPr lang="en-US" altLang="en-US" sz="3600" dirty="0"/>
              <a:t/>
            </a:r>
            <a:br>
              <a:rPr lang="en-US" altLang="en-US" sz="3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3600" dirty="0"/>
              <a:t>Chapter - 5</a:t>
            </a:r>
            <a:endParaRPr lang="en-US" altLang="en-US" sz="3600" i="1" dirty="0"/>
          </a:p>
        </p:txBody>
      </p:sp>
      <p:sp>
        <p:nvSpPr>
          <p:cNvPr id="5123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2782888" y="5013326"/>
            <a:ext cx="6800850" cy="1844675"/>
          </a:xfrm>
        </p:spPr>
        <p:txBody>
          <a:bodyPr/>
          <a:lstStyle/>
          <a:p>
            <a:pPr eaLnBrk="1" hangingPunct="1"/>
            <a:r>
              <a:rPr lang="en-US" altLang="en-US" sz="3200" b="1"/>
              <a:t>Ajaya Mishra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3200"/>
              <a:t>Sunday, December 13, 2015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25425"/>
            <a:ext cx="9144000" cy="1258888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/>
              <a:t>Outlines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093914" y="1700214"/>
            <a:ext cx="8002587" cy="489743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defRPr/>
            </a:pPr>
            <a:r>
              <a:rPr lang="en-US" altLang="en-US" dirty="0" smtClean="0"/>
              <a:t>Spatial Analysis</a:t>
            </a:r>
          </a:p>
          <a:p>
            <a:pPr marL="937260" indent="-45720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en-US" dirty="0" smtClean="0"/>
              <a:t>Overlay</a:t>
            </a:r>
          </a:p>
          <a:p>
            <a:pPr marL="937260" indent="-45720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en-US" dirty="0" smtClean="0"/>
              <a:t>Buffering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defRPr/>
            </a:pPr>
            <a:r>
              <a:rPr lang="en-US" altLang="en-US" dirty="0" smtClean="0"/>
              <a:t>Map outputs &amp; Basic Elements</a:t>
            </a:r>
            <a:endParaRPr lang="en-US" altLang="en-US" dirty="0" smtClean="0">
              <a:cs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233488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Spatial Analysis</a:t>
            </a:r>
            <a:endParaRPr lang="en-US" altLang="en-US" dirty="0"/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1" y="1449389"/>
            <a:ext cx="8532813" cy="4897437"/>
          </a:xfrm>
        </p:spPr>
        <p:txBody>
          <a:bodyPr/>
          <a:lstStyle/>
          <a:p>
            <a:pPr>
              <a:spcAft>
                <a:spcPts val="1800"/>
              </a:spcAft>
              <a:defRPr/>
            </a:pPr>
            <a:r>
              <a:rPr lang="en-US" dirty="0"/>
              <a:t>Spatial Data:</a:t>
            </a:r>
          </a:p>
          <a:p>
            <a:pPr marL="754380" indent="-457200">
              <a:spcAft>
                <a:spcPts val="18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/>
              <a:t>it is the data or information that identifies the geographic location of features and boundaries on Earth , such as natural or constructed features, oceans , and more.</a:t>
            </a:r>
          </a:p>
          <a:p>
            <a:pPr marL="754380" indent="-457200">
              <a:spcAft>
                <a:spcPts val="18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/>
              <a:t>Spatial data is usually stored as coordinate and topology, and is data that can be mapped.</a:t>
            </a:r>
          </a:p>
          <a:p>
            <a:pPr marL="754380" indent="-457200">
              <a:spcAft>
                <a:spcPts val="180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/>
              <a:t>Spatial analysis is the process by which we turn raw data into useful information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0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ubtitle 2"/>
          <p:cNvSpPr>
            <a:spLocks noGrp="1"/>
          </p:cNvSpPr>
          <p:nvPr>
            <p:ph type="subTitle" idx="1"/>
          </p:nvPr>
        </p:nvSpPr>
        <p:spPr>
          <a:xfrm>
            <a:off x="1600200" y="1089026"/>
            <a:ext cx="8991600" cy="5768975"/>
          </a:xfrm>
        </p:spPr>
        <p:txBody>
          <a:bodyPr/>
          <a:lstStyle/>
          <a:p>
            <a:pPr algn="l"/>
            <a:endParaRPr lang="en-US" altLang="en-US" sz="2800"/>
          </a:p>
          <a:p>
            <a:pPr algn="l"/>
            <a:endParaRPr lang="en-US" altLang="en-US" sz="2800"/>
          </a:p>
          <a:p>
            <a:pPr algn="l"/>
            <a:r>
              <a:rPr lang="en-US" altLang="en-US" b="1" i="1" smtClean="0"/>
              <a:t> </a:t>
            </a:r>
          </a:p>
          <a:p>
            <a:pPr algn="l"/>
            <a:endParaRPr lang="en-US" altLang="en-US" smtClean="0"/>
          </a:p>
          <a:p>
            <a:pPr algn="l"/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2" name="Rounded Rectangle 1"/>
          <p:cNvSpPr/>
          <p:nvPr/>
        </p:nvSpPr>
        <p:spPr>
          <a:xfrm>
            <a:off x="2971800" y="1295400"/>
            <a:ext cx="6477000" cy="1752600"/>
          </a:xfrm>
          <a:prstGeom prst="roundRect">
            <a:avLst/>
          </a:prstGeom>
          <a:solidFill>
            <a:srgbClr val="A51F82"/>
          </a:solidFill>
          <a:ln>
            <a:solidFill>
              <a:srgbClr val="A51F82"/>
            </a:solidFill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In GIS, there are 2 basic spatial data types </a:t>
            </a:r>
          </a:p>
          <a:p>
            <a:pPr algn="ctr"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2347913" y="3962400"/>
            <a:ext cx="2819400" cy="2667000"/>
          </a:xfrm>
          <a:prstGeom prst="ellipse">
            <a:avLst/>
          </a:prstGeom>
          <a:solidFill>
            <a:srgbClr val="FBFF43"/>
          </a:solidFill>
          <a:ln>
            <a:solidFill>
              <a:srgbClr val="FBFF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>
                <a:solidFill>
                  <a:schemeClr val="accent4">
                    <a:lumMod val="50000"/>
                  </a:schemeClr>
                </a:solidFill>
              </a:rPr>
              <a:t>Raster</a:t>
            </a:r>
          </a:p>
        </p:txBody>
      </p:sp>
      <p:sp>
        <p:nvSpPr>
          <p:cNvPr id="5" name="Oval 4"/>
          <p:cNvSpPr/>
          <p:nvPr/>
        </p:nvSpPr>
        <p:spPr>
          <a:xfrm>
            <a:off x="7262813" y="3905250"/>
            <a:ext cx="2819400" cy="2667000"/>
          </a:xfrm>
          <a:prstGeom prst="ellipse">
            <a:avLst/>
          </a:prstGeom>
          <a:solidFill>
            <a:srgbClr val="FBFF43"/>
          </a:solidFill>
          <a:ln>
            <a:solidFill>
              <a:srgbClr val="FBFF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>
                <a:solidFill>
                  <a:schemeClr val="accent4">
                    <a:lumMod val="50000"/>
                  </a:schemeClr>
                </a:solidFill>
              </a:rPr>
              <a:t>Vector</a:t>
            </a:r>
          </a:p>
        </p:txBody>
      </p:sp>
      <p:sp>
        <p:nvSpPr>
          <p:cNvPr id="6" name="Down Arrow 5"/>
          <p:cNvSpPr/>
          <p:nvPr/>
        </p:nvSpPr>
        <p:spPr>
          <a:xfrm>
            <a:off x="3398838" y="3124200"/>
            <a:ext cx="715962" cy="838200"/>
          </a:xfrm>
          <a:prstGeom prst="downArrow">
            <a:avLst/>
          </a:prstGeom>
          <a:solidFill>
            <a:srgbClr val="47FF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8313738" y="3048000"/>
            <a:ext cx="715962" cy="838200"/>
          </a:xfrm>
          <a:prstGeom prst="downArrow">
            <a:avLst/>
          </a:prstGeom>
          <a:solidFill>
            <a:srgbClr val="47FF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524000" y="1"/>
            <a:ext cx="9144000" cy="101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  <a:cs typeface="Arial" charset="0"/>
              </a:defRPr>
            </a:lvl9pPr>
          </a:lstStyle>
          <a:p>
            <a:pPr>
              <a:defRPr/>
            </a:pPr>
            <a:r>
              <a:rPr lang="en-US" kern="0"/>
              <a:t>Spatial Analysis</a:t>
            </a:r>
            <a:endParaRPr lang="en-US" altLang="en-US" kern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60350"/>
            <a:ext cx="91440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Spatial Analysis: What is it?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992313" y="1403350"/>
            <a:ext cx="8172450" cy="4114800"/>
          </a:xfrm>
        </p:spPr>
        <p:txBody>
          <a:bodyPr/>
          <a:lstStyle/>
          <a:p>
            <a:pPr marL="273050">
              <a:spcAft>
                <a:spcPts val="1800"/>
              </a:spcAft>
            </a:pPr>
            <a:r>
              <a:rPr lang="en-US" altLang="en-US"/>
              <a:t>“…the purpose of geographic inquiry is to examine relationships between geographic features collectively and to use the relationships to describe the real-world phenomena that map features represent.” (Clarke 2001, 182).</a:t>
            </a:r>
          </a:p>
          <a:p>
            <a:pPr marL="273050">
              <a:spcAft>
                <a:spcPts val="1800"/>
              </a:spcAft>
            </a:pPr>
            <a:r>
              <a:rPr lang="en-US" altLang="en-US"/>
              <a:t>One Definition: the quantitative procedures employed in the study of the spatial arrangement of features (points, lines, polygons and surfaces)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2701"/>
            <a:ext cx="9144000" cy="11398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Spatial Analysis: What is it?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847851" y="1152525"/>
            <a:ext cx="8640763" cy="4978400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b="0" smtClean="0"/>
              <a:t>What types of relationships exist between geographic features, and how do we express them?</a:t>
            </a:r>
          </a:p>
          <a:p>
            <a:pPr>
              <a:spcAft>
                <a:spcPts val="1800"/>
              </a:spcAft>
            </a:pPr>
            <a:r>
              <a:rPr lang="en-US" altLang="en-US" b="0" smtClean="0"/>
              <a:t>Process for looking at geographic patterns in your data and relationships between features.</a:t>
            </a:r>
          </a:p>
          <a:p>
            <a:pPr>
              <a:spcAft>
                <a:spcPts val="1800"/>
              </a:spcAft>
            </a:pPr>
            <a:r>
              <a:rPr lang="en-US" altLang="en-US" b="0" smtClean="0"/>
              <a:t>Helps in better decision making affecting people, budgeting money and resources.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2701"/>
            <a:ext cx="9144000" cy="11398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Spatial Analysis: What is it?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774825" y="1341438"/>
            <a:ext cx="8642350" cy="4976812"/>
          </a:xfrm>
        </p:spPr>
        <p:txBody>
          <a:bodyPr/>
          <a:lstStyle/>
          <a:p>
            <a:pPr>
              <a:spcAft>
                <a:spcPts val="1200"/>
              </a:spcAft>
              <a:defRPr/>
            </a:pPr>
            <a:r>
              <a:rPr lang="en-US" dirty="0"/>
              <a:t>Spatial analysis can be:</a:t>
            </a:r>
          </a:p>
          <a:p>
            <a:pPr marL="82296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i="1" dirty="0"/>
              <a:t>Inductive</a:t>
            </a:r>
            <a:r>
              <a:rPr lang="en-US" sz="2400" dirty="0"/>
              <a:t>: to examine empirical evidence in the search for patterns that might support new theories or general principles, in this case with regard to disease causation.</a:t>
            </a:r>
          </a:p>
          <a:p>
            <a:pPr marL="82296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i="1" dirty="0"/>
              <a:t>Deductive</a:t>
            </a:r>
            <a:r>
              <a:rPr lang="en-US" sz="2400" dirty="0"/>
              <a:t>: focusing on the testing of known theories or principles against data.</a:t>
            </a:r>
          </a:p>
          <a:p>
            <a:pPr marL="82296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i="1" dirty="0"/>
              <a:t>Normative:</a:t>
            </a:r>
            <a:r>
              <a:rPr lang="en-US" sz="2400" dirty="0"/>
              <a:t> using spatial analysis to develop or prescribe new or better designs.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8913"/>
            <a:ext cx="9144000" cy="762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Spatial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spcAft>
                <a:spcPts val="1200"/>
              </a:spcAft>
              <a:defRPr/>
            </a:pPr>
            <a:r>
              <a:rPr lang="en-US" dirty="0"/>
              <a:t>Spatial query</a:t>
            </a:r>
          </a:p>
          <a:p>
            <a:pPr marL="82296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Where is Bernhardt College?</a:t>
            </a:r>
          </a:p>
          <a:p>
            <a:pPr marL="82296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Show the BSC CSIT 8th semester classroom.</a:t>
            </a:r>
          </a:p>
          <a:p>
            <a:pPr marL="82296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Select the best classroom.</a:t>
            </a:r>
          </a:p>
          <a:p>
            <a:pPr>
              <a:spcAft>
                <a:spcPts val="1200"/>
              </a:spcAft>
              <a:defRPr/>
            </a:pPr>
            <a:r>
              <a:rPr lang="en-US" dirty="0"/>
              <a:t>Spatial Analysis</a:t>
            </a:r>
          </a:p>
          <a:p>
            <a:pPr marL="82296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Where should one locate another branch of Bernhardt College?</a:t>
            </a:r>
          </a:p>
          <a:p>
            <a:pPr marL="82296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How many students are passed out?</a:t>
            </a:r>
          </a:p>
          <a:p>
            <a:pPr marL="82296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Identify some classrooms for best class.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Spatial Analysis: Application Areas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1"/>
            <a:ext cx="8229600" cy="498792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b="0" smtClean="0"/>
              <a:t>Environmental Analysis</a:t>
            </a:r>
          </a:p>
          <a:p>
            <a:pPr>
              <a:spcAft>
                <a:spcPts val="1200"/>
              </a:spcAft>
            </a:pPr>
            <a:r>
              <a:rPr lang="en-US" altLang="en-US" b="0" smtClean="0"/>
              <a:t>Social Analysis</a:t>
            </a:r>
          </a:p>
          <a:p>
            <a:pPr>
              <a:spcAft>
                <a:spcPts val="1200"/>
              </a:spcAft>
            </a:pPr>
            <a:r>
              <a:rPr lang="en-US" altLang="en-US" b="0" smtClean="0"/>
              <a:t>Hydrological Analysis</a:t>
            </a:r>
          </a:p>
          <a:p>
            <a:pPr>
              <a:spcAft>
                <a:spcPts val="1200"/>
              </a:spcAft>
            </a:pPr>
            <a:r>
              <a:rPr lang="en-US" altLang="en-US" b="0" smtClean="0"/>
              <a:t>Agriculture Analysis</a:t>
            </a:r>
          </a:p>
          <a:p>
            <a:pPr>
              <a:spcAft>
                <a:spcPts val="1200"/>
              </a:spcAft>
            </a:pPr>
            <a:r>
              <a:rPr lang="en-US" altLang="en-US" b="0" smtClean="0"/>
              <a:t>Forestry Analysis</a:t>
            </a:r>
          </a:p>
          <a:p>
            <a:pPr>
              <a:spcAft>
                <a:spcPts val="1200"/>
              </a:spcAft>
            </a:pPr>
            <a:r>
              <a:rPr lang="en-US" altLang="en-US" b="0" smtClean="0"/>
              <a:t>Land-use Analysis</a:t>
            </a:r>
          </a:p>
          <a:p>
            <a:pPr>
              <a:spcAft>
                <a:spcPts val="1200"/>
              </a:spcAft>
            </a:pPr>
            <a:r>
              <a:rPr lang="en-US" altLang="en-US" b="0" smtClean="0"/>
              <a:t>Many more…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1"/>
            <a:ext cx="9144000" cy="11398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Spatial Analysis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57338"/>
            <a:ext cx="8229600" cy="4932362"/>
          </a:xfrm>
        </p:spPr>
        <p:txBody>
          <a:bodyPr/>
          <a:lstStyle/>
          <a:p>
            <a:pPr>
              <a:spcAft>
                <a:spcPts val="1200"/>
              </a:spcAft>
              <a:defRPr/>
            </a:pPr>
            <a:r>
              <a:rPr lang="en-US" dirty="0"/>
              <a:t>Maintenance &amp; Analysis of spatial data</a:t>
            </a:r>
          </a:p>
          <a:p>
            <a:pPr>
              <a:spcAft>
                <a:spcPts val="1200"/>
              </a:spcAft>
              <a:defRPr/>
            </a:pPr>
            <a:r>
              <a:rPr lang="en-US" dirty="0"/>
              <a:t>Maintenance &amp; Analysis of Attribute Data</a:t>
            </a:r>
          </a:p>
          <a:p>
            <a:pPr>
              <a:spcAft>
                <a:spcPts val="1200"/>
              </a:spcAft>
              <a:defRPr/>
            </a:pPr>
            <a:r>
              <a:rPr lang="en-US" dirty="0"/>
              <a:t>Integrated Analysis of Spatial &amp; Attribute Data</a:t>
            </a:r>
          </a:p>
          <a:p>
            <a:pPr marL="82296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Retrieval, classification and Measurement</a:t>
            </a:r>
          </a:p>
          <a:p>
            <a:pPr marL="82296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Overlay Operations</a:t>
            </a:r>
          </a:p>
          <a:p>
            <a:pPr marL="82296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Neighborhood Operations</a:t>
            </a:r>
          </a:p>
          <a:p>
            <a:pPr marL="82296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Network and Connectivity Operations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2398714"/>
            <a:ext cx="9144000" cy="1139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altLang="en-US" dirty="0"/>
              <a:t>Overlay Operations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9080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Overlay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2776" y="908050"/>
            <a:ext cx="8677275" cy="5645150"/>
          </a:xfrm>
        </p:spPr>
        <p:txBody>
          <a:bodyPr/>
          <a:lstStyle/>
          <a:p>
            <a:pPr marL="273050" lvl="1">
              <a:spcAft>
                <a:spcPts val="600"/>
              </a:spcAft>
            </a:pPr>
            <a:r>
              <a:rPr lang="en-US" altLang="en-US" b="0" smtClean="0"/>
              <a:t>Hallmark of GIS is overlay operations.</a:t>
            </a:r>
          </a:p>
          <a:p>
            <a:pPr marL="273050" lvl="1">
              <a:spcAft>
                <a:spcPts val="600"/>
              </a:spcAft>
            </a:pPr>
            <a:r>
              <a:rPr lang="en-US" altLang="en-US" b="0" smtClean="0"/>
              <a:t>New spatial elements are created by overlaying of maps.</a:t>
            </a:r>
          </a:p>
          <a:p>
            <a:pPr marL="273050" lvl="1">
              <a:spcAft>
                <a:spcPts val="600"/>
              </a:spcAft>
            </a:pPr>
            <a:r>
              <a:rPr lang="en-US" altLang="en-US" b="0" smtClean="0"/>
              <a:t>operation that combines different geographic layers to generate new information.</a:t>
            </a:r>
          </a:p>
          <a:p>
            <a:pPr marL="273050" lvl="1">
              <a:spcAft>
                <a:spcPts val="600"/>
              </a:spcAft>
            </a:pPr>
            <a:r>
              <a:rPr lang="en-US" altLang="en-US" b="0" smtClean="0"/>
              <a:t>Done using Arithmetic, Boolean &amp; Relational operators.</a:t>
            </a:r>
          </a:p>
          <a:p>
            <a:pPr marL="273050" lvl="1">
              <a:spcAft>
                <a:spcPts val="600"/>
              </a:spcAft>
            </a:pPr>
            <a:r>
              <a:rPr lang="en-US" altLang="en-US" b="0" smtClean="0"/>
              <a:t>Standard overlay operators take two input data layers, and assume they are geo-referenced in the same system, and overlap in study area.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9080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Overlay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2776" y="908050"/>
            <a:ext cx="8677275" cy="5645150"/>
          </a:xfrm>
        </p:spPr>
        <p:txBody>
          <a:bodyPr/>
          <a:lstStyle/>
          <a:p>
            <a:pPr marL="273050" lvl="1">
              <a:spcAft>
                <a:spcPts val="600"/>
              </a:spcAft>
            </a:pPr>
            <a:r>
              <a:rPr lang="en-US" altLang="en-US" b="0" smtClean="0"/>
              <a:t>Principle is to compare the characteristics of the same location in both data layers, and to produce a result for each location in the output data layer.</a:t>
            </a:r>
          </a:p>
          <a:p>
            <a:pPr marL="273050" lvl="1">
              <a:spcAft>
                <a:spcPts val="600"/>
              </a:spcAft>
            </a:pPr>
            <a:r>
              <a:rPr lang="en-US" altLang="en-US" i="1" smtClean="0"/>
              <a:t>In raster</a:t>
            </a:r>
            <a:r>
              <a:rPr lang="en-US" altLang="en-US" b="0" smtClean="0"/>
              <a:t>: comparisons are carried out between pairs of cells, one from each input raster.</a:t>
            </a:r>
          </a:p>
          <a:p>
            <a:pPr marL="273050" lvl="1">
              <a:spcAft>
                <a:spcPts val="600"/>
              </a:spcAft>
            </a:pPr>
            <a:r>
              <a:rPr lang="en-US" altLang="en-US" i="1" smtClean="0"/>
              <a:t>In vector</a:t>
            </a:r>
            <a:r>
              <a:rPr lang="en-US" altLang="en-US" b="0" smtClean="0"/>
              <a:t>: comparing locations applies, but underlying computations rely on determining the spatial intersections of features from each input layer.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1"/>
            <a:ext cx="9144000" cy="8683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Vector Overlay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125538"/>
            <a:ext cx="8686800" cy="514985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dirty="0"/>
              <a:t>Map features and the associated attributes are integrated to produce new composite map.</a:t>
            </a:r>
          </a:p>
          <a:p>
            <a:pPr algn="just">
              <a:spcAft>
                <a:spcPts val="600"/>
              </a:spcAft>
              <a:defRPr/>
            </a:pPr>
            <a:r>
              <a:rPr lang="en-US" dirty="0"/>
              <a:t>Logical rules applied for combination</a:t>
            </a:r>
          </a:p>
          <a:p>
            <a:pPr algn="just">
              <a:spcAft>
                <a:spcPts val="600"/>
              </a:spcAft>
              <a:defRPr/>
            </a:pPr>
            <a:r>
              <a:rPr lang="en-US" dirty="0"/>
              <a:t>Performed on different type of map features.</a:t>
            </a:r>
          </a:p>
          <a:p>
            <a:pPr marL="822960" algn="just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Polygon-on-polygon Overlay</a:t>
            </a:r>
          </a:p>
          <a:p>
            <a:pPr marL="822960" algn="just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Line-on-polygon Overlay</a:t>
            </a:r>
          </a:p>
          <a:p>
            <a:pPr marL="822960" algn="just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Point-on-polygon Overlay</a:t>
            </a:r>
          </a:p>
          <a:p>
            <a:pPr algn="just">
              <a:spcAft>
                <a:spcPts val="600"/>
              </a:spcAft>
              <a:defRPr/>
            </a:pPr>
            <a:r>
              <a:rPr lang="en-US" dirty="0"/>
              <a:t>Attribute merged.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351"/>
            <a:ext cx="9144000" cy="8683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Vector Overlay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952500"/>
            <a:ext cx="2519362" cy="216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175" y="952500"/>
            <a:ext cx="2520950" cy="216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39" y="3897314"/>
            <a:ext cx="2503487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838" y="4054475"/>
            <a:ext cx="15621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703389" y="6159501"/>
            <a:ext cx="8785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Char char="•"/>
              <a:defRPr sz="3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0"/>
              <a:t>Two polygon layers A &amp; B produce new polygon layer (with associated attribute table) that contains all the intersections of polygons from A &amp; B</a:t>
            </a:r>
          </a:p>
        </p:txBody>
      </p:sp>
      <p:grpSp>
        <p:nvGrpSpPr>
          <p:cNvPr id="18" name="Group 17"/>
          <p:cNvGrpSpPr>
            <a:grpSpLocks/>
          </p:cNvGrpSpPr>
          <p:nvPr/>
        </p:nvGrpSpPr>
        <p:grpSpPr bwMode="auto">
          <a:xfrm>
            <a:off x="4332288" y="3160714"/>
            <a:ext cx="1439862" cy="700087"/>
            <a:chOff x="2807804" y="3160196"/>
            <a:chExt cx="1440160" cy="70085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2807804" y="3166553"/>
              <a:ext cx="503341" cy="657943"/>
            </a:xfrm>
            <a:prstGeom prst="straightConnector1">
              <a:avLst/>
            </a:prstGeom>
            <a:ln w="952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3916108" y="3160196"/>
              <a:ext cx="331856" cy="700852"/>
            </a:xfrm>
            <a:prstGeom prst="straightConnector1">
              <a:avLst/>
            </a:prstGeom>
            <a:ln w="952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Equal 16"/>
          <p:cNvSpPr/>
          <p:nvPr/>
        </p:nvSpPr>
        <p:spPr>
          <a:xfrm>
            <a:off x="6653214" y="4689476"/>
            <a:ext cx="827087" cy="576263"/>
          </a:xfrm>
          <a:prstGeom prst="mathEqual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1"/>
            <a:ext cx="9144000" cy="8683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Vector Overlay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1196752"/>
            <a:ext cx="4734628" cy="4968552"/>
          </a:xfrm>
          <a:prstGeom prst="rect">
            <a:avLst/>
          </a:prstGeom>
          <a:scene3d>
            <a:camera prst="orthographicFront"/>
            <a:lightRig rig="threePt" dir="t"/>
          </a:scene3d>
          <a:sp3d extrusionH="101600"/>
        </p:spPr>
      </p:pic>
      <p:sp>
        <p:nvSpPr>
          <p:cNvPr id="4" name="Rectangle 3"/>
          <p:cNvSpPr/>
          <p:nvPr/>
        </p:nvSpPr>
        <p:spPr>
          <a:xfrm>
            <a:off x="6329363" y="1941514"/>
            <a:ext cx="4411662" cy="32162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700" dirty="0"/>
              <a:t>Residential areas of Ilala District.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700" dirty="0"/>
              <a:t>Obtained from polygon intersection.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700" dirty="0"/>
              <a:t>Input: </a:t>
            </a:r>
          </a:p>
          <a:p>
            <a:pPr marL="822960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1700" dirty="0"/>
              <a:t>Polygon layer with all Ilala wards</a:t>
            </a:r>
          </a:p>
          <a:p>
            <a:pPr marL="822960" indent="-28575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1700" dirty="0"/>
              <a:t>Polygon layer with the residential areas.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700" dirty="0"/>
              <a:t>Data source: </a:t>
            </a:r>
            <a:r>
              <a:rPr lang="en-US" sz="1700" i="1" u="sng" dirty="0"/>
              <a:t>Dept. of Urban &amp; Regional Planning and Geo-information Management, ITC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77788"/>
            <a:ext cx="9144000" cy="868362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Vector Overlay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182689"/>
            <a:ext cx="2019300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3397251"/>
            <a:ext cx="2019300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350" y="1160463"/>
            <a:ext cx="200025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350" y="3422650"/>
            <a:ext cx="200025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0" y="1160463"/>
            <a:ext cx="200025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0" y="3432175"/>
            <a:ext cx="200025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14800" y="1905000"/>
            <a:ext cx="833438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Char char="•"/>
              <a:defRPr sz="3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700"/>
              <a:t>CLIP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700"/>
              <a:t>BY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686176" y="4098925"/>
            <a:ext cx="176212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Char char="•"/>
              <a:defRPr sz="3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700"/>
              <a:t>OVERWRITE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700"/>
              <a:t>BY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7391400" y="2168525"/>
            <a:ext cx="1060450" cy="0"/>
          </a:xfrm>
          <a:prstGeom prst="straightConnector1">
            <a:avLst/>
          </a:prstGeom>
          <a:ln w="857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391400" y="4394200"/>
            <a:ext cx="1060450" cy="0"/>
          </a:xfrm>
          <a:prstGeom prst="straightConnector1">
            <a:avLst/>
          </a:prstGeom>
          <a:ln w="857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703388" y="5535613"/>
            <a:ext cx="88058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Char char="•"/>
              <a:defRPr sz="3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20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lang="en-US" altLang="en-US" sz="1800"/>
              <a:t>Clip Overlay</a:t>
            </a:r>
            <a:r>
              <a:rPr lang="en-US" altLang="en-US" sz="1800" b="0"/>
              <a:t>: Clips down the left hand polygon layer to the generalized spatial extent of right hand polygon layer</a:t>
            </a:r>
          </a:p>
          <a:p>
            <a:pPr>
              <a:spcBef>
                <a:spcPct val="0"/>
              </a:spcBef>
              <a:buClrTx/>
            </a:pPr>
            <a:r>
              <a:rPr lang="en-US" altLang="en-US" sz="1800"/>
              <a:t>Overwrite Overlay</a:t>
            </a:r>
            <a:r>
              <a:rPr lang="en-US" altLang="en-US" sz="1800" b="0"/>
              <a:t>: Overwrites the left hand polygon layer with the polygons of the right hand layer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5888"/>
            <a:ext cx="9144000" cy="914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Raster Overlay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25" y="1030288"/>
            <a:ext cx="8713788" cy="510540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/>
              <a:t>The pixel or grid cell values in each map are combined using arithmetic and Boolean operators to produce a new value in the composite map.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/>
              <a:t>Map treated as arithmetic variables and perform complex algebraic functions called map algebra.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/>
              <a:t>3 groups of mathematical operators:</a:t>
            </a:r>
          </a:p>
          <a:p>
            <a:pPr marL="822960"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Arithmetic Operators</a:t>
            </a:r>
          </a:p>
          <a:p>
            <a:pPr marL="822960"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Comparison Operators</a:t>
            </a:r>
          </a:p>
          <a:p>
            <a:pPr marL="822960"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Logical Operators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/>
              <a:t>Conditional Operators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5888"/>
            <a:ext cx="9144000" cy="914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Raster Overlay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3264" y="1449389"/>
            <a:ext cx="8245475" cy="385127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/>
              <a:t>Vector overlay is geometrically complicated, and sometimes results in poor operator performance.</a:t>
            </a:r>
          </a:p>
          <a:p>
            <a:pPr>
              <a:spcAft>
                <a:spcPts val="1200"/>
              </a:spcAft>
            </a:pPr>
            <a:r>
              <a:rPr lang="en-US" altLang="en-US"/>
              <a:t>Raster overlay performs their computations cell by cell and thus they are fast and not complicated.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96863"/>
            <a:ext cx="9144000" cy="68421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Raster Overlay: </a:t>
            </a:r>
            <a:r>
              <a:rPr lang="en-US" b="0" dirty="0"/>
              <a:t>Arithmetic </a:t>
            </a:r>
            <a:r>
              <a:rPr lang="en-US" b="0" dirty="0" smtClean="0"/>
              <a:t>Operators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389" y="1412875"/>
            <a:ext cx="8785225" cy="41989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/>
              <a:t>Supported Operators are: </a:t>
            </a:r>
          </a:p>
          <a:p>
            <a:pPr marL="937260" indent="-457200"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Subtraction</a:t>
            </a:r>
          </a:p>
          <a:p>
            <a:pPr marL="937260" indent="-457200"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Addition</a:t>
            </a:r>
          </a:p>
          <a:p>
            <a:pPr marL="937260" indent="-457200"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Multiplication</a:t>
            </a:r>
          </a:p>
          <a:p>
            <a:pPr marL="937260" indent="-457200"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Division</a:t>
            </a:r>
          </a:p>
          <a:p>
            <a:pPr marL="937260" indent="-457200"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Modulo Division (MOD)</a:t>
            </a:r>
          </a:p>
          <a:p>
            <a:pPr marL="937260" indent="-457200"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Sine (sin)</a:t>
            </a:r>
          </a:p>
          <a:p>
            <a:pPr marL="937260" indent="-457200"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Cosine (cos)</a:t>
            </a:r>
          </a:p>
          <a:p>
            <a:pPr marL="937260" indent="-457200"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Tangent (tan)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6538" y="50801"/>
            <a:ext cx="9144001" cy="68421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Raster Overlay: </a:t>
            </a:r>
            <a:r>
              <a:rPr lang="en-US" dirty="0"/>
              <a:t>Arithmetic </a:t>
            </a:r>
            <a:r>
              <a:rPr lang="en-US" dirty="0" smtClean="0"/>
              <a:t>Operators </a:t>
            </a:r>
            <a:endParaRPr lang="en-US" dirty="0"/>
          </a:p>
        </p:txBody>
      </p: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1563689" y="2068513"/>
            <a:ext cx="2447925" cy="1871662"/>
            <a:chOff x="39717" y="2068613"/>
            <a:chExt cx="2448287" cy="1872208"/>
          </a:xfrm>
        </p:grpSpPr>
        <p:pic>
          <p:nvPicPr>
            <p:cNvPr id="27672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871" y="2068613"/>
              <a:ext cx="1884133" cy="1872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73" name="TextBox 9"/>
            <p:cNvSpPr txBox="1">
              <a:spLocks noChangeArrowheads="1"/>
            </p:cNvSpPr>
            <p:nvPr/>
          </p:nvSpPr>
          <p:spPr bwMode="auto">
            <a:xfrm>
              <a:off x="39717" y="2823236"/>
              <a:ext cx="3642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/>
                <a:t>A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631950" y="4365626"/>
            <a:ext cx="2381250" cy="1871663"/>
            <a:chOff x="107504" y="4365161"/>
            <a:chExt cx="2380924" cy="1872208"/>
          </a:xfrm>
        </p:grpSpPr>
        <p:pic>
          <p:nvPicPr>
            <p:cNvPr id="27670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6220" y="4365161"/>
              <a:ext cx="1872208" cy="1872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71" name="TextBox 10"/>
            <p:cNvSpPr txBox="1">
              <a:spLocks noChangeArrowheads="1"/>
            </p:cNvSpPr>
            <p:nvPr/>
          </p:nvSpPr>
          <p:spPr bwMode="auto">
            <a:xfrm>
              <a:off x="107504" y="5116599"/>
              <a:ext cx="3642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/>
                <a:t>B</a:t>
              </a:r>
            </a:p>
          </p:txBody>
        </p:sp>
      </p:grp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5951538" y="768351"/>
            <a:ext cx="2495550" cy="1871663"/>
            <a:chOff x="4427984" y="768970"/>
            <a:chExt cx="2495105" cy="1871056"/>
          </a:xfrm>
        </p:grpSpPr>
        <p:pic>
          <p:nvPicPr>
            <p:cNvPr id="27668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7984" y="768970"/>
              <a:ext cx="1871056" cy="187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69" name="TextBox 11"/>
            <p:cNvSpPr txBox="1">
              <a:spLocks noChangeArrowheads="1"/>
            </p:cNvSpPr>
            <p:nvPr/>
          </p:nvSpPr>
          <p:spPr bwMode="auto">
            <a:xfrm>
              <a:off x="6408204" y="1406598"/>
              <a:ext cx="51488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/>
                <a:t>C1</a:t>
              </a:r>
            </a:p>
          </p:txBody>
        </p:sp>
      </p:grpSp>
      <p:grpSp>
        <p:nvGrpSpPr>
          <p:cNvPr id="18" name="Group 17"/>
          <p:cNvGrpSpPr>
            <a:grpSpLocks/>
          </p:cNvGrpSpPr>
          <p:nvPr/>
        </p:nvGrpSpPr>
        <p:grpSpPr bwMode="auto">
          <a:xfrm>
            <a:off x="6888163" y="2816226"/>
            <a:ext cx="2495550" cy="1865313"/>
            <a:chOff x="5363512" y="2816932"/>
            <a:chExt cx="2495681" cy="1865078"/>
          </a:xfrm>
        </p:grpSpPr>
        <p:pic>
          <p:nvPicPr>
            <p:cNvPr id="27666" name="Picture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3512" y="2816932"/>
              <a:ext cx="1871056" cy="186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67" name="TextBox 12"/>
            <p:cNvSpPr txBox="1">
              <a:spLocks noChangeArrowheads="1"/>
            </p:cNvSpPr>
            <p:nvPr/>
          </p:nvSpPr>
          <p:spPr bwMode="auto">
            <a:xfrm>
              <a:off x="7344308" y="3564805"/>
              <a:ext cx="51488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/>
                <a:t>C2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8075614" y="4857750"/>
            <a:ext cx="2459037" cy="1873250"/>
            <a:chOff x="6552220" y="4857928"/>
            <a:chExt cx="2459101" cy="1873344"/>
          </a:xfrm>
        </p:grpSpPr>
        <p:pic>
          <p:nvPicPr>
            <p:cNvPr id="27664" name="Picture 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2220" y="4857928"/>
              <a:ext cx="1873344" cy="1873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65" name="TextBox 13"/>
            <p:cNvSpPr txBox="1">
              <a:spLocks noChangeArrowheads="1"/>
            </p:cNvSpPr>
            <p:nvPr/>
          </p:nvSpPr>
          <p:spPr bwMode="auto">
            <a:xfrm>
              <a:off x="8496436" y="5609934"/>
              <a:ext cx="51488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/>
                <a:t>C3</a:t>
              </a:r>
            </a:p>
          </p:txBody>
        </p:sp>
      </p:grpSp>
      <p:cxnSp>
        <p:nvCxnSpPr>
          <p:cNvPr id="21" name="Elbow Connector 20"/>
          <p:cNvCxnSpPr>
            <a:stCxn id="27672" idx="3"/>
            <a:endCxn id="27668" idx="1"/>
          </p:cNvCxnSpPr>
          <p:nvPr/>
        </p:nvCxnSpPr>
        <p:spPr>
          <a:xfrm flipV="1">
            <a:off x="4011614" y="1704976"/>
            <a:ext cx="1939925" cy="1300163"/>
          </a:xfrm>
          <a:prstGeom prst="bentConnector3">
            <a:avLst/>
          </a:prstGeom>
          <a:ln w="76200">
            <a:solidFill>
              <a:schemeClr val="tx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4011613" y="3252789"/>
            <a:ext cx="4064000" cy="2541587"/>
            <a:chOff x="2488004" y="3252883"/>
            <a:chExt cx="4064216" cy="2541717"/>
          </a:xfrm>
        </p:grpSpPr>
        <p:cxnSp>
          <p:nvCxnSpPr>
            <p:cNvPr id="28" name="Elbow Connector 27"/>
            <p:cNvCxnSpPr>
              <a:endCxn id="27664" idx="1"/>
            </p:cNvCxnSpPr>
            <p:nvPr/>
          </p:nvCxnSpPr>
          <p:spPr>
            <a:xfrm>
              <a:off x="2488004" y="3252883"/>
              <a:ext cx="4064216" cy="2541717"/>
            </a:xfrm>
            <a:prstGeom prst="bentConnector3">
              <a:avLst/>
            </a:prstGeom>
            <a:ln w="76200">
              <a:solidFill>
                <a:schemeClr val="tx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27670" idx="3"/>
            </p:cNvCxnSpPr>
            <p:nvPr/>
          </p:nvCxnSpPr>
          <p:spPr>
            <a:xfrm>
              <a:off x="2488004" y="5300863"/>
              <a:ext cx="2032108" cy="0"/>
            </a:xfrm>
            <a:prstGeom prst="line">
              <a:avLst/>
            </a:prstGeom>
            <a:ln w="76200"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endCxn id="27666" idx="1"/>
            </p:cNvCxnSpPr>
            <p:nvPr/>
          </p:nvCxnSpPr>
          <p:spPr>
            <a:xfrm>
              <a:off x="4520112" y="3749795"/>
              <a:ext cx="843007" cy="0"/>
            </a:xfrm>
            <a:prstGeom prst="straightConnector1">
              <a:avLst/>
            </a:prstGeom>
            <a:ln w="76200">
              <a:solidFill>
                <a:schemeClr val="tx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4656138" y="1301750"/>
            <a:ext cx="104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FFFF00"/>
                </a:solidFill>
              </a:rPr>
              <a:t>A + 10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6067426" y="3279775"/>
            <a:ext cx="741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FFFF00"/>
                </a:solidFill>
              </a:rPr>
              <a:t>A+B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5089526" y="5921375"/>
            <a:ext cx="2860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FFFF00"/>
                </a:solidFill>
              </a:rPr>
              <a:t>((A+B)/(A+B))*100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5426"/>
            <a:ext cx="9144000" cy="68421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Comparison / Logical Operators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389" y="1412875"/>
            <a:ext cx="8785225" cy="4198938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dirty="0"/>
              <a:t>Comparison Operator: </a:t>
            </a:r>
          </a:p>
          <a:p>
            <a:pPr marL="937260" indent="-45720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&lt;, &lt;=, =, &gt;, &gt;=, and &lt;&gt;</a:t>
            </a:r>
          </a:p>
          <a:p>
            <a:pPr marL="274320" indent="-457200">
              <a:spcAft>
                <a:spcPts val="1200"/>
              </a:spcAft>
              <a:defRPr/>
            </a:pPr>
            <a:r>
              <a:rPr lang="en-US" dirty="0"/>
              <a:t>Logical Operator:</a:t>
            </a:r>
          </a:p>
          <a:p>
            <a:pPr marL="937260" indent="-45720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AND</a:t>
            </a:r>
          </a:p>
          <a:p>
            <a:pPr marL="937260" indent="-45720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OR</a:t>
            </a:r>
          </a:p>
          <a:p>
            <a:pPr marL="937260" indent="-45720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NOT</a:t>
            </a:r>
          </a:p>
          <a:p>
            <a:pPr marL="937260" indent="-457200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XOR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888" y="-11113"/>
            <a:ext cx="9144001" cy="68421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Comparison / Logical Operators </a:t>
            </a:r>
            <a:endParaRPr lang="en-US" dirty="0"/>
          </a:p>
        </p:txBody>
      </p:sp>
      <p:grpSp>
        <p:nvGrpSpPr>
          <p:cNvPr id="74" name="Group 73"/>
          <p:cNvGrpSpPr>
            <a:grpSpLocks/>
          </p:cNvGrpSpPr>
          <p:nvPr/>
        </p:nvGrpSpPr>
        <p:grpSpPr bwMode="auto">
          <a:xfrm>
            <a:off x="3021013" y="1376364"/>
            <a:ext cx="266700" cy="2382837"/>
            <a:chOff x="1497199" y="1376772"/>
            <a:chExt cx="266489" cy="2382571"/>
          </a:xfrm>
        </p:grpSpPr>
        <p:cxnSp>
          <p:nvCxnSpPr>
            <p:cNvPr id="35" name="Straight Connector 34"/>
            <p:cNvCxnSpPr/>
            <p:nvPr/>
          </p:nvCxnSpPr>
          <p:spPr>
            <a:xfrm>
              <a:off x="1497199" y="1376772"/>
              <a:ext cx="266489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1497199" y="3759343"/>
              <a:ext cx="266489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763688" y="1376772"/>
              <a:ext cx="0" cy="2382571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Straight Arrow Connector 56"/>
          <p:cNvCxnSpPr/>
          <p:nvPr/>
        </p:nvCxnSpPr>
        <p:spPr>
          <a:xfrm>
            <a:off x="3287713" y="1514475"/>
            <a:ext cx="1598612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endCxn id="23" idx="1"/>
          </p:cNvCxnSpPr>
          <p:nvPr/>
        </p:nvCxnSpPr>
        <p:spPr>
          <a:xfrm>
            <a:off x="3287714" y="2592388"/>
            <a:ext cx="399097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3287713" y="3532188"/>
            <a:ext cx="1598612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/>
          <p:cNvGrpSpPr>
            <a:grpSpLocks/>
          </p:cNvGrpSpPr>
          <p:nvPr/>
        </p:nvGrpSpPr>
        <p:grpSpPr bwMode="auto">
          <a:xfrm>
            <a:off x="3287714" y="3681413"/>
            <a:ext cx="3417887" cy="817562"/>
            <a:chOff x="1763688" y="3681028"/>
            <a:chExt cx="3417512" cy="818640"/>
          </a:xfrm>
        </p:grpSpPr>
        <p:cxnSp>
          <p:nvCxnSpPr>
            <p:cNvPr id="64" name="Elbow Connector 63"/>
            <p:cNvCxnSpPr/>
            <p:nvPr/>
          </p:nvCxnSpPr>
          <p:spPr>
            <a:xfrm>
              <a:off x="1763688" y="3681028"/>
              <a:ext cx="2180986" cy="818640"/>
            </a:xfrm>
            <a:prstGeom prst="bentConnector3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endCxn id="25" idx="1"/>
            </p:cNvCxnSpPr>
            <p:nvPr/>
          </p:nvCxnSpPr>
          <p:spPr>
            <a:xfrm>
              <a:off x="3909753" y="4499668"/>
              <a:ext cx="1271447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" name="Straight Arrow Connector 67"/>
          <p:cNvCxnSpPr>
            <a:endCxn id="26" idx="1"/>
          </p:cNvCxnSpPr>
          <p:nvPr/>
        </p:nvCxnSpPr>
        <p:spPr>
          <a:xfrm>
            <a:off x="3870326" y="5688013"/>
            <a:ext cx="100647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>
            <a:grpSpLocks/>
          </p:cNvGrpSpPr>
          <p:nvPr/>
        </p:nvGrpSpPr>
        <p:grpSpPr bwMode="auto">
          <a:xfrm>
            <a:off x="3001963" y="1836739"/>
            <a:ext cx="863600" cy="4206875"/>
            <a:chOff x="1478085" y="1836607"/>
            <a:chExt cx="864134" cy="4206811"/>
          </a:xfrm>
        </p:grpSpPr>
        <p:cxnSp>
          <p:nvCxnSpPr>
            <p:cNvPr id="43" name="Straight Connector 42"/>
            <p:cNvCxnSpPr/>
            <p:nvPr/>
          </p:nvCxnSpPr>
          <p:spPr>
            <a:xfrm flipV="1">
              <a:off x="1506678" y="6027543"/>
              <a:ext cx="832364" cy="15875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2310449" y="1836607"/>
              <a:ext cx="31770" cy="4190936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1478085" y="1836607"/>
              <a:ext cx="832364" cy="15875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1493970" y="3320896"/>
              <a:ext cx="840306" cy="11113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/>
          <p:cNvGrpSpPr>
            <a:grpSpLocks/>
          </p:cNvGrpSpPr>
          <p:nvPr/>
        </p:nvGrpSpPr>
        <p:grpSpPr bwMode="auto">
          <a:xfrm>
            <a:off x="3865563" y="5942013"/>
            <a:ext cx="4641850" cy="609600"/>
            <a:chOff x="2342219" y="5942646"/>
            <a:chExt cx="4641404" cy="609600"/>
          </a:xfrm>
        </p:grpSpPr>
        <p:cxnSp>
          <p:nvCxnSpPr>
            <p:cNvPr id="76" name="Straight Connector 75"/>
            <p:cNvCxnSpPr/>
            <p:nvPr/>
          </p:nvCxnSpPr>
          <p:spPr>
            <a:xfrm>
              <a:off x="2342219" y="5942646"/>
              <a:ext cx="64605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988269" y="6545896"/>
              <a:ext cx="3314382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2988269" y="5942646"/>
              <a:ext cx="0" cy="60960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Elbow Connector 82"/>
            <p:cNvCxnSpPr>
              <a:endCxn id="27" idx="1"/>
            </p:cNvCxnSpPr>
            <p:nvPr/>
          </p:nvCxnSpPr>
          <p:spPr>
            <a:xfrm flipV="1">
              <a:off x="6302650" y="6122033"/>
              <a:ext cx="680973" cy="423863"/>
            </a:xfrm>
            <a:prstGeom prst="bentConnector3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>
            <a:grpSpLocks/>
          </p:cNvGrpSpPr>
          <p:nvPr/>
        </p:nvGrpSpPr>
        <p:grpSpPr bwMode="auto">
          <a:xfrm>
            <a:off x="1811339" y="614363"/>
            <a:ext cx="1209675" cy="1566862"/>
            <a:chOff x="287524" y="614486"/>
            <a:chExt cx="1209675" cy="1566392"/>
          </a:xfrm>
        </p:grpSpPr>
        <p:pic>
          <p:nvPicPr>
            <p:cNvPr id="29726" name="Pictur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524" y="980728"/>
              <a:ext cx="1209675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27" name="TextBox 84"/>
            <p:cNvSpPr txBox="1">
              <a:spLocks noChangeArrowheads="1"/>
            </p:cNvSpPr>
            <p:nvPr/>
          </p:nvSpPr>
          <p:spPr bwMode="auto">
            <a:xfrm>
              <a:off x="710260" y="614486"/>
              <a:ext cx="3642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rgbClr val="FFFF00"/>
                  </a:solidFill>
                </a:rPr>
                <a:t>A</a:t>
              </a:r>
            </a:p>
          </p:txBody>
        </p:sp>
      </p:grpSp>
      <p:grpSp>
        <p:nvGrpSpPr>
          <p:cNvPr id="91" name="Group 90"/>
          <p:cNvGrpSpPr>
            <a:grpSpLocks/>
          </p:cNvGrpSpPr>
          <p:nvPr/>
        </p:nvGrpSpPr>
        <p:grpSpPr bwMode="auto">
          <a:xfrm>
            <a:off x="1800225" y="4964113"/>
            <a:ext cx="1219200" cy="1587500"/>
            <a:chOff x="276360" y="4963714"/>
            <a:chExt cx="1219200" cy="1588532"/>
          </a:xfrm>
        </p:grpSpPr>
        <p:pic>
          <p:nvPicPr>
            <p:cNvPr id="29724" name="Picture 1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360" y="5333046"/>
              <a:ext cx="1219200" cy="121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25" name="TextBox 85"/>
            <p:cNvSpPr txBox="1">
              <a:spLocks noChangeArrowheads="1"/>
            </p:cNvSpPr>
            <p:nvPr/>
          </p:nvSpPr>
          <p:spPr bwMode="auto">
            <a:xfrm>
              <a:off x="706185" y="4963714"/>
              <a:ext cx="3642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rgbClr val="FFFF00"/>
                  </a:solidFill>
                </a:rPr>
                <a:t>C</a:t>
              </a:r>
            </a:p>
          </p:txBody>
        </p:sp>
      </p:grpSp>
      <p:grpSp>
        <p:nvGrpSpPr>
          <p:cNvPr id="90" name="Group 89"/>
          <p:cNvGrpSpPr>
            <a:grpSpLocks/>
          </p:cNvGrpSpPr>
          <p:nvPr/>
        </p:nvGrpSpPr>
        <p:grpSpPr bwMode="auto">
          <a:xfrm>
            <a:off x="1801813" y="2781300"/>
            <a:ext cx="1219200" cy="1582738"/>
            <a:chOff x="277999" y="2781981"/>
            <a:chExt cx="1219200" cy="1582200"/>
          </a:xfrm>
        </p:grpSpPr>
        <p:pic>
          <p:nvPicPr>
            <p:cNvPr id="29722" name="Picture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999" y="3154506"/>
              <a:ext cx="1219200" cy="1209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23" name="TextBox 86"/>
            <p:cNvSpPr txBox="1">
              <a:spLocks noChangeArrowheads="1"/>
            </p:cNvSpPr>
            <p:nvPr/>
          </p:nvSpPr>
          <p:spPr bwMode="auto">
            <a:xfrm>
              <a:off x="723937" y="2781981"/>
              <a:ext cx="3642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>
                  <a:solidFill>
                    <a:srgbClr val="FFFF00"/>
                  </a:solidFill>
                </a:rPr>
                <a:t>B</a:t>
              </a:r>
            </a:p>
          </p:txBody>
        </p: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326" y="925514"/>
            <a:ext cx="120967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87"/>
          <p:cNvSpPr txBox="1">
            <a:spLocks noChangeArrowheads="1"/>
          </p:cNvSpPr>
          <p:nvPr/>
        </p:nvSpPr>
        <p:spPr bwMode="auto">
          <a:xfrm>
            <a:off x="6140451" y="1211264"/>
            <a:ext cx="1179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FFFF00"/>
                </a:solidFill>
              </a:rPr>
              <a:t>A and B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0" y="2933701"/>
            <a:ext cx="12192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" name="TextBox 91"/>
          <p:cNvSpPr txBox="1">
            <a:spLocks noChangeArrowheads="1"/>
          </p:cNvSpPr>
          <p:nvPr/>
        </p:nvSpPr>
        <p:spPr bwMode="auto">
          <a:xfrm>
            <a:off x="6067425" y="3275014"/>
            <a:ext cx="1125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FFFF00"/>
                </a:solidFill>
              </a:rPr>
              <a:t>A xor B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1" y="3889375"/>
            <a:ext cx="12287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TextBox 92"/>
          <p:cNvSpPr txBox="1">
            <a:spLocks noChangeArrowheads="1"/>
          </p:cNvSpPr>
          <p:nvPr/>
        </p:nvSpPr>
        <p:spPr bwMode="auto">
          <a:xfrm>
            <a:off x="7972426" y="4295775"/>
            <a:ext cx="1687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FFFF00"/>
                </a:solidFill>
              </a:rPr>
              <a:t>A and not B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689" y="1978026"/>
            <a:ext cx="122872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93"/>
          <p:cNvSpPr txBox="1">
            <a:spLocks noChangeArrowheads="1"/>
          </p:cNvSpPr>
          <p:nvPr/>
        </p:nvSpPr>
        <p:spPr bwMode="auto">
          <a:xfrm>
            <a:off x="8548688" y="2309814"/>
            <a:ext cx="971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FFFF00"/>
                </a:solidFill>
              </a:rPr>
              <a:t>A or B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1" y="5083176"/>
            <a:ext cx="120967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TextBox 94"/>
          <p:cNvSpPr txBox="1">
            <a:spLocks noChangeArrowheads="1"/>
          </p:cNvSpPr>
          <p:nvPr/>
        </p:nvSpPr>
        <p:spPr bwMode="auto">
          <a:xfrm>
            <a:off x="4416425" y="4679950"/>
            <a:ext cx="2027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FFFF00"/>
                </a:solidFill>
              </a:rPr>
              <a:t>(A and B) or C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7413" y="5516564"/>
            <a:ext cx="12192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Box 95"/>
          <p:cNvSpPr txBox="1">
            <a:spLocks noChangeArrowheads="1"/>
          </p:cNvSpPr>
          <p:nvPr/>
        </p:nvSpPr>
        <p:spPr bwMode="auto">
          <a:xfrm>
            <a:off x="8021638" y="5108575"/>
            <a:ext cx="2025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solidFill>
                  <a:srgbClr val="FFFF00"/>
                </a:solidFill>
              </a:rPr>
              <a:t>A and (B or C)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92" grpId="0"/>
      <p:bldP spid="93" grpId="0"/>
      <p:bldP spid="94" grpId="0"/>
      <p:bldP spid="95" grpId="0"/>
      <p:bldP spid="9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0" y="2398714"/>
            <a:ext cx="9144000" cy="1139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altLang="en-US" dirty="0"/>
              <a:t>Buffering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91440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Buffering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811338" y="838201"/>
            <a:ext cx="8532812" cy="2985433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process of creating an output polygon layer containing a zone (or zones) of a specified width around an input point, line, or polygon feature.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Buffers are particularly suited for determining the area of influence around features of interest. 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91440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Buffering</a:t>
            </a:r>
            <a:endParaRPr lang="en-US" dirty="0"/>
          </a:p>
        </p:txBody>
      </p:sp>
      <p:pic>
        <p:nvPicPr>
          <p:cNvPr id="3379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725" y="1268413"/>
            <a:ext cx="84645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91440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Buffering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489" y="1185863"/>
            <a:ext cx="2625725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6" y="1179513"/>
            <a:ext cx="2333625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864" y="1165225"/>
            <a:ext cx="2555875" cy="205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488" y="3741738"/>
            <a:ext cx="2589212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326" y="3752850"/>
            <a:ext cx="23590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864" y="3741738"/>
            <a:ext cx="2555875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741488" y="3232150"/>
            <a:ext cx="2646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i="1">
                <a:latin typeface="Georgia" panose="02040502050405020303" pitchFamily="18" charset="0"/>
              </a:rPr>
              <a:t>Variable Width Buffers</a:t>
            </a:r>
            <a:endParaRPr lang="en-US" alt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4784726" y="3259139"/>
            <a:ext cx="23923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i="1">
                <a:latin typeface="Georgia" panose="02040502050405020303" pitchFamily="18" charset="0"/>
              </a:rPr>
              <a:t>Multiple Ring Buffer</a:t>
            </a:r>
            <a:endParaRPr lang="en-US" alt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853364" y="3259139"/>
            <a:ext cx="1920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i="1">
                <a:latin typeface="Georgia" panose="02040502050405020303" pitchFamily="18" charset="0"/>
              </a:rPr>
              <a:t>Doughnut Buffer</a:t>
            </a:r>
            <a:endParaRPr lang="en-US" alt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2171700" y="5829300"/>
            <a:ext cx="172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i="1">
                <a:latin typeface="Georgia" panose="02040502050405020303" pitchFamily="18" charset="0"/>
              </a:rPr>
              <a:t>Setback Buffer</a:t>
            </a:r>
            <a:endParaRPr lang="en-US" alt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745038" y="5865813"/>
            <a:ext cx="241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i="1">
                <a:latin typeface="Georgia" panose="02040502050405020303" pitchFamily="18" charset="0"/>
              </a:rPr>
              <a:t>Non-dissolved Buffer</a:t>
            </a:r>
            <a:endParaRPr lang="en-US" alt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8313739" y="5829300"/>
            <a:ext cx="1000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i="1">
                <a:latin typeface="Georgia" panose="02040502050405020303" pitchFamily="18" charset="0"/>
              </a:rPr>
              <a:t>Buffer 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897063" y="1746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Assignment - 6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27239" y="1162050"/>
            <a:ext cx="8353425" cy="5329238"/>
          </a:xfrm>
        </p:spPr>
        <p:txBody>
          <a:bodyPr/>
          <a:lstStyle/>
          <a:p>
            <a:pPr marL="822325">
              <a:buFont typeface="Wingdings" panose="05000000000000000000" pitchFamily="2" charset="2"/>
              <a:buChar char="q"/>
            </a:pPr>
            <a:r>
              <a:rPr lang="en-US" altLang="en-US" sz="3600"/>
              <a:t>Write a page about FOSS GIS</a:t>
            </a:r>
          </a:p>
          <a:p>
            <a:pPr marL="822325">
              <a:buFont typeface="Wingdings" panose="05000000000000000000" pitchFamily="2" charset="2"/>
              <a:buChar char="q"/>
            </a:pPr>
            <a:r>
              <a:rPr lang="en-US" altLang="en-US" sz="3600"/>
              <a:t>Write short notes on LiDAR technology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957</Words>
  <Application>Microsoft Office PowerPoint</Application>
  <PresentationFormat>Widescreen</PresentationFormat>
  <Paragraphs>162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Georgia</vt:lpstr>
      <vt:lpstr>Tahoma</vt:lpstr>
      <vt:lpstr>Verdana</vt:lpstr>
      <vt:lpstr>Wingdings</vt:lpstr>
      <vt:lpstr>Office Theme</vt:lpstr>
      <vt:lpstr>PowerPoint Presentation</vt:lpstr>
      <vt:lpstr>Spatial Analysis  and  Visualization   Chapter - 5</vt:lpstr>
      <vt:lpstr>Outlines</vt:lpstr>
      <vt:lpstr>Spatial Analysis</vt:lpstr>
      <vt:lpstr>PowerPoint Presentation</vt:lpstr>
      <vt:lpstr>Spatial Analysis: What is it?</vt:lpstr>
      <vt:lpstr>Spatial Analysis: What is it?</vt:lpstr>
      <vt:lpstr>Spatial Analysis: What is it?</vt:lpstr>
      <vt:lpstr>Spatial Analysis</vt:lpstr>
      <vt:lpstr>Spatial Analysis: Application Areas</vt:lpstr>
      <vt:lpstr>Spatial Analysis Function</vt:lpstr>
      <vt:lpstr>Overlay Operations</vt:lpstr>
      <vt:lpstr>Overlay Operations</vt:lpstr>
      <vt:lpstr>Overlay Operations</vt:lpstr>
      <vt:lpstr>Vector Overlay</vt:lpstr>
      <vt:lpstr>Vector Overlay</vt:lpstr>
      <vt:lpstr>Vector Overlay</vt:lpstr>
      <vt:lpstr>Vector Overlay</vt:lpstr>
      <vt:lpstr>Raster Overlay </vt:lpstr>
      <vt:lpstr>Raster Overlay </vt:lpstr>
      <vt:lpstr>Raster Overlay: Arithmetic Operators </vt:lpstr>
      <vt:lpstr>Raster Overlay: Arithmetic Operators </vt:lpstr>
      <vt:lpstr>Comparison / Logical Operators </vt:lpstr>
      <vt:lpstr>Comparison / Logical Operators </vt:lpstr>
      <vt:lpstr>Buffering</vt:lpstr>
      <vt:lpstr>Buffering</vt:lpstr>
      <vt:lpstr>Buffering</vt:lpstr>
      <vt:lpstr>Buffering</vt:lpstr>
      <vt:lpstr>Assignment - 6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Puranjan</dc:creator>
  <cp:lastModifiedBy>Puranjan</cp:lastModifiedBy>
  <cp:revision>1</cp:revision>
  <dcterms:created xsi:type="dcterms:W3CDTF">2017-01-29T16:01:52Z</dcterms:created>
  <dcterms:modified xsi:type="dcterms:W3CDTF">2017-01-29T16:02:04Z</dcterms:modified>
</cp:coreProperties>
</file>