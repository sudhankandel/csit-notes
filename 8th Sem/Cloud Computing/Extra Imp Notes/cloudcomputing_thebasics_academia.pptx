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46"/>
  </p:notesMasterIdLst>
  <p:sldIdLst>
    <p:sldId id="256" r:id="rId2"/>
    <p:sldId id="275" r:id="rId3"/>
    <p:sldId id="276" r:id="rId4"/>
    <p:sldId id="277" r:id="rId5"/>
    <p:sldId id="257" r:id="rId6"/>
    <p:sldId id="283" r:id="rId7"/>
    <p:sldId id="258" r:id="rId8"/>
    <p:sldId id="260" r:id="rId9"/>
    <p:sldId id="261" r:id="rId10"/>
    <p:sldId id="262" r:id="rId11"/>
    <p:sldId id="263" r:id="rId12"/>
    <p:sldId id="264" r:id="rId13"/>
    <p:sldId id="265" r:id="rId14"/>
    <p:sldId id="266" r:id="rId15"/>
    <p:sldId id="267" r:id="rId16"/>
    <p:sldId id="268" r:id="rId17"/>
    <p:sldId id="269" r:id="rId18"/>
    <p:sldId id="309" r:id="rId19"/>
    <p:sldId id="271" r:id="rId20"/>
    <p:sldId id="310" r:id="rId21"/>
    <p:sldId id="272" r:id="rId22"/>
    <p:sldId id="311" r:id="rId23"/>
    <p:sldId id="280" r:id="rId24"/>
    <p:sldId id="281" r:id="rId25"/>
    <p:sldId id="282"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302" r:id="rId40"/>
    <p:sldId id="303" r:id="rId41"/>
    <p:sldId id="306" r:id="rId42"/>
    <p:sldId id="307" r:id="rId43"/>
    <p:sldId id="308" r:id="rId44"/>
    <p:sldId id="305"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9" d="100"/>
          <a:sy n="69" d="100"/>
        </p:scale>
        <p:origin x="-756" y="-10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183243-361D-4583-B8E5-C0951855CD84}" type="datetimeFigureOut">
              <a:rPr lang="en-US" smtClean="0"/>
              <a:pPr/>
              <a:t>1/15/2017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439C4F-F47F-4BAF-BFD4-0F6775A5C518}" type="slidenum">
              <a:rPr lang="en-US" smtClean="0"/>
              <a:pPr/>
              <a:t>‹#›</a:t>
            </a:fld>
            <a:endParaRPr lang="en-US"/>
          </a:p>
        </p:txBody>
      </p:sp>
    </p:spTree>
    <p:extLst>
      <p:ext uri="{BB962C8B-B14F-4D97-AF65-F5344CB8AC3E}">
        <p14:creationId xmlns="" xmlns:p14="http://schemas.microsoft.com/office/powerpoint/2010/main" val="3527534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smtClean="0"/>
          </a:p>
        </p:txBody>
      </p:sp>
      <p:sp>
        <p:nvSpPr>
          <p:cNvPr id="44036"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7055FD9-E8A9-462C-8E67-E2C93D12A418}" type="slidenum">
              <a:rPr lang="en-US"/>
              <a:pPr/>
              <a:t>3</a:t>
            </a:fld>
            <a:endParaRPr lang="en-US"/>
          </a:p>
        </p:txBody>
      </p:sp>
    </p:spTree>
    <p:extLst>
      <p:ext uri="{BB962C8B-B14F-4D97-AF65-F5344CB8AC3E}">
        <p14:creationId xmlns="" xmlns:p14="http://schemas.microsoft.com/office/powerpoint/2010/main" val="1570061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A439C4F-F47F-4BAF-BFD4-0F6775A5C518}" type="slidenum">
              <a:rPr lang="en-US" smtClean="0"/>
              <a:pPr/>
              <a:t>16</a:t>
            </a:fld>
            <a:endParaRPr lang="en-US"/>
          </a:p>
        </p:txBody>
      </p:sp>
    </p:spTree>
    <p:extLst>
      <p:ext uri="{BB962C8B-B14F-4D97-AF65-F5344CB8AC3E}">
        <p14:creationId xmlns="" xmlns:p14="http://schemas.microsoft.com/office/powerpoint/2010/main" val="1591202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1981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Tree>
    <p:extLst>
      <p:ext uri="{BB962C8B-B14F-4D97-AF65-F5344CB8AC3E}">
        <p14:creationId xmlns="" xmlns:p14="http://schemas.microsoft.com/office/powerpoint/2010/main" val="919608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2493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Tree>
    <p:extLst>
      <p:ext uri="{BB962C8B-B14F-4D97-AF65-F5344CB8AC3E}">
        <p14:creationId xmlns="" xmlns:p14="http://schemas.microsoft.com/office/powerpoint/2010/main" val="2093740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4233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Tree>
    <p:extLst>
      <p:ext uri="{BB962C8B-B14F-4D97-AF65-F5344CB8AC3E}">
        <p14:creationId xmlns="" xmlns:p14="http://schemas.microsoft.com/office/powerpoint/2010/main" val="2310182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2150D6BF-B9B9-4175-9C4A-69AFE6959160}" type="datetime1">
              <a:rPr lang="en-US" smtClean="0"/>
              <a:pPr/>
              <a:t>1/15/2017</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97D224E-48A9-4C15-8486-539596679785}"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41BF6FA-0E6E-43C1-9D8A-48428A8C228C}" type="datetime1">
              <a:rPr lang="en-US" smtClean="0"/>
              <a:pPr/>
              <a:t>1/15/2017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7D224E-48A9-4C15-8486-53959667978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67D5447-A422-46AB-9085-3CB331C908BC}" type="datetime1">
              <a:rPr lang="en-US" smtClean="0"/>
              <a:pPr/>
              <a:t>1/15/2017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7D224E-48A9-4C15-8486-539596679785}"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ECF0881-B1EE-404E-9644-06BB7844B01B}" type="datetime1">
              <a:rPr lang="en-US" smtClean="0"/>
              <a:pPr/>
              <a:t>1/15/2017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7D224E-48A9-4C15-8486-53959667978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974E9F0-40C6-4C71-8015-03065417B0B6}" type="datetime1">
              <a:rPr lang="en-US" smtClean="0"/>
              <a:pPr/>
              <a:t>1/15/2017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7D224E-48A9-4C15-8486-53959667978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96CD879-28BD-4DF1-BFD5-17B2B753A260}" type="datetime1">
              <a:rPr lang="en-US" smtClean="0"/>
              <a:pPr/>
              <a:t>1/15/2017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7D224E-48A9-4C15-8486-53959667978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B41A3-3CD3-4C4A-80F6-A15202C410AD}" type="datetime1">
              <a:rPr lang="en-US" smtClean="0"/>
              <a:pPr/>
              <a:t>1/15/2017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7D224E-48A9-4C15-8486-53959667978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5D028BA-29A1-46FD-B53C-EC5F4D5640EF}" type="datetime1">
              <a:rPr lang="en-US" smtClean="0"/>
              <a:pPr/>
              <a:t>1/15/2017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7D224E-48A9-4C15-8486-53959667978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13CE62F-5CC4-4D88-8DD8-937C95E123A7}" type="datetime1">
              <a:rPr lang="en-US" smtClean="0"/>
              <a:pPr/>
              <a:t>1/15/2017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69600" y="6356351"/>
            <a:ext cx="812800" cy="365125"/>
          </a:xfrm>
        </p:spPr>
        <p:txBody>
          <a:bodyPr/>
          <a:lstStyle/>
          <a:p>
            <a:fld id="{397D224E-48A9-4C15-8486-539596679785}" type="slidenum">
              <a:rPr lang="en-US" smtClean="0"/>
              <a:pPr/>
              <a:t>‹#›</a:t>
            </a:fld>
            <a:endParaRPr lang="en-US"/>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30F4017-9884-4BF8-9032-C4AD06D15875}" type="datetime1">
              <a:rPr lang="en-US" smtClean="0"/>
              <a:pPr/>
              <a:t>1/15/2017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7D224E-48A9-4C15-8486-53959667978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8FA3079-A188-4D03-ACD6-A24FD5995019}" type="datetime1">
              <a:rPr lang="en-US" smtClean="0"/>
              <a:pPr/>
              <a:t>1/15/2017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7D224E-48A9-4C15-8486-539596679785}"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914400" y="1981200"/>
            <a:ext cx="10363200" cy="4114800"/>
          </a:xfrm>
        </p:spPr>
        <p:txBody>
          <a:bodyPr/>
          <a:lstStyle/>
          <a:p>
            <a:endParaRPr lang="en-US"/>
          </a:p>
        </p:txBody>
      </p:sp>
      <p:sp>
        <p:nvSpPr>
          <p:cNvPr id="4" name="Date Placeholder 3"/>
          <p:cNvSpPr>
            <a:spLocks noGrp="1"/>
          </p:cNvSpPr>
          <p:nvPr>
            <p:ph type="dt" sz="half" idx="10"/>
          </p:nvPr>
        </p:nvSpPr>
        <p:spPr>
          <a:xfrm>
            <a:off x="914400" y="6248400"/>
            <a:ext cx="2540000" cy="457200"/>
          </a:xfrm>
        </p:spPr>
        <p:txBody>
          <a:bodyPr/>
          <a:lstStyle>
            <a:lvl1pPr>
              <a:defRPr/>
            </a:lvl1pPr>
          </a:lstStyle>
          <a:p>
            <a:pPr>
              <a:defRPr/>
            </a:pPr>
            <a:fld id="{6C1A1DA8-86F3-4162-8A0C-CEFCD4475FB5}" type="datetime1">
              <a:rPr lang="en-US" smtClean="0"/>
              <a:pPr>
                <a:defRPr/>
              </a:pPr>
              <a:t>1/15/2017</a:t>
            </a:fld>
            <a:endParaRPr lang="en-US"/>
          </a:p>
        </p:txBody>
      </p:sp>
      <p:sp>
        <p:nvSpPr>
          <p:cNvPr id="5" name="Footer Placeholder 4"/>
          <p:cNvSpPr>
            <a:spLocks noGrp="1"/>
          </p:cNvSpPr>
          <p:nvPr>
            <p:ph type="ftr" sz="quarter" idx="11"/>
          </p:nvPr>
        </p:nvSpPr>
        <p:spPr>
          <a:xfrm>
            <a:off x="4165600" y="6248400"/>
            <a:ext cx="3860800" cy="457200"/>
          </a:xfr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8737600" y="6248400"/>
            <a:ext cx="2540000" cy="457200"/>
          </a:xfrm>
        </p:spPr>
        <p:txBody>
          <a:bodyPr/>
          <a:lstStyle>
            <a:lvl1pPr>
              <a:defRPr/>
            </a:lvl1pPr>
          </a:lstStyle>
          <a:p>
            <a:fld id="{E5120110-FF3F-4382-A7E2-01AC37C56904}" type="slidenum">
              <a:rPr lang="en-US"/>
              <a:pPr/>
              <a:t>‹#›</a:t>
            </a:fld>
            <a:endParaRPr lang="en-US"/>
          </a:p>
        </p:txBody>
      </p:sp>
    </p:spTree>
    <p:extLst>
      <p:ext uri="{BB962C8B-B14F-4D97-AF65-F5344CB8AC3E}">
        <p14:creationId xmlns="" xmlns:p14="http://schemas.microsoft.com/office/powerpoint/2010/main" val="4238063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A5D2F0A-75A3-4ABA-B3AA-9B3D836BE465}" type="datetime1">
              <a:rPr lang="en-US" smtClean="0"/>
              <a:pPr/>
              <a:t>1/15/2017</a:t>
            </a:fld>
            <a:endParaRPr lang="en-US"/>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97D224E-48A9-4C15-8486-539596679785}" type="slidenum">
              <a:rPr lang="en-US" smtClean="0"/>
              <a:pPr/>
              <a:t>‹#›</a:t>
            </a:fld>
            <a:endParaRPr lang="en-US"/>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rtl="0" eaLnBrk="1" latinLnBrk="0" hangingPunct="1">
        <a:spcBef>
          <a:spcPct val="0"/>
        </a:spcBef>
        <a:buNone/>
        <a:defRPr kumimoji="0" sz="5000" b="0" kern="1200">
          <a:ln>
            <a:noFill/>
          </a:ln>
          <a:solidFill>
            <a:schemeClr val="tx2"/>
          </a:solidFill>
          <a:effectLst/>
          <a:latin typeface="Times New Roman" pitchFamily="18" charset="0"/>
          <a:ea typeface="+mj-ea"/>
          <a:cs typeface="Times New Roman" pitchFamily="18" charset="0"/>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Times New Roman" pitchFamily="18" charset="0"/>
          <a:ea typeface="+mn-ea"/>
          <a:cs typeface="Times New Roman" pitchFamily="18"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Times New Roman" pitchFamily="18" charset="0"/>
          <a:ea typeface="+mn-ea"/>
          <a:cs typeface="Times New Roman" pitchFamily="18"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Times New Roman" pitchFamily="18" charset="0"/>
          <a:ea typeface="+mn-ea"/>
          <a:cs typeface="Times New Roman" pitchFamily="18"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Times New Roman" pitchFamily="18" charset="0"/>
          <a:ea typeface="+mn-ea"/>
          <a:cs typeface="Times New Roman" pitchFamily="18"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Times New Roman" pitchFamily="18" charset="0"/>
          <a:ea typeface="+mn-ea"/>
          <a:cs typeface="Times New Roman" pitchFamily="18"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investing.businessweek.com/businessweek/research/stocks/people/person.asp?personId=266019&amp;symbol=DEL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investing.businessweek.com/businessweek/research/stocks/people/person.asp?personId=181602&amp;symbol=MSF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Cloud Computing</a:t>
            </a:r>
            <a:endParaRPr lang="en-US" dirty="0"/>
          </a:p>
        </p:txBody>
      </p:sp>
      <p:sp>
        <p:nvSpPr>
          <p:cNvPr id="3" name="Subtitle 2"/>
          <p:cNvSpPr>
            <a:spLocks noGrp="1"/>
          </p:cNvSpPr>
          <p:nvPr>
            <p:ph type="subTitle" idx="1"/>
          </p:nvPr>
        </p:nvSpPr>
        <p:spPr/>
        <p:txBody>
          <a:bodyPr/>
          <a:lstStyle/>
          <a:p>
            <a:r>
              <a:rPr lang="en-US" smtClean="0"/>
              <a:t>The Basics</a:t>
            </a:r>
            <a:endParaRPr lang="en-US" dirty="0"/>
          </a:p>
        </p:txBody>
      </p:sp>
      <p:sp>
        <p:nvSpPr>
          <p:cNvPr id="4" name="Slide Number Placeholder 3"/>
          <p:cNvSpPr>
            <a:spLocks noGrp="1"/>
          </p:cNvSpPr>
          <p:nvPr>
            <p:ph type="sldNum" sz="quarter" idx="12"/>
          </p:nvPr>
        </p:nvSpPr>
        <p:spPr/>
        <p:txBody>
          <a:bodyPr/>
          <a:lstStyle/>
          <a:p>
            <a:fld id="{397D224E-48A9-4C15-8486-539596679785}" type="slidenum">
              <a:rPr lang="en-US" smtClean="0"/>
              <a:pPr/>
              <a:t>1</a:t>
            </a:fld>
            <a:endParaRPr lang="en-US"/>
          </a:p>
        </p:txBody>
      </p:sp>
    </p:spTree>
    <p:extLst>
      <p:ext uri="{BB962C8B-B14F-4D97-AF65-F5344CB8AC3E}">
        <p14:creationId xmlns="" xmlns:p14="http://schemas.microsoft.com/office/powerpoint/2010/main" val="27905466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3"/>
          <p:cNvSpPr txBox="1">
            <a:spLocks/>
          </p:cNvSpPr>
          <p:nvPr/>
        </p:nvSpPr>
        <p:spPr>
          <a:xfrm>
            <a:off x="6356350" y="2185988"/>
            <a:ext cx="4165600" cy="2150485"/>
          </a:xfrm>
          <a:prstGeom prst="rect">
            <a:avLst/>
          </a:prstGeom>
          <a:solidFill>
            <a:schemeClr val="bg1">
              <a:alpha val="46000"/>
            </a:schemeClr>
          </a:solidFill>
          <a:ln>
            <a:solidFill>
              <a:schemeClr val="bg1">
                <a:lumMod val="65000"/>
              </a:schemeClr>
            </a:solidFill>
          </a:ln>
        </p:spPr>
        <p:txBody>
          <a:bodyPr>
            <a:norm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20000"/>
              </a:spcBef>
              <a:buFont typeface="Arial" panose="020B0604020202020204" pitchFamily="34" charset="0"/>
              <a:buChar char="■"/>
            </a:pPr>
            <a:endParaRPr lang="en-AU" sz="2800">
              <a:latin typeface="Arial" panose="020B0604020202020204" pitchFamily="34" charset="0"/>
            </a:endParaRPr>
          </a:p>
        </p:txBody>
      </p:sp>
      <p:sp>
        <p:nvSpPr>
          <p:cNvPr id="22530" name="Title 2"/>
          <p:cNvSpPr>
            <a:spLocks noGrp="1"/>
          </p:cNvSpPr>
          <p:nvPr>
            <p:ph type="title"/>
          </p:nvPr>
        </p:nvSpPr>
        <p:spPr>
          <a:xfrm>
            <a:off x="678873" y="1116014"/>
            <a:ext cx="10127672" cy="890587"/>
          </a:xfrm>
        </p:spPr>
        <p:txBody>
          <a:bodyPr rtlCol="0">
            <a:noAutofit/>
          </a:bodyPr>
          <a:lstStyle/>
          <a:p>
            <a:pPr>
              <a:defRPr/>
            </a:pPr>
            <a:r>
              <a:rPr lang="en-AU" sz="3200" dirty="0"/>
              <a:t>The Next Revolution in IT</a:t>
            </a:r>
            <a:br>
              <a:rPr lang="en-AU" sz="3200" dirty="0"/>
            </a:br>
            <a:r>
              <a:rPr lang="en-AU" sz="3200" dirty="0"/>
              <a:t>The Big Switch in IT</a:t>
            </a:r>
          </a:p>
        </p:txBody>
      </p:sp>
      <p:sp>
        <p:nvSpPr>
          <p:cNvPr id="26627" name="Content Placeholder 3"/>
          <p:cNvSpPr>
            <a:spLocks noGrp="1"/>
          </p:cNvSpPr>
          <p:nvPr>
            <p:ph idx="1"/>
          </p:nvPr>
        </p:nvSpPr>
        <p:spPr>
          <a:xfrm>
            <a:off x="1981200" y="2179638"/>
            <a:ext cx="4311650" cy="4525962"/>
          </a:xfrm>
        </p:spPr>
        <p:txBody>
          <a:bodyPr rtlCol="0">
            <a:normAutofit fontScale="92500"/>
          </a:bodyPr>
          <a:lstStyle/>
          <a:p>
            <a:pPr>
              <a:defRPr/>
            </a:pPr>
            <a:r>
              <a:rPr lang="en-AU" dirty="0" smtClean="0"/>
              <a:t>Classical Computing</a:t>
            </a:r>
          </a:p>
          <a:p>
            <a:pPr lvl="1">
              <a:defRPr/>
            </a:pPr>
            <a:r>
              <a:rPr lang="en-AU" dirty="0" smtClean="0"/>
              <a:t>Buy &amp; Own</a:t>
            </a:r>
          </a:p>
          <a:p>
            <a:pPr lvl="2">
              <a:defRPr/>
            </a:pPr>
            <a:r>
              <a:rPr lang="en-AU" dirty="0" smtClean="0"/>
              <a:t>Hardware, </a:t>
            </a:r>
          </a:p>
          <a:p>
            <a:pPr lvl="2">
              <a:defRPr/>
            </a:pPr>
            <a:r>
              <a:rPr lang="en-AU" dirty="0" smtClean="0"/>
              <a:t>System Software,</a:t>
            </a:r>
          </a:p>
          <a:p>
            <a:pPr lvl="2">
              <a:defRPr/>
            </a:pPr>
            <a:r>
              <a:rPr lang="en-AU" dirty="0" smtClean="0"/>
              <a:t>Applications often to meet peak needs.</a:t>
            </a:r>
          </a:p>
          <a:p>
            <a:pPr lvl="1">
              <a:defRPr/>
            </a:pPr>
            <a:r>
              <a:rPr lang="en-AU" dirty="0" smtClean="0"/>
              <a:t>Install, Configure, Test, Verify</a:t>
            </a:r>
          </a:p>
          <a:p>
            <a:pPr lvl="1">
              <a:defRPr/>
            </a:pPr>
            <a:r>
              <a:rPr lang="en-AU" dirty="0" smtClean="0"/>
              <a:t>Manage</a:t>
            </a:r>
          </a:p>
          <a:p>
            <a:pPr lvl="1">
              <a:defRPr/>
            </a:pPr>
            <a:r>
              <a:rPr lang="en-AU" dirty="0" smtClean="0"/>
              <a:t>..</a:t>
            </a:r>
          </a:p>
          <a:p>
            <a:pPr lvl="1">
              <a:defRPr/>
            </a:pPr>
            <a:r>
              <a:rPr lang="en-AU" dirty="0" smtClean="0"/>
              <a:t>Finally, use it</a:t>
            </a:r>
          </a:p>
          <a:p>
            <a:pPr lvl="1">
              <a:defRPr/>
            </a:pPr>
            <a:r>
              <a:rPr lang="en-AU" dirty="0" smtClean="0"/>
              <a:t>$$$$....$(High </a:t>
            </a:r>
            <a:r>
              <a:rPr lang="en-AU" dirty="0" err="1" smtClean="0"/>
              <a:t>CapEx</a:t>
            </a:r>
            <a:r>
              <a:rPr lang="en-AU" dirty="0" smtClean="0"/>
              <a:t>)</a:t>
            </a:r>
          </a:p>
        </p:txBody>
      </p:sp>
      <p:sp>
        <p:nvSpPr>
          <p:cNvPr id="3" name="Slide Number Placeholder 2"/>
          <p:cNvSpPr>
            <a:spLocks noGrp="1"/>
          </p:cNvSpPr>
          <p:nvPr>
            <p:ph type="sldNum" sz="quarter" idx="12"/>
          </p:nvPr>
        </p:nvSpPr>
        <p:spPr/>
        <p:txBody>
          <a:bodyPr/>
          <a:lstStyle/>
          <a:p>
            <a:fld id="{397D224E-48A9-4C15-8486-539596679785}" type="slidenum">
              <a:rPr lang="en-US" smtClean="0"/>
              <a:pPr/>
              <a:t>2</a:t>
            </a:fld>
            <a:endParaRPr lang="en-US"/>
          </a:p>
        </p:txBody>
      </p:sp>
      <p:sp>
        <p:nvSpPr>
          <p:cNvPr id="5" name="Content Placeholder 4"/>
          <p:cNvSpPr>
            <a:spLocks noGrp="1"/>
          </p:cNvSpPr>
          <p:nvPr>
            <p:ph sz="half" idx="4294967295"/>
          </p:nvPr>
        </p:nvSpPr>
        <p:spPr>
          <a:xfrm>
            <a:off x="6317674" y="2202873"/>
            <a:ext cx="4225636" cy="2161310"/>
          </a:xfrm>
        </p:spPr>
        <p:txBody>
          <a:bodyPr>
            <a:normAutofit/>
          </a:bodyPr>
          <a:lstStyle/>
          <a:p>
            <a:pPr>
              <a:lnSpc>
                <a:spcPct val="80000"/>
              </a:lnSpc>
              <a:buFont typeface="Arial" panose="020B0604020202020204" pitchFamily="34" charset="0"/>
              <a:buChar char="■"/>
            </a:pPr>
            <a:r>
              <a:rPr lang="en-AU" sz="3000" dirty="0"/>
              <a:t>Cloud Computing</a:t>
            </a:r>
          </a:p>
          <a:p>
            <a:pPr lvl="1">
              <a:lnSpc>
                <a:spcPct val="90000"/>
              </a:lnSpc>
            </a:pPr>
            <a:r>
              <a:rPr lang="en-AU" sz="2600" dirty="0"/>
              <a:t>Subscribe</a:t>
            </a:r>
          </a:p>
          <a:p>
            <a:pPr lvl="1">
              <a:lnSpc>
                <a:spcPct val="90000"/>
              </a:lnSpc>
            </a:pPr>
            <a:r>
              <a:rPr lang="en-AU" sz="2600" dirty="0" smtClean="0"/>
              <a:t>Use</a:t>
            </a:r>
            <a:endParaRPr lang="en-AU" sz="2600" dirty="0"/>
          </a:p>
          <a:p>
            <a:pPr lvl="1">
              <a:lnSpc>
                <a:spcPct val="90000"/>
              </a:lnSpc>
            </a:pPr>
            <a:r>
              <a:rPr lang="en-AU" sz="2600" dirty="0"/>
              <a:t>$ - pay for what you use, based on </a:t>
            </a:r>
            <a:r>
              <a:rPr lang="en-AU" sz="2600" dirty="0" err="1">
                <a:solidFill>
                  <a:srgbClr val="FF0000"/>
                </a:solidFill>
              </a:rPr>
              <a:t>QoS</a:t>
            </a:r>
            <a:endParaRPr lang="en-AU" sz="2600" dirty="0">
              <a:solidFill>
                <a:srgbClr val="FF0000"/>
              </a:solidFill>
            </a:endParaRPr>
          </a:p>
        </p:txBody>
      </p:sp>
      <p:grpSp>
        <p:nvGrpSpPr>
          <p:cNvPr id="2" name="Group 9"/>
          <p:cNvGrpSpPr>
            <a:grpSpLocks/>
          </p:cNvGrpSpPr>
          <p:nvPr/>
        </p:nvGrpSpPr>
        <p:grpSpPr bwMode="auto">
          <a:xfrm>
            <a:off x="1351920" y="2714626"/>
            <a:ext cx="1028898" cy="3053625"/>
            <a:chOff x="270848" y="2562896"/>
            <a:chExt cx="1029918" cy="3052293"/>
          </a:xfrm>
        </p:grpSpPr>
        <p:sp>
          <p:nvSpPr>
            <p:cNvPr id="18440" name="Freeform 7"/>
            <p:cNvSpPr>
              <a:spLocks/>
            </p:cNvSpPr>
            <p:nvPr/>
          </p:nvSpPr>
          <p:spPr bwMode="auto">
            <a:xfrm>
              <a:off x="663262" y="2562896"/>
              <a:ext cx="637504" cy="3052293"/>
            </a:xfrm>
            <a:custGeom>
              <a:avLst/>
              <a:gdLst>
                <a:gd name="T0" fmla="*/ 598868 w 637504"/>
                <a:gd name="T1" fmla="*/ 3052293 h 3052293"/>
                <a:gd name="T2" fmla="*/ 6439 w 637504"/>
                <a:gd name="T3" fmla="*/ 1764509 h 3052293"/>
                <a:gd name="T4" fmla="*/ 637504 w 637504"/>
                <a:gd name="T5" fmla="*/ 0 h 3052293"/>
                <a:gd name="T6" fmla="*/ 0 60000 65536"/>
                <a:gd name="T7" fmla="*/ 0 60000 65536"/>
                <a:gd name="T8" fmla="*/ 0 60000 65536"/>
                <a:gd name="T9" fmla="*/ 0 w 637504"/>
                <a:gd name="T10" fmla="*/ 0 h 3052293"/>
                <a:gd name="T11" fmla="*/ 637504 w 637504"/>
                <a:gd name="T12" fmla="*/ 3052293 h 3052293"/>
              </a:gdLst>
              <a:ahLst/>
              <a:cxnLst>
                <a:cxn ang="T6">
                  <a:pos x="T0" y="T1"/>
                </a:cxn>
                <a:cxn ang="T7">
                  <a:pos x="T2" y="T3"/>
                </a:cxn>
                <a:cxn ang="T8">
                  <a:pos x="T4" y="T5"/>
                </a:cxn>
              </a:cxnLst>
              <a:rect l="T9" t="T10" r="T11" b="T12"/>
              <a:pathLst>
                <a:path w="637504" h="3052293">
                  <a:moveTo>
                    <a:pt x="598868" y="3052293"/>
                  </a:moveTo>
                  <a:cubicBezTo>
                    <a:pt x="299434" y="2662706"/>
                    <a:pt x="0" y="2273120"/>
                    <a:pt x="6439" y="1764405"/>
                  </a:cubicBezTo>
                  <a:cubicBezTo>
                    <a:pt x="12878" y="1255690"/>
                    <a:pt x="530180" y="291921"/>
                    <a:pt x="637504" y="0"/>
                  </a:cubicBezTo>
                </a:path>
              </a:pathLst>
            </a:custGeom>
            <a:noFill/>
            <a:ln w="38100" cap="flat" cmpd="sng" algn="ctr">
              <a:solidFill>
                <a:srgbClr val="FF0000"/>
              </a:solidFill>
              <a:prstDash val="solid"/>
              <a:round/>
              <a:headEnd type="none" w="med" len="med"/>
              <a:tailEnd type="arrow" w="med" len="med"/>
            </a:ln>
            <a:extLst>
              <a:ext uri="{909E8E84-426E-40DD-AFC4-6F175D3DCCD1}">
                <a14:hiddenFill xmlns="" xmlns:a14="http://schemas.microsoft.com/office/drawing/2010/main">
                  <a:solidFill>
                    <a:srgbClr val="FFFFFF"/>
                  </a:solidFill>
                </a14:hiddenFill>
              </a:ext>
            </a:extLst>
          </p:spPr>
          <p:txBody>
            <a:bodyPr lIns="91380" tIns="45692" rIns="91380" bIns="45692" anchor="ctr"/>
            <a:lstStyle/>
            <a:p>
              <a:endParaRPr lang="en-US"/>
            </a:p>
          </p:txBody>
        </p:sp>
        <p:sp>
          <p:nvSpPr>
            <p:cNvPr id="18441" name="TextBox 8"/>
            <p:cNvSpPr txBox="1">
              <a:spLocks noChangeArrowheads="1"/>
            </p:cNvSpPr>
            <p:nvPr/>
          </p:nvSpPr>
          <p:spPr bwMode="auto">
            <a:xfrm rot="5400000" flipH="1" flipV="1">
              <a:off x="-563827" y="4098722"/>
              <a:ext cx="2069857" cy="4005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AU" sz="2000" b="1"/>
                <a:t>Every 18 months?</a:t>
              </a:r>
            </a:p>
          </p:txBody>
        </p:sp>
      </p:grpSp>
    </p:spTree>
    <p:extLst>
      <p:ext uri="{BB962C8B-B14F-4D97-AF65-F5344CB8AC3E}">
        <p14:creationId xmlns="" xmlns:p14="http://schemas.microsoft.com/office/powerpoint/2010/main" val="36296639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62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62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62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62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62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62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627">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627">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627">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nodePh="1">
                                  <p:stCondLst>
                                    <p:cond delay="0"/>
                                  </p:stCondLst>
                                  <p:endCondLst>
                                    <p:cond evt="begin" delay="0">
                                      <p:tn val="39"/>
                                    </p:cond>
                                  </p:endCondLst>
                                  <p:childTnLst>
                                    <p:set>
                                      <p:cBhvr>
                                        <p:cTn id="4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26627" grpId="0" build="p"/>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16014"/>
            <a:ext cx="8229600" cy="890587"/>
          </a:xfrm>
        </p:spPr>
        <p:txBody>
          <a:bodyPr rtlCol="0">
            <a:normAutofit/>
          </a:bodyPr>
          <a:lstStyle/>
          <a:p>
            <a:pPr>
              <a:defRPr/>
            </a:pPr>
            <a:r>
              <a:rPr lang="en-US" dirty="0" smtClean="0"/>
              <a:t>Cloud Computing</a:t>
            </a:r>
            <a:endParaRPr lang="en-US" dirty="0"/>
          </a:p>
        </p:txBody>
      </p:sp>
      <p:sp>
        <p:nvSpPr>
          <p:cNvPr id="3" name="Content Placeholder 2"/>
          <p:cNvSpPr>
            <a:spLocks noGrp="1"/>
          </p:cNvSpPr>
          <p:nvPr>
            <p:ph idx="1"/>
          </p:nvPr>
        </p:nvSpPr>
        <p:spPr>
          <a:xfrm>
            <a:off x="1981200" y="2179638"/>
            <a:ext cx="8229600" cy="4525962"/>
          </a:xfrm>
        </p:spPr>
        <p:txBody>
          <a:bodyPr>
            <a:normAutofit/>
          </a:bodyPr>
          <a:lstStyle/>
          <a:p>
            <a:r>
              <a:rPr lang="en-US" smtClean="0"/>
              <a:t>Definition…</a:t>
            </a:r>
          </a:p>
          <a:p>
            <a:pPr>
              <a:buFont typeface="Arial" panose="020B0604020202020204" pitchFamily="34" charset="0"/>
              <a:buNone/>
            </a:pPr>
            <a:r>
              <a:rPr lang="en-US" smtClean="0"/>
              <a:t>                     </a:t>
            </a:r>
            <a:r>
              <a:rPr lang="en-US" sz="4000"/>
              <a:t>Cloud  Computing</a:t>
            </a:r>
          </a:p>
        </p:txBody>
      </p:sp>
      <p:sp>
        <p:nvSpPr>
          <p:cNvPr id="9" name="Slide Number Placeholder 8"/>
          <p:cNvSpPr>
            <a:spLocks noGrp="1"/>
          </p:cNvSpPr>
          <p:nvPr>
            <p:ph type="sldNum" sz="quarter" idx="12"/>
          </p:nvPr>
        </p:nvSpPr>
        <p:spPr/>
        <p:txBody>
          <a:bodyPr/>
          <a:lstStyle/>
          <a:p>
            <a:fld id="{397D224E-48A9-4C15-8486-539596679785}" type="slidenum">
              <a:rPr lang="en-US" smtClean="0"/>
              <a:pPr/>
              <a:t>3</a:t>
            </a:fld>
            <a:endParaRPr lang="en-US"/>
          </a:p>
        </p:txBody>
      </p:sp>
      <p:grpSp>
        <p:nvGrpSpPr>
          <p:cNvPr id="4" name="Group 13"/>
          <p:cNvGrpSpPr>
            <a:grpSpLocks/>
          </p:cNvGrpSpPr>
          <p:nvPr/>
        </p:nvGrpSpPr>
        <p:grpSpPr bwMode="auto">
          <a:xfrm>
            <a:off x="2924175" y="2789238"/>
            <a:ext cx="2716213" cy="2222500"/>
            <a:chOff x="1336" y="1646"/>
            <a:chExt cx="1711" cy="1400"/>
          </a:xfrm>
        </p:grpSpPr>
        <p:sp>
          <p:nvSpPr>
            <p:cNvPr id="8" name="Text Box 5"/>
            <p:cNvSpPr txBox="1">
              <a:spLocks noChangeArrowheads="1"/>
            </p:cNvSpPr>
            <p:nvPr/>
          </p:nvSpPr>
          <p:spPr bwMode="auto">
            <a:xfrm>
              <a:off x="1336" y="2352"/>
              <a:ext cx="1711" cy="694"/>
            </a:xfrm>
            <a:prstGeom prst="roundRect">
              <a:avLst>
                <a:gd name="adj" fmla="val 8916"/>
              </a:avLst>
            </a:prstGeom>
            <a:gradFill rotWithShape="1">
              <a:gsLst>
                <a:gs pos="0">
                  <a:srgbClr val="990000"/>
                </a:gs>
                <a:gs pos="100000">
                  <a:srgbClr val="FF0000"/>
                </a:gs>
              </a:gsLst>
              <a:lin ang="5400000" scaled="1"/>
            </a:gradFill>
            <a:ln w="19050">
              <a:solidFill>
                <a:srgbClr val="CC0000"/>
              </a:solidFill>
              <a:miter lim="800000"/>
              <a:headEnd/>
              <a:tailEnd/>
            </a:ln>
            <a:effectLst>
              <a:outerShdw blurRad="50800" dist="38100" dir="2700000" algn="tl" rotWithShape="0">
                <a:prstClr val="black">
                  <a:alpha val="40000"/>
                </a:prstClr>
              </a:outerShdw>
            </a:effectLst>
          </p:spPr>
          <p:txBody>
            <a:bodyPr lIns="73152" tIns="154800" rIns="73152" bIns="154800">
              <a:spAutoFit/>
            </a:bodyPr>
            <a:lstStyle/>
            <a:p>
              <a:pPr algn="ctr">
                <a:defRPr/>
              </a:pPr>
              <a:r>
                <a:rPr lang="en-US" altLang="zh-CN" sz="1600" b="1" dirty="0">
                  <a:solidFill>
                    <a:schemeClr val="bg1"/>
                  </a:solidFill>
                </a:rPr>
                <a:t>The “Cloud” is the default symbol of the Internet in diagrams.</a:t>
              </a:r>
            </a:p>
          </p:txBody>
        </p:sp>
        <p:sp>
          <p:nvSpPr>
            <p:cNvPr id="20494" name="AutoShape 6"/>
            <p:cNvSpPr>
              <a:spLocks noChangeArrowheads="1"/>
            </p:cNvSpPr>
            <p:nvPr/>
          </p:nvSpPr>
          <p:spPr bwMode="auto">
            <a:xfrm>
              <a:off x="1868" y="1646"/>
              <a:ext cx="916" cy="446"/>
            </a:xfrm>
            <a:prstGeom prst="roundRect">
              <a:avLst>
                <a:gd name="adj" fmla="val 7778"/>
              </a:avLst>
            </a:prstGeom>
            <a:solidFill>
              <a:srgbClr val="FF0000">
                <a:alpha val="7843"/>
              </a:srgbClr>
            </a:solidFill>
            <a:ln w="19050">
              <a:solidFill>
                <a:srgbClr val="CC0000"/>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p>
          </p:txBody>
        </p:sp>
        <p:sp>
          <p:nvSpPr>
            <p:cNvPr id="20495" name="Line 7"/>
            <p:cNvSpPr>
              <a:spLocks noChangeShapeType="1"/>
            </p:cNvSpPr>
            <p:nvPr/>
          </p:nvSpPr>
          <p:spPr bwMode="auto">
            <a:xfrm rot="5400000">
              <a:off x="2208" y="2211"/>
              <a:ext cx="268" cy="2"/>
            </a:xfrm>
            <a:prstGeom prst="line">
              <a:avLst/>
            </a:prstGeom>
            <a:noFill/>
            <a:ln w="19050">
              <a:solidFill>
                <a:srgbClr val="CC0000"/>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p:grpSp>
      <p:grpSp>
        <p:nvGrpSpPr>
          <p:cNvPr id="6" name="Group 12"/>
          <p:cNvGrpSpPr>
            <a:grpSpLocks/>
          </p:cNvGrpSpPr>
          <p:nvPr/>
        </p:nvGrpSpPr>
        <p:grpSpPr bwMode="auto">
          <a:xfrm>
            <a:off x="5264766" y="2801938"/>
            <a:ext cx="4084023" cy="2630488"/>
            <a:chOff x="2846" y="1654"/>
            <a:chExt cx="2465" cy="1657"/>
          </a:xfrm>
        </p:grpSpPr>
        <p:sp>
          <p:nvSpPr>
            <p:cNvPr id="20490" name="AutoShape 9"/>
            <p:cNvSpPr>
              <a:spLocks noChangeArrowheads="1"/>
            </p:cNvSpPr>
            <p:nvPr/>
          </p:nvSpPr>
          <p:spPr bwMode="auto">
            <a:xfrm>
              <a:off x="2846" y="1654"/>
              <a:ext cx="1505" cy="438"/>
            </a:xfrm>
            <a:prstGeom prst="roundRect">
              <a:avLst>
                <a:gd name="adj" fmla="val 7778"/>
              </a:avLst>
            </a:prstGeom>
            <a:solidFill>
              <a:srgbClr val="FF0000">
                <a:alpha val="7843"/>
              </a:srgbClr>
            </a:solidFill>
            <a:ln w="19050">
              <a:solidFill>
                <a:srgbClr val="CC0000"/>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p>
          </p:txBody>
        </p:sp>
        <p:sp>
          <p:nvSpPr>
            <p:cNvPr id="13" name="Text Box 10"/>
            <p:cNvSpPr txBox="1">
              <a:spLocks noChangeArrowheads="1"/>
            </p:cNvSpPr>
            <p:nvPr/>
          </p:nvSpPr>
          <p:spPr bwMode="auto">
            <a:xfrm>
              <a:off x="3112" y="2352"/>
              <a:ext cx="2199" cy="959"/>
            </a:xfrm>
            <a:prstGeom prst="roundRect">
              <a:avLst>
                <a:gd name="adj" fmla="val 8650"/>
              </a:avLst>
            </a:prstGeom>
            <a:gradFill rotWithShape="1">
              <a:gsLst>
                <a:gs pos="0">
                  <a:srgbClr val="990000"/>
                </a:gs>
                <a:gs pos="100000">
                  <a:srgbClr val="FF0000"/>
                </a:gs>
              </a:gsLst>
              <a:lin ang="5400000" scaled="1"/>
            </a:gradFill>
            <a:ln w="19050">
              <a:solidFill>
                <a:srgbClr val="CC0000"/>
              </a:solidFill>
              <a:miter lim="800000"/>
              <a:headEnd/>
              <a:tailEnd/>
            </a:ln>
            <a:effectLst>
              <a:outerShdw blurRad="50800" dist="38100" dir="2700000" algn="tl" rotWithShape="0">
                <a:prstClr val="black">
                  <a:alpha val="40000"/>
                </a:prstClr>
              </a:outerShdw>
            </a:effectLst>
          </p:spPr>
          <p:txBody>
            <a:bodyPr lIns="164592" tIns="154800" rIns="164592" bIns="64008">
              <a:spAutoFit/>
            </a:bodyPr>
            <a:lstStyle/>
            <a:p>
              <a:pPr>
                <a:defRPr/>
              </a:pPr>
              <a:r>
                <a:rPr lang="en-US" altLang="zh-CN" sz="1600" b="1">
                  <a:solidFill>
                    <a:schemeClr val="bg1"/>
                  </a:solidFill>
                </a:rPr>
                <a:t>The broader term of “Computing” encompasses:</a:t>
              </a:r>
            </a:p>
            <a:p>
              <a:pPr>
                <a:buFontTx/>
                <a:buChar char="-"/>
                <a:defRPr/>
              </a:pPr>
              <a:r>
                <a:rPr lang="en-US" altLang="zh-CN" sz="1600" b="1">
                  <a:solidFill>
                    <a:schemeClr val="bg1"/>
                  </a:solidFill>
                </a:rPr>
                <a:t> Computation</a:t>
              </a:r>
            </a:p>
            <a:p>
              <a:pPr>
                <a:buFontTx/>
                <a:buChar char="-"/>
                <a:defRPr/>
              </a:pPr>
              <a:r>
                <a:rPr lang="en-US" altLang="zh-CN" sz="1600" b="1">
                  <a:solidFill>
                    <a:schemeClr val="bg1"/>
                  </a:solidFill>
                </a:rPr>
                <a:t> Coordination logic</a:t>
              </a:r>
            </a:p>
            <a:p>
              <a:pPr>
                <a:buFontTx/>
                <a:buChar char="-"/>
                <a:defRPr/>
              </a:pPr>
              <a:r>
                <a:rPr lang="en-US" altLang="zh-CN" sz="1600" b="1">
                  <a:solidFill>
                    <a:schemeClr val="bg1"/>
                  </a:solidFill>
                </a:rPr>
                <a:t> Storage</a:t>
              </a:r>
            </a:p>
          </p:txBody>
        </p:sp>
        <p:sp>
          <p:nvSpPr>
            <p:cNvPr id="20492" name="Line 11"/>
            <p:cNvSpPr>
              <a:spLocks noChangeShapeType="1"/>
            </p:cNvSpPr>
            <p:nvPr/>
          </p:nvSpPr>
          <p:spPr bwMode="auto">
            <a:xfrm rot="5400000">
              <a:off x="3492" y="2220"/>
              <a:ext cx="268" cy="2"/>
            </a:xfrm>
            <a:prstGeom prst="line">
              <a:avLst/>
            </a:prstGeom>
            <a:noFill/>
            <a:ln w="19050">
              <a:solidFill>
                <a:srgbClr val="CC0000"/>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p:grpSp>
      <p:grpSp>
        <p:nvGrpSpPr>
          <p:cNvPr id="7" name="Group 19"/>
          <p:cNvGrpSpPr>
            <a:grpSpLocks/>
          </p:cNvGrpSpPr>
          <p:nvPr/>
        </p:nvGrpSpPr>
        <p:grpSpPr bwMode="auto">
          <a:xfrm>
            <a:off x="3254376" y="5556251"/>
            <a:ext cx="5878513" cy="1101725"/>
            <a:chOff x="1328" y="3192"/>
            <a:chExt cx="3703" cy="694"/>
          </a:xfrm>
        </p:grpSpPr>
        <p:sp>
          <p:nvSpPr>
            <p:cNvPr id="16" name="Text Box 15"/>
            <p:cNvSpPr txBox="1">
              <a:spLocks noChangeArrowheads="1"/>
            </p:cNvSpPr>
            <p:nvPr/>
          </p:nvSpPr>
          <p:spPr bwMode="auto">
            <a:xfrm>
              <a:off x="1328" y="3208"/>
              <a:ext cx="3351" cy="643"/>
            </a:xfrm>
            <a:prstGeom prst="roundRect">
              <a:avLst/>
            </a:prstGeom>
            <a:gradFill rotWithShape="1">
              <a:gsLst>
                <a:gs pos="0">
                  <a:srgbClr val="0A5804"/>
                </a:gs>
                <a:gs pos="100000">
                  <a:srgbClr val="009900"/>
                </a:gs>
              </a:gsLst>
              <a:lin ang="5400000" scaled="1"/>
            </a:gradFill>
            <a:ln w="9525" algn="ctr">
              <a:solidFill>
                <a:srgbClr val="0A5804"/>
              </a:solidFill>
              <a:miter lim="800000"/>
              <a:headEnd/>
              <a:tailEnd/>
            </a:ln>
            <a:effectLst>
              <a:outerShdw blurRad="50800" dist="38100" dir="2700000" algn="tl" rotWithShape="0">
                <a:prstClr val="black">
                  <a:alpha val="40000"/>
                </a:prstClr>
              </a:outerShdw>
            </a:effectLst>
          </p:spPr>
          <p:txBody>
            <a:bodyPr lIns="182880" tIns="137160" rIns="548640" bIns="137160">
              <a:spAutoFit/>
            </a:bodyPr>
            <a:lstStyle/>
            <a:p>
              <a:pPr algn="ctr">
                <a:defRPr/>
              </a:pPr>
              <a:r>
                <a:rPr lang="en-US" altLang="zh-CN" sz="1400" b="1" dirty="0">
                  <a:solidFill>
                    <a:schemeClr val="bg1"/>
                  </a:solidFill>
                </a:rPr>
                <a:t>Cloud Computing is about moving computing from the single desktop pc/data centers to commercial service providers on the Internet.</a:t>
              </a:r>
            </a:p>
          </p:txBody>
        </p:sp>
        <p:pic>
          <p:nvPicPr>
            <p:cNvPr id="20489" name="Picture 18" descr="MCj04298270000[1]"/>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rot="919217">
              <a:off x="4360" y="3192"/>
              <a:ext cx="671" cy="6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Tree>
    <p:extLst>
      <p:ext uri="{BB962C8B-B14F-4D97-AF65-F5344CB8AC3E}">
        <p14:creationId xmlns="" xmlns:p14="http://schemas.microsoft.com/office/powerpoint/2010/main" val="38762717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16014"/>
            <a:ext cx="8229600" cy="890587"/>
          </a:xfrm>
        </p:spPr>
        <p:txBody>
          <a:bodyPr rtlCol="0">
            <a:normAutofit/>
          </a:bodyPr>
          <a:lstStyle/>
          <a:p>
            <a:pPr>
              <a:defRPr/>
            </a:pPr>
            <a:r>
              <a:rPr lang="en-US" dirty="0" smtClean="0"/>
              <a:t>Cloud Computing</a:t>
            </a:r>
            <a:endParaRPr lang="en-US" dirty="0"/>
          </a:p>
        </p:txBody>
      </p:sp>
      <p:sp>
        <p:nvSpPr>
          <p:cNvPr id="3" name="Content Placeholder 2"/>
          <p:cNvSpPr>
            <a:spLocks noGrp="1"/>
          </p:cNvSpPr>
          <p:nvPr>
            <p:ph idx="1"/>
          </p:nvPr>
        </p:nvSpPr>
        <p:spPr>
          <a:xfrm>
            <a:off x="1981200" y="2179638"/>
            <a:ext cx="8229600" cy="4525962"/>
          </a:xfrm>
        </p:spPr>
        <p:txBody>
          <a:bodyPr>
            <a:normAutofit/>
          </a:bodyPr>
          <a:lstStyle/>
          <a:p>
            <a:r>
              <a:rPr lang="en-US" smtClean="0"/>
              <a:t>Essential characteristics:</a:t>
            </a:r>
          </a:p>
          <a:p>
            <a:pPr marL="739775" lvl="1" indent="-282575">
              <a:buFont typeface="Arial" panose="020B0604020202020204" pitchFamily="34" charset="0"/>
              <a:buChar char="–"/>
            </a:pPr>
            <a:r>
              <a:rPr lang="en-US" sz="2000"/>
              <a:t>On-demand self service</a:t>
            </a:r>
          </a:p>
          <a:p>
            <a:pPr marL="739775" lvl="1" indent="-282575">
              <a:buFont typeface="Arial" panose="020B0604020202020204" pitchFamily="34" charset="0"/>
              <a:buChar char="–"/>
            </a:pPr>
            <a:r>
              <a:rPr lang="en-US" sz="2000"/>
              <a:t>Broad network access</a:t>
            </a:r>
          </a:p>
          <a:p>
            <a:pPr marL="739775" lvl="1" indent="-282575">
              <a:buFont typeface="Arial" panose="020B0604020202020204" pitchFamily="34" charset="0"/>
              <a:buChar char="–"/>
            </a:pPr>
            <a:r>
              <a:rPr lang="en-US" sz="2000"/>
              <a:t>Resource pooling</a:t>
            </a:r>
          </a:p>
          <a:p>
            <a:pPr marL="739775" lvl="1" indent="-282575">
              <a:buFont typeface="Arial" panose="020B0604020202020204" pitchFamily="34" charset="0"/>
              <a:buChar char="–"/>
            </a:pPr>
            <a:r>
              <a:rPr lang="en-US" sz="2000"/>
              <a:t>Rapid elasticity</a:t>
            </a:r>
          </a:p>
          <a:p>
            <a:pPr marL="739775" lvl="1" indent="-282575">
              <a:buFont typeface="Arial" panose="020B0604020202020204" pitchFamily="34" charset="0"/>
              <a:buChar char="–"/>
            </a:pPr>
            <a:r>
              <a:rPr lang="en-US" sz="2000"/>
              <a:t>Measured service</a:t>
            </a:r>
          </a:p>
          <a:p>
            <a:r>
              <a:rPr lang="en-US" smtClean="0"/>
              <a:t>Extras</a:t>
            </a:r>
          </a:p>
          <a:p>
            <a:pPr marL="739775" lvl="1" indent="-282575"/>
            <a:r>
              <a:rPr lang="en-US" sz="2000"/>
              <a:t>Pay-per-use</a:t>
            </a:r>
          </a:p>
          <a:p>
            <a:pPr marL="739775" lvl="1" indent="-282575"/>
            <a:r>
              <a:rPr lang="en-US" sz="2000"/>
              <a:t>SLA</a:t>
            </a:r>
          </a:p>
          <a:p>
            <a:pPr marL="739775" lvl="1" indent="-282575"/>
            <a:r>
              <a:rPr lang="en-US" sz="2000"/>
              <a:t>Distribution</a:t>
            </a:r>
          </a:p>
          <a:p>
            <a:pPr>
              <a:buFont typeface="Arial" panose="020B0604020202020204" pitchFamily="34" charset="0"/>
              <a:buChar char="–"/>
            </a:pPr>
            <a:endParaRPr lang="en-US" sz="2400"/>
          </a:p>
        </p:txBody>
      </p:sp>
      <p:sp>
        <p:nvSpPr>
          <p:cNvPr id="4" name="Slide Number Placeholder 3"/>
          <p:cNvSpPr>
            <a:spLocks noGrp="1"/>
          </p:cNvSpPr>
          <p:nvPr>
            <p:ph type="sldNum" sz="quarter" idx="12"/>
          </p:nvPr>
        </p:nvSpPr>
        <p:spPr/>
        <p:txBody>
          <a:bodyPr/>
          <a:lstStyle/>
          <a:p>
            <a:fld id="{397D224E-48A9-4C15-8486-539596679785}" type="slidenum">
              <a:rPr lang="en-US" smtClean="0"/>
              <a:pPr/>
              <a:t>4</a:t>
            </a:fld>
            <a:endParaRPr lang="en-US"/>
          </a:p>
        </p:txBody>
      </p:sp>
    </p:spTree>
    <p:extLst>
      <p:ext uri="{BB962C8B-B14F-4D97-AF65-F5344CB8AC3E}">
        <p14:creationId xmlns="" xmlns:p14="http://schemas.microsoft.com/office/powerpoint/2010/main" val="16513116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a:t>
            </a:r>
            <a:endParaRPr lang="en-US" dirty="0"/>
          </a:p>
        </p:txBody>
      </p:sp>
      <p:sp>
        <p:nvSpPr>
          <p:cNvPr id="3" name="Content Placeholder 2"/>
          <p:cNvSpPr>
            <a:spLocks noGrp="1"/>
          </p:cNvSpPr>
          <p:nvPr>
            <p:ph idx="1"/>
          </p:nvPr>
        </p:nvSpPr>
        <p:spPr/>
        <p:txBody>
          <a:bodyPr>
            <a:normAutofit/>
          </a:bodyPr>
          <a:lstStyle/>
          <a:p>
            <a:r>
              <a:rPr lang="en-US" sz="2000" dirty="0" smtClean="0"/>
              <a:t>In </a:t>
            </a:r>
            <a:r>
              <a:rPr lang="en-US" sz="2000" b="1" dirty="0" smtClean="0"/>
              <a:t>utility computing </a:t>
            </a:r>
            <a:r>
              <a:rPr lang="en-US" sz="2000" dirty="0" smtClean="0"/>
              <a:t>the hardware and software resources are concentrated in large data centers and users can pay as they consume computing, storage, and communication resources. Utility computing often requires a cloud-like infrastructure, but its focus is on the business model for providing the computing services.</a:t>
            </a:r>
            <a:endParaRPr lang="en-US" sz="2000" dirty="0"/>
          </a:p>
          <a:p>
            <a:r>
              <a:rPr lang="en-US" sz="2000" dirty="0" smtClean="0"/>
              <a:t>Cloud computing is a path to utility computing embraced by major IT companies such as Amazon, Apple, Google, HP, IBM, Microsoft, Oracle, and others.</a:t>
            </a:r>
          </a:p>
          <a:p>
            <a:r>
              <a:rPr lang="en-US" sz="2000" dirty="0" smtClean="0"/>
              <a:t>Cloud computing delivery models, deployment models, defining attributes, resources, and organization of the infrastructure discussed in this chapter are summarized in Figure 1.</a:t>
            </a:r>
            <a:endParaRPr lang="en-US" sz="2000" dirty="0"/>
          </a:p>
        </p:txBody>
      </p:sp>
      <p:sp>
        <p:nvSpPr>
          <p:cNvPr id="4" name="Slide Number Placeholder 3"/>
          <p:cNvSpPr>
            <a:spLocks noGrp="1"/>
          </p:cNvSpPr>
          <p:nvPr>
            <p:ph type="sldNum" sz="quarter" idx="12"/>
          </p:nvPr>
        </p:nvSpPr>
        <p:spPr/>
        <p:txBody>
          <a:bodyPr/>
          <a:lstStyle/>
          <a:p>
            <a:fld id="{397D224E-48A9-4C15-8486-539596679785}" type="slidenum">
              <a:rPr lang="en-US" smtClean="0"/>
              <a:pPr/>
              <a:t>5</a:t>
            </a:fld>
            <a:endParaRPr lang="en-US"/>
          </a:p>
        </p:txBody>
      </p:sp>
    </p:spTree>
    <p:extLst>
      <p:ext uri="{BB962C8B-B14F-4D97-AF65-F5344CB8AC3E}">
        <p14:creationId xmlns="" xmlns:p14="http://schemas.microsoft.com/office/powerpoint/2010/main" val="10294380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Flexible resource assignment</a:t>
            </a:r>
          </a:p>
          <a:p>
            <a:pPr lvl="1" algn="just"/>
            <a:r>
              <a:rPr lang="en-US" dirty="0" smtClean="0"/>
              <a:t>The capacity and resources available to cloud computing services can be increased or decreased, with costs adjusted according to actual consumption. </a:t>
            </a:r>
          </a:p>
          <a:p>
            <a:pPr lvl="1" algn="just"/>
            <a:endParaRPr lang="en-US" dirty="0" smtClean="0"/>
          </a:p>
          <a:p>
            <a:pPr lvl="1" algn="just"/>
            <a:r>
              <a:rPr lang="en-US" dirty="0" smtClean="0"/>
              <a:t>This allows an organization to spin up a new offering with only minimal costs for the resources used and then to meet spikes or cyclic use patterns with increased capacity, paying for only the level of use needed.</a:t>
            </a:r>
          </a:p>
          <a:p>
            <a:pPr lvl="1" algn="just"/>
            <a:endParaRPr lang="en-US" dirty="0"/>
          </a:p>
          <a:p>
            <a:pPr lvl="1" algn="just"/>
            <a:r>
              <a:rPr lang="en-US" dirty="0" smtClean="0"/>
              <a:t>This is similar to the way power companies supply power to individual organizations, billing each according to its individual </a:t>
            </a:r>
            <a:r>
              <a:rPr lang="en-US" smtClean="0"/>
              <a:t>use.</a:t>
            </a:r>
          </a:p>
          <a:p>
            <a:pPr lvl="1" algn="just"/>
            <a:endParaRPr lang="en-US" dirty="0" smtClean="0"/>
          </a:p>
          <a:p>
            <a:pPr lvl="1" algn="just"/>
            <a:r>
              <a:rPr lang="en-US" dirty="0" smtClean="0"/>
              <a:t>For example, a new cloud application might experience a sudden increase in use following mention on a popular blog and require additional network bandwidth, data storage, server memory, or CPU power to keep up with the sudden increase in demand.</a:t>
            </a:r>
            <a:endParaRPr lang="en-US" dirty="0"/>
          </a:p>
        </p:txBody>
      </p:sp>
      <p:sp>
        <p:nvSpPr>
          <p:cNvPr id="4" name="Slide Number Placeholder 3"/>
          <p:cNvSpPr>
            <a:spLocks noGrp="1"/>
          </p:cNvSpPr>
          <p:nvPr>
            <p:ph type="sldNum" sz="quarter" idx="12"/>
          </p:nvPr>
        </p:nvSpPr>
        <p:spPr/>
        <p:txBody>
          <a:bodyPr/>
          <a:lstStyle/>
          <a:p>
            <a:fld id="{397D224E-48A9-4C15-8486-539596679785}" type="slidenum">
              <a:rPr lang="en-US" smtClean="0"/>
              <a:pPr/>
              <a:t>6</a:t>
            </a:fld>
            <a:endParaRPr lang="en-US"/>
          </a:p>
        </p:txBody>
      </p:sp>
    </p:spTree>
    <p:extLst>
      <p:ext uri="{BB962C8B-B14F-4D97-AF65-F5344CB8AC3E}">
        <p14:creationId xmlns="" xmlns:p14="http://schemas.microsoft.com/office/powerpoint/2010/main" val="14186940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sp>
        <p:nvSpPr>
          <p:cNvPr id="5" name="Slide Number Placeholder 4"/>
          <p:cNvSpPr>
            <a:spLocks noGrp="1"/>
          </p:cNvSpPr>
          <p:nvPr>
            <p:ph type="sldNum" sz="quarter" idx="12"/>
          </p:nvPr>
        </p:nvSpPr>
        <p:spPr/>
        <p:txBody>
          <a:bodyPr/>
          <a:lstStyle/>
          <a:p>
            <a:fld id="{397D224E-48A9-4C15-8486-539596679785}" type="slidenum">
              <a:rPr lang="en-US" smtClean="0"/>
              <a:pPr/>
              <a:t>7</a:t>
            </a:fld>
            <a:endParaRPr lang="en-US"/>
          </a:p>
        </p:txBody>
      </p:sp>
      <p:pic>
        <p:nvPicPr>
          <p:cNvPr id="4" name="Picture 3"/>
          <p:cNvPicPr>
            <a:picLocks noChangeAspect="1"/>
          </p:cNvPicPr>
          <p:nvPr/>
        </p:nvPicPr>
        <p:blipFill>
          <a:blip r:embed="rId2"/>
          <a:stretch>
            <a:fillRect/>
          </a:stretch>
        </p:blipFill>
        <p:spPr>
          <a:xfrm>
            <a:off x="609600" y="706583"/>
            <a:ext cx="10972799" cy="5624944"/>
          </a:xfrm>
          <a:prstGeom prst="rect">
            <a:avLst/>
          </a:prstGeom>
        </p:spPr>
      </p:pic>
    </p:spTree>
    <p:extLst>
      <p:ext uri="{BB962C8B-B14F-4D97-AF65-F5344CB8AC3E}">
        <p14:creationId xmlns="" xmlns:p14="http://schemas.microsoft.com/office/powerpoint/2010/main" val="40973523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Defining </a:t>
            </a:r>
            <a:r>
              <a:rPr lang="en-US" dirty="0"/>
              <a:t>attributes</a:t>
            </a:r>
          </a:p>
        </p:txBody>
      </p:sp>
      <p:sp>
        <p:nvSpPr>
          <p:cNvPr id="3" name="Content Placeholder 2"/>
          <p:cNvSpPr>
            <a:spLocks noGrp="1"/>
          </p:cNvSpPr>
          <p:nvPr>
            <p:ph idx="1"/>
          </p:nvPr>
        </p:nvSpPr>
        <p:spPr/>
        <p:txBody>
          <a:bodyPr>
            <a:normAutofit fontScale="85000" lnSpcReduction="20000"/>
          </a:bodyPr>
          <a:lstStyle/>
          <a:p>
            <a:pPr algn="just"/>
            <a:r>
              <a:rPr lang="en-US" dirty="0"/>
              <a:t>Cloud computing uses Internet technologies to offer elastic services. The </a:t>
            </a:r>
            <a:r>
              <a:rPr lang="en-US" dirty="0" smtClean="0"/>
              <a:t>term elastic computing refers </a:t>
            </a:r>
            <a:r>
              <a:rPr lang="en-US" dirty="0"/>
              <a:t>to the ability to dynamically acquire computing resources and support a variable workload. </a:t>
            </a:r>
            <a:r>
              <a:rPr lang="en-US" dirty="0" smtClean="0"/>
              <a:t>A cloud </a:t>
            </a:r>
            <a:r>
              <a:rPr lang="en-US" dirty="0"/>
              <a:t>service provider maintains a massive infrastructure to support elastic services.</a:t>
            </a:r>
          </a:p>
          <a:p>
            <a:pPr algn="just"/>
            <a:r>
              <a:rPr lang="en-US" dirty="0" smtClean="0"/>
              <a:t>The </a:t>
            </a:r>
            <a:r>
              <a:rPr lang="en-US" dirty="0"/>
              <a:t>resources used for these services can be metered and the users can be charged only for </a:t>
            </a:r>
            <a:r>
              <a:rPr lang="en-US" dirty="0" smtClean="0"/>
              <a:t>the resources </a:t>
            </a:r>
            <a:r>
              <a:rPr lang="en-US" dirty="0"/>
              <a:t>they use.</a:t>
            </a:r>
          </a:p>
          <a:p>
            <a:pPr algn="just"/>
            <a:r>
              <a:rPr lang="en-US" dirty="0" smtClean="0"/>
              <a:t> </a:t>
            </a:r>
            <a:r>
              <a:rPr lang="en-US" dirty="0"/>
              <a:t>Maintenance and security are ensured by service providers.</a:t>
            </a:r>
          </a:p>
          <a:p>
            <a:pPr algn="just"/>
            <a:r>
              <a:rPr lang="en-US" dirty="0" smtClean="0"/>
              <a:t> </a:t>
            </a:r>
            <a:r>
              <a:rPr lang="en-US" dirty="0"/>
              <a:t>Economy of scale allows service providers to operate more efficiently due to specialization </a:t>
            </a:r>
            <a:r>
              <a:rPr lang="en-US" dirty="0" smtClean="0"/>
              <a:t>and centralization</a:t>
            </a:r>
            <a:r>
              <a:rPr lang="en-US" dirty="0"/>
              <a:t>.</a:t>
            </a:r>
          </a:p>
          <a:p>
            <a:pPr algn="just"/>
            <a:r>
              <a:rPr lang="en-US" dirty="0" smtClean="0"/>
              <a:t>Cloud </a:t>
            </a:r>
            <a:r>
              <a:rPr lang="en-US" dirty="0"/>
              <a:t>computing is cost-effective due to resource multiplexing; lower costs for the service </a:t>
            </a:r>
            <a:r>
              <a:rPr lang="en-US" dirty="0" smtClean="0"/>
              <a:t>provider are </a:t>
            </a:r>
            <a:r>
              <a:rPr lang="en-US" dirty="0"/>
              <a:t>passed on to the cloud users.</a:t>
            </a:r>
          </a:p>
          <a:p>
            <a:pPr algn="just"/>
            <a:r>
              <a:rPr lang="en-US" dirty="0" smtClean="0"/>
              <a:t>The </a:t>
            </a:r>
            <a:r>
              <a:rPr lang="en-US" dirty="0"/>
              <a:t>application data is stored closer to the site where it is used in a device- and </a:t>
            </a:r>
            <a:r>
              <a:rPr lang="en-US" dirty="0" smtClean="0"/>
              <a:t>location-independent manner</a:t>
            </a:r>
            <a:r>
              <a:rPr lang="en-US" dirty="0"/>
              <a:t>; potentially, this data storage strategy increases reliability and security and, at the same </a:t>
            </a:r>
            <a:r>
              <a:rPr lang="en-US" dirty="0" smtClean="0"/>
              <a:t>time, it </a:t>
            </a:r>
            <a:r>
              <a:rPr lang="en-US" dirty="0"/>
              <a:t>lowers communication costs.</a:t>
            </a:r>
          </a:p>
        </p:txBody>
      </p:sp>
      <p:sp>
        <p:nvSpPr>
          <p:cNvPr id="4" name="Slide Number Placeholder 3"/>
          <p:cNvSpPr>
            <a:spLocks noGrp="1"/>
          </p:cNvSpPr>
          <p:nvPr>
            <p:ph type="sldNum" sz="quarter" idx="12"/>
          </p:nvPr>
        </p:nvSpPr>
        <p:spPr/>
        <p:txBody>
          <a:bodyPr/>
          <a:lstStyle/>
          <a:p>
            <a:fld id="{397D224E-48A9-4C15-8486-539596679785}" type="slidenum">
              <a:rPr lang="en-US" smtClean="0"/>
              <a:pPr/>
              <a:t>8</a:t>
            </a:fld>
            <a:endParaRPr lang="en-US"/>
          </a:p>
        </p:txBody>
      </p:sp>
    </p:spTree>
    <p:extLst>
      <p:ext uri="{BB962C8B-B14F-4D97-AF65-F5344CB8AC3E}">
        <p14:creationId xmlns="" xmlns:p14="http://schemas.microsoft.com/office/powerpoint/2010/main" val="32356858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2000" dirty="0" smtClean="0"/>
              <a:t>A computing grid is </a:t>
            </a:r>
            <a:r>
              <a:rPr lang="en-US" sz="2000" dirty="0"/>
              <a:t>a distributed system consisting of a large number of loosely coupled, heterogeneous, and geographically dispersed systems in different administrative domains. </a:t>
            </a:r>
            <a:endParaRPr lang="en-US" sz="2000" dirty="0" smtClean="0"/>
          </a:p>
          <a:p>
            <a:pPr algn="just"/>
            <a:r>
              <a:rPr lang="en-US" sz="2000" dirty="0" smtClean="0"/>
              <a:t>The term computing grid is </a:t>
            </a:r>
            <a:r>
              <a:rPr lang="en-US" sz="2000" dirty="0"/>
              <a:t>a metaphor for accessing computer power with </a:t>
            </a:r>
            <a:r>
              <a:rPr lang="en-US" sz="2000" dirty="0" smtClean="0"/>
              <a:t>similar </a:t>
            </a:r>
            <a:r>
              <a:rPr lang="en-US" sz="2000" dirty="0"/>
              <a:t>ease as we access power provided by </a:t>
            </a:r>
            <a:r>
              <a:rPr lang="en-US" sz="2000" dirty="0" smtClean="0"/>
              <a:t>the electric </a:t>
            </a:r>
            <a:r>
              <a:rPr lang="en-US" sz="2000" dirty="0"/>
              <a:t>grid</a:t>
            </a:r>
            <a:r>
              <a:rPr lang="en-US" sz="2000" dirty="0" smtClean="0"/>
              <a:t>.</a:t>
            </a:r>
          </a:p>
          <a:p>
            <a:pPr algn="just"/>
            <a:r>
              <a:rPr lang="en-US" sz="2000" dirty="0"/>
              <a:t>The </a:t>
            </a:r>
            <a:r>
              <a:rPr lang="en-US" sz="2000" dirty="0" smtClean="0"/>
              <a:t>term content refers </a:t>
            </a:r>
            <a:r>
              <a:rPr lang="en-US" sz="2000" dirty="0"/>
              <a:t>to any type or volume of media, be it static or dynamic, monolithic </a:t>
            </a:r>
            <a:r>
              <a:rPr lang="en-US" sz="2000" dirty="0" smtClean="0"/>
              <a:t>or modular</a:t>
            </a:r>
            <a:r>
              <a:rPr lang="en-US" sz="2000" dirty="0"/>
              <a:t>, live or stored, produced by aggregation, or mixed</a:t>
            </a:r>
            <a:r>
              <a:rPr lang="en-US" sz="2000" dirty="0" smtClean="0"/>
              <a:t>. Information </a:t>
            </a:r>
            <a:r>
              <a:rPr lang="en-US" sz="2000" dirty="0"/>
              <a:t>is the result of </a:t>
            </a:r>
            <a:r>
              <a:rPr lang="en-US" sz="2000" dirty="0" smtClean="0"/>
              <a:t>functions applied </a:t>
            </a:r>
            <a:r>
              <a:rPr lang="en-US" sz="2000" dirty="0"/>
              <a:t>to content.</a:t>
            </a:r>
          </a:p>
        </p:txBody>
      </p:sp>
      <p:sp>
        <p:nvSpPr>
          <p:cNvPr id="4" name="Slide Number Placeholder 3"/>
          <p:cNvSpPr>
            <a:spLocks noGrp="1"/>
          </p:cNvSpPr>
          <p:nvPr>
            <p:ph type="sldNum" sz="quarter" idx="12"/>
          </p:nvPr>
        </p:nvSpPr>
        <p:spPr/>
        <p:txBody>
          <a:bodyPr/>
          <a:lstStyle/>
          <a:p>
            <a:fld id="{397D224E-48A9-4C15-8486-539596679785}" type="slidenum">
              <a:rPr lang="en-US" smtClean="0"/>
              <a:pPr/>
              <a:t>9</a:t>
            </a:fld>
            <a:endParaRPr lang="en-US"/>
          </a:p>
        </p:txBody>
      </p:sp>
    </p:spTree>
    <p:extLst>
      <p:ext uri="{BB962C8B-B14F-4D97-AF65-F5344CB8AC3E}">
        <p14:creationId xmlns="" xmlns:p14="http://schemas.microsoft.com/office/powerpoint/2010/main" val="14224422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889185"/>
          </a:xfrm>
        </p:spPr>
        <p:txBody>
          <a:bodyPr/>
          <a:lstStyle/>
          <a:p>
            <a:r>
              <a:rPr lang="en-US" dirty="0" smtClean="0"/>
              <a:t>Types of cloud computing</a:t>
            </a:r>
            <a:endParaRPr lang="en-US" dirty="0"/>
          </a:p>
        </p:txBody>
      </p:sp>
      <p:sp>
        <p:nvSpPr>
          <p:cNvPr id="3" name="Content Placeholder 2"/>
          <p:cNvSpPr>
            <a:spLocks noGrp="1"/>
          </p:cNvSpPr>
          <p:nvPr>
            <p:ph idx="1"/>
          </p:nvPr>
        </p:nvSpPr>
        <p:spPr>
          <a:xfrm>
            <a:off x="551597" y="1690688"/>
            <a:ext cx="10515600" cy="4351338"/>
          </a:xfrm>
        </p:spPr>
        <p:txBody>
          <a:bodyPr>
            <a:noAutofit/>
          </a:bodyPr>
          <a:lstStyle/>
          <a:p>
            <a:pPr algn="just"/>
            <a:r>
              <a:rPr lang="en-US" sz="2000" b="1" dirty="0"/>
              <a:t>Private </a:t>
            </a:r>
            <a:r>
              <a:rPr lang="en-US" sz="2000" b="1" dirty="0" smtClean="0"/>
              <a:t>cloud.</a:t>
            </a:r>
            <a:r>
              <a:rPr lang="en-US" sz="2000" dirty="0" smtClean="0"/>
              <a:t> The </a:t>
            </a:r>
            <a:r>
              <a:rPr lang="en-US" sz="2000" dirty="0"/>
              <a:t>infrastructure is operated solely for an organization. It may be managed by </a:t>
            </a:r>
            <a:r>
              <a:rPr lang="en-US" sz="2000" dirty="0" smtClean="0"/>
              <a:t>the organization </a:t>
            </a:r>
            <a:r>
              <a:rPr lang="en-US" sz="2000" dirty="0"/>
              <a:t>or a third party and may exist on or off the premises of the organization.</a:t>
            </a:r>
          </a:p>
          <a:p>
            <a:pPr algn="just"/>
            <a:r>
              <a:rPr lang="en-US" sz="2000" b="1" dirty="0" smtClean="0"/>
              <a:t>Community </a:t>
            </a:r>
            <a:r>
              <a:rPr lang="en-US" sz="2000" b="1" dirty="0"/>
              <a:t>cloud</a:t>
            </a:r>
            <a:r>
              <a:rPr lang="en-US" sz="2000" b="1" dirty="0" smtClean="0"/>
              <a:t>.</a:t>
            </a:r>
            <a:r>
              <a:rPr lang="en-US" sz="2000" dirty="0" smtClean="0"/>
              <a:t> The </a:t>
            </a:r>
            <a:r>
              <a:rPr lang="en-US" sz="2000" dirty="0"/>
              <a:t>infrastructure is shared by several organizations and supports a </a:t>
            </a:r>
            <a:r>
              <a:rPr lang="en-US" sz="2000" dirty="0" smtClean="0"/>
              <a:t>specific community </a:t>
            </a:r>
            <a:r>
              <a:rPr lang="en-US" sz="2000" dirty="0"/>
              <a:t>that has shared concerns (e.g., mission, security requirements, policy, and </a:t>
            </a:r>
            <a:r>
              <a:rPr lang="en-US" sz="2000" dirty="0" smtClean="0"/>
              <a:t>compliance considerations</a:t>
            </a:r>
            <a:r>
              <a:rPr lang="en-US" sz="2000" dirty="0"/>
              <a:t>). It may be managed by the organizations or a third party and may exist on </a:t>
            </a:r>
            <a:r>
              <a:rPr lang="en-US" sz="2000" dirty="0" smtClean="0"/>
              <a:t>premises or </a:t>
            </a:r>
            <a:r>
              <a:rPr lang="en-US" sz="2000" dirty="0"/>
              <a:t>off premises</a:t>
            </a:r>
            <a:r>
              <a:rPr lang="en-US" sz="2000" dirty="0" smtClean="0"/>
              <a:t>.</a:t>
            </a:r>
          </a:p>
          <a:p>
            <a:pPr algn="just"/>
            <a:r>
              <a:rPr lang="en-US" sz="2000" dirty="0" smtClean="0"/>
              <a:t> </a:t>
            </a:r>
            <a:r>
              <a:rPr lang="en-US" sz="2000" b="1" dirty="0"/>
              <a:t>Public cloud</a:t>
            </a:r>
            <a:r>
              <a:rPr lang="en-US" sz="2000" b="1" dirty="0" smtClean="0"/>
              <a:t>.</a:t>
            </a:r>
            <a:r>
              <a:rPr lang="en-US" sz="2000" dirty="0" smtClean="0"/>
              <a:t> The </a:t>
            </a:r>
            <a:r>
              <a:rPr lang="en-US" sz="2000" dirty="0"/>
              <a:t>infrastructure is made available to the general public or a large </a:t>
            </a:r>
            <a:r>
              <a:rPr lang="en-US" sz="2000" dirty="0" smtClean="0"/>
              <a:t>industry   group and </a:t>
            </a:r>
            <a:r>
              <a:rPr lang="en-US" sz="2000" dirty="0"/>
              <a:t>is owned by an organization selling cloud services</a:t>
            </a:r>
            <a:r>
              <a:rPr lang="en-US" sz="2000" dirty="0" smtClean="0"/>
              <a:t>.</a:t>
            </a:r>
            <a:endParaRPr lang="en-US" sz="2000" b="1" dirty="0" smtClean="0"/>
          </a:p>
          <a:p>
            <a:pPr algn="just"/>
            <a:r>
              <a:rPr lang="en-US" sz="2000" b="1" dirty="0" smtClean="0"/>
              <a:t>Hybrid </a:t>
            </a:r>
            <a:r>
              <a:rPr lang="en-US" sz="2000" b="1" dirty="0"/>
              <a:t>cloud.</a:t>
            </a:r>
            <a:r>
              <a:rPr lang="en-US" sz="2000" dirty="0"/>
              <a:t> The infrastructure is a composition of two or more clouds (private, community, </a:t>
            </a:r>
            <a:r>
              <a:rPr lang="en-US" sz="2000" dirty="0" smtClean="0"/>
              <a:t>or public</a:t>
            </a:r>
            <a:r>
              <a:rPr lang="en-US" sz="2000" dirty="0"/>
              <a:t>) that remain unique entities but are bound together by standardized or proprietary technology that enables data and application portability (e.g., cloud bursting for load balancing between clouds)</a:t>
            </a:r>
          </a:p>
        </p:txBody>
      </p:sp>
      <p:sp>
        <p:nvSpPr>
          <p:cNvPr id="4" name="Slide Number Placeholder 3"/>
          <p:cNvSpPr>
            <a:spLocks noGrp="1"/>
          </p:cNvSpPr>
          <p:nvPr>
            <p:ph type="sldNum" sz="quarter" idx="12"/>
          </p:nvPr>
        </p:nvSpPr>
        <p:spPr/>
        <p:txBody>
          <a:bodyPr/>
          <a:lstStyle/>
          <a:p>
            <a:fld id="{397D224E-48A9-4C15-8486-539596679785}" type="slidenum">
              <a:rPr lang="en-US" smtClean="0"/>
              <a:pPr/>
              <a:t>10</a:t>
            </a:fld>
            <a:endParaRPr lang="en-US"/>
          </a:p>
        </p:txBody>
      </p:sp>
    </p:spTree>
    <p:extLst>
      <p:ext uri="{BB962C8B-B14F-4D97-AF65-F5344CB8AC3E}">
        <p14:creationId xmlns="" xmlns:p14="http://schemas.microsoft.com/office/powerpoint/2010/main" val="22567211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958457"/>
          </a:xfrm>
        </p:spPr>
        <p:txBody>
          <a:bodyPr/>
          <a:lstStyle/>
          <a:p>
            <a:r>
              <a:rPr lang="en-US" dirty="0"/>
              <a:t>S</a:t>
            </a:r>
            <a:r>
              <a:rPr lang="en-US" dirty="0" smtClean="0"/>
              <a:t>uccess </a:t>
            </a:r>
            <a:r>
              <a:rPr lang="en-US" dirty="0"/>
              <a:t>of cloud computing</a:t>
            </a:r>
          </a:p>
        </p:txBody>
      </p:sp>
      <p:sp>
        <p:nvSpPr>
          <p:cNvPr id="3" name="Content Placeholder 2"/>
          <p:cNvSpPr>
            <a:spLocks noGrp="1"/>
          </p:cNvSpPr>
          <p:nvPr>
            <p:ph idx="1"/>
          </p:nvPr>
        </p:nvSpPr>
        <p:spPr>
          <a:xfrm>
            <a:off x="609600" y="1935480"/>
            <a:ext cx="10972800" cy="4389120"/>
          </a:xfrm>
        </p:spPr>
        <p:txBody>
          <a:bodyPr>
            <a:normAutofit fontScale="77500" lnSpcReduction="20000"/>
          </a:bodyPr>
          <a:lstStyle/>
          <a:p>
            <a:pPr algn="just"/>
            <a:r>
              <a:rPr lang="en-US" dirty="0"/>
              <a:t>Cloud computing is in a </a:t>
            </a:r>
            <a:r>
              <a:rPr lang="en-US" b="1" dirty="0"/>
              <a:t>better position to exploit recent advances in software, networking, </a:t>
            </a:r>
            <a:r>
              <a:rPr lang="en-US" b="1" dirty="0" smtClean="0"/>
              <a:t>storage, and </a:t>
            </a:r>
            <a:r>
              <a:rPr lang="en-US" b="1" dirty="0"/>
              <a:t>processor technologies</a:t>
            </a:r>
            <a:r>
              <a:rPr lang="en-US" dirty="0"/>
              <a:t>. Cloud computing is promoted by large IT companies where these </a:t>
            </a:r>
            <a:r>
              <a:rPr lang="en-US" dirty="0" smtClean="0"/>
              <a:t>new technological </a:t>
            </a:r>
            <a:r>
              <a:rPr lang="en-US" dirty="0"/>
              <a:t>developments take place, and these companies have a vested interest in promoting </a:t>
            </a:r>
            <a:r>
              <a:rPr lang="en-US" dirty="0" smtClean="0"/>
              <a:t>the new </a:t>
            </a:r>
            <a:r>
              <a:rPr lang="en-US" dirty="0"/>
              <a:t>technologies</a:t>
            </a:r>
            <a:r>
              <a:rPr lang="en-US" dirty="0" smtClean="0"/>
              <a:t>.</a:t>
            </a:r>
          </a:p>
          <a:p>
            <a:pPr algn="just"/>
            <a:r>
              <a:rPr lang="en-US" dirty="0" smtClean="0"/>
              <a:t> </a:t>
            </a:r>
            <a:r>
              <a:rPr lang="en-US" b="1" dirty="0"/>
              <a:t>A cloud consists of a homogeneous set of hardware and software resources in a single </a:t>
            </a:r>
            <a:r>
              <a:rPr lang="en-US" b="1" dirty="0" smtClean="0"/>
              <a:t>administrative domain</a:t>
            </a:r>
            <a:r>
              <a:rPr lang="en-US" dirty="0"/>
              <a:t>. In this setup, security, resource management, fault tolerance, and quality of service are </a:t>
            </a:r>
            <a:r>
              <a:rPr lang="en-US" dirty="0" smtClean="0"/>
              <a:t>less challenging </a:t>
            </a:r>
            <a:r>
              <a:rPr lang="en-US" dirty="0"/>
              <a:t>than in a heterogeneous environment with resources in multiple administrative domains.</a:t>
            </a:r>
          </a:p>
          <a:p>
            <a:pPr algn="just"/>
            <a:r>
              <a:rPr lang="en-US" dirty="0" smtClean="0"/>
              <a:t>Cloud </a:t>
            </a:r>
            <a:r>
              <a:rPr lang="en-US" dirty="0"/>
              <a:t>computing is focused on enterprise computing; its adoption by industrial organizations, financial </a:t>
            </a:r>
            <a:r>
              <a:rPr lang="en-US" dirty="0" smtClean="0"/>
              <a:t>institutions</a:t>
            </a:r>
            <a:r>
              <a:rPr lang="en-US" dirty="0"/>
              <a:t>, healthcare </a:t>
            </a:r>
            <a:r>
              <a:rPr lang="en-US" dirty="0" smtClean="0"/>
              <a:t>organizations</a:t>
            </a:r>
            <a:r>
              <a:rPr lang="en-US" dirty="0"/>
              <a:t>, and so on has a potentially huge impact on the economy.</a:t>
            </a:r>
          </a:p>
          <a:p>
            <a:pPr algn="just"/>
            <a:r>
              <a:rPr lang="en-US" dirty="0" smtClean="0"/>
              <a:t>A </a:t>
            </a:r>
            <a:r>
              <a:rPr lang="en-US" dirty="0"/>
              <a:t>cloud provides </a:t>
            </a:r>
            <a:r>
              <a:rPr lang="en-US" b="1" dirty="0"/>
              <a:t>the illusion of infinite computing resources</a:t>
            </a:r>
            <a:r>
              <a:rPr lang="en-US" dirty="0"/>
              <a:t>; its elasticity frees application </a:t>
            </a:r>
            <a:r>
              <a:rPr lang="en-US" dirty="0" smtClean="0"/>
              <a:t>designers from </a:t>
            </a:r>
            <a:r>
              <a:rPr lang="en-US" dirty="0"/>
              <a:t>the confinement of a single system.</a:t>
            </a:r>
          </a:p>
          <a:p>
            <a:pPr algn="just"/>
            <a:r>
              <a:rPr lang="en-US" dirty="0" smtClean="0"/>
              <a:t>A </a:t>
            </a:r>
            <a:r>
              <a:rPr lang="en-US" dirty="0"/>
              <a:t>cloud </a:t>
            </a:r>
            <a:r>
              <a:rPr lang="en-US" b="1" dirty="0"/>
              <a:t>eliminates the need for up-front financial commitment</a:t>
            </a:r>
            <a:r>
              <a:rPr lang="en-US" dirty="0"/>
              <a:t>, and it is based on a </a:t>
            </a:r>
            <a:r>
              <a:rPr lang="en-US" dirty="0" smtClean="0"/>
              <a:t>pay-as-you-go approach</a:t>
            </a:r>
            <a:r>
              <a:rPr lang="en-US" dirty="0"/>
              <a:t>. This has the potential to attract new applications and new users for existing </a:t>
            </a:r>
            <a:r>
              <a:rPr lang="en-US" dirty="0" smtClean="0"/>
              <a:t>applications, fomenting </a:t>
            </a:r>
            <a:r>
              <a:rPr lang="en-US" dirty="0"/>
              <a:t>a new era of </a:t>
            </a:r>
            <a:r>
              <a:rPr lang="en-US" dirty="0" smtClean="0"/>
              <a:t>industry wide </a:t>
            </a:r>
            <a:r>
              <a:rPr lang="en-US" dirty="0"/>
              <a:t>technological advancements.</a:t>
            </a:r>
          </a:p>
        </p:txBody>
      </p:sp>
      <p:sp>
        <p:nvSpPr>
          <p:cNvPr id="4" name="Slide Number Placeholder 3"/>
          <p:cNvSpPr>
            <a:spLocks noGrp="1"/>
          </p:cNvSpPr>
          <p:nvPr>
            <p:ph type="sldNum" sz="quarter" idx="12"/>
          </p:nvPr>
        </p:nvSpPr>
        <p:spPr/>
        <p:txBody>
          <a:bodyPr/>
          <a:lstStyle/>
          <a:p>
            <a:fld id="{397D224E-48A9-4C15-8486-539596679785}" type="slidenum">
              <a:rPr lang="en-US" smtClean="0"/>
              <a:pPr/>
              <a:t>11</a:t>
            </a:fld>
            <a:endParaRPr lang="en-US"/>
          </a:p>
        </p:txBody>
      </p:sp>
    </p:spTree>
    <p:extLst>
      <p:ext uri="{BB962C8B-B14F-4D97-AF65-F5344CB8AC3E}">
        <p14:creationId xmlns="" xmlns:p14="http://schemas.microsoft.com/office/powerpoint/2010/main" val="131894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Obstacles of Cloud Computing</a:t>
            </a:r>
            <a:endParaRPr lang="en-US" dirty="0"/>
          </a:p>
        </p:txBody>
      </p:sp>
      <p:sp>
        <p:nvSpPr>
          <p:cNvPr id="3" name="Content Placeholder 2"/>
          <p:cNvSpPr>
            <a:spLocks noGrp="1"/>
          </p:cNvSpPr>
          <p:nvPr>
            <p:ph idx="1"/>
          </p:nvPr>
        </p:nvSpPr>
        <p:spPr/>
        <p:txBody>
          <a:bodyPr>
            <a:normAutofit fontScale="77500" lnSpcReduction="20000"/>
          </a:bodyPr>
          <a:lstStyle/>
          <a:p>
            <a:r>
              <a:rPr lang="en-US" b="1" dirty="0"/>
              <a:t>Availability of </a:t>
            </a:r>
            <a:r>
              <a:rPr lang="en-US" b="1" dirty="0" smtClean="0"/>
              <a:t>Service:</a:t>
            </a:r>
            <a:r>
              <a:rPr lang="en-US" dirty="0" smtClean="0"/>
              <a:t> What </a:t>
            </a:r>
            <a:r>
              <a:rPr lang="en-US" dirty="0"/>
              <a:t>happens when the service provider cannot deliver? Can a large </a:t>
            </a:r>
            <a:r>
              <a:rPr lang="en-US" dirty="0" smtClean="0"/>
              <a:t>company such </a:t>
            </a:r>
            <a:r>
              <a:rPr lang="en-US" dirty="0"/>
              <a:t>as General Motors move its IT to the cloud and have assurances that its activity will not </a:t>
            </a:r>
            <a:r>
              <a:rPr lang="en-US" dirty="0" smtClean="0"/>
              <a:t>be negatively </a:t>
            </a:r>
            <a:r>
              <a:rPr lang="en-US" dirty="0"/>
              <a:t>affected by cloud overload? A partial answer to this question is provided by </a:t>
            </a:r>
            <a:r>
              <a:rPr lang="en-US" dirty="0" smtClean="0"/>
              <a:t>service-level agreements </a:t>
            </a:r>
            <a:r>
              <a:rPr lang="en-US" dirty="0"/>
              <a:t>(SLAs</a:t>
            </a:r>
            <a:r>
              <a:rPr lang="en-US" dirty="0" smtClean="0"/>
              <a:t>). A </a:t>
            </a:r>
            <a:r>
              <a:rPr lang="en-US" dirty="0"/>
              <a:t>temporary fix with negative economical implications </a:t>
            </a:r>
            <a:r>
              <a:rPr lang="en-US" dirty="0" smtClean="0"/>
              <a:t>is overprovisioning, that </a:t>
            </a:r>
            <a:r>
              <a:rPr lang="en-US" dirty="0"/>
              <a:t>is, having enough resources to satisfy the largest projected demand</a:t>
            </a:r>
            <a:r>
              <a:rPr lang="en-US" dirty="0" smtClean="0"/>
              <a:t>.</a:t>
            </a:r>
          </a:p>
          <a:p>
            <a:r>
              <a:rPr lang="en-US" dirty="0" smtClean="0"/>
              <a:t> </a:t>
            </a:r>
            <a:r>
              <a:rPr lang="en-US" b="1" dirty="0"/>
              <a:t>Vendor </a:t>
            </a:r>
            <a:r>
              <a:rPr lang="en-US" b="1" dirty="0" smtClean="0"/>
              <a:t>lock-in:</a:t>
            </a:r>
            <a:r>
              <a:rPr lang="en-US" dirty="0" smtClean="0"/>
              <a:t> Once </a:t>
            </a:r>
            <a:r>
              <a:rPr lang="en-US" dirty="0"/>
              <a:t>a customer is hooked to one provider, it is hard to move to another. </a:t>
            </a:r>
            <a:r>
              <a:rPr lang="en-US" dirty="0" smtClean="0"/>
              <a:t>The standardization </a:t>
            </a:r>
            <a:r>
              <a:rPr lang="en-US" dirty="0"/>
              <a:t>efforts at National Institute of Standards and Technology (NIST) attempt to </a:t>
            </a:r>
            <a:r>
              <a:rPr lang="en-US" dirty="0" smtClean="0"/>
              <a:t>address this </a:t>
            </a:r>
            <a:r>
              <a:rPr lang="en-US" dirty="0"/>
              <a:t>problem</a:t>
            </a:r>
            <a:r>
              <a:rPr lang="en-US" dirty="0" smtClean="0"/>
              <a:t>.</a:t>
            </a:r>
            <a:endParaRPr lang="en-US" b="1" dirty="0" smtClean="0"/>
          </a:p>
          <a:p>
            <a:r>
              <a:rPr lang="en-US" b="1" dirty="0" smtClean="0"/>
              <a:t>Data </a:t>
            </a:r>
            <a:r>
              <a:rPr lang="en-US" b="1" dirty="0"/>
              <a:t>confidentiality and </a:t>
            </a:r>
            <a:r>
              <a:rPr lang="en-US" b="1" dirty="0" err="1" smtClean="0"/>
              <a:t>auditability</a:t>
            </a:r>
            <a:r>
              <a:rPr lang="en-US" b="1" dirty="0" smtClean="0"/>
              <a:t>:</a:t>
            </a:r>
            <a:r>
              <a:rPr lang="en-US" dirty="0" smtClean="0"/>
              <a:t> This </a:t>
            </a:r>
            <a:r>
              <a:rPr lang="en-US" dirty="0"/>
              <a:t>is indeed a serious </a:t>
            </a:r>
            <a:r>
              <a:rPr lang="en-US" dirty="0" smtClean="0"/>
              <a:t>problem.</a:t>
            </a:r>
          </a:p>
          <a:p>
            <a:r>
              <a:rPr lang="en-US" b="1" dirty="0" smtClean="0"/>
              <a:t>Data </a:t>
            </a:r>
            <a:r>
              <a:rPr lang="en-US" b="1" dirty="0"/>
              <a:t>transfer </a:t>
            </a:r>
            <a:r>
              <a:rPr lang="en-US" b="1" dirty="0" smtClean="0"/>
              <a:t>bottlenecks:</a:t>
            </a:r>
            <a:r>
              <a:rPr lang="en-US" dirty="0" smtClean="0"/>
              <a:t> Many </a:t>
            </a:r>
            <a:r>
              <a:rPr lang="en-US" dirty="0"/>
              <a:t>applications are data-intensive. A very important strategy is to </a:t>
            </a:r>
            <a:r>
              <a:rPr lang="en-US" dirty="0" smtClean="0"/>
              <a:t>store the </a:t>
            </a:r>
            <a:r>
              <a:rPr lang="en-US" dirty="0"/>
              <a:t>data as close as possible to the site where it is needed. Transferring 1 TB of data on a 1 </a:t>
            </a:r>
            <a:r>
              <a:rPr lang="en-US" dirty="0" smtClean="0"/>
              <a:t>Mbps network </a:t>
            </a:r>
            <a:r>
              <a:rPr lang="en-US" dirty="0"/>
              <a:t>takes 8 million seconds, or about 10 days; it is faster and cheaper to use courier </a:t>
            </a:r>
            <a:r>
              <a:rPr lang="en-US" dirty="0" smtClean="0"/>
              <a:t>service and </a:t>
            </a:r>
            <a:r>
              <a:rPr lang="en-US" dirty="0"/>
              <a:t>send data recoded on some media than to send it over the network. Very high-speed </a:t>
            </a:r>
            <a:r>
              <a:rPr lang="en-US" dirty="0" smtClean="0"/>
              <a:t>networks will </a:t>
            </a:r>
            <a:r>
              <a:rPr lang="en-US" dirty="0"/>
              <a:t>alleviate this problem in the future; for example, a 1 </a:t>
            </a:r>
            <a:r>
              <a:rPr lang="en-US" dirty="0" err="1"/>
              <a:t>Gbps</a:t>
            </a:r>
            <a:r>
              <a:rPr lang="en-US" dirty="0"/>
              <a:t> network would reduce this time </a:t>
            </a:r>
            <a:r>
              <a:rPr lang="en-US" dirty="0" smtClean="0"/>
              <a:t>to 8,000 </a:t>
            </a:r>
            <a:r>
              <a:rPr lang="en-US" dirty="0"/>
              <a:t>s, or slightly more than 2 h.</a:t>
            </a:r>
          </a:p>
        </p:txBody>
      </p:sp>
      <p:sp>
        <p:nvSpPr>
          <p:cNvPr id="4" name="Slide Number Placeholder 3"/>
          <p:cNvSpPr>
            <a:spLocks noGrp="1"/>
          </p:cNvSpPr>
          <p:nvPr>
            <p:ph type="sldNum" sz="quarter" idx="12"/>
          </p:nvPr>
        </p:nvSpPr>
        <p:spPr/>
        <p:txBody>
          <a:bodyPr/>
          <a:lstStyle/>
          <a:p>
            <a:fld id="{397D224E-48A9-4C15-8486-539596679785}" type="slidenum">
              <a:rPr lang="en-US" smtClean="0"/>
              <a:pPr/>
              <a:t>12</a:t>
            </a:fld>
            <a:endParaRPr lang="en-US"/>
          </a:p>
        </p:txBody>
      </p:sp>
    </p:spTree>
    <p:extLst>
      <p:ext uri="{BB962C8B-B14F-4D97-AF65-F5344CB8AC3E}">
        <p14:creationId xmlns="" xmlns:p14="http://schemas.microsoft.com/office/powerpoint/2010/main" val="19778586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Obstacles of Cloud Computing</a:t>
            </a:r>
            <a:endParaRPr lang="en-US" dirty="0"/>
          </a:p>
        </p:txBody>
      </p:sp>
      <p:sp>
        <p:nvSpPr>
          <p:cNvPr id="3" name="Content Placeholder 2"/>
          <p:cNvSpPr>
            <a:spLocks noGrp="1"/>
          </p:cNvSpPr>
          <p:nvPr>
            <p:ph idx="1"/>
          </p:nvPr>
        </p:nvSpPr>
        <p:spPr/>
        <p:txBody>
          <a:bodyPr>
            <a:normAutofit/>
          </a:bodyPr>
          <a:lstStyle/>
          <a:p>
            <a:pPr algn="just"/>
            <a:r>
              <a:rPr lang="en-US" sz="2000" b="1" dirty="0" smtClean="0"/>
              <a:t>Performance unpredictability:</a:t>
            </a:r>
            <a:r>
              <a:rPr lang="en-US" sz="2000" dirty="0" smtClean="0"/>
              <a:t> This </a:t>
            </a:r>
            <a:r>
              <a:rPr lang="en-US" sz="2000" dirty="0"/>
              <a:t>is one of the consequences of resource </a:t>
            </a:r>
            <a:r>
              <a:rPr lang="en-US" sz="2000" dirty="0" smtClean="0"/>
              <a:t>sharing.</a:t>
            </a:r>
            <a:endParaRPr lang="en-US" sz="2000" dirty="0"/>
          </a:p>
          <a:p>
            <a:pPr algn="just"/>
            <a:r>
              <a:rPr lang="en-US" sz="2000" b="1" dirty="0" smtClean="0"/>
              <a:t>Elasticity:</a:t>
            </a:r>
            <a:r>
              <a:rPr lang="en-US" sz="2000" dirty="0" smtClean="0"/>
              <a:t> the </a:t>
            </a:r>
            <a:r>
              <a:rPr lang="en-US" sz="2000" dirty="0"/>
              <a:t>ability to scale up and down quickly</a:t>
            </a:r>
            <a:r>
              <a:rPr lang="en-US" sz="2000" dirty="0" smtClean="0"/>
              <a:t>. New </a:t>
            </a:r>
            <a:r>
              <a:rPr lang="en-US" sz="2000" dirty="0"/>
              <a:t>algorithms for controlling resource </a:t>
            </a:r>
            <a:r>
              <a:rPr lang="en-US" sz="2000" dirty="0" smtClean="0"/>
              <a:t>allocation and </a:t>
            </a:r>
            <a:r>
              <a:rPr lang="en-US" sz="2000" dirty="0"/>
              <a:t>workload placement are necessary. Autonomic computing based on </a:t>
            </a:r>
            <a:r>
              <a:rPr lang="en-US" sz="2000" dirty="0" smtClean="0"/>
              <a:t>self-organization </a:t>
            </a:r>
            <a:r>
              <a:rPr lang="en-US" sz="2000" dirty="0"/>
              <a:t>and </a:t>
            </a:r>
            <a:r>
              <a:rPr lang="en-US" sz="2000" dirty="0" smtClean="0"/>
              <a:t>self management </a:t>
            </a:r>
            <a:r>
              <a:rPr lang="en-US" sz="2000" dirty="0"/>
              <a:t>seems to be a promising avenue</a:t>
            </a:r>
            <a:r>
              <a:rPr lang="en-US" sz="2000" dirty="0" smtClean="0"/>
              <a:t>.</a:t>
            </a:r>
            <a:endParaRPr lang="en-US" sz="2000" dirty="0"/>
          </a:p>
          <a:p>
            <a:pPr algn="just"/>
            <a:r>
              <a:rPr lang="en-US" sz="2000" dirty="0"/>
              <a:t>S</a:t>
            </a:r>
            <a:r>
              <a:rPr lang="en-US" sz="2000" dirty="0" smtClean="0"/>
              <a:t>oftware licensing and </a:t>
            </a:r>
            <a:r>
              <a:rPr lang="en-US" sz="2000" dirty="0"/>
              <a:t>system bugs.</a:t>
            </a:r>
          </a:p>
        </p:txBody>
      </p:sp>
      <p:sp>
        <p:nvSpPr>
          <p:cNvPr id="4" name="Slide Number Placeholder 3"/>
          <p:cNvSpPr>
            <a:spLocks noGrp="1"/>
          </p:cNvSpPr>
          <p:nvPr>
            <p:ph type="sldNum" sz="quarter" idx="12"/>
          </p:nvPr>
        </p:nvSpPr>
        <p:spPr/>
        <p:txBody>
          <a:bodyPr/>
          <a:lstStyle/>
          <a:p>
            <a:fld id="{397D224E-48A9-4C15-8486-539596679785}" type="slidenum">
              <a:rPr lang="en-US" smtClean="0"/>
              <a:pPr/>
              <a:t>13</a:t>
            </a:fld>
            <a:endParaRPr lang="en-US"/>
          </a:p>
        </p:txBody>
      </p:sp>
    </p:spTree>
    <p:extLst>
      <p:ext uri="{BB962C8B-B14F-4D97-AF65-F5344CB8AC3E}">
        <p14:creationId xmlns="" xmlns:p14="http://schemas.microsoft.com/office/powerpoint/2010/main" val="35729892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Cloud computing delivery models and services</a:t>
            </a:r>
          </a:p>
        </p:txBody>
      </p:sp>
      <p:pic>
        <p:nvPicPr>
          <p:cNvPr id="4" name="Content Placeholder 3"/>
          <p:cNvPicPr>
            <a:picLocks noGrp="1" noChangeAspect="1"/>
          </p:cNvPicPr>
          <p:nvPr>
            <p:ph idx="1"/>
          </p:nvPr>
        </p:nvPicPr>
        <p:blipFill>
          <a:blip r:embed="rId2"/>
          <a:stretch>
            <a:fillRect/>
          </a:stretch>
        </p:blipFill>
        <p:spPr>
          <a:xfrm>
            <a:off x="692728" y="1953491"/>
            <a:ext cx="10515600" cy="4405745"/>
          </a:xfrm>
          <a:prstGeom prst="rect">
            <a:avLst/>
          </a:prstGeom>
        </p:spPr>
      </p:pic>
      <p:sp>
        <p:nvSpPr>
          <p:cNvPr id="3" name="Slide Number Placeholder 2"/>
          <p:cNvSpPr>
            <a:spLocks noGrp="1"/>
          </p:cNvSpPr>
          <p:nvPr>
            <p:ph type="sldNum" sz="quarter" idx="12"/>
          </p:nvPr>
        </p:nvSpPr>
        <p:spPr/>
        <p:txBody>
          <a:bodyPr/>
          <a:lstStyle/>
          <a:p>
            <a:fld id="{397D224E-48A9-4C15-8486-539596679785}" type="slidenum">
              <a:rPr lang="en-US" smtClean="0"/>
              <a:pPr/>
              <a:t>14</a:t>
            </a:fld>
            <a:endParaRPr lang="en-US"/>
          </a:p>
        </p:txBody>
      </p:sp>
    </p:spTree>
    <p:extLst>
      <p:ext uri="{BB962C8B-B14F-4D97-AF65-F5344CB8AC3E}">
        <p14:creationId xmlns="" xmlns:p14="http://schemas.microsoft.com/office/powerpoint/2010/main" val="35250753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930748"/>
          </a:xfrm>
        </p:spPr>
        <p:txBody>
          <a:bodyPr/>
          <a:lstStyle/>
          <a:p>
            <a:r>
              <a:rPr lang="en-US" dirty="0" smtClean="0"/>
              <a:t>Delivery models and Services</a:t>
            </a:r>
            <a:endParaRPr lang="en-US" dirty="0"/>
          </a:p>
        </p:txBody>
      </p:sp>
      <p:sp>
        <p:nvSpPr>
          <p:cNvPr id="3" name="Content Placeholder 2"/>
          <p:cNvSpPr>
            <a:spLocks noGrp="1"/>
          </p:cNvSpPr>
          <p:nvPr>
            <p:ph idx="1"/>
          </p:nvPr>
        </p:nvSpPr>
        <p:spPr/>
        <p:txBody>
          <a:bodyPr>
            <a:normAutofit/>
          </a:bodyPr>
          <a:lstStyle/>
          <a:p>
            <a:pPr algn="just"/>
            <a:r>
              <a:rPr lang="en-US" sz="2000" dirty="0"/>
              <a:t>the entities involved in cloud </a:t>
            </a:r>
            <a:r>
              <a:rPr lang="en-US" sz="2000" dirty="0" smtClean="0"/>
              <a:t>computing are the </a:t>
            </a:r>
            <a:r>
              <a:rPr lang="en-US" sz="2000" b="1" dirty="0" smtClean="0"/>
              <a:t>service consumer,</a:t>
            </a:r>
          </a:p>
          <a:p>
            <a:pPr algn="just"/>
            <a:r>
              <a:rPr lang="en-US" sz="2000" dirty="0" smtClean="0"/>
              <a:t> </a:t>
            </a:r>
            <a:r>
              <a:rPr lang="en-US" sz="2000" dirty="0"/>
              <a:t>the entity that maintains a business relationship with and uses service </a:t>
            </a:r>
            <a:r>
              <a:rPr lang="en-US" sz="2000" dirty="0" smtClean="0"/>
              <a:t>from service </a:t>
            </a:r>
            <a:r>
              <a:rPr lang="en-US" sz="2000" dirty="0"/>
              <a:t>providers</a:t>
            </a:r>
            <a:r>
              <a:rPr lang="en-US" sz="2000" dirty="0" smtClean="0"/>
              <a:t>; the </a:t>
            </a:r>
            <a:r>
              <a:rPr lang="en-US" sz="2000" b="1" dirty="0" smtClean="0"/>
              <a:t>service </a:t>
            </a:r>
            <a:r>
              <a:rPr lang="en-US" sz="2000" b="1" dirty="0"/>
              <a:t>provider, </a:t>
            </a:r>
            <a:endParaRPr lang="en-US" sz="2000" b="1" dirty="0" smtClean="0"/>
          </a:p>
          <a:p>
            <a:pPr algn="just"/>
            <a:r>
              <a:rPr lang="en-US" sz="2000" dirty="0" smtClean="0"/>
              <a:t>the </a:t>
            </a:r>
            <a:r>
              <a:rPr lang="en-US" sz="2000" dirty="0"/>
              <a:t>entity responsible for making a service available to </a:t>
            </a:r>
            <a:r>
              <a:rPr lang="en-US" sz="2000" dirty="0" smtClean="0"/>
              <a:t>service consumers</a:t>
            </a:r>
            <a:r>
              <a:rPr lang="en-US" sz="2000" dirty="0"/>
              <a:t>; </a:t>
            </a:r>
            <a:r>
              <a:rPr lang="en-US" sz="2000" b="1" dirty="0" smtClean="0"/>
              <a:t>the carrier</a:t>
            </a:r>
            <a:r>
              <a:rPr lang="en-US" sz="2000" b="1" dirty="0"/>
              <a:t>, </a:t>
            </a:r>
            <a:endParaRPr lang="en-US" sz="2000" b="1" dirty="0" smtClean="0"/>
          </a:p>
          <a:p>
            <a:pPr algn="just"/>
            <a:r>
              <a:rPr lang="en-US" sz="2000" dirty="0" smtClean="0"/>
              <a:t>the </a:t>
            </a:r>
            <a:r>
              <a:rPr lang="en-US" sz="2000" dirty="0"/>
              <a:t>intermediary that provides connectivity and transport of cloud </a:t>
            </a:r>
            <a:r>
              <a:rPr lang="en-US" sz="2000" dirty="0" smtClean="0"/>
              <a:t>services between </a:t>
            </a:r>
            <a:r>
              <a:rPr lang="en-US" sz="2000" dirty="0"/>
              <a:t>providers and consumers; </a:t>
            </a:r>
            <a:r>
              <a:rPr lang="en-US" sz="2000" b="1" dirty="0" smtClean="0"/>
              <a:t>the broker,</a:t>
            </a:r>
          </a:p>
          <a:p>
            <a:pPr algn="just"/>
            <a:r>
              <a:rPr lang="en-US" sz="2000" b="1" dirty="0" smtClean="0"/>
              <a:t> </a:t>
            </a:r>
            <a:r>
              <a:rPr lang="en-US" sz="2000" dirty="0"/>
              <a:t>an entity that manages the use, performance, and </a:t>
            </a:r>
            <a:r>
              <a:rPr lang="en-US" sz="2000" dirty="0" smtClean="0"/>
              <a:t>delivery of </a:t>
            </a:r>
            <a:r>
              <a:rPr lang="en-US" sz="2000" dirty="0"/>
              <a:t>cloud services and negotiates relationships between providers and consumers; and </a:t>
            </a:r>
            <a:r>
              <a:rPr lang="en-US" sz="2000" dirty="0" smtClean="0"/>
              <a:t>the </a:t>
            </a:r>
            <a:r>
              <a:rPr lang="en-US" sz="2000" b="1" dirty="0" smtClean="0"/>
              <a:t>auditor</a:t>
            </a:r>
            <a:r>
              <a:rPr lang="en-US" sz="2000" b="1" dirty="0"/>
              <a:t>, </a:t>
            </a:r>
            <a:r>
              <a:rPr lang="en-US" sz="2000" dirty="0"/>
              <a:t>a </a:t>
            </a:r>
            <a:r>
              <a:rPr lang="en-US" sz="2000" dirty="0" smtClean="0"/>
              <a:t>party that </a:t>
            </a:r>
            <a:r>
              <a:rPr lang="en-US" sz="2000" dirty="0"/>
              <a:t>can conduct independent assessment of cloud services, information system operations, </a:t>
            </a:r>
            <a:r>
              <a:rPr lang="en-US" sz="2000" dirty="0" smtClean="0"/>
              <a:t>performance, and </a:t>
            </a:r>
            <a:r>
              <a:rPr lang="en-US" sz="2000" dirty="0"/>
              <a:t>security of the cloud implementation. </a:t>
            </a:r>
            <a:endParaRPr lang="en-US" sz="2000" dirty="0" smtClean="0"/>
          </a:p>
          <a:p>
            <a:pPr algn="just"/>
            <a:r>
              <a:rPr lang="en-US" sz="2000" dirty="0" smtClean="0"/>
              <a:t>An audit is </a:t>
            </a:r>
            <a:r>
              <a:rPr lang="en-US" sz="2000" dirty="0"/>
              <a:t>a systematic evaluation of a cloud system </a:t>
            </a:r>
            <a:r>
              <a:rPr lang="en-US" sz="2000" dirty="0" smtClean="0"/>
              <a:t>that measures </a:t>
            </a:r>
            <a:r>
              <a:rPr lang="en-US" sz="2000" dirty="0"/>
              <a:t>how well it conforms to a set of established criteria.</a:t>
            </a:r>
          </a:p>
        </p:txBody>
      </p:sp>
      <p:sp>
        <p:nvSpPr>
          <p:cNvPr id="4" name="Slide Number Placeholder 3"/>
          <p:cNvSpPr>
            <a:spLocks noGrp="1"/>
          </p:cNvSpPr>
          <p:nvPr>
            <p:ph type="sldNum" sz="quarter" idx="12"/>
          </p:nvPr>
        </p:nvSpPr>
        <p:spPr/>
        <p:txBody>
          <a:bodyPr/>
          <a:lstStyle/>
          <a:p>
            <a:fld id="{397D224E-48A9-4C15-8486-539596679785}" type="slidenum">
              <a:rPr lang="en-US" smtClean="0"/>
              <a:pPr/>
              <a:t>15</a:t>
            </a:fld>
            <a:endParaRPr lang="en-US"/>
          </a:p>
        </p:txBody>
      </p:sp>
    </p:spTree>
    <p:extLst>
      <p:ext uri="{BB962C8B-B14F-4D97-AF65-F5344CB8AC3E}">
        <p14:creationId xmlns="" xmlns:p14="http://schemas.microsoft.com/office/powerpoint/2010/main" val="35716163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Three </a:t>
            </a:r>
            <a:r>
              <a:rPr lang="en-US" dirty="0"/>
              <a:t>delivery models</a:t>
            </a:r>
          </a:p>
        </p:txBody>
      </p:sp>
      <p:sp>
        <p:nvSpPr>
          <p:cNvPr id="3" name="Content Placeholder 2"/>
          <p:cNvSpPr>
            <a:spLocks noGrp="1"/>
          </p:cNvSpPr>
          <p:nvPr>
            <p:ph idx="1"/>
          </p:nvPr>
        </p:nvSpPr>
        <p:spPr>
          <a:xfrm>
            <a:off x="838200" y="1825625"/>
            <a:ext cx="4907507" cy="4351338"/>
          </a:xfrm>
        </p:spPr>
        <p:txBody>
          <a:bodyPr/>
          <a:lstStyle/>
          <a:p>
            <a:endParaRPr lang="en-US" dirty="0"/>
          </a:p>
        </p:txBody>
      </p:sp>
      <p:sp>
        <p:nvSpPr>
          <p:cNvPr id="8" name="Slide Number Placeholder 7"/>
          <p:cNvSpPr>
            <a:spLocks noGrp="1"/>
          </p:cNvSpPr>
          <p:nvPr>
            <p:ph type="sldNum" sz="quarter" idx="12"/>
          </p:nvPr>
        </p:nvSpPr>
        <p:spPr/>
        <p:txBody>
          <a:bodyPr/>
          <a:lstStyle/>
          <a:p>
            <a:fld id="{397D224E-48A9-4C15-8486-539596679785}" type="slidenum">
              <a:rPr lang="en-US" smtClean="0"/>
              <a:pPr/>
              <a:t>16</a:t>
            </a:fld>
            <a:endParaRPr lang="en-US"/>
          </a:p>
        </p:txBody>
      </p:sp>
      <p:pic>
        <p:nvPicPr>
          <p:cNvPr id="4" name="Picture 3"/>
          <p:cNvPicPr>
            <a:picLocks noChangeAspect="1"/>
          </p:cNvPicPr>
          <p:nvPr/>
        </p:nvPicPr>
        <p:blipFill>
          <a:blip r:embed="rId3"/>
          <a:stretch>
            <a:fillRect/>
          </a:stretch>
        </p:blipFill>
        <p:spPr>
          <a:xfrm>
            <a:off x="838200" y="3719513"/>
            <a:ext cx="1571625" cy="2457450"/>
          </a:xfrm>
          <a:prstGeom prst="rect">
            <a:avLst/>
          </a:prstGeom>
        </p:spPr>
      </p:pic>
      <p:pic>
        <p:nvPicPr>
          <p:cNvPr id="5" name="Picture 4"/>
          <p:cNvPicPr>
            <a:picLocks noChangeAspect="1"/>
          </p:cNvPicPr>
          <p:nvPr/>
        </p:nvPicPr>
        <p:blipFill>
          <a:blip r:embed="rId4"/>
          <a:stretch>
            <a:fillRect/>
          </a:stretch>
        </p:blipFill>
        <p:spPr>
          <a:xfrm>
            <a:off x="2519007" y="3262313"/>
            <a:ext cx="1466850" cy="2914650"/>
          </a:xfrm>
          <a:prstGeom prst="rect">
            <a:avLst/>
          </a:prstGeom>
        </p:spPr>
      </p:pic>
      <p:pic>
        <p:nvPicPr>
          <p:cNvPr id="6" name="Picture 5"/>
          <p:cNvPicPr>
            <a:picLocks noChangeAspect="1"/>
          </p:cNvPicPr>
          <p:nvPr/>
        </p:nvPicPr>
        <p:blipFill>
          <a:blip r:embed="rId5"/>
          <a:stretch>
            <a:fillRect/>
          </a:stretch>
        </p:blipFill>
        <p:spPr>
          <a:xfrm>
            <a:off x="4157591" y="1939636"/>
            <a:ext cx="1457325" cy="4237327"/>
          </a:xfrm>
          <a:prstGeom prst="rect">
            <a:avLst/>
          </a:prstGeom>
        </p:spPr>
      </p:pic>
      <p:sp>
        <p:nvSpPr>
          <p:cNvPr id="7" name="TextBox 6"/>
          <p:cNvSpPr txBox="1"/>
          <p:nvPr/>
        </p:nvSpPr>
        <p:spPr>
          <a:xfrm>
            <a:off x="5917441" y="1825625"/>
            <a:ext cx="5813947" cy="2585323"/>
          </a:xfrm>
          <a:prstGeom prst="rect">
            <a:avLst/>
          </a:prstGeom>
          <a:noFill/>
        </p:spPr>
        <p:txBody>
          <a:bodyPr wrap="square" rtlCol="0">
            <a:spAutoFit/>
          </a:bodyPr>
          <a:lstStyle/>
          <a:p>
            <a:pPr marL="285750" indent="-285750">
              <a:buFont typeface="Arial" panose="020B0604020202020204" pitchFamily="34" charset="0"/>
              <a:buChar char="•"/>
            </a:pPr>
            <a:r>
              <a:rPr lang="en-US" b="1" dirty="0" err="1" smtClean="0"/>
              <a:t>SaaS</a:t>
            </a:r>
            <a:r>
              <a:rPr lang="en-US" dirty="0" smtClean="0"/>
              <a:t> gives </a:t>
            </a:r>
            <a:r>
              <a:rPr lang="en-US" dirty="0"/>
              <a:t>users the capability to </a:t>
            </a:r>
            <a:r>
              <a:rPr lang="en-US" dirty="0" smtClean="0"/>
              <a:t>use applications </a:t>
            </a:r>
            <a:r>
              <a:rPr lang="en-US" dirty="0"/>
              <a:t>supplied by the service provider but allows no control of the platform or the infrastructure</a:t>
            </a:r>
            <a:r>
              <a:rPr lang="en-US" dirty="0" smtClean="0"/>
              <a:t>.</a:t>
            </a:r>
          </a:p>
          <a:p>
            <a:pPr marL="285750" indent="-285750">
              <a:buFont typeface="Arial" panose="020B0604020202020204" pitchFamily="34" charset="0"/>
              <a:buChar char="•"/>
            </a:pPr>
            <a:r>
              <a:rPr lang="en-US" b="1" dirty="0" err="1" smtClean="0"/>
              <a:t>PaaS</a:t>
            </a:r>
            <a:r>
              <a:rPr lang="en-US" dirty="0" smtClean="0"/>
              <a:t> gives </a:t>
            </a:r>
            <a:r>
              <a:rPr lang="en-US" dirty="0"/>
              <a:t>the capability to deploy consumer-created or acquired applications using programming languages </a:t>
            </a:r>
            <a:r>
              <a:rPr lang="en-US" dirty="0" smtClean="0"/>
              <a:t>and tools </a:t>
            </a:r>
            <a:r>
              <a:rPr lang="en-US" dirty="0"/>
              <a:t>supported by the </a:t>
            </a:r>
            <a:r>
              <a:rPr lang="en-US" dirty="0" smtClean="0"/>
              <a:t>provider.</a:t>
            </a:r>
          </a:p>
          <a:p>
            <a:pPr marL="285750" indent="-285750">
              <a:buFont typeface="Arial" panose="020B0604020202020204" pitchFamily="34" charset="0"/>
              <a:buChar char="•"/>
            </a:pPr>
            <a:r>
              <a:rPr lang="en-US" b="1" dirty="0" err="1" smtClean="0"/>
              <a:t>IaaS</a:t>
            </a:r>
            <a:r>
              <a:rPr lang="en-US" dirty="0" smtClean="0"/>
              <a:t> allows </a:t>
            </a:r>
            <a:r>
              <a:rPr lang="en-US" dirty="0"/>
              <a:t>the user to deploy and run arbitrary software, which can </a:t>
            </a:r>
            <a:r>
              <a:rPr lang="en-US" dirty="0" smtClean="0"/>
              <a:t>include operating </a:t>
            </a:r>
            <a:r>
              <a:rPr lang="en-US" dirty="0"/>
              <a:t>systems and applications.</a:t>
            </a:r>
          </a:p>
        </p:txBody>
      </p:sp>
    </p:spTree>
    <p:extLst>
      <p:ext uri="{BB962C8B-B14F-4D97-AF65-F5344CB8AC3E}">
        <p14:creationId xmlns="" xmlns:p14="http://schemas.microsoft.com/office/powerpoint/2010/main" val="23367691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Software-as-a-Service(</a:t>
            </a:r>
            <a:r>
              <a:rPr lang="en-US" dirty="0" err="1"/>
              <a:t>SaaS</a:t>
            </a:r>
            <a:r>
              <a:rPr lang="en-US" dirty="0"/>
              <a:t>)</a:t>
            </a:r>
          </a:p>
        </p:txBody>
      </p:sp>
      <p:sp>
        <p:nvSpPr>
          <p:cNvPr id="3" name="Content Placeholder 2"/>
          <p:cNvSpPr>
            <a:spLocks noGrp="1"/>
          </p:cNvSpPr>
          <p:nvPr>
            <p:ph idx="1"/>
          </p:nvPr>
        </p:nvSpPr>
        <p:spPr/>
        <p:txBody>
          <a:bodyPr>
            <a:normAutofit/>
          </a:bodyPr>
          <a:lstStyle/>
          <a:p>
            <a:pPr algn="just"/>
            <a:r>
              <a:rPr lang="en-US" sz="2000" dirty="0"/>
              <a:t>Software-as-a-Service(</a:t>
            </a:r>
            <a:r>
              <a:rPr lang="en-US" sz="2000" dirty="0" err="1"/>
              <a:t>SaaS</a:t>
            </a:r>
            <a:r>
              <a:rPr lang="en-US" sz="2000" dirty="0"/>
              <a:t>) gives the capability to use applications supplied by the service </a:t>
            </a:r>
            <a:r>
              <a:rPr lang="en-US" sz="2000" dirty="0" smtClean="0"/>
              <a:t>provider in </a:t>
            </a:r>
            <a:r>
              <a:rPr lang="en-US" sz="2000" dirty="0"/>
              <a:t>a cloud infrastructure. The applications are accessible from various client devices through a </a:t>
            </a:r>
            <a:r>
              <a:rPr lang="en-US" sz="2000" dirty="0" smtClean="0"/>
              <a:t>thin-client interface </a:t>
            </a:r>
            <a:r>
              <a:rPr lang="en-US" sz="2000" dirty="0"/>
              <a:t>such as a Web browser (e.g., Web-based email</a:t>
            </a:r>
            <a:r>
              <a:rPr lang="en-US" sz="2000" dirty="0" smtClean="0"/>
              <a:t>).</a:t>
            </a:r>
          </a:p>
          <a:p>
            <a:pPr algn="just"/>
            <a:r>
              <a:rPr lang="en-US" sz="2000" dirty="0" smtClean="0"/>
              <a:t> </a:t>
            </a:r>
            <a:r>
              <a:rPr lang="en-US" sz="2000" dirty="0"/>
              <a:t>The user does not manage or control the underlying cloud infrastructure, including network, servers, operating systems, storage, or even </a:t>
            </a:r>
            <a:r>
              <a:rPr lang="en-US" sz="2000" dirty="0" smtClean="0"/>
              <a:t>individual application </a:t>
            </a:r>
            <a:r>
              <a:rPr lang="en-US" sz="2000" dirty="0"/>
              <a:t>capabilities, with the possible </a:t>
            </a:r>
            <a:r>
              <a:rPr lang="en-US" sz="2000" dirty="0" smtClean="0"/>
              <a:t>exception </a:t>
            </a:r>
            <a:r>
              <a:rPr lang="en-US" sz="2000" dirty="0"/>
              <a:t>of limited user-specific application </a:t>
            </a:r>
            <a:r>
              <a:rPr lang="en-US" sz="2000" dirty="0" smtClean="0"/>
              <a:t>configuration settings.</a:t>
            </a:r>
          </a:p>
          <a:p>
            <a:pPr algn="just"/>
            <a:r>
              <a:rPr lang="en-US" sz="2000" dirty="0"/>
              <a:t>Services </a:t>
            </a:r>
            <a:r>
              <a:rPr lang="en-US" sz="2000" dirty="0" smtClean="0"/>
              <a:t>offered:</a:t>
            </a:r>
          </a:p>
          <a:p>
            <a:pPr lvl="1" algn="just"/>
            <a:r>
              <a:rPr lang="en-US" sz="1600" dirty="0"/>
              <a:t> Enterprise services such as workflow management, groupware and collaborative, supply </a:t>
            </a:r>
            <a:r>
              <a:rPr lang="en-US" sz="1600" dirty="0" smtClean="0"/>
              <a:t>chain, communications</a:t>
            </a:r>
            <a:r>
              <a:rPr lang="en-US" sz="1600" dirty="0"/>
              <a:t>, digital signature, customer relationship management (CRM), desktop </a:t>
            </a:r>
            <a:r>
              <a:rPr lang="en-US" sz="1600" dirty="0" smtClean="0"/>
              <a:t>software, financial </a:t>
            </a:r>
            <a:r>
              <a:rPr lang="en-US" sz="1600" dirty="0"/>
              <a:t>management, geo-spatial, </a:t>
            </a:r>
            <a:r>
              <a:rPr lang="en-US" sz="1600"/>
              <a:t>and </a:t>
            </a:r>
            <a:r>
              <a:rPr lang="en-US" sz="1600" smtClean="0"/>
              <a:t>search.</a:t>
            </a:r>
            <a:endParaRPr lang="en-US" sz="1600" dirty="0"/>
          </a:p>
          <a:p>
            <a:pPr lvl="1" algn="just"/>
            <a:r>
              <a:rPr lang="en-US" sz="1600" dirty="0"/>
              <a:t>• Web 2.0 applications such as metadata management, social networking, blogs, wiki services, </a:t>
            </a:r>
            <a:r>
              <a:rPr lang="en-US" sz="1600" dirty="0" smtClean="0"/>
              <a:t>and portal </a:t>
            </a:r>
            <a:r>
              <a:rPr lang="en-US" sz="1600" dirty="0"/>
              <a:t>services.</a:t>
            </a:r>
          </a:p>
        </p:txBody>
      </p:sp>
      <p:sp>
        <p:nvSpPr>
          <p:cNvPr id="4" name="Slide Number Placeholder 3"/>
          <p:cNvSpPr>
            <a:spLocks noGrp="1"/>
          </p:cNvSpPr>
          <p:nvPr>
            <p:ph type="sldNum" sz="quarter" idx="12"/>
          </p:nvPr>
        </p:nvSpPr>
        <p:spPr/>
        <p:txBody>
          <a:bodyPr/>
          <a:lstStyle/>
          <a:p>
            <a:fld id="{397D224E-48A9-4C15-8486-539596679785}" type="slidenum">
              <a:rPr lang="en-US" smtClean="0"/>
              <a:pPr/>
              <a:t>17</a:t>
            </a:fld>
            <a:endParaRPr lang="en-US"/>
          </a:p>
        </p:txBody>
      </p:sp>
    </p:spTree>
    <p:extLst>
      <p:ext uri="{BB962C8B-B14F-4D97-AF65-F5344CB8AC3E}">
        <p14:creationId xmlns="" xmlns:p14="http://schemas.microsoft.com/office/powerpoint/2010/main" val="3663977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Google Docs </a:t>
            </a:r>
            <a:r>
              <a:rPr lang="en-US" dirty="0" err="1" smtClean="0"/>
              <a:t>SaaS</a:t>
            </a:r>
            <a:endParaRPr lang="en-US" dirty="0"/>
          </a:p>
        </p:txBody>
      </p:sp>
      <p:pic>
        <p:nvPicPr>
          <p:cNvPr id="5" name="Content Placeholder 4" descr="googledocs.png"/>
          <p:cNvPicPr>
            <a:picLocks noGrp="1" noChangeAspect="1"/>
          </p:cNvPicPr>
          <p:nvPr>
            <p:ph idx="1"/>
          </p:nvPr>
        </p:nvPicPr>
        <p:blipFill>
          <a:blip r:embed="rId2"/>
          <a:stretch>
            <a:fillRect/>
          </a:stretch>
        </p:blipFill>
        <p:spPr>
          <a:xfrm>
            <a:off x="706582" y="1935163"/>
            <a:ext cx="10571017" cy="4389437"/>
          </a:xfrm>
        </p:spPr>
      </p:pic>
      <p:sp>
        <p:nvSpPr>
          <p:cNvPr id="4" name="Slide Number Placeholder 3"/>
          <p:cNvSpPr>
            <a:spLocks noGrp="1"/>
          </p:cNvSpPr>
          <p:nvPr>
            <p:ph type="sldNum" sz="quarter" idx="12"/>
          </p:nvPr>
        </p:nvSpPr>
        <p:spPr/>
        <p:txBody>
          <a:bodyPr/>
          <a:lstStyle/>
          <a:p>
            <a:fld id="{397D224E-48A9-4C15-8486-539596679785}"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Platform-as-a-Service(</a:t>
            </a:r>
            <a:r>
              <a:rPr lang="en-US" dirty="0" err="1" smtClean="0"/>
              <a:t>PaaS</a:t>
            </a:r>
            <a:r>
              <a:rPr lang="en-US" dirty="0" smtClean="0"/>
              <a:t>)</a:t>
            </a:r>
            <a:endParaRPr lang="en-US" dirty="0"/>
          </a:p>
        </p:txBody>
      </p:sp>
      <p:sp>
        <p:nvSpPr>
          <p:cNvPr id="3" name="Content Placeholder 2"/>
          <p:cNvSpPr>
            <a:spLocks noGrp="1"/>
          </p:cNvSpPr>
          <p:nvPr>
            <p:ph idx="1"/>
          </p:nvPr>
        </p:nvSpPr>
        <p:spPr/>
        <p:txBody>
          <a:bodyPr>
            <a:normAutofit/>
          </a:bodyPr>
          <a:lstStyle/>
          <a:p>
            <a:pPr algn="just"/>
            <a:r>
              <a:rPr lang="en-US" sz="2000" dirty="0"/>
              <a:t>Platform-as-a-Service(</a:t>
            </a:r>
            <a:r>
              <a:rPr lang="en-US" sz="2000" dirty="0" err="1"/>
              <a:t>PaaS</a:t>
            </a:r>
            <a:r>
              <a:rPr lang="en-US" sz="2000" dirty="0"/>
              <a:t>) gives the capability to deploy consumer-created or acquired applications using programming languages and tools supported by the provider</a:t>
            </a:r>
            <a:r>
              <a:rPr lang="en-US" sz="2000" dirty="0" smtClean="0"/>
              <a:t>.</a:t>
            </a:r>
          </a:p>
          <a:p>
            <a:pPr algn="just"/>
            <a:r>
              <a:rPr lang="en-US" sz="2000" dirty="0"/>
              <a:t>Such services include session management, device integration, </a:t>
            </a:r>
            <a:r>
              <a:rPr lang="en-US" sz="2000" dirty="0" smtClean="0"/>
              <a:t>sandboxes, instrumentation </a:t>
            </a:r>
            <a:r>
              <a:rPr lang="en-US" sz="2000" dirty="0"/>
              <a:t>and testing, contents management, knowledge management, and Universal </a:t>
            </a:r>
            <a:r>
              <a:rPr lang="en-US" sz="2000" dirty="0" smtClean="0"/>
              <a:t>Description, Discovery</a:t>
            </a:r>
            <a:r>
              <a:rPr lang="en-US" sz="2000" dirty="0"/>
              <a:t>, and Integration (UDDI), a platform-independent Extensible Markup Language (XML)-</a:t>
            </a:r>
            <a:r>
              <a:rPr lang="en-US" sz="2000" dirty="0" smtClean="0"/>
              <a:t>based registry </a:t>
            </a:r>
            <a:r>
              <a:rPr lang="en-US" sz="2000" dirty="0"/>
              <a:t>providing a mechanism to register and locate Web service applications</a:t>
            </a:r>
            <a:r>
              <a:rPr lang="en-US" sz="2000" dirty="0" smtClean="0"/>
              <a:t>.</a:t>
            </a:r>
          </a:p>
          <a:p>
            <a:pPr algn="just"/>
            <a:r>
              <a:rPr lang="en-US" sz="2000" dirty="0" err="1" smtClean="0"/>
              <a:t>PaaS</a:t>
            </a:r>
            <a:r>
              <a:rPr lang="en-US" sz="2000" dirty="0" smtClean="0"/>
              <a:t> is </a:t>
            </a:r>
            <a:r>
              <a:rPr lang="en-US" sz="2000" dirty="0"/>
              <a:t>not </a:t>
            </a:r>
            <a:r>
              <a:rPr lang="en-US" sz="2000" dirty="0" err="1"/>
              <a:t>particulary</a:t>
            </a:r>
            <a:r>
              <a:rPr lang="en-US" sz="2000" dirty="0"/>
              <a:t> useful when the application must be portable, when proprietary </a:t>
            </a:r>
            <a:r>
              <a:rPr lang="en-US" sz="2000" dirty="0" smtClean="0"/>
              <a:t>programming languages </a:t>
            </a:r>
            <a:r>
              <a:rPr lang="en-US" sz="2000" dirty="0"/>
              <a:t>are used, or when the </a:t>
            </a:r>
            <a:r>
              <a:rPr lang="en-US" sz="2000" dirty="0" err="1"/>
              <a:t>underlaying</a:t>
            </a:r>
            <a:r>
              <a:rPr lang="en-US" sz="2000" dirty="0"/>
              <a:t> hardware and software must be customized to </a:t>
            </a:r>
            <a:r>
              <a:rPr lang="en-US" sz="2000" dirty="0" smtClean="0"/>
              <a:t>improve the </a:t>
            </a:r>
            <a:r>
              <a:rPr lang="en-US" sz="2000" dirty="0"/>
              <a:t>performance of the application. </a:t>
            </a:r>
            <a:endParaRPr lang="en-US" sz="2000" dirty="0" smtClean="0"/>
          </a:p>
          <a:p>
            <a:pPr algn="just"/>
            <a:r>
              <a:rPr lang="en-US" sz="2000" dirty="0" smtClean="0"/>
              <a:t>The </a:t>
            </a:r>
            <a:r>
              <a:rPr lang="en-US" sz="2000" dirty="0"/>
              <a:t>major </a:t>
            </a:r>
            <a:r>
              <a:rPr lang="en-US" sz="2000" dirty="0" err="1" smtClean="0"/>
              <a:t>PaaS</a:t>
            </a:r>
            <a:r>
              <a:rPr lang="en-US" sz="2000" dirty="0" smtClean="0"/>
              <a:t> application </a:t>
            </a:r>
            <a:r>
              <a:rPr lang="en-US" sz="2000" dirty="0"/>
              <a:t>areas are in software </a:t>
            </a:r>
            <a:r>
              <a:rPr lang="en-US" sz="2000" dirty="0" smtClean="0"/>
              <a:t>development where </a:t>
            </a:r>
            <a:r>
              <a:rPr lang="en-US" sz="2000" dirty="0"/>
              <a:t>multiple developers and users collaborate and the deployment and testing services should </a:t>
            </a:r>
            <a:r>
              <a:rPr lang="en-US" sz="2000" dirty="0" smtClean="0"/>
              <a:t>be automated.</a:t>
            </a:r>
            <a:endParaRPr lang="en-US" sz="2000" dirty="0"/>
          </a:p>
        </p:txBody>
      </p:sp>
      <p:sp>
        <p:nvSpPr>
          <p:cNvPr id="4" name="Slide Number Placeholder 3"/>
          <p:cNvSpPr>
            <a:spLocks noGrp="1"/>
          </p:cNvSpPr>
          <p:nvPr>
            <p:ph type="sldNum" sz="quarter" idx="12"/>
          </p:nvPr>
        </p:nvSpPr>
        <p:spPr/>
        <p:txBody>
          <a:bodyPr/>
          <a:lstStyle/>
          <a:p>
            <a:fld id="{397D224E-48A9-4C15-8486-539596679785}" type="slidenum">
              <a:rPr lang="en-US" smtClean="0"/>
              <a:pPr/>
              <a:t>19</a:t>
            </a:fld>
            <a:endParaRPr lang="en-US"/>
          </a:p>
        </p:txBody>
      </p:sp>
    </p:spTree>
    <p:extLst>
      <p:ext uri="{BB962C8B-B14F-4D97-AF65-F5344CB8AC3E}">
        <p14:creationId xmlns="" xmlns:p14="http://schemas.microsoft.com/office/powerpoint/2010/main" val="19871685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Heroku</a:t>
            </a:r>
            <a:r>
              <a:rPr lang="en-US" dirty="0" smtClean="0"/>
              <a:t> </a:t>
            </a:r>
            <a:r>
              <a:rPr lang="en-US" dirty="0" err="1" smtClean="0"/>
              <a:t>PaaS</a:t>
            </a:r>
            <a:endParaRPr lang="en-US" dirty="0"/>
          </a:p>
        </p:txBody>
      </p:sp>
      <p:pic>
        <p:nvPicPr>
          <p:cNvPr id="5" name="Content Placeholder 4" descr="heroku.png"/>
          <p:cNvPicPr>
            <a:picLocks noGrp="1" noChangeAspect="1"/>
          </p:cNvPicPr>
          <p:nvPr>
            <p:ph idx="1"/>
          </p:nvPr>
        </p:nvPicPr>
        <p:blipFill>
          <a:blip r:embed="rId2"/>
          <a:stretch>
            <a:fillRect/>
          </a:stretch>
        </p:blipFill>
        <p:spPr>
          <a:xfrm>
            <a:off x="720437" y="1935163"/>
            <a:ext cx="10584872" cy="4389437"/>
          </a:xfrm>
        </p:spPr>
      </p:pic>
      <p:sp>
        <p:nvSpPr>
          <p:cNvPr id="4" name="Slide Number Placeholder 3"/>
          <p:cNvSpPr>
            <a:spLocks noGrp="1"/>
          </p:cNvSpPr>
          <p:nvPr>
            <p:ph type="sldNum" sz="quarter" idx="12"/>
          </p:nvPr>
        </p:nvSpPr>
        <p:spPr/>
        <p:txBody>
          <a:bodyPr/>
          <a:lstStyle/>
          <a:p>
            <a:fld id="{397D224E-48A9-4C15-8486-539596679785}"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Infrastructure-as-a-Service (</a:t>
            </a:r>
            <a:r>
              <a:rPr lang="en-US" dirty="0" err="1" smtClean="0"/>
              <a:t>IaaS</a:t>
            </a:r>
            <a:r>
              <a:rPr lang="en-US" dirty="0" smtClean="0"/>
              <a:t>)</a:t>
            </a:r>
            <a:endParaRPr lang="en-US" dirty="0"/>
          </a:p>
        </p:txBody>
      </p:sp>
      <p:sp>
        <p:nvSpPr>
          <p:cNvPr id="3" name="Content Placeholder 2"/>
          <p:cNvSpPr>
            <a:spLocks noGrp="1"/>
          </p:cNvSpPr>
          <p:nvPr>
            <p:ph idx="1"/>
          </p:nvPr>
        </p:nvSpPr>
        <p:spPr/>
        <p:txBody>
          <a:bodyPr>
            <a:normAutofit/>
          </a:bodyPr>
          <a:lstStyle/>
          <a:p>
            <a:pPr algn="just"/>
            <a:r>
              <a:rPr lang="en-US" sz="2000" dirty="0"/>
              <a:t>Infrastructure-as-a-Service(</a:t>
            </a:r>
            <a:r>
              <a:rPr lang="en-US" sz="2000" dirty="0" err="1"/>
              <a:t>IaaS</a:t>
            </a:r>
            <a:r>
              <a:rPr lang="en-US" sz="2000" dirty="0"/>
              <a:t>) is the capability to provision processing, storage, networks, </a:t>
            </a:r>
            <a:r>
              <a:rPr lang="en-US" sz="2000" dirty="0" smtClean="0"/>
              <a:t>and other </a:t>
            </a:r>
            <a:r>
              <a:rPr lang="en-US" sz="2000" dirty="0"/>
              <a:t>fundamental computing resources; the consumer is able to deploy and run arbitrary </a:t>
            </a:r>
            <a:r>
              <a:rPr lang="en-US" sz="2000" dirty="0" smtClean="0"/>
              <a:t>software, which </a:t>
            </a:r>
            <a:r>
              <a:rPr lang="en-US" sz="2000" dirty="0"/>
              <a:t>can include operating systems and applications</a:t>
            </a:r>
            <a:r>
              <a:rPr lang="en-US" sz="2000" dirty="0" smtClean="0"/>
              <a:t>.</a:t>
            </a:r>
          </a:p>
          <a:p>
            <a:pPr algn="just"/>
            <a:r>
              <a:rPr lang="en-US" sz="2000" dirty="0"/>
              <a:t>The consumer does not manage or control </a:t>
            </a:r>
            <a:r>
              <a:rPr lang="en-US" sz="2000" dirty="0" smtClean="0"/>
              <a:t>the underlying </a:t>
            </a:r>
            <a:r>
              <a:rPr lang="en-US" sz="2000" dirty="0"/>
              <a:t>cloud infrastructure but has control over operating systems, storage, deployed </a:t>
            </a:r>
            <a:r>
              <a:rPr lang="en-US" sz="2000" dirty="0" smtClean="0"/>
              <a:t>applications, and </a:t>
            </a:r>
            <a:r>
              <a:rPr lang="en-US" sz="2000" dirty="0"/>
              <a:t>possibly limited control of some networking components, such as host firewalls</a:t>
            </a:r>
            <a:r>
              <a:rPr lang="en-US" sz="2000" dirty="0" smtClean="0"/>
              <a:t>.</a:t>
            </a:r>
          </a:p>
          <a:p>
            <a:pPr algn="just"/>
            <a:r>
              <a:rPr lang="en-US" sz="2000" dirty="0"/>
              <a:t>Services </a:t>
            </a:r>
            <a:r>
              <a:rPr lang="en-US" sz="2000" dirty="0" smtClean="0"/>
              <a:t>offered by </a:t>
            </a:r>
            <a:r>
              <a:rPr lang="en-US" sz="2000" dirty="0"/>
              <a:t>this delivery model include: server hosting, Web servers, storage, computing hardware, </a:t>
            </a:r>
            <a:r>
              <a:rPr lang="en-US" sz="2000" dirty="0" smtClean="0"/>
              <a:t>operating systems</a:t>
            </a:r>
            <a:r>
              <a:rPr lang="en-US" sz="2000" dirty="0"/>
              <a:t>, virtual instances, load balancing, Internet access, and bandwidth </a:t>
            </a:r>
            <a:r>
              <a:rPr lang="en-US" sz="2000" dirty="0" smtClean="0"/>
              <a:t>provisioning.</a:t>
            </a:r>
            <a:endParaRPr lang="en-US" sz="2000" dirty="0"/>
          </a:p>
        </p:txBody>
      </p:sp>
      <p:sp>
        <p:nvSpPr>
          <p:cNvPr id="4" name="Slide Number Placeholder 3"/>
          <p:cNvSpPr>
            <a:spLocks noGrp="1"/>
          </p:cNvSpPr>
          <p:nvPr>
            <p:ph type="sldNum" sz="quarter" idx="12"/>
          </p:nvPr>
        </p:nvSpPr>
        <p:spPr/>
        <p:txBody>
          <a:bodyPr/>
          <a:lstStyle/>
          <a:p>
            <a:fld id="{397D224E-48A9-4C15-8486-539596679785}" type="slidenum">
              <a:rPr lang="en-US" smtClean="0"/>
              <a:pPr/>
              <a:t>21</a:t>
            </a:fld>
            <a:endParaRPr lang="en-US"/>
          </a:p>
        </p:txBody>
      </p:sp>
    </p:spTree>
    <p:extLst>
      <p:ext uri="{BB962C8B-B14F-4D97-AF65-F5344CB8AC3E}">
        <p14:creationId xmlns="" xmlns:p14="http://schemas.microsoft.com/office/powerpoint/2010/main" val="37600051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AWS </a:t>
            </a:r>
            <a:r>
              <a:rPr lang="en-US" dirty="0" err="1" smtClean="0"/>
              <a:t>IaaS</a:t>
            </a:r>
            <a:endParaRPr lang="en-US" dirty="0"/>
          </a:p>
        </p:txBody>
      </p:sp>
      <p:pic>
        <p:nvPicPr>
          <p:cNvPr id="5" name="Content Placeholder 4" descr="aws.png"/>
          <p:cNvPicPr>
            <a:picLocks noGrp="1" noChangeAspect="1"/>
          </p:cNvPicPr>
          <p:nvPr>
            <p:ph idx="1"/>
          </p:nvPr>
        </p:nvPicPr>
        <p:blipFill>
          <a:blip r:embed="rId2"/>
          <a:stretch>
            <a:fillRect/>
          </a:stretch>
        </p:blipFill>
        <p:spPr>
          <a:xfrm>
            <a:off x="789709" y="1935163"/>
            <a:ext cx="10280073" cy="4389437"/>
          </a:xfrm>
        </p:spPr>
      </p:pic>
      <p:sp>
        <p:nvSpPr>
          <p:cNvPr id="4" name="Slide Number Placeholder 3"/>
          <p:cNvSpPr>
            <a:spLocks noGrp="1"/>
          </p:cNvSpPr>
          <p:nvPr>
            <p:ph type="sldNum" sz="quarter" idx="12"/>
          </p:nvPr>
        </p:nvSpPr>
        <p:spPr/>
        <p:txBody>
          <a:bodyPr/>
          <a:lstStyle/>
          <a:p>
            <a:fld id="{397D224E-48A9-4C15-8486-539596679785}"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Defining Cloud Computing</a:t>
            </a:r>
            <a:endParaRPr lang="en-US" dirty="0"/>
          </a:p>
        </p:txBody>
      </p:sp>
      <p:sp>
        <p:nvSpPr>
          <p:cNvPr id="3" name="Content Placeholder 2"/>
          <p:cNvSpPr>
            <a:spLocks noGrp="1"/>
          </p:cNvSpPr>
          <p:nvPr>
            <p:ph idx="1"/>
          </p:nvPr>
        </p:nvSpPr>
        <p:spPr/>
        <p:txBody>
          <a:bodyPr>
            <a:normAutofit/>
          </a:bodyPr>
          <a:lstStyle/>
          <a:p>
            <a:pPr algn="just"/>
            <a:r>
              <a:rPr lang="en-US" sz="2400" dirty="0" smtClean="0"/>
              <a:t>cloud computing refers to flexible self-service, network-accessible computing resource pools that can be allocated to meet demand.</a:t>
            </a:r>
          </a:p>
          <a:p>
            <a:pPr algn="just"/>
            <a:endParaRPr lang="en-US" sz="2400" dirty="0" smtClean="0"/>
          </a:p>
          <a:p>
            <a:pPr algn="just"/>
            <a:r>
              <a:rPr lang="en-US" sz="2400" dirty="0" smtClean="0"/>
              <a:t> Services are flexible because the resources and processing power available to each can be adjusted on the fly to meet changes in need or based on configuration settings in an administrative interface, without the need for direct IT personnel involvement.</a:t>
            </a:r>
          </a:p>
          <a:p>
            <a:pPr algn="just"/>
            <a:endParaRPr lang="en-US" sz="2400" dirty="0"/>
          </a:p>
          <a:p>
            <a:pPr algn="just"/>
            <a:r>
              <a:rPr lang="en-US" sz="2400" dirty="0" smtClean="0"/>
              <a:t>Cloud computing allows the allocation of resources to be adjusted as needed, creating a hardware-independent framework for future growth and development.</a:t>
            </a:r>
            <a:endParaRPr lang="en-US" sz="2400" dirty="0"/>
          </a:p>
        </p:txBody>
      </p:sp>
      <p:sp>
        <p:nvSpPr>
          <p:cNvPr id="4" name="Slide Number Placeholder 3"/>
          <p:cNvSpPr>
            <a:spLocks noGrp="1"/>
          </p:cNvSpPr>
          <p:nvPr>
            <p:ph type="sldNum" sz="quarter" idx="12"/>
          </p:nvPr>
        </p:nvSpPr>
        <p:spPr/>
        <p:txBody>
          <a:bodyPr/>
          <a:lstStyle/>
          <a:p>
            <a:fld id="{397D224E-48A9-4C15-8486-539596679785}" type="slidenum">
              <a:rPr lang="en-US" smtClean="0"/>
              <a:pPr/>
              <a:t>23</a:t>
            </a:fld>
            <a:endParaRPr lang="en-US"/>
          </a:p>
        </p:txBody>
      </p:sp>
    </p:spTree>
    <p:extLst>
      <p:ext uri="{BB962C8B-B14F-4D97-AF65-F5344CB8AC3E}">
        <p14:creationId xmlns="" xmlns:p14="http://schemas.microsoft.com/office/powerpoint/2010/main" val="26235693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Clouds Hold More than Just Rain</a:t>
            </a:r>
            <a:endParaRPr lang="en-US" dirty="0"/>
          </a:p>
        </p:txBody>
      </p:sp>
      <p:sp>
        <p:nvSpPr>
          <p:cNvPr id="3" name="Content Placeholder 2"/>
          <p:cNvSpPr>
            <a:spLocks noGrp="1"/>
          </p:cNvSpPr>
          <p:nvPr>
            <p:ph idx="1"/>
          </p:nvPr>
        </p:nvSpPr>
        <p:spPr/>
        <p:txBody>
          <a:bodyPr>
            <a:normAutofit/>
          </a:bodyPr>
          <a:lstStyle/>
          <a:p>
            <a:pPr algn="just"/>
            <a:r>
              <a:rPr lang="en-US" dirty="0" smtClean="0"/>
              <a:t>Almost anything can be hosted in the cloud, from databases and applications to complete virtual infrastructures encompassing data storage, networking, and all components of the server environment. </a:t>
            </a:r>
          </a:p>
          <a:p>
            <a:pPr algn="just"/>
            <a:endParaRPr lang="en-US" dirty="0" smtClean="0"/>
          </a:p>
          <a:p>
            <a:pPr algn="just"/>
            <a:r>
              <a:rPr lang="en-US" dirty="0" smtClean="0"/>
              <a:t>The cloud can also host virtualized user desktop environments available from any networked client device, whether or not the client has sufficient local resources to host the virtualized desktop environment and its various applications.</a:t>
            </a:r>
            <a:endParaRPr lang="en-US" dirty="0"/>
          </a:p>
        </p:txBody>
      </p:sp>
      <p:sp>
        <p:nvSpPr>
          <p:cNvPr id="4" name="Slide Number Placeholder 3"/>
          <p:cNvSpPr>
            <a:spLocks noGrp="1"/>
          </p:cNvSpPr>
          <p:nvPr>
            <p:ph type="sldNum" sz="quarter" idx="12"/>
          </p:nvPr>
        </p:nvSpPr>
        <p:spPr/>
        <p:txBody>
          <a:bodyPr/>
          <a:lstStyle/>
          <a:p>
            <a:fld id="{397D224E-48A9-4C15-8486-539596679785}" type="slidenum">
              <a:rPr lang="en-US" smtClean="0"/>
              <a:pPr/>
              <a:t>24</a:t>
            </a:fld>
            <a:endParaRPr lang="en-US"/>
          </a:p>
        </p:txBody>
      </p:sp>
    </p:spTree>
    <p:extLst>
      <p:ext uri="{BB962C8B-B14F-4D97-AF65-F5344CB8AC3E}">
        <p14:creationId xmlns="" xmlns:p14="http://schemas.microsoft.com/office/powerpoint/2010/main" val="8117289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Common </a:t>
            </a:r>
            <a:r>
              <a:rPr lang="en-US" dirty="0" smtClean="0"/>
              <a:t>Characteristics </a:t>
            </a:r>
            <a:r>
              <a:rPr lang="en-US" dirty="0" smtClean="0"/>
              <a:t>of </a:t>
            </a:r>
            <a:r>
              <a:rPr lang="en-US" dirty="0" smtClean="0"/>
              <a:t>Cloud </a:t>
            </a:r>
            <a:r>
              <a:rPr lang="en-US" dirty="0" smtClean="0"/>
              <a:t>Computing</a:t>
            </a:r>
            <a:endParaRPr lang="en-US" dirty="0"/>
          </a:p>
        </p:txBody>
      </p:sp>
      <p:sp>
        <p:nvSpPr>
          <p:cNvPr id="3" name="Content Placeholder 2"/>
          <p:cNvSpPr>
            <a:spLocks noGrp="1"/>
          </p:cNvSpPr>
          <p:nvPr>
            <p:ph idx="1"/>
          </p:nvPr>
        </p:nvSpPr>
        <p:spPr/>
        <p:txBody>
          <a:bodyPr>
            <a:normAutofit/>
          </a:bodyPr>
          <a:lstStyle/>
          <a:p>
            <a:r>
              <a:rPr lang="en-US" b="1" dirty="0" smtClean="0"/>
              <a:t>Managed by the provider :</a:t>
            </a:r>
          </a:p>
          <a:p>
            <a:pPr lvl="1"/>
            <a:r>
              <a:rPr lang="en-US" sz="2000" dirty="0" smtClean="0"/>
              <a:t>Once applications and services have been moved to external cloud computing, an organization no longer needs to worry about local data center issues regarding power, space, and cooling, and developers need only know whether their applications will be running on one cloud service platform or another</a:t>
            </a:r>
            <a:r>
              <a:rPr lang="en-US" sz="2000" dirty="0" smtClean="0"/>
              <a:t>.</a:t>
            </a:r>
            <a:endParaRPr lang="en-US" sz="2000" dirty="0" smtClean="0"/>
          </a:p>
          <a:p>
            <a:pPr lvl="1"/>
            <a:r>
              <a:rPr lang="en-US" sz="2000" dirty="0" smtClean="0"/>
              <a:t>for example, Amazon Elastic Compute Cloud (EC2) or Microsoft Azure without having to consider where the services or application resources will be located. Knowledge of individual hardware characteristics and capacity measures is no longer important to the organization.</a:t>
            </a:r>
            <a:endParaRPr lang="en-US" sz="2000" dirty="0"/>
          </a:p>
        </p:txBody>
      </p:sp>
      <p:sp>
        <p:nvSpPr>
          <p:cNvPr id="4" name="Slide Number Placeholder 3"/>
          <p:cNvSpPr>
            <a:spLocks noGrp="1"/>
          </p:cNvSpPr>
          <p:nvPr>
            <p:ph type="sldNum" sz="quarter" idx="12"/>
          </p:nvPr>
        </p:nvSpPr>
        <p:spPr/>
        <p:txBody>
          <a:bodyPr/>
          <a:lstStyle/>
          <a:p>
            <a:fld id="{397D224E-48A9-4C15-8486-539596679785}" type="slidenum">
              <a:rPr lang="en-US" smtClean="0"/>
              <a:pPr/>
              <a:t>25</a:t>
            </a:fld>
            <a:endParaRPr lang="en-US"/>
          </a:p>
        </p:txBody>
      </p:sp>
    </p:spTree>
    <p:extLst>
      <p:ext uri="{BB962C8B-B14F-4D97-AF65-F5344CB8AC3E}">
        <p14:creationId xmlns="" xmlns:p14="http://schemas.microsoft.com/office/powerpoint/2010/main" val="227245560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Common Characteristics of Cloud Computing</a:t>
            </a:r>
            <a:endParaRPr lang="en-US" dirty="0"/>
          </a:p>
        </p:txBody>
      </p:sp>
      <p:sp>
        <p:nvSpPr>
          <p:cNvPr id="3" name="Content Placeholder 2"/>
          <p:cNvSpPr>
            <a:spLocks noGrp="1"/>
          </p:cNvSpPr>
          <p:nvPr>
            <p:ph idx="1"/>
          </p:nvPr>
        </p:nvSpPr>
        <p:spPr/>
        <p:txBody>
          <a:bodyPr/>
          <a:lstStyle/>
          <a:p>
            <a:r>
              <a:rPr lang="en-US" b="1" dirty="0"/>
              <a:t>Network </a:t>
            </a:r>
            <a:r>
              <a:rPr lang="en-US" b="1" dirty="0" smtClean="0"/>
              <a:t>accessible</a:t>
            </a:r>
          </a:p>
          <a:p>
            <a:pPr lvl="2" algn="just"/>
            <a:r>
              <a:rPr lang="en-US" dirty="0"/>
              <a:t>Cloud services are available via networked devices and </a:t>
            </a:r>
            <a:r>
              <a:rPr lang="en-US" dirty="0" smtClean="0"/>
              <a:t>technologies</a:t>
            </a:r>
            <a:r>
              <a:rPr lang="en-US" dirty="0"/>
              <a:t>, facilitating rapid access by mobile customers and remote office </a:t>
            </a:r>
            <a:r>
              <a:rPr lang="en-US" dirty="0" smtClean="0"/>
              <a:t>locations</a:t>
            </a:r>
            <a:r>
              <a:rPr lang="en-US" dirty="0" smtClean="0"/>
              <a:t>.</a:t>
            </a:r>
            <a:endParaRPr lang="en-US" dirty="0"/>
          </a:p>
          <a:p>
            <a:pPr lvl="2" algn="just"/>
            <a:r>
              <a:rPr lang="en-US" dirty="0"/>
              <a:t>This provides an “anywhere, anytime” service model not possible </a:t>
            </a:r>
            <a:r>
              <a:rPr lang="en-US" dirty="0" smtClean="0"/>
              <a:t>in </a:t>
            </a:r>
            <a:r>
              <a:rPr lang="en-US" dirty="0"/>
              <a:t>traditional data centers, where service downtime and local-area outages in </a:t>
            </a:r>
            <a:r>
              <a:rPr lang="en-US" dirty="0" smtClean="0"/>
              <a:t>power </a:t>
            </a:r>
            <a:r>
              <a:rPr lang="en-US" dirty="0"/>
              <a:t>and networking can impact </a:t>
            </a:r>
            <a:r>
              <a:rPr lang="en-US" dirty="0" smtClean="0"/>
              <a:t>uptime.		</a:t>
            </a:r>
            <a:endParaRPr lang="en-US" dirty="0"/>
          </a:p>
          <a:p>
            <a:pPr lvl="2" algn="just"/>
            <a:r>
              <a:rPr lang="en-US" dirty="0"/>
              <a:t>Before a </a:t>
            </a:r>
            <a:r>
              <a:rPr lang="en-US" dirty="0" smtClean="0"/>
              <a:t>hurricane</a:t>
            </a:r>
            <a:r>
              <a:rPr lang="en-US" dirty="0"/>
              <a:t>, for example, a cloud service provider could transfer operations from </a:t>
            </a:r>
            <a:r>
              <a:rPr lang="en-US" dirty="0" smtClean="0"/>
              <a:t>Florida </a:t>
            </a:r>
            <a:r>
              <a:rPr lang="en-US" dirty="0"/>
              <a:t>to Washington transparently to the service consumer.</a:t>
            </a:r>
          </a:p>
        </p:txBody>
      </p:sp>
      <p:sp>
        <p:nvSpPr>
          <p:cNvPr id="4" name="Slide Number Placeholder 3"/>
          <p:cNvSpPr>
            <a:spLocks noGrp="1"/>
          </p:cNvSpPr>
          <p:nvPr>
            <p:ph type="sldNum" sz="quarter" idx="12"/>
          </p:nvPr>
        </p:nvSpPr>
        <p:spPr/>
        <p:txBody>
          <a:bodyPr/>
          <a:lstStyle/>
          <a:p>
            <a:fld id="{397D224E-48A9-4C15-8486-539596679785}" type="slidenum">
              <a:rPr lang="en-US" smtClean="0"/>
              <a:pPr/>
              <a:t>26</a:t>
            </a:fld>
            <a:endParaRPr lang="en-US"/>
          </a:p>
        </p:txBody>
      </p:sp>
    </p:spTree>
    <p:extLst>
      <p:ext uri="{BB962C8B-B14F-4D97-AF65-F5344CB8AC3E}">
        <p14:creationId xmlns="" xmlns:p14="http://schemas.microsoft.com/office/powerpoint/2010/main" val="15183987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027730"/>
          </a:xfrm>
        </p:spPr>
        <p:txBody>
          <a:bodyPr>
            <a:normAutofit fontScale="90000"/>
          </a:bodyPr>
          <a:lstStyle/>
          <a:p>
            <a:r>
              <a:rPr lang="en-US" dirty="0" smtClean="0"/>
              <a:t>Common Characteristics of Cloud </a:t>
            </a:r>
            <a:r>
              <a:rPr lang="en-US" dirty="0" smtClean="0"/>
              <a:t>Computing</a:t>
            </a:r>
            <a:endParaRPr lang="en-US" dirty="0"/>
          </a:p>
        </p:txBody>
      </p:sp>
      <p:sp>
        <p:nvSpPr>
          <p:cNvPr id="3" name="Content Placeholder 2"/>
          <p:cNvSpPr>
            <a:spLocks noGrp="1"/>
          </p:cNvSpPr>
          <p:nvPr>
            <p:ph idx="1"/>
          </p:nvPr>
        </p:nvSpPr>
        <p:spPr/>
        <p:txBody>
          <a:bodyPr>
            <a:normAutofit fontScale="92500"/>
          </a:bodyPr>
          <a:lstStyle/>
          <a:p>
            <a:r>
              <a:rPr lang="en-US" b="1" dirty="0"/>
              <a:t>Sustainable </a:t>
            </a:r>
            <a:endParaRPr lang="en-US" b="1" dirty="0" smtClean="0"/>
          </a:p>
          <a:p>
            <a:pPr lvl="2" algn="just"/>
            <a:r>
              <a:rPr lang="en-US" dirty="0"/>
              <a:t>Because cloud providers can provision resources at need, it is possible to reduce power and cooling requirements during off-peak times, gaining </a:t>
            </a:r>
            <a:r>
              <a:rPr lang="en-US" dirty="0" smtClean="0"/>
              <a:t>economies </a:t>
            </a:r>
            <a:r>
              <a:rPr lang="en-US" dirty="0"/>
              <a:t>of scale well beyond those available to single-tenanted </a:t>
            </a:r>
            <a:r>
              <a:rPr lang="en-US" dirty="0" smtClean="0"/>
              <a:t>hardware based </a:t>
            </a:r>
            <a:r>
              <a:rPr lang="en-US" dirty="0"/>
              <a:t>data services, which must stay on waiting for later use</a:t>
            </a:r>
            <a:r>
              <a:rPr lang="en-US" dirty="0" smtClean="0"/>
              <a:t>.</a:t>
            </a:r>
            <a:endParaRPr lang="en-US" dirty="0"/>
          </a:p>
          <a:p>
            <a:pPr lvl="2" algn="just"/>
            <a:r>
              <a:rPr lang="en-US" dirty="0"/>
              <a:t>The flexibility in </a:t>
            </a:r>
            <a:r>
              <a:rPr lang="en-US" dirty="0" smtClean="0"/>
              <a:t>cloud </a:t>
            </a:r>
            <a:r>
              <a:rPr lang="en-US" dirty="0"/>
              <a:t>hosting location allows providers to shift operations without disruption to </a:t>
            </a:r>
            <a:r>
              <a:rPr lang="en-US" dirty="0" smtClean="0"/>
              <a:t>consumers</a:t>
            </a:r>
            <a:r>
              <a:rPr lang="en-US" dirty="0"/>
              <a:t>. They can move data center activity north during summer months </a:t>
            </a:r>
            <a:r>
              <a:rPr lang="en-US" dirty="0" smtClean="0"/>
              <a:t>to </a:t>
            </a:r>
            <a:r>
              <a:rPr lang="en-US" dirty="0"/>
              <a:t>save on cooling costs or transfer operations to areas with excess power </a:t>
            </a:r>
            <a:r>
              <a:rPr lang="en-US" dirty="0" smtClean="0"/>
              <a:t>production </a:t>
            </a:r>
            <a:r>
              <a:rPr lang="en-US" dirty="0"/>
              <a:t>capability, such as Iceland</a:t>
            </a:r>
            <a:r>
              <a:rPr lang="en-US" dirty="0" smtClean="0"/>
              <a:t>.</a:t>
            </a:r>
          </a:p>
          <a:p>
            <a:pPr lvl="2" algn="just"/>
            <a:endParaRPr lang="en-US" dirty="0" smtClean="0"/>
          </a:p>
          <a:p>
            <a:pPr lvl="1" algn="just"/>
            <a:r>
              <a:rPr lang="en-US" dirty="0"/>
              <a:t>Cloudy Skies Are “Greening” the Data </a:t>
            </a:r>
            <a:r>
              <a:rPr lang="en-US" dirty="0" smtClean="0"/>
              <a:t>Center</a:t>
            </a:r>
          </a:p>
          <a:p>
            <a:pPr lvl="2" algn="just"/>
            <a:r>
              <a:rPr lang="en-US" dirty="0"/>
              <a:t>Cloud hosting supports green initiatives through the use of environmental cooling by transferring operations to cooler locations rather than requiring </a:t>
            </a:r>
            <a:r>
              <a:rPr lang="en-US" dirty="0" smtClean="0"/>
              <a:t>ever larger </a:t>
            </a:r>
            <a:r>
              <a:rPr lang="en-US" dirty="0"/>
              <a:t>refrigerated air systems to meet summer heat increases, reducing an </a:t>
            </a:r>
            <a:r>
              <a:rPr lang="en-US" dirty="0" smtClean="0"/>
              <a:t>organization’s </a:t>
            </a:r>
            <a:r>
              <a:rPr lang="en-US" dirty="0"/>
              <a:t>environmental footprint.</a:t>
            </a:r>
          </a:p>
        </p:txBody>
      </p:sp>
      <p:sp>
        <p:nvSpPr>
          <p:cNvPr id="4" name="Slide Number Placeholder 3"/>
          <p:cNvSpPr>
            <a:spLocks noGrp="1"/>
          </p:cNvSpPr>
          <p:nvPr>
            <p:ph type="sldNum" sz="quarter" idx="12"/>
          </p:nvPr>
        </p:nvSpPr>
        <p:spPr/>
        <p:txBody>
          <a:bodyPr/>
          <a:lstStyle/>
          <a:p>
            <a:fld id="{397D224E-48A9-4C15-8486-539596679785}" type="slidenum">
              <a:rPr lang="en-US" smtClean="0"/>
              <a:pPr/>
              <a:t>27</a:t>
            </a:fld>
            <a:endParaRPr lang="en-US"/>
          </a:p>
        </p:txBody>
      </p:sp>
    </p:spTree>
    <p:extLst>
      <p:ext uri="{BB962C8B-B14F-4D97-AF65-F5344CB8AC3E}">
        <p14:creationId xmlns="" xmlns:p14="http://schemas.microsoft.com/office/powerpoint/2010/main" val="231153757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Common Characteristics of Cloud Computing</a:t>
            </a:r>
            <a:endParaRPr lang="en-US" dirty="0"/>
          </a:p>
        </p:txBody>
      </p:sp>
      <p:sp>
        <p:nvSpPr>
          <p:cNvPr id="3" name="Content Placeholder 2"/>
          <p:cNvSpPr>
            <a:spLocks noGrp="1"/>
          </p:cNvSpPr>
          <p:nvPr>
            <p:ph idx="1"/>
          </p:nvPr>
        </p:nvSpPr>
        <p:spPr/>
        <p:txBody>
          <a:bodyPr/>
          <a:lstStyle/>
          <a:p>
            <a:r>
              <a:rPr lang="en-US" b="1" dirty="0"/>
              <a:t>Managed through self-service on </a:t>
            </a:r>
            <a:r>
              <a:rPr lang="en-US" b="1" dirty="0" smtClean="0"/>
              <a:t>demand</a:t>
            </a:r>
          </a:p>
          <a:p>
            <a:pPr lvl="2"/>
            <a:r>
              <a:rPr lang="en-US" dirty="0"/>
              <a:t>After limits for resource availability </a:t>
            </a:r>
            <a:r>
              <a:rPr lang="en-US" dirty="0" smtClean="0"/>
              <a:t>are </a:t>
            </a:r>
            <a:r>
              <a:rPr lang="en-US" dirty="0"/>
              <a:t>configured within the cloud provider’s systems, available resource capacity </a:t>
            </a:r>
            <a:r>
              <a:rPr lang="en-US" dirty="0" smtClean="0"/>
              <a:t>can </a:t>
            </a:r>
            <a:r>
              <a:rPr lang="en-US" dirty="0"/>
              <a:t>be automatically expanded or managed by the client with minimal effort</a:t>
            </a:r>
            <a:r>
              <a:rPr lang="en-US" dirty="0" smtClean="0"/>
              <a:t>.</a:t>
            </a:r>
            <a:endParaRPr lang="en-US" dirty="0"/>
          </a:p>
          <a:p>
            <a:pPr lvl="2"/>
            <a:r>
              <a:rPr lang="en-US" dirty="0"/>
              <a:t>Bringing up a test server no longer requires access to the physical system, loading software, and configuring networking by hand; instead, the customer need </a:t>
            </a:r>
            <a:r>
              <a:rPr lang="en-US" dirty="0" smtClean="0"/>
              <a:t>only </a:t>
            </a:r>
            <a:r>
              <a:rPr lang="en-US" dirty="0"/>
              <a:t>access their cloud provider and request a new resource allocation using the </a:t>
            </a:r>
            <a:r>
              <a:rPr lang="en-US" dirty="0" smtClean="0"/>
              <a:t>self-service </a:t>
            </a:r>
            <a:r>
              <a:rPr lang="en-US" dirty="0"/>
              <a:t>user interface.</a:t>
            </a:r>
          </a:p>
        </p:txBody>
      </p:sp>
      <p:sp>
        <p:nvSpPr>
          <p:cNvPr id="4" name="Slide Number Placeholder 3"/>
          <p:cNvSpPr>
            <a:spLocks noGrp="1"/>
          </p:cNvSpPr>
          <p:nvPr>
            <p:ph type="sldNum" sz="quarter" idx="12"/>
          </p:nvPr>
        </p:nvSpPr>
        <p:spPr/>
        <p:txBody>
          <a:bodyPr/>
          <a:lstStyle/>
          <a:p>
            <a:fld id="{397D224E-48A9-4C15-8486-539596679785}" type="slidenum">
              <a:rPr lang="en-US" smtClean="0"/>
              <a:pPr/>
              <a:t>28</a:t>
            </a:fld>
            <a:endParaRPr lang="en-US"/>
          </a:p>
        </p:txBody>
      </p:sp>
    </p:spTree>
    <p:extLst>
      <p:ext uri="{BB962C8B-B14F-4D97-AF65-F5344CB8AC3E}">
        <p14:creationId xmlns="" xmlns:p14="http://schemas.microsoft.com/office/powerpoint/2010/main" val="31019484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Understanding Distributed </a:t>
            </a:r>
            <a:r>
              <a:rPr lang="en-US" dirty="0" smtClean="0"/>
              <a:t>Application </a:t>
            </a:r>
            <a:r>
              <a:rPr lang="en-US" dirty="0"/>
              <a:t>Design</a:t>
            </a:r>
          </a:p>
        </p:txBody>
      </p:sp>
      <p:sp>
        <p:nvSpPr>
          <p:cNvPr id="3" name="Content Placeholder 2"/>
          <p:cNvSpPr>
            <a:spLocks noGrp="1"/>
          </p:cNvSpPr>
          <p:nvPr>
            <p:ph idx="1"/>
          </p:nvPr>
        </p:nvSpPr>
        <p:spPr/>
        <p:txBody>
          <a:bodyPr>
            <a:normAutofit/>
          </a:bodyPr>
          <a:lstStyle/>
          <a:p>
            <a:r>
              <a:rPr lang="en-US" sz="2000" dirty="0"/>
              <a:t>Services such as eBay depend on distributed processing to integrate real-time </a:t>
            </a:r>
            <a:r>
              <a:rPr lang="en-US" sz="2000" dirty="0" smtClean="0"/>
              <a:t>bids </a:t>
            </a:r>
            <a:r>
              <a:rPr lang="en-US" sz="2000" dirty="0"/>
              <a:t>with </a:t>
            </a:r>
            <a:r>
              <a:rPr lang="en-US" sz="2000" dirty="0" smtClean="0"/>
              <a:t>item availability </a:t>
            </a:r>
            <a:r>
              <a:rPr lang="en-US" sz="2000" dirty="0"/>
              <a:t>and many other factors calculated and managed </a:t>
            </a:r>
            <a:r>
              <a:rPr lang="en-US" sz="2000" dirty="0" smtClean="0"/>
              <a:t>simultaneously </a:t>
            </a:r>
            <a:r>
              <a:rPr lang="en-US" sz="2000" dirty="0"/>
              <a:t>across many systems. </a:t>
            </a:r>
            <a:endParaRPr lang="en-US" sz="2000" dirty="0" smtClean="0"/>
          </a:p>
          <a:p>
            <a:endParaRPr lang="en-US" sz="2000" dirty="0"/>
          </a:p>
          <a:p>
            <a:r>
              <a:rPr lang="en-US" sz="2000" dirty="0" smtClean="0"/>
              <a:t>No </a:t>
            </a:r>
            <a:r>
              <a:rPr lang="en-US" sz="2000" dirty="0"/>
              <a:t>single system could handle the volume of transactions occurring simultaneously as items are placed for bid, bids </a:t>
            </a:r>
            <a:r>
              <a:rPr lang="en-US" sz="2000" dirty="0" smtClean="0"/>
              <a:t>are </a:t>
            </a:r>
            <a:r>
              <a:rPr lang="en-US" sz="2000" dirty="0"/>
              <a:t>submitted, notifications for winning bids are transmitted, and the various </a:t>
            </a:r>
            <a:r>
              <a:rPr lang="en-US" sz="2000" dirty="0" smtClean="0"/>
              <a:t>other </a:t>
            </a:r>
            <a:r>
              <a:rPr lang="en-US" sz="2000" dirty="0"/>
              <a:t>aspects of online real-time auctions are carried out</a:t>
            </a:r>
            <a:r>
              <a:rPr lang="en-US" sz="2000" dirty="0" smtClean="0"/>
              <a:t>.</a:t>
            </a:r>
          </a:p>
          <a:p>
            <a:endParaRPr lang="en-US" sz="2000" dirty="0"/>
          </a:p>
          <a:p>
            <a:r>
              <a:rPr lang="en-US" sz="2000" dirty="0"/>
              <a:t>In cloud computing environments, even the location and type of hardware </a:t>
            </a:r>
            <a:r>
              <a:rPr lang="en-US" sz="2000" dirty="0" smtClean="0"/>
              <a:t>supporting </a:t>
            </a:r>
            <a:r>
              <a:rPr lang="en-US" sz="2000" dirty="0"/>
              <a:t>a software application can shift from moment to moment as additional capacity is allocated or services are transferred between cloud provider </a:t>
            </a:r>
            <a:r>
              <a:rPr lang="en-US" sz="2000" dirty="0" smtClean="0"/>
              <a:t>data centers.</a:t>
            </a:r>
            <a:endParaRPr lang="en-US" sz="2000" dirty="0"/>
          </a:p>
        </p:txBody>
      </p:sp>
      <p:sp>
        <p:nvSpPr>
          <p:cNvPr id="4" name="Slide Number Placeholder 3"/>
          <p:cNvSpPr>
            <a:spLocks noGrp="1"/>
          </p:cNvSpPr>
          <p:nvPr>
            <p:ph type="sldNum" sz="quarter" idx="12"/>
          </p:nvPr>
        </p:nvSpPr>
        <p:spPr/>
        <p:txBody>
          <a:bodyPr/>
          <a:lstStyle/>
          <a:p>
            <a:fld id="{397D224E-48A9-4C15-8486-539596679785}" type="slidenum">
              <a:rPr lang="en-US" smtClean="0"/>
              <a:pPr/>
              <a:t>29</a:t>
            </a:fld>
            <a:endParaRPr lang="en-US"/>
          </a:p>
        </p:txBody>
      </p:sp>
    </p:spTree>
    <p:extLst>
      <p:ext uri="{BB962C8B-B14F-4D97-AF65-F5344CB8AC3E}">
        <p14:creationId xmlns="" xmlns:p14="http://schemas.microsoft.com/office/powerpoint/2010/main" val="23665551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Clouds Virtualize the Application Development Cycle</a:t>
            </a:r>
          </a:p>
        </p:txBody>
      </p:sp>
      <p:sp>
        <p:nvSpPr>
          <p:cNvPr id="3" name="Content Placeholder 2"/>
          <p:cNvSpPr>
            <a:spLocks noGrp="1"/>
          </p:cNvSpPr>
          <p:nvPr>
            <p:ph idx="1"/>
          </p:nvPr>
        </p:nvSpPr>
        <p:spPr/>
        <p:txBody>
          <a:bodyPr/>
          <a:lstStyle/>
          <a:p>
            <a:pPr algn="just"/>
            <a:r>
              <a:rPr lang="en-US" dirty="0"/>
              <a:t>Application development in the cloud improves business agility to offer new </a:t>
            </a:r>
            <a:r>
              <a:rPr lang="en-US" dirty="0" smtClean="0"/>
              <a:t>services </a:t>
            </a:r>
            <a:r>
              <a:rPr lang="en-US" dirty="0"/>
              <a:t>to customers by making services immediately available </a:t>
            </a:r>
            <a:endParaRPr lang="en-US" dirty="0" smtClean="0"/>
          </a:p>
          <a:p>
            <a:pPr algn="just"/>
            <a:endParaRPr lang="en-US" dirty="0" smtClean="0"/>
          </a:p>
          <a:p>
            <a:pPr algn="just"/>
            <a:r>
              <a:rPr lang="en-US" dirty="0" smtClean="0"/>
              <a:t>with </a:t>
            </a:r>
            <a:r>
              <a:rPr lang="en-US" dirty="0"/>
              <a:t>whatever </a:t>
            </a:r>
            <a:r>
              <a:rPr lang="en-US" dirty="0" smtClean="0"/>
              <a:t>resources </a:t>
            </a:r>
            <a:r>
              <a:rPr lang="en-US" dirty="0"/>
              <a:t>turn out to be needed rather than via the traditional model of application development, prototyping, testing, and then rollout to production systems </a:t>
            </a:r>
            <a:r>
              <a:rPr lang="en-US" dirty="0" smtClean="0"/>
              <a:t>after </a:t>
            </a:r>
            <a:r>
              <a:rPr lang="en-US" dirty="0"/>
              <a:t>procurement.</a:t>
            </a:r>
          </a:p>
        </p:txBody>
      </p:sp>
      <p:sp>
        <p:nvSpPr>
          <p:cNvPr id="4" name="Slide Number Placeholder 3"/>
          <p:cNvSpPr>
            <a:spLocks noGrp="1"/>
          </p:cNvSpPr>
          <p:nvPr>
            <p:ph type="sldNum" sz="quarter" idx="12"/>
          </p:nvPr>
        </p:nvSpPr>
        <p:spPr/>
        <p:txBody>
          <a:bodyPr/>
          <a:lstStyle/>
          <a:p>
            <a:fld id="{397D224E-48A9-4C15-8486-539596679785}" type="slidenum">
              <a:rPr lang="en-US" smtClean="0"/>
              <a:pPr/>
              <a:t>30</a:t>
            </a:fld>
            <a:endParaRPr lang="en-US"/>
          </a:p>
        </p:txBody>
      </p:sp>
    </p:spTree>
    <p:extLst>
      <p:ext uri="{BB962C8B-B14F-4D97-AF65-F5344CB8AC3E}">
        <p14:creationId xmlns="" xmlns:p14="http://schemas.microsoft.com/office/powerpoint/2010/main" val="210289689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Resource </a:t>
            </a:r>
            <a:r>
              <a:rPr lang="en-US" dirty="0" smtClean="0"/>
              <a:t>Management </a:t>
            </a:r>
            <a:r>
              <a:rPr lang="en-US" dirty="0"/>
              <a:t>Automation</a:t>
            </a:r>
          </a:p>
        </p:txBody>
      </p:sp>
      <p:sp>
        <p:nvSpPr>
          <p:cNvPr id="3" name="Content Placeholder 2"/>
          <p:cNvSpPr>
            <a:spLocks noGrp="1"/>
          </p:cNvSpPr>
          <p:nvPr>
            <p:ph idx="1"/>
          </p:nvPr>
        </p:nvSpPr>
        <p:spPr/>
        <p:txBody>
          <a:bodyPr>
            <a:normAutofit/>
          </a:bodyPr>
          <a:lstStyle/>
          <a:p>
            <a:pPr algn="just"/>
            <a:r>
              <a:rPr lang="en-US" sz="2400" dirty="0"/>
              <a:t>Another key function underlying the success of cloud computing is the management of resources automatically</a:t>
            </a:r>
            <a:r>
              <a:rPr lang="en-US" sz="2400" dirty="0" smtClean="0"/>
              <a:t>.</a:t>
            </a:r>
          </a:p>
          <a:p>
            <a:pPr algn="just"/>
            <a:endParaRPr lang="en-US" sz="2400" dirty="0"/>
          </a:p>
          <a:p>
            <a:pPr algn="just"/>
            <a:r>
              <a:rPr lang="en-US" sz="2400" dirty="0"/>
              <a:t>When demand nears capacity, the cloud </a:t>
            </a:r>
            <a:r>
              <a:rPr lang="en-US" sz="2400" dirty="0" smtClean="0"/>
              <a:t>hosting </a:t>
            </a:r>
            <a:r>
              <a:rPr lang="en-US" sz="2400" dirty="0"/>
              <a:t>software is able to identify need </a:t>
            </a:r>
            <a:endParaRPr lang="en-US" sz="2400" dirty="0" smtClean="0"/>
          </a:p>
          <a:p>
            <a:pPr algn="just"/>
            <a:endParaRPr lang="en-US" sz="2400" dirty="0"/>
          </a:p>
          <a:p>
            <a:pPr algn="just"/>
            <a:r>
              <a:rPr lang="en-US" sz="2400" dirty="0" smtClean="0"/>
              <a:t>It respond </a:t>
            </a:r>
            <a:r>
              <a:rPr lang="en-US" sz="2400" dirty="0"/>
              <a:t>by adding resources up to </a:t>
            </a:r>
            <a:r>
              <a:rPr lang="en-US" sz="2400" dirty="0" smtClean="0"/>
              <a:t>predetermined </a:t>
            </a:r>
            <a:r>
              <a:rPr lang="en-US" sz="2400" dirty="0"/>
              <a:t>levels based on an organization’s contractual limits or limits </a:t>
            </a:r>
            <a:r>
              <a:rPr lang="en-US" sz="2400" dirty="0" smtClean="0"/>
              <a:t>configured </a:t>
            </a:r>
            <a:r>
              <a:rPr lang="en-US" sz="2400" dirty="0"/>
              <a:t>in the management software</a:t>
            </a:r>
            <a:r>
              <a:rPr lang="en-US" sz="2400" dirty="0" smtClean="0"/>
              <a:t>.</a:t>
            </a:r>
          </a:p>
          <a:p>
            <a:pPr algn="just"/>
            <a:endParaRPr lang="en-US" sz="2400" dirty="0"/>
          </a:p>
          <a:p>
            <a:pPr algn="just"/>
            <a:r>
              <a:rPr lang="en-US" sz="2400" dirty="0"/>
              <a:t>This protects application availability while </a:t>
            </a:r>
            <a:r>
              <a:rPr lang="en-US" sz="2400" dirty="0" smtClean="0"/>
              <a:t>also </a:t>
            </a:r>
            <a:r>
              <a:rPr lang="en-US" sz="2400" dirty="0"/>
              <a:t>ensuring that attacks will not overrun an organization’s </a:t>
            </a:r>
            <a:r>
              <a:rPr lang="en-US" sz="2400" dirty="0" smtClean="0"/>
              <a:t>budget.</a:t>
            </a:r>
            <a:endParaRPr lang="en-US" sz="2400" dirty="0"/>
          </a:p>
        </p:txBody>
      </p:sp>
      <p:sp>
        <p:nvSpPr>
          <p:cNvPr id="4" name="Slide Number Placeholder 3"/>
          <p:cNvSpPr>
            <a:spLocks noGrp="1"/>
          </p:cNvSpPr>
          <p:nvPr>
            <p:ph type="sldNum" sz="quarter" idx="12"/>
          </p:nvPr>
        </p:nvSpPr>
        <p:spPr/>
        <p:txBody>
          <a:bodyPr/>
          <a:lstStyle/>
          <a:p>
            <a:fld id="{397D224E-48A9-4C15-8486-539596679785}" type="slidenum">
              <a:rPr lang="en-US" smtClean="0"/>
              <a:pPr/>
              <a:t>31</a:t>
            </a:fld>
            <a:endParaRPr lang="en-US"/>
          </a:p>
        </p:txBody>
      </p:sp>
    </p:spTree>
    <p:extLst>
      <p:ext uri="{BB962C8B-B14F-4D97-AF65-F5344CB8AC3E}">
        <p14:creationId xmlns="" xmlns:p14="http://schemas.microsoft.com/office/powerpoint/2010/main" val="192234844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Clouds Help Deal with Botnets and </a:t>
            </a:r>
            <a:br>
              <a:rPr lang="en-US" dirty="0"/>
            </a:br>
            <a:r>
              <a:rPr lang="en-US" dirty="0"/>
              <a:t>Distributed Denial-of-Service Attacks</a:t>
            </a:r>
          </a:p>
        </p:txBody>
      </p:sp>
      <p:sp>
        <p:nvSpPr>
          <p:cNvPr id="3" name="Content Placeholder 2"/>
          <p:cNvSpPr>
            <a:spLocks noGrp="1"/>
          </p:cNvSpPr>
          <p:nvPr>
            <p:ph idx="1"/>
          </p:nvPr>
        </p:nvSpPr>
        <p:spPr/>
        <p:txBody>
          <a:bodyPr>
            <a:normAutofit/>
          </a:bodyPr>
          <a:lstStyle/>
          <a:p>
            <a:pPr algn="just"/>
            <a:r>
              <a:rPr lang="en-US" sz="2000" dirty="0"/>
              <a:t>Cloud services protect an organization by simply scaling up resources to meet </a:t>
            </a:r>
            <a:r>
              <a:rPr lang="en-US" sz="2000" dirty="0" smtClean="0"/>
              <a:t>growing </a:t>
            </a:r>
            <a:r>
              <a:rPr lang="en-US" sz="2000" dirty="0"/>
              <a:t>demands during an attack while also ensuring that attacks, such as </a:t>
            </a:r>
            <a:r>
              <a:rPr lang="en-US" sz="2000" dirty="0" smtClean="0"/>
              <a:t>botnet </a:t>
            </a:r>
            <a:r>
              <a:rPr lang="en-US" sz="2000" dirty="0"/>
              <a:t>distributed denial of service attacks, will </a:t>
            </a:r>
            <a:r>
              <a:rPr lang="en-US" sz="2000" dirty="0" smtClean="0"/>
              <a:t>not </a:t>
            </a:r>
            <a:r>
              <a:rPr lang="en-US" sz="2000" dirty="0"/>
              <a:t>overrun an organization’s </a:t>
            </a:r>
            <a:r>
              <a:rPr lang="en-US" sz="2000" dirty="0" smtClean="0"/>
              <a:t>resources</a:t>
            </a:r>
          </a:p>
          <a:p>
            <a:pPr algn="just"/>
            <a:endParaRPr lang="en-US" sz="2000" dirty="0"/>
          </a:p>
          <a:p>
            <a:pPr algn="just"/>
            <a:r>
              <a:rPr lang="en-US" sz="2000" dirty="0"/>
              <a:t>Botnets are collections of individual computers remotely controlled by the “bot </a:t>
            </a:r>
            <a:r>
              <a:rPr lang="en-US" sz="2000" dirty="0" smtClean="0"/>
              <a:t>herder</a:t>
            </a:r>
            <a:r>
              <a:rPr lang="en-US" sz="2000" dirty="0"/>
              <a:t>” to perform tasks as directed. Most bots are standard personal computers </a:t>
            </a:r>
            <a:r>
              <a:rPr lang="en-US" sz="2000" dirty="0" smtClean="0"/>
              <a:t>located </a:t>
            </a:r>
            <a:r>
              <a:rPr lang="en-US" sz="2000" dirty="0"/>
              <a:t>in people’s homes and businesses and infected with viruses and remote </a:t>
            </a:r>
            <a:r>
              <a:rPr lang="en-US" sz="2000" dirty="0" smtClean="0"/>
              <a:t>control </a:t>
            </a:r>
            <a:r>
              <a:rPr lang="en-US" sz="2000" dirty="0"/>
              <a:t>software that lets the bot </a:t>
            </a:r>
            <a:r>
              <a:rPr lang="en-US" sz="2000" dirty="0" smtClean="0"/>
              <a:t>herder issue </a:t>
            </a:r>
            <a:r>
              <a:rPr lang="en-US" sz="2000" dirty="0"/>
              <a:t>commands</a:t>
            </a:r>
            <a:r>
              <a:rPr lang="en-US" sz="2000" dirty="0" smtClean="0"/>
              <a:t>.</a:t>
            </a:r>
          </a:p>
          <a:p>
            <a:pPr algn="just"/>
            <a:endParaRPr lang="en-US" sz="2000" dirty="0"/>
          </a:p>
          <a:p>
            <a:pPr algn="just"/>
            <a:r>
              <a:rPr lang="en-US" sz="2000" dirty="0"/>
              <a:t> By commanding all </a:t>
            </a:r>
            <a:r>
              <a:rPr lang="en-US" sz="2000" dirty="0" smtClean="0"/>
              <a:t>of </a:t>
            </a:r>
            <a:r>
              <a:rPr lang="en-US" sz="2000" dirty="0"/>
              <a:t>the individual bots to connect to a target server, the bot herder </a:t>
            </a:r>
            <a:r>
              <a:rPr lang="en-US" sz="2000" dirty="0" smtClean="0"/>
              <a:t>consumes all </a:t>
            </a:r>
            <a:r>
              <a:rPr lang="en-US" sz="2000" dirty="0"/>
              <a:t>of the targeted server’s resources trying to handle the attack, preventing </a:t>
            </a:r>
            <a:r>
              <a:rPr lang="en-US" sz="2000" dirty="0" smtClean="0"/>
              <a:t>legitimate </a:t>
            </a:r>
            <a:r>
              <a:rPr lang="en-US" sz="2000" dirty="0"/>
              <a:t>use.</a:t>
            </a:r>
          </a:p>
        </p:txBody>
      </p:sp>
      <p:sp>
        <p:nvSpPr>
          <p:cNvPr id="4" name="Slide Number Placeholder 3"/>
          <p:cNvSpPr>
            <a:spLocks noGrp="1"/>
          </p:cNvSpPr>
          <p:nvPr>
            <p:ph type="sldNum" sz="quarter" idx="12"/>
          </p:nvPr>
        </p:nvSpPr>
        <p:spPr/>
        <p:txBody>
          <a:bodyPr/>
          <a:lstStyle/>
          <a:p>
            <a:fld id="{397D224E-48A9-4C15-8486-539596679785}" type="slidenum">
              <a:rPr lang="en-US" smtClean="0"/>
              <a:pPr/>
              <a:t>32</a:t>
            </a:fld>
            <a:endParaRPr lang="en-US"/>
          </a:p>
        </p:txBody>
      </p:sp>
    </p:spTree>
    <p:extLst>
      <p:ext uri="{BB962C8B-B14F-4D97-AF65-F5344CB8AC3E}">
        <p14:creationId xmlns="" xmlns:p14="http://schemas.microsoft.com/office/powerpoint/2010/main" val="32136120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Virtualized </a:t>
            </a:r>
            <a:r>
              <a:rPr lang="en-US" dirty="0" smtClean="0"/>
              <a:t>Computing </a:t>
            </a:r>
            <a:r>
              <a:rPr lang="en-US" dirty="0"/>
              <a:t>Environments</a:t>
            </a:r>
          </a:p>
        </p:txBody>
      </p:sp>
      <p:sp>
        <p:nvSpPr>
          <p:cNvPr id="3" name="Content Placeholder 2"/>
          <p:cNvSpPr>
            <a:spLocks noGrp="1"/>
          </p:cNvSpPr>
          <p:nvPr>
            <p:ph idx="1"/>
          </p:nvPr>
        </p:nvSpPr>
        <p:spPr/>
        <p:txBody>
          <a:bodyPr>
            <a:normAutofit/>
          </a:bodyPr>
          <a:lstStyle/>
          <a:p>
            <a:r>
              <a:rPr lang="en-US" sz="2000" dirty="0"/>
              <a:t>Cloud computing also </a:t>
            </a:r>
            <a:r>
              <a:rPr lang="en-US" sz="2000" dirty="0" smtClean="0"/>
              <a:t>makes </a:t>
            </a:r>
            <a:r>
              <a:rPr lang="en-US" sz="2000" dirty="0"/>
              <a:t>extensive use of server virtualization to better utilize cloud hosting servers by allowing multiple systems to run on a more powerful server</a:t>
            </a:r>
          </a:p>
        </p:txBody>
      </p:sp>
      <p:sp>
        <p:nvSpPr>
          <p:cNvPr id="6" name="Slide Number Placeholder 5"/>
          <p:cNvSpPr>
            <a:spLocks noGrp="1"/>
          </p:cNvSpPr>
          <p:nvPr>
            <p:ph type="sldNum" sz="quarter" idx="12"/>
          </p:nvPr>
        </p:nvSpPr>
        <p:spPr/>
        <p:txBody>
          <a:bodyPr/>
          <a:lstStyle/>
          <a:p>
            <a:fld id="{397D224E-48A9-4C15-8486-539596679785}" type="slidenum">
              <a:rPr lang="en-US" smtClean="0"/>
              <a:pPr/>
              <a:t>33</a:t>
            </a:fld>
            <a:endParaRPr lang="en-US"/>
          </a:p>
        </p:txBody>
      </p:sp>
      <p:pic>
        <p:nvPicPr>
          <p:cNvPr id="4" name="Picture 3"/>
          <p:cNvPicPr>
            <a:picLocks noChangeAspect="1"/>
          </p:cNvPicPr>
          <p:nvPr/>
        </p:nvPicPr>
        <p:blipFill>
          <a:blip r:embed="rId2"/>
          <a:stretch>
            <a:fillRect/>
          </a:stretch>
        </p:blipFill>
        <p:spPr>
          <a:xfrm>
            <a:off x="872837" y="2685617"/>
            <a:ext cx="5943599" cy="3657600"/>
          </a:xfrm>
          <a:prstGeom prst="rect">
            <a:avLst/>
          </a:prstGeom>
        </p:spPr>
      </p:pic>
      <p:sp>
        <p:nvSpPr>
          <p:cNvPr id="5" name="TextBox 4"/>
          <p:cNvSpPr txBox="1"/>
          <p:nvPr/>
        </p:nvSpPr>
        <p:spPr>
          <a:xfrm>
            <a:off x="6851561" y="2910625"/>
            <a:ext cx="4893971" cy="1477328"/>
          </a:xfrm>
          <a:prstGeom prst="rect">
            <a:avLst/>
          </a:prstGeom>
          <a:noFill/>
        </p:spPr>
        <p:txBody>
          <a:bodyPr wrap="square" rtlCol="0">
            <a:spAutoFit/>
          </a:bodyPr>
          <a:lstStyle/>
          <a:p>
            <a:r>
              <a:rPr lang="en-US" dirty="0"/>
              <a:t> This is referred to as </a:t>
            </a:r>
            <a:r>
              <a:rPr lang="en-US" dirty="0" err="1" smtClean="0"/>
              <a:t>multitenancy</a:t>
            </a:r>
            <a:r>
              <a:rPr lang="en-US" dirty="0" smtClean="0"/>
              <a:t> and </a:t>
            </a:r>
            <a:r>
              <a:rPr lang="en-US" dirty="0"/>
              <a:t>allows system resources to be </a:t>
            </a:r>
            <a:r>
              <a:rPr lang="en-US" dirty="0" smtClean="0"/>
              <a:t>fully </a:t>
            </a:r>
            <a:r>
              <a:rPr lang="en-US" dirty="0"/>
              <a:t>utilized before another server is brought online, further reducing operating </a:t>
            </a:r>
            <a:r>
              <a:rPr lang="en-US" dirty="0" smtClean="0"/>
              <a:t>costs </a:t>
            </a:r>
            <a:r>
              <a:rPr lang="en-US" dirty="0"/>
              <a:t>and data center cooling requirements.</a:t>
            </a:r>
          </a:p>
        </p:txBody>
      </p:sp>
    </p:spTree>
    <p:extLst>
      <p:ext uri="{BB962C8B-B14F-4D97-AF65-F5344CB8AC3E}">
        <p14:creationId xmlns="" xmlns:p14="http://schemas.microsoft.com/office/powerpoint/2010/main" val="15297529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High-Performance </a:t>
            </a:r>
            <a:r>
              <a:rPr lang="en-US" dirty="0" smtClean="0"/>
              <a:t>Computing </a:t>
            </a:r>
            <a:r>
              <a:rPr lang="en-US" dirty="0"/>
              <a:t>Models</a:t>
            </a:r>
          </a:p>
        </p:txBody>
      </p:sp>
      <p:sp>
        <p:nvSpPr>
          <p:cNvPr id="3" name="Content Placeholder 2"/>
          <p:cNvSpPr>
            <a:spLocks noGrp="1"/>
          </p:cNvSpPr>
          <p:nvPr>
            <p:ph idx="1"/>
          </p:nvPr>
        </p:nvSpPr>
        <p:spPr/>
        <p:txBody>
          <a:bodyPr>
            <a:normAutofit/>
          </a:bodyPr>
          <a:lstStyle/>
          <a:p>
            <a:r>
              <a:rPr lang="en-US" sz="2000" dirty="0"/>
              <a:t>Cloud computing also borrows from high-performance computing (HPC) </a:t>
            </a:r>
            <a:r>
              <a:rPr lang="en-US" sz="2000" dirty="0" smtClean="0"/>
              <a:t>techniques </a:t>
            </a:r>
            <a:r>
              <a:rPr lang="en-US" sz="2000" dirty="0"/>
              <a:t>for separating individual procedures into multiple simultaneous </a:t>
            </a:r>
            <a:r>
              <a:rPr lang="en-US" sz="2000" dirty="0" smtClean="0"/>
              <a:t>processes </a:t>
            </a:r>
            <a:r>
              <a:rPr lang="en-US" sz="2000" dirty="0"/>
              <a:t>that are sent out to individual computers, which then complete their </a:t>
            </a:r>
            <a:r>
              <a:rPr lang="en-US" sz="2000" dirty="0" smtClean="0"/>
              <a:t>portion </a:t>
            </a:r>
            <a:r>
              <a:rPr lang="en-US" sz="2000" dirty="0"/>
              <a:t>of the final result. </a:t>
            </a:r>
            <a:endParaRPr lang="en-US" sz="2000" dirty="0" smtClean="0"/>
          </a:p>
          <a:p>
            <a:endParaRPr lang="en-US" sz="2000" dirty="0"/>
          </a:p>
          <a:p>
            <a:r>
              <a:rPr lang="en-US" sz="2000" dirty="0" smtClean="0"/>
              <a:t>Individual </a:t>
            </a:r>
            <a:r>
              <a:rPr lang="en-US" sz="2000" dirty="0"/>
              <a:t>results are combined later to provide the </a:t>
            </a:r>
            <a:r>
              <a:rPr lang="en-US" sz="2000" dirty="0" smtClean="0"/>
              <a:t>complete </a:t>
            </a:r>
            <a:r>
              <a:rPr lang="en-US" sz="2000" dirty="0"/>
              <a:t>final result, as illustrated in the digital animation example of </a:t>
            </a:r>
            <a:r>
              <a:rPr lang="en-US" sz="2000" dirty="0" smtClean="0"/>
              <a:t>Figure 1.3</a:t>
            </a:r>
          </a:p>
          <a:p>
            <a:endParaRPr lang="en-US" sz="2000" dirty="0"/>
          </a:p>
          <a:p>
            <a:r>
              <a:rPr lang="en-US" sz="2000" dirty="0"/>
              <a:t>The digital animation example shows how a complete animation can </a:t>
            </a:r>
            <a:r>
              <a:rPr lang="en-US" sz="2000" dirty="0" smtClean="0"/>
              <a:t>be </a:t>
            </a:r>
            <a:r>
              <a:rPr lang="en-US" sz="2000" dirty="0"/>
              <a:t>broken down into smaller segments for concurrent rendering and then </a:t>
            </a:r>
            <a:r>
              <a:rPr lang="en-US" sz="2000" dirty="0" smtClean="0"/>
              <a:t>combined </a:t>
            </a:r>
            <a:r>
              <a:rPr lang="en-US" sz="2000" dirty="0"/>
              <a:t>into the final product using grid computing technologies.</a:t>
            </a:r>
          </a:p>
        </p:txBody>
      </p:sp>
      <p:sp>
        <p:nvSpPr>
          <p:cNvPr id="4" name="Slide Number Placeholder 3"/>
          <p:cNvSpPr>
            <a:spLocks noGrp="1"/>
          </p:cNvSpPr>
          <p:nvPr>
            <p:ph type="sldNum" sz="quarter" idx="12"/>
          </p:nvPr>
        </p:nvSpPr>
        <p:spPr/>
        <p:txBody>
          <a:bodyPr/>
          <a:lstStyle/>
          <a:p>
            <a:fld id="{397D224E-48A9-4C15-8486-539596679785}" type="slidenum">
              <a:rPr lang="en-US" smtClean="0"/>
              <a:pPr/>
              <a:t>34</a:t>
            </a:fld>
            <a:endParaRPr lang="en-US"/>
          </a:p>
        </p:txBody>
      </p:sp>
    </p:spTree>
    <p:extLst>
      <p:ext uri="{BB962C8B-B14F-4D97-AF65-F5344CB8AC3E}">
        <p14:creationId xmlns="" xmlns:p14="http://schemas.microsoft.com/office/powerpoint/2010/main" val="20177566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5" name="Slide Number Placeholder 4"/>
          <p:cNvSpPr>
            <a:spLocks noGrp="1"/>
          </p:cNvSpPr>
          <p:nvPr>
            <p:ph type="sldNum" sz="quarter" idx="12"/>
          </p:nvPr>
        </p:nvSpPr>
        <p:spPr/>
        <p:txBody>
          <a:bodyPr/>
          <a:lstStyle/>
          <a:p>
            <a:fld id="{397D224E-48A9-4C15-8486-539596679785}" type="slidenum">
              <a:rPr lang="en-US" smtClean="0"/>
              <a:pPr/>
              <a:t>35</a:t>
            </a:fld>
            <a:endParaRPr lang="en-US"/>
          </a:p>
        </p:txBody>
      </p:sp>
      <p:pic>
        <p:nvPicPr>
          <p:cNvPr id="4" name="Picture 3"/>
          <p:cNvPicPr>
            <a:picLocks noChangeAspect="1"/>
          </p:cNvPicPr>
          <p:nvPr/>
        </p:nvPicPr>
        <p:blipFill>
          <a:blip r:embed="rId2"/>
          <a:stretch>
            <a:fillRect/>
          </a:stretch>
        </p:blipFill>
        <p:spPr>
          <a:xfrm>
            <a:off x="609599" y="748144"/>
            <a:ext cx="10889673" cy="5500255"/>
          </a:xfrm>
          <a:prstGeom prst="rect">
            <a:avLst/>
          </a:prstGeom>
        </p:spPr>
      </p:pic>
    </p:spTree>
    <p:extLst>
      <p:ext uri="{BB962C8B-B14F-4D97-AF65-F5344CB8AC3E}">
        <p14:creationId xmlns="" xmlns:p14="http://schemas.microsoft.com/office/powerpoint/2010/main" val="376379963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2000" dirty="0"/>
              <a:t>CPU chip manufacturers are developing new technologies that can also dedicate per-core resources to </a:t>
            </a:r>
            <a:r>
              <a:rPr lang="en-US" sz="2000" dirty="0" smtClean="0"/>
              <a:t>individual </a:t>
            </a:r>
            <a:r>
              <a:rPr lang="en-US" sz="2000" dirty="0"/>
              <a:t>processes, like the Intel Many Integrated Core (Intel MIC) CPUs being </a:t>
            </a:r>
            <a:r>
              <a:rPr lang="en-US" sz="2000" dirty="0" smtClean="0"/>
              <a:t>developed </a:t>
            </a:r>
            <a:r>
              <a:rPr lang="en-US" sz="2000" dirty="0"/>
              <a:t>for high-performance and cloud computing environments.</a:t>
            </a:r>
          </a:p>
        </p:txBody>
      </p:sp>
      <p:sp>
        <p:nvSpPr>
          <p:cNvPr id="4" name="Slide Number Placeholder 3"/>
          <p:cNvSpPr>
            <a:spLocks noGrp="1"/>
          </p:cNvSpPr>
          <p:nvPr>
            <p:ph type="sldNum" sz="quarter" idx="12"/>
          </p:nvPr>
        </p:nvSpPr>
        <p:spPr/>
        <p:txBody>
          <a:bodyPr/>
          <a:lstStyle/>
          <a:p>
            <a:fld id="{397D224E-48A9-4C15-8486-539596679785}" type="slidenum">
              <a:rPr lang="en-US" smtClean="0"/>
              <a:pPr/>
              <a:t>36</a:t>
            </a:fld>
            <a:endParaRPr lang="en-US"/>
          </a:p>
        </p:txBody>
      </p:sp>
    </p:spTree>
    <p:extLst>
      <p:ext uri="{BB962C8B-B14F-4D97-AF65-F5344CB8AC3E}">
        <p14:creationId xmlns="" xmlns:p14="http://schemas.microsoft.com/office/powerpoint/2010/main" val="308400293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Computing </a:t>
            </a:r>
            <a:r>
              <a:rPr lang="en-US" dirty="0" smtClean="0"/>
              <a:t>Technologies</a:t>
            </a:r>
            <a:endParaRPr lang="en-US" dirty="0"/>
          </a:p>
        </p:txBody>
      </p:sp>
      <p:sp>
        <p:nvSpPr>
          <p:cNvPr id="3" name="Content Placeholder 2"/>
          <p:cNvSpPr>
            <a:spLocks noGrp="1"/>
          </p:cNvSpPr>
          <p:nvPr>
            <p:ph idx="1"/>
          </p:nvPr>
        </p:nvSpPr>
        <p:spPr/>
        <p:txBody>
          <a:bodyPr>
            <a:normAutofit/>
          </a:bodyPr>
          <a:lstStyle/>
          <a:p>
            <a:r>
              <a:rPr lang="en-US" dirty="0" smtClean="0"/>
              <a:t>Workstations</a:t>
            </a:r>
          </a:p>
          <a:p>
            <a:pPr lvl="1" algn="just"/>
            <a:r>
              <a:rPr lang="en-US" sz="2000" dirty="0"/>
              <a:t>The most common access client in an existing enterprise network will be the traditional thick client workstation system with a CPU, display device, and input devices (keyboard, mouse, trackball). </a:t>
            </a:r>
            <a:endParaRPr lang="en-US" sz="2000" dirty="0" smtClean="0"/>
          </a:p>
          <a:p>
            <a:pPr lvl="1" algn="just"/>
            <a:endParaRPr lang="en-US" sz="2000" dirty="0" smtClean="0"/>
          </a:p>
          <a:p>
            <a:pPr lvl="1" algn="just"/>
            <a:r>
              <a:rPr lang="en-US" sz="2000" dirty="0" smtClean="0"/>
              <a:t>This </a:t>
            </a:r>
            <a:r>
              <a:rPr lang="en-US" sz="2000" dirty="0"/>
              <a:t>type of client </a:t>
            </a:r>
            <a:r>
              <a:rPr lang="en-US" sz="2000" dirty="0" smtClean="0"/>
              <a:t>works </a:t>
            </a:r>
            <a:r>
              <a:rPr lang="en-US" sz="2000" dirty="0"/>
              <a:t>equally well in cloud environments, accessing web applications and </a:t>
            </a:r>
            <a:r>
              <a:rPr lang="en-US" sz="2000" dirty="0" smtClean="0"/>
              <a:t>cloud resources </a:t>
            </a:r>
            <a:r>
              <a:rPr lang="en-US" sz="2000" dirty="0"/>
              <a:t>through locally loaded applications and web browsers</a:t>
            </a:r>
            <a:r>
              <a:rPr lang="en-US" sz="2000" dirty="0" smtClean="0"/>
              <a:t>.</a:t>
            </a:r>
          </a:p>
          <a:p>
            <a:pPr lvl="1" algn="just"/>
            <a:endParaRPr lang="en-US" sz="2000" dirty="0"/>
          </a:p>
          <a:p>
            <a:pPr algn="just"/>
            <a:r>
              <a:rPr lang="en-US" dirty="0" smtClean="0"/>
              <a:t>Servers: </a:t>
            </a:r>
          </a:p>
          <a:p>
            <a:pPr lvl="1" algn="just"/>
            <a:r>
              <a:rPr lang="en-US" sz="2000" dirty="0"/>
              <a:t>Cloud backups provide another area in which traditional on-premise </a:t>
            </a:r>
            <a:r>
              <a:rPr lang="en-US" sz="2000" dirty="0" smtClean="0"/>
              <a:t>data </a:t>
            </a:r>
            <a:r>
              <a:rPr lang="en-US" sz="2000" dirty="0"/>
              <a:t>centers can take advantage of the economies of scale and automatic </a:t>
            </a:r>
            <a:r>
              <a:rPr lang="en-US" sz="2000" dirty="0" smtClean="0"/>
              <a:t>resource </a:t>
            </a:r>
            <a:r>
              <a:rPr lang="en-US" sz="2000" dirty="0"/>
              <a:t>allocation of cloud services to reduce costs for larger tape silos and </a:t>
            </a:r>
            <a:r>
              <a:rPr lang="en-US" sz="2000" dirty="0" smtClean="0"/>
              <a:t>expanded </a:t>
            </a:r>
            <a:r>
              <a:rPr lang="en-US" sz="2000" dirty="0"/>
              <a:t>backup data storage.</a:t>
            </a:r>
          </a:p>
        </p:txBody>
      </p:sp>
      <p:sp>
        <p:nvSpPr>
          <p:cNvPr id="4" name="Slide Number Placeholder 3"/>
          <p:cNvSpPr>
            <a:spLocks noGrp="1"/>
          </p:cNvSpPr>
          <p:nvPr>
            <p:ph type="sldNum" sz="quarter" idx="12"/>
          </p:nvPr>
        </p:nvSpPr>
        <p:spPr/>
        <p:txBody>
          <a:bodyPr/>
          <a:lstStyle/>
          <a:p>
            <a:fld id="{397D224E-48A9-4C15-8486-539596679785}" type="slidenum">
              <a:rPr lang="en-US" smtClean="0"/>
              <a:pPr/>
              <a:t>37</a:t>
            </a:fld>
            <a:endParaRPr lang="en-US"/>
          </a:p>
        </p:txBody>
      </p:sp>
    </p:spTree>
    <p:extLst>
      <p:ext uri="{BB962C8B-B14F-4D97-AF65-F5344CB8AC3E}">
        <p14:creationId xmlns="" xmlns:p14="http://schemas.microsoft.com/office/powerpoint/2010/main" val="96984000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Thin clients </a:t>
            </a:r>
            <a:endParaRPr lang="en-US" dirty="0" smtClean="0"/>
          </a:p>
          <a:p>
            <a:pPr lvl="2"/>
            <a:r>
              <a:rPr lang="en-US" dirty="0"/>
              <a:t>Thin clients have only a very basic operating system, display </a:t>
            </a:r>
            <a:r>
              <a:rPr lang="en-US" dirty="0" smtClean="0"/>
              <a:t>device</a:t>
            </a:r>
            <a:r>
              <a:rPr lang="en-US" dirty="0"/>
              <a:t>, and input devices but lack onboard storage for local applications</a:t>
            </a:r>
            <a:r>
              <a:rPr lang="en-US" dirty="0" smtClean="0"/>
              <a:t>.</a:t>
            </a:r>
          </a:p>
          <a:p>
            <a:pPr lvl="2"/>
            <a:endParaRPr lang="en-US" dirty="0" smtClean="0"/>
          </a:p>
          <a:p>
            <a:pPr lvl="2"/>
            <a:r>
              <a:rPr lang="en-US" dirty="0"/>
              <a:t>They </a:t>
            </a:r>
            <a:r>
              <a:rPr lang="en-US" dirty="0" smtClean="0"/>
              <a:t>depend </a:t>
            </a:r>
            <a:r>
              <a:rPr lang="en-US" dirty="0"/>
              <a:t>on remote software running on servers and so work very well with </a:t>
            </a:r>
            <a:r>
              <a:rPr lang="en-US" dirty="0" smtClean="0"/>
              <a:t>cloud services.</a:t>
            </a:r>
          </a:p>
          <a:p>
            <a:pPr lvl="2"/>
            <a:endParaRPr lang="en-US" dirty="0"/>
          </a:p>
          <a:p>
            <a:r>
              <a:rPr lang="en-US" dirty="0"/>
              <a:t>Mobile </a:t>
            </a:r>
            <a:r>
              <a:rPr lang="en-US" dirty="0" smtClean="0"/>
              <a:t>clients</a:t>
            </a:r>
          </a:p>
          <a:p>
            <a:pPr lvl="2"/>
            <a:r>
              <a:rPr lang="en-US" dirty="0"/>
              <a:t>Mobile devices from smartphones to tablets and constantly </a:t>
            </a:r>
            <a:r>
              <a:rPr lang="en-US" dirty="0" smtClean="0"/>
              <a:t>emerging </a:t>
            </a:r>
            <a:r>
              <a:rPr lang="en-US" dirty="0"/>
              <a:t>variations are perfect clients for blending with cloud services</a:t>
            </a:r>
            <a:r>
              <a:rPr lang="en-US" dirty="0" smtClean="0"/>
              <a:t>.</a:t>
            </a:r>
          </a:p>
          <a:p>
            <a:pPr lvl="2"/>
            <a:endParaRPr lang="en-US" dirty="0"/>
          </a:p>
          <a:p>
            <a:pPr lvl="2"/>
            <a:r>
              <a:rPr lang="en-US" dirty="0" smtClean="0"/>
              <a:t> </a:t>
            </a:r>
            <a:r>
              <a:rPr lang="en-US" dirty="0"/>
              <a:t>These </a:t>
            </a:r>
            <a:r>
              <a:rPr lang="en-US" dirty="0" smtClean="0"/>
              <a:t>devices </a:t>
            </a:r>
            <a:r>
              <a:rPr lang="en-US" dirty="0"/>
              <a:t>have sufficient onboard storage for rich user interface applications </a:t>
            </a:r>
            <a:r>
              <a:rPr lang="en-US"/>
              <a:t>but </a:t>
            </a:r>
            <a:r>
              <a:rPr lang="en-US" smtClean="0"/>
              <a:t>limited </a:t>
            </a:r>
            <a:r>
              <a:rPr lang="en-US" dirty="0"/>
              <a:t>CPU power and so rely on remote servers for the “heavy lifting” within </a:t>
            </a:r>
            <a:r>
              <a:rPr lang="en-US" dirty="0" smtClean="0"/>
              <a:t>data </a:t>
            </a:r>
            <a:r>
              <a:rPr lang="en-US" dirty="0"/>
              <a:t>processing and analytics applications.</a:t>
            </a:r>
          </a:p>
        </p:txBody>
      </p:sp>
      <p:sp>
        <p:nvSpPr>
          <p:cNvPr id="4" name="Slide Number Placeholder 3"/>
          <p:cNvSpPr>
            <a:spLocks noGrp="1"/>
          </p:cNvSpPr>
          <p:nvPr>
            <p:ph type="sldNum" sz="quarter" idx="12"/>
          </p:nvPr>
        </p:nvSpPr>
        <p:spPr/>
        <p:txBody>
          <a:bodyPr/>
          <a:lstStyle/>
          <a:p>
            <a:fld id="{397D224E-48A9-4C15-8486-539596679785}" type="slidenum">
              <a:rPr lang="en-US" smtClean="0"/>
              <a:pPr/>
              <a:t>38</a:t>
            </a:fld>
            <a:endParaRPr lang="en-US"/>
          </a:p>
        </p:txBody>
      </p:sp>
    </p:spTree>
    <p:extLst>
      <p:ext uri="{BB962C8B-B14F-4D97-AF65-F5344CB8AC3E}">
        <p14:creationId xmlns="" xmlns:p14="http://schemas.microsoft.com/office/powerpoint/2010/main" val="418051929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r>
              <a:rPr lang="en-US" sz="3600"/>
              <a:t>CHALLENGES</a:t>
            </a:r>
          </a:p>
        </p:txBody>
      </p:sp>
      <p:graphicFrame>
        <p:nvGraphicFramePr>
          <p:cNvPr id="118864" name="Group 80"/>
          <p:cNvGraphicFramePr>
            <a:graphicFrameLocks noGrp="1"/>
          </p:cNvGraphicFramePr>
          <p:nvPr>
            <p:ph type="tbl" idx="1"/>
          </p:nvPr>
        </p:nvGraphicFramePr>
        <p:xfrm>
          <a:off x="2209800" y="1981200"/>
          <a:ext cx="7702550" cy="1463040"/>
        </p:xfrm>
        <a:graphic>
          <a:graphicData uri="http://schemas.openxmlformats.org/drawingml/2006/table">
            <a:tbl>
              <a:tblPr/>
              <a:tblGrid>
                <a:gridCol w="3690938"/>
                <a:gridCol w="4011612"/>
              </a:tblGrid>
              <a:tr h="288925">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anose="020B0604020202020204" pitchFamily="34" charset="0"/>
                          <a:ea typeface="ＭＳ Ｐゴシック" panose="020B0600070205080204" pitchFamily="34" charset="-128"/>
                        </a:rPr>
                        <a:t>Challenge</a:t>
                      </a:r>
                      <a:endParaRPr kumimoji="0" lang="en-US" sz="1800" b="1" i="0" u="none" strike="noStrike" cap="none" normalizeH="0" baseline="0" smtClean="0">
                        <a:ln>
                          <a:noFill/>
                        </a:ln>
                        <a:solidFill>
                          <a:srgbClr val="F9D86C"/>
                        </a:solidFill>
                        <a:effectLst/>
                        <a:latin typeface="Arial" panose="020B0604020202020204" pitchFamily="34" charset="0"/>
                        <a:ea typeface="ＭＳ Ｐゴシック" panose="020B0600070205080204" pitchFamily="34" charset="-128"/>
                      </a:endParaRPr>
                    </a:p>
                  </a:txBody>
                  <a:tcPr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anose="020B0604020202020204" pitchFamily="34" charset="0"/>
                          <a:ea typeface="ＭＳ Ｐゴシック" panose="020B0600070205080204" pitchFamily="34" charset="-128"/>
                        </a:rPr>
                        <a:t>Opportunity</a:t>
                      </a:r>
                      <a:endParaRPr kumimoji="0" lang="en-US" sz="1800" b="1" i="0" u="none" strike="noStrike" cap="none" normalizeH="0" baseline="0" smtClean="0">
                        <a:ln>
                          <a:noFill/>
                        </a:ln>
                        <a:solidFill>
                          <a:srgbClr val="F9D86C"/>
                        </a:solidFill>
                        <a:effectLst/>
                        <a:latin typeface="Arial" panose="020B0604020202020204" pitchFamily="34" charset="0"/>
                        <a:ea typeface="ＭＳ Ｐゴシック" panose="020B0600070205080204" pitchFamily="34" charset="-128"/>
                      </a:endParaRPr>
                    </a:p>
                  </a:txBody>
                  <a:tcPr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r>
              <a:tr h="290513">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Availability</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Multiple providers</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r>
              <a:tr h="288925">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Data lock-in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Standardization</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82563">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Data Confidentiality</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7E7E7"/>
                    </a:solidFill>
                  </a:tcPr>
                </a:tc>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Encryption, VLANs, Firewalls</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r>
            </a:tbl>
          </a:graphicData>
        </a:graphic>
      </p:graphicFrame>
      <p:sp>
        <p:nvSpPr>
          <p:cNvPr id="2" name="Slide Number Placeholder 1"/>
          <p:cNvSpPr>
            <a:spLocks noGrp="1"/>
          </p:cNvSpPr>
          <p:nvPr>
            <p:ph type="sldNum" sz="quarter" idx="12"/>
          </p:nvPr>
        </p:nvSpPr>
        <p:spPr/>
        <p:txBody>
          <a:bodyPr/>
          <a:lstStyle/>
          <a:p>
            <a:fld id="{E5120110-FF3F-4382-A7E2-01AC37C56904}" type="slidenum">
              <a:rPr lang="en-US" smtClean="0"/>
              <a:pPr/>
              <a:t>39</a:t>
            </a:fld>
            <a:endParaRPr lang="en-US"/>
          </a:p>
        </p:txBody>
      </p:sp>
      <p:sp>
        <p:nvSpPr>
          <p:cNvPr id="118862" name="Rectangle 78"/>
          <p:cNvSpPr>
            <a:spLocks noChangeArrowheads="1"/>
          </p:cNvSpPr>
          <p:nvPr/>
        </p:nvSpPr>
        <p:spPr bwMode="auto">
          <a:xfrm>
            <a:off x="2279651" y="4005263"/>
            <a:ext cx="7777163" cy="2838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lang="en-US"/>
              <a:t>Online storage service The Linkup closed August 8, 2008</a:t>
            </a:r>
          </a:p>
          <a:p>
            <a:r>
              <a:rPr lang="en-US"/>
              <a:t>        - 20,000 paying subscribers lost their data</a:t>
            </a:r>
          </a:p>
          <a:p>
            <a:pPr lvl="1">
              <a:buFontTx/>
              <a:buChar char="•"/>
            </a:pPr>
            <a:endParaRPr lang="en-US"/>
          </a:p>
          <a:p>
            <a:pPr>
              <a:buFontTx/>
              <a:buChar char="•"/>
            </a:pPr>
            <a:r>
              <a:rPr lang="en-US"/>
              <a:t>Coghead, a cloud vendor closed its business in Feb 19,2009</a:t>
            </a:r>
          </a:p>
          <a:p>
            <a:pPr lvl="1"/>
            <a:r>
              <a:rPr lang="en-US"/>
              <a:t>- Customers need to rewrite their applications</a:t>
            </a:r>
          </a:p>
          <a:p>
            <a:pPr lvl="1">
              <a:buFontTx/>
              <a:buChar char="•"/>
            </a:pPr>
            <a:endParaRPr lang="en-US"/>
          </a:p>
          <a:p>
            <a:pPr lvl="1">
              <a:buFontTx/>
              <a:buChar char="•"/>
            </a:pPr>
            <a:endParaRPr lang="en-US"/>
          </a:p>
          <a:p>
            <a:pPr lvl="1">
              <a:buFontTx/>
              <a:buChar char="•"/>
            </a:pPr>
            <a:endParaRPr lang="en-US"/>
          </a:p>
          <a:p>
            <a:pPr lvl="1">
              <a:buFontTx/>
              <a:buChar char="•"/>
            </a:pPr>
            <a:endParaRPr lang="en-US"/>
          </a:p>
          <a:p>
            <a:pPr lvl="1">
              <a:buFontTx/>
              <a:buChar char="•"/>
            </a:pPr>
            <a:endParaRPr lang="en-US"/>
          </a:p>
        </p:txBody>
      </p:sp>
      <p:pic>
        <p:nvPicPr>
          <p:cNvPr id="118863" name="Picture 6" descr="EmailCloud_image.png"/>
          <p:cNvPicPr>
            <a:picLocks noChangeAspect="1"/>
          </p:cNvPicPr>
          <p:nvPr/>
        </p:nvPicPr>
        <p:blipFill>
          <a:blip r:embed="rId3">
            <a:extLst>
              <a:ext uri="{28A0092B-C50C-407E-A947-70E740481C1C}">
                <a14:useLocalDpi xmlns="" xmlns:a14="http://schemas.microsoft.com/office/drawing/2010/main" val="0"/>
              </a:ext>
            </a:extLst>
          </a:blip>
          <a:srcRect/>
          <a:stretch>
            <a:fillRect/>
          </a:stretch>
        </p:blipFill>
        <p:spPr bwMode="auto">
          <a:xfrm>
            <a:off x="9372600" y="5638801"/>
            <a:ext cx="1100138" cy="1000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24309620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US" sz="3600"/>
              <a:t>CHALLENGES</a:t>
            </a:r>
          </a:p>
        </p:txBody>
      </p:sp>
      <p:graphicFrame>
        <p:nvGraphicFramePr>
          <p:cNvPr id="123938" name="Group 34"/>
          <p:cNvGraphicFramePr>
            <a:graphicFrameLocks noGrp="1"/>
          </p:cNvGraphicFramePr>
          <p:nvPr>
            <p:ph type="tbl" idx="1"/>
          </p:nvPr>
        </p:nvGraphicFramePr>
        <p:xfrm>
          <a:off x="2135188" y="1981200"/>
          <a:ext cx="8208962" cy="3679826"/>
        </p:xfrm>
        <a:graphic>
          <a:graphicData uri="http://schemas.openxmlformats.org/drawingml/2006/table">
            <a:tbl>
              <a:tblPr/>
              <a:tblGrid>
                <a:gridCol w="3595687"/>
                <a:gridCol w="4613275"/>
              </a:tblGrid>
              <a:tr h="579438">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anose="020B0604020202020204" pitchFamily="34" charset="0"/>
                          <a:ea typeface="ＭＳ Ｐゴシック" panose="020B0600070205080204" pitchFamily="34" charset="-128"/>
                        </a:rPr>
                        <a:t>Challenge</a:t>
                      </a:r>
                      <a:endParaRPr kumimoji="0" lang="en-US" sz="1800" b="1" i="0" u="none" strike="noStrike" cap="none" normalizeH="0" baseline="0" smtClean="0">
                        <a:ln>
                          <a:noFill/>
                        </a:ln>
                        <a:solidFill>
                          <a:srgbClr val="F9D86C"/>
                        </a:solidFill>
                        <a:effectLst/>
                        <a:latin typeface="Arial" panose="020B0604020202020204" pitchFamily="34" charset="0"/>
                        <a:ea typeface="ＭＳ Ｐゴシック" panose="020B0600070205080204" pitchFamily="34" charset="-128"/>
                      </a:endParaRPr>
                    </a:p>
                  </a:txBody>
                  <a:tcPr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anose="020B0604020202020204" pitchFamily="34" charset="0"/>
                          <a:ea typeface="ＭＳ Ｐゴシック" panose="020B0600070205080204" pitchFamily="34" charset="-128"/>
                        </a:rPr>
                        <a:t>Opportunity</a:t>
                      </a:r>
                      <a:endParaRPr kumimoji="0" lang="en-US" sz="1800" b="1" i="0" u="none" strike="noStrike" cap="none" normalizeH="0" baseline="0" smtClean="0">
                        <a:ln>
                          <a:noFill/>
                        </a:ln>
                        <a:solidFill>
                          <a:srgbClr val="F9D86C"/>
                        </a:solidFill>
                        <a:effectLst/>
                        <a:latin typeface="Arial" panose="020B0604020202020204" pitchFamily="34" charset="0"/>
                        <a:ea typeface="ＭＳ Ｐゴシック" panose="020B0600070205080204" pitchFamily="34" charset="-128"/>
                      </a:endParaRPr>
                    </a:p>
                  </a:txBody>
                  <a:tcPr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r>
              <a:tr h="927100">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Data transfer bottlenecks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FedEx-ing disks, reuse data multiple times</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r>
              <a:tr h="457200">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Performance unpredictability</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Improved VM support, flash memory</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7200">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Scalable storage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Invent scalable storage</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r>
              <a:tr h="801688">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Bugs in large distributed systems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Invent Debugger using Distributed VMs</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7200">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Scaling quickly</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7E7E7"/>
                    </a:solidFill>
                  </a:tcPr>
                </a:tc>
                <a:tc>
                  <a:txBody>
                    <a:bodyPr/>
                    <a:lstStyle>
                      <a:lvl1pPr defTabSz="457200">
                        <a:spcBef>
                          <a:spcPct val="20000"/>
                        </a:spcBef>
                        <a:defRPr sz="28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defTabSz="45720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anose="020B0604020202020204" pitchFamily="34" charset="0"/>
                          <a:ea typeface="ＭＳ Ｐゴシック" panose="020B0600070205080204" pitchFamily="34" charset="-128"/>
                        </a:rPr>
                        <a:t>Invent Auto-Scaler</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r>
            </a:tbl>
          </a:graphicData>
        </a:graphic>
      </p:graphicFrame>
      <p:sp>
        <p:nvSpPr>
          <p:cNvPr id="2" name="Slide Number Placeholder 1"/>
          <p:cNvSpPr>
            <a:spLocks noGrp="1"/>
          </p:cNvSpPr>
          <p:nvPr>
            <p:ph type="sldNum" sz="quarter" idx="12"/>
          </p:nvPr>
        </p:nvSpPr>
        <p:spPr/>
        <p:txBody>
          <a:bodyPr/>
          <a:lstStyle/>
          <a:p>
            <a:fld id="{E5120110-FF3F-4382-A7E2-01AC37C56904}" type="slidenum">
              <a:rPr lang="en-US" smtClean="0"/>
              <a:pPr/>
              <a:t>40</a:t>
            </a:fld>
            <a:endParaRPr lang="en-US"/>
          </a:p>
        </p:txBody>
      </p:sp>
      <p:pic>
        <p:nvPicPr>
          <p:cNvPr id="123939" name="Picture 6" descr="EmailCloud_image.png"/>
          <p:cNvPicPr>
            <a:picLocks noChangeAspect="1"/>
          </p:cNvPicPr>
          <p:nvPr/>
        </p:nvPicPr>
        <p:blipFill>
          <a:blip r:embed="rId3">
            <a:extLst>
              <a:ext uri="{28A0092B-C50C-407E-A947-70E740481C1C}">
                <a14:useLocalDpi xmlns="" xmlns:a14="http://schemas.microsoft.com/office/drawing/2010/main" val="0"/>
              </a:ext>
            </a:extLst>
          </a:blip>
          <a:srcRect/>
          <a:stretch>
            <a:fillRect/>
          </a:stretch>
        </p:blipFill>
        <p:spPr bwMode="auto">
          <a:xfrm>
            <a:off x="9567864" y="5857876"/>
            <a:ext cx="1100137" cy="1000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183468920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Ethical issues in cloud computing</a:t>
            </a:r>
          </a:p>
        </p:txBody>
      </p:sp>
      <p:sp>
        <p:nvSpPr>
          <p:cNvPr id="3" name="Slide Number Placeholder 2"/>
          <p:cNvSpPr>
            <a:spLocks noGrp="1"/>
          </p:cNvSpPr>
          <p:nvPr>
            <p:ph type="sldNum" sz="quarter" idx="12"/>
          </p:nvPr>
        </p:nvSpPr>
        <p:spPr/>
        <p:txBody>
          <a:bodyPr/>
          <a:lstStyle/>
          <a:p>
            <a:fld id="{E5120110-FF3F-4382-A7E2-01AC37C56904}" type="slidenum">
              <a:rPr lang="en-US" smtClean="0"/>
              <a:pPr/>
              <a:t>41</a:t>
            </a:fld>
            <a:endParaRPr lang="en-US"/>
          </a:p>
        </p:txBody>
      </p:sp>
      <p:sp>
        <p:nvSpPr>
          <p:cNvPr id="4" name="TextBox 3"/>
          <p:cNvSpPr txBox="1"/>
          <p:nvPr/>
        </p:nvSpPr>
        <p:spPr>
          <a:xfrm>
            <a:off x="914400" y="1752600"/>
            <a:ext cx="10727140" cy="3416320"/>
          </a:xfrm>
          <a:prstGeom prst="rect">
            <a:avLst/>
          </a:prstGeom>
          <a:noFill/>
        </p:spPr>
        <p:txBody>
          <a:bodyPr wrap="square" rtlCol="0">
            <a:spAutoFit/>
          </a:bodyPr>
          <a:lstStyle/>
          <a:p>
            <a:pPr marL="285750" indent="-285750">
              <a:buFont typeface="Arial" panose="020B0604020202020204" pitchFamily="34" charset="0"/>
              <a:buChar char="•"/>
            </a:pPr>
            <a:r>
              <a:rPr lang="en-US" dirty="0" smtClean="0"/>
              <a:t>Reasons for Ethical Issues:</a:t>
            </a:r>
          </a:p>
          <a:p>
            <a:pPr marL="285750" indent="-285750">
              <a:buFont typeface="Arial" panose="020B0604020202020204" pitchFamily="34" charset="0"/>
              <a:buChar char="•"/>
            </a:pPr>
            <a:endParaRPr lang="en-US" dirty="0" smtClean="0"/>
          </a:p>
          <a:p>
            <a:pPr marL="742950" lvl="1" indent="-285750">
              <a:buFont typeface="Arial" panose="020B0604020202020204" pitchFamily="34" charset="0"/>
              <a:buChar char="•"/>
            </a:pPr>
            <a:r>
              <a:rPr lang="en-US" dirty="0"/>
              <a:t>(</a:t>
            </a:r>
            <a:r>
              <a:rPr lang="en-US" dirty="0" err="1"/>
              <a:t>i</a:t>
            </a:r>
            <a:r>
              <a:rPr lang="en-US" dirty="0"/>
              <a:t>) the control is relinquished to third-party services; </a:t>
            </a:r>
            <a:endParaRPr lang="en-US" dirty="0" smtClean="0"/>
          </a:p>
          <a:p>
            <a:pPr marL="742950" lvl="1" indent="-285750">
              <a:buFont typeface="Arial" panose="020B0604020202020204" pitchFamily="34" charset="0"/>
              <a:buChar char="•"/>
            </a:pPr>
            <a:r>
              <a:rPr lang="en-US" dirty="0" smtClean="0"/>
              <a:t>(</a:t>
            </a:r>
            <a:r>
              <a:rPr lang="en-US" dirty="0"/>
              <a:t>ii) the data </a:t>
            </a:r>
            <a:r>
              <a:rPr lang="en-US" dirty="0" smtClean="0"/>
              <a:t>is stored </a:t>
            </a:r>
            <a:r>
              <a:rPr lang="en-US" dirty="0"/>
              <a:t>on multiple sites administered by several organizations; and </a:t>
            </a:r>
            <a:endParaRPr lang="en-US" dirty="0" smtClean="0"/>
          </a:p>
          <a:p>
            <a:pPr marL="742950" lvl="1" indent="-285750">
              <a:buFont typeface="Arial" panose="020B0604020202020204" pitchFamily="34" charset="0"/>
              <a:buChar char="•"/>
            </a:pPr>
            <a:r>
              <a:rPr lang="en-US" dirty="0" smtClean="0"/>
              <a:t>(</a:t>
            </a:r>
            <a:r>
              <a:rPr lang="en-US" dirty="0"/>
              <a:t>iii) multiple services </a:t>
            </a:r>
            <a:r>
              <a:rPr lang="en-US" dirty="0" smtClean="0"/>
              <a:t>interoperate across </a:t>
            </a:r>
            <a:r>
              <a:rPr lang="en-US" dirty="0"/>
              <a:t>the network</a:t>
            </a:r>
            <a:r>
              <a:rPr lang="en-US" dirty="0" smtClean="0"/>
              <a:t>.</a:t>
            </a:r>
          </a:p>
          <a:p>
            <a:pPr marL="742950" lvl="1"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Unauthorized </a:t>
            </a:r>
            <a:r>
              <a:rPr lang="en-US" dirty="0"/>
              <a:t>access, data corruption, infrastructure failure, and service unavailability are some </a:t>
            </a:r>
            <a:r>
              <a:rPr lang="en-US" dirty="0" smtClean="0"/>
              <a:t>of the </a:t>
            </a:r>
            <a:r>
              <a:rPr lang="en-US" dirty="0"/>
              <a:t>risks related to relinquishing the control to third-party </a:t>
            </a:r>
            <a:r>
              <a:rPr lang="en-US" dirty="0" smtClean="0"/>
              <a:t>services; it </a:t>
            </a:r>
            <a:r>
              <a:rPr lang="en-US" dirty="0"/>
              <a:t>is difficult to identify the source and the entity causing it. </a:t>
            </a:r>
            <a:endParaRPr lang="en-US" dirty="0" smtClean="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complex structure of cloud services can make it difficult to determine who is responsible </a:t>
            </a:r>
            <a:r>
              <a:rPr lang="en-US" dirty="0" smtClean="0"/>
              <a:t>in case </a:t>
            </a:r>
            <a:r>
              <a:rPr lang="en-US" dirty="0"/>
              <a:t>something undesirable happens. (“problem of many hands.”)</a:t>
            </a:r>
          </a:p>
        </p:txBody>
      </p:sp>
    </p:spTree>
    <p:extLst>
      <p:ext uri="{BB962C8B-B14F-4D97-AF65-F5344CB8AC3E}">
        <p14:creationId xmlns="" xmlns:p14="http://schemas.microsoft.com/office/powerpoint/2010/main" val="402977097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Proactive prevention for ethical issues</a:t>
            </a:r>
            <a:endParaRPr lang="en-US" dirty="0"/>
          </a:p>
        </p:txBody>
      </p:sp>
      <p:sp>
        <p:nvSpPr>
          <p:cNvPr id="5" name="Content Placeholder 4"/>
          <p:cNvSpPr>
            <a:spLocks noGrp="1"/>
          </p:cNvSpPr>
          <p:nvPr>
            <p:ph idx="1"/>
          </p:nvPr>
        </p:nvSpPr>
        <p:spPr/>
        <p:txBody>
          <a:bodyPr>
            <a:normAutofit lnSpcReduction="10000"/>
          </a:bodyPr>
          <a:lstStyle/>
          <a:p>
            <a:pPr algn="just"/>
            <a:r>
              <a:rPr lang="en-US" sz="2000" dirty="0" smtClean="0"/>
              <a:t>The need for </a:t>
            </a:r>
            <a:r>
              <a:rPr lang="en-US" sz="2000" dirty="0"/>
              <a:t>rules and regulations for the governance of cloud computing is obvious. The </a:t>
            </a:r>
            <a:r>
              <a:rPr lang="en-US" sz="2000" dirty="0" smtClean="0"/>
              <a:t>term governance means the </a:t>
            </a:r>
            <a:r>
              <a:rPr lang="en-US" sz="2000" dirty="0"/>
              <a:t>manner in which something is governed or regulated, the method of management, or </a:t>
            </a:r>
            <a:r>
              <a:rPr lang="en-US" sz="2000" dirty="0" smtClean="0"/>
              <a:t>the </a:t>
            </a:r>
            <a:r>
              <a:rPr lang="en-US" sz="2000" dirty="0"/>
              <a:t>system </a:t>
            </a:r>
            <a:r>
              <a:rPr lang="en-US" sz="2000" dirty="0" smtClean="0"/>
              <a:t>of regulations.</a:t>
            </a:r>
          </a:p>
          <a:p>
            <a:pPr algn="just"/>
            <a:endParaRPr lang="en-US" sz="2000" dirty="0" smtClean="0"/>
          </a:p>
          <a:p>
            <a:pPr algn="just"/>
            <a:r>
              <a:rPr lang="en-US" sz="2000" dirty="0"/>
              <a:t>Explicit attention to ethics must be paid by governmental organizations providing </a:t>
            </a:r>
            <a:r>
              <a:rPr lang="en-US" sz="2000" dirty="0" smtClean="0"/>
              <a:t>research funding </a:t>
            </a:r>
            <a:r>
              <a:rPr lang="en-US" sz="2000" dirty="0"/>
              <a:t>for cloud computing; private companies are less constrained by ethics oversight and </a:t>
            </a:r>
            <a:r>
              <a:rPr lang="en-US" sz="2000" dirty="0" smtClean="0"/>
              <a:t>governance arrangements </a:t>
            </a:r>
            <a:r>
              <a:rPr lang="en-US" sz="2000" dirty="0"/>
              <a:t>are more conducive to profit generation</a:t>
            </a:r>
            <a:r>
              <a:rPr lang="en-US" sz="2000" dirty="0" smtClean="0"/>
              <a:t>.</a:t>
            </a:r>
          </a:p>
          <a:p>
            <a:pPr algn="just"/>
            <a:endParaRPr lang="en-US" sz="2000" dirty="0" smtClean="0"/>
          </a:p>
          <a:p>
            <a:r>
              <a:rPr lang="en-US" sz="2000" dirty="0"/>
              <a:t>Accountability is a necessary ingredient of cloud computing; adequate information about how </a:t>
            </a:r>
            <a:r>
              <a:rPr lang="en-US" sz="2000" dirty="0" smtClean="0"/>
              <a:t>data is </a:t>
            </a:r>
            <a:r>
              <a:rPr lang="en-US" sz="2000" dirty="0"/>
              <a:t>handled within the cloud and about allocation of responsibility are key elements for enforcing </a:t>
            </a:r>
            <a:r>
              <a:rPr lang="en-US" sz="2000" dirty="0" smtClean="0"/>
              <a:t>ethics rules </a:t>
            </a:r>
            <a:r>
              <a:rPr lang="en-US" sz="2000" dirty="0"/>
              <a:t>in cloud computing</a:t>
            </a:r>
            <a:r>
              <a:rPr lang="en-US" sz="2000" dirty="0" smtClean="0"/>
              <a:t>.</a:t>
            </a:r>
          </a:p>
          <a:p>
            <a:endParaRPr lang="en-US" sz="2000" dirty="0"/>
          </a:p>
          <a:p>
            <a:r>
              <a:rPr lang="en-US" sz="2000" dirty="0"/>
              <a:t>Unwanted dependency on a cloud service provider, the </a:t>
            </a:r>
            <a:r>
              <a:rPr lang="en-US" sz="2000" dirty="0" smtClean="0"/>
              <a:t>so-called vendor </a:t>
            </a:r>
            <a:r>
              <a:rPr lang="en-US" sz="2000" dirty="0"/>
              <a:t>lock-in, is a serious </a:t>
            </a:r>
            <a:r>
              <a:rPr lang="en-US" sz="2000" dirty="0" smtClean="0"/>
              <a:t>concern, and </a:t>
            </a:r>
            <a:r>
              <a:rPr lang="en-US" sz="2000" dirty="0"/>
              <a:t>the current standardization efforts at NIST attempt to address this problem.</a:t>
            </a:r>
          </a:p>
        </p:txBody>
      </p:sp>
      <p:sp>
        <p:nvSpPr>
          <p:cNvPr id="3" name="Slide Number Placeholder 2"/>
          <p:cNvSpPr>
            <a:spLocks noGrp="1"/>
          </p:cNvSpPr>
          <p:nvPr>
            <p:ph type="sldNum" sz="quarter" idx="12"/>
          </p:nvPr>
        </p:nvSpPr>
        <p:spPr/>
        <p:txBody>
          <a:bodyPr/>
          <a:lstStyle/>
          <a:p>
            <a:fld id="{397D224E-48A9-4C15-8486-539596679785}" type="slidenum">
              <a:rPr lang="en-US" smtClean="0"/>
              <a:pPr/>
              <a:t>42</a:t>
            </a:fld>
            <a:endParaRPr lang="en-US"/>
          </a:p>
        </p:txBody>
      </p:sp>
    </p:spTree>
    <p:extLst>
      <p:ext uri="{BB962C8B-B14F-4D97-AF65-F5344CB8AC3E}">
        <p14:creationId xmlns="" xmlns:p14="http://schemas.microsoft.com/office/powerpoint/2010/main" val="264527114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vulnerabilities</a:t>
            </a:r>
          </a:p>
        </p:txBody>
      </p:sp>
      <p:sp>
        <p:nvSpPr>
          <p:cNvPr id="3" name="Content Placeholder 2"/>
          <p:cNvSpPr>
            <a:spLocks noGrp="1"/>
          </p:cNvSpPr>
          <p:nvPr>
            <p:ph idx="1"/>
          </p:nvPr>
        </p:nvSpPr>
        <p:spPr/>
        <p:txBody>
          <a:bodyPr>
            <a:normAutofit/>
          </a:bodyPr>
          <a:lstStyle/>
          <a:p>
            <a:pPr algn="just"/>
            <a:r>
              <a:rPr lang="en-US" sz="2000" dirty="0"/>
              <a:t>Clouds are affected by malicious attacks and failures of the infrastructure (e.g., power failures). </a:t>
            </a:r>
            <a:r>
              <a:rPr lang="en-US" sz="2000" dirty="0" smtClean="0"/>
              <a:t>Such events </a:t>
            </a:r>
            <a:r>
              <a:rPr lang="en-US" sz="2000" dirty="0"/>
              <a:t>can affect Internet domain name servers and prevent access to a cloud or can directly </a:t>
            </a:r>
            <a:r>
              <a:rPr lang="en-US" sz="2000" dirty="0" smtClean="0"/>
              <a:t>affect the </a:t>
            </a:r>
            <a:r>
              <a:rPr lang="en-US" sz="2000" dirty="0"/>
              <a:t>clouds</a:t>
            </a:r>
            <a:r>
              <a:rPr lang="en-US" sz="2000" dirty="0" smtClean="0"/>
              <a:t>.</a:t>
            </a:r>
          </a:p>
          <a:p>
            <a:pPr algn="just"/>
            <a:endParaRPr lang="en-US" sz="2000" dirty="0"/>
          </a:p>
          <a:p>
            <a:pPr algn="just"/>
            <a:r>
              <a:rPr lang="en-US" sz="2000" dirty="0"/>
              <a:t>For example, an attack at Akamai on June 15, 2004 caused a domain name outage and </a:t>
            </a:r>
            <a:r>
              <a:rPr lang="en-US" sz="2000" dirty="0" smtClean="0"/>
              <a:t>a major </a:t>
            </a:r>
            <a:r>
              <a:rPr lang="en-US" sz="2000" dirty="0"/>
              <a:t>blackout that affected Google, Yahoo!, and many other sites. In May 2009 Google was the </a:t>
            </a:r>
            <a:r>
              <a:rPr lang="en-US" sz="2000" dirty="0" smtClean="0"/>
              <a:t>target of </a:t>
            </a:r>
            <a:r>
              <a:rPr lang="en-US" sz="2000" dirty="0"/>
              <a:t>a serious denial-of-service (</a:t>
            </a:r>
            <a:r>
              <a:rPr lang="en-US" sz="2000" dirty="0" err="1"/>
              <a:t>DoS</a:t>
            </a:r>
            <a:r>
              <a:rPr lang="en-US" sz="2000" dirty="0"/>
              <a:t>) attack that took down services such Google News and Gmail </a:t>
            </a:r>
            <a:r>
              <a:rPr lang="en-US" sz="2000" dirty="0" smtClean="0"/>
              <a:t>for several </a:t>
            </a:r>
            <a:r>
              <a:rPr lang="en-US" sz="2000" dirty="0"/>
              <a:t>days</a:t>
            </a:r>
            <a:r>
              <a:rPr lang="en-US" sz="2000" dirty="0" smtClean="0"/>
              <a:t>.</a:t>
            </a:r>
          </a:p>
          <a:p>
            <a:pPr algn="just"/>
            <a:endParaRPr lang="en-US" sz="2000" dirty="0"/>
          </a:p>
          <a:p>
            <a:pPr algn="just"/>
            <a:r>
              <a:rPr lang="en-US" sz="2000" dirty="0"/>
              <a:t>Lightning caused a prolonged downtime at Amazon on June 29 and 30, 2012; </a:t>
            </a:r>
            <a:r>
              <a:rPr lang="en-US" sz="2000" dirty="0" smtClean="0"/>
              <a:t>the AWS cloud </a:t>
            </a:r>
            <a:r>
              <a:rPr lang="en-US" sz="2000" dirty="0"/>
              <a:t>in </a:t>
            </a:r>
            <a:r>
              <a:rPr lang="en-US" sz="2000" dirty="0" smtClean="0"/>
              <a:t>the Eastern </a:t>
            </a:r>
            <a:r>
              <a:rPr lang="en-US" sz="2000" dirty="0"/>
              <a:t>region of the United States, which consists of 10 data centers across four availability </a:t>
            </a:r>
            <a:r>
              <a:rPr lang="en-US" sz="2000" dirty="0" smtClean="0"/>
              <a:t>zones, was </a:t>
            </a:r>
            <a:r>
              <a:rPr lang="en-US" sz="2000" dirty="0"/>
              <a:t>initially troubled by utility power fluctuations, probably caused by an electrical storm.</a:t>
            </a:r>
          </a:p>
        </p:txBody>
      </p:sp>
      <p:sp>
        <p:nvSpPr>
          <p:cNvPr id="4" name="Slide Number Placeholder 3"/>
          <p:cNvSpPr>
            <a:spLocks noGrp="1"/>
          </p:cNvSpPr>
          <p:nvPr>
            <p:ph type="sldNum" sz="quarter" idx="12"/>
          </p:nvPr>
        </p:nvSpPr>
        <p:spPr/>
        <p:txBody>
          <a:bodyPr/>
          <a:lstStyle/>
          <a:p>
            <a:fld id="{397D224E-48A9-4C15-8486-539596679785}" type="slidenum">
              <a:rPr lang="en-US" smtClean="0"/>
              <a:pPr/>
              <a:t>43</a:t>
            </a:fld>
            <a:endParaRPr lang="en-US"/>
          </a:p>
        </p:txBody>
      </p:sp>
    </p:spTree>
    <p:extLst>
      <p:ext uri="{BB962C8B-B14F-4D97-AF65-F5344CB8AC3E}">
        <p14:creationId xmlns="" xmlns:p14="http://schemas.microsoft.com/office/powerpoint/2010/main" val="105965266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sz="3600"/>
              <a:t>Future of Cloud Computing</a:t>
            </a:r>
          </a:p>
        </p:txBody>
      </p:sp>
      <p:sp>
        <p:nvSpPr>
          <p:cNvPr id="141315" name="Rectangle 3"/>
          <p:cNvSpPr>
            <a:spLocks noGrp="1" noChangeArrowheads="1"/>
          </p:cNvSpPr>
          <p:nvPr>
            <p:ph idx="1"/>
          </p:nvPr>
        </p:nvSpPr>
        <p:spPr/>
        <p:txBody>
          <a:bodyPr/>
          <a:lstStyle/>
          <a:p>
            <a:pPr algn="justLow"/>
            <a:r>
              <a:rPr lang="en-US" sz="1800"/>
              <a:t>In a May 2008 report, Merrill Lynch estimated that 12% of the worldwide software market would go to the cloud in that period. </a:t>
            </a:r>
          </a:p>
          <a:p>
            <a:pPr algn="justLow"/>
            <a:endParaRPr lang="en-US" sz="1800"/>
          </a:p>
          <a:p>
            <a:pPr algn="justLow"/>
            <a:r>
              <a:rPr lang="en-US" sz="1800"/>
              <a:t>IBM said it would spend $360 million to build a cloud computing data center in Research Triangle Park, N.C., bringing to nine its total of cloud computing centers worldwide.</a:t>
            </a:r>
          </a:p>
          <a:p>
            <a:pPr algn="justLow"/>
            <a:endParaRPr lang="en-US" sz="1800"/>
          </a:p>
          <a:p>
            <a:pPr algn="justLow"/>
            <a:r>
              <a:rPr lang="en-US" sz="1800"/>
              <a:t>Dell CEO </a:t>
            </a:r>
            <a:r>
              <a:rPr lang="en-US" sz="1800">
                <a:hlinkClick r:id="rId3"/>
              </a:rPr>
              <a:t>Michael Dell</a:t>
            </a:r>
            <a:r>
              <a:rPr lang="en-US" sz="1800"/>
              <a:t> says. "Now it's a several-hundred-million-dollar business, and it will be a billion-dollar business in a couple of years—it's on a tear." </a:t>
            </a:r>
          </a:p>
          <a:p>
            <a:pPr algn="justLow"/>
            <a:endParaRPr lang="en-US" sz="1800"/>
          </a:p>
          <a:p>
            <a:pPr algn="justLow"/>
            <a:r>
              <a:rPr lang="en-US" sz="1800"/>
              <a:t>Microsoft, has made cloud computing one of five priorities for fiscal 2009, according to a recent memo from CEO </a:t>
            </a:r>
            <a:r>
              <a:rPr lang="en-US" sz="1800">
                <a:hlinkClick r:id="rId4"/>
              </a:rPr>
              <a:t>Steve Ballmer</a:t>
            </a:r>
            <a:r>
              <a:rPr lang="en-US" sz="1800"/>
              <a:t>. </a:t>
            </a:r>
          </a:p>
        </p:txBody>
      </p:sp>
      <p:sp>
        <p:nvSpPr>
          <p:cNvPr id="2" name="Slide Number Placeholder 1"/>
          <p:cNvSpPr>
            <a:spLocks noGrp="1"/>
          </p:cNvSpPr>
          <p:nvPr>
            <p:ph type="sldNum" sz="quarter" idx="12"/>
          </p:nvPr>
        </p:nvSpPr>
        <p:spPr/>
        <p:txBody>
          <a:bodyPr/>
          <a:lstStyle/>
          <a:p>
            <a:fld id="{397D224E-48A9-4C15-8486-539596679785}" type="slidenum">
              <a:rPr lang="en-US" smtClean="0"/>
              <a:pPr/>
              <a:t>44</a:t>
            </a:fld>
            <a:endParaRPr lang="en-US"/>
          </a:p>
        </p:txBody>
      </p:sp>
      <p:pic>
        <p:nvPicPr>
          <p:cNvPr id="141316" name="Picture 6" descr="EmailCloud_image.png"/>
          <p:cNvPicPr>
            <a:picLocks noChangeAspect="1"/>
          </p:cNvPicPr>
          <p:nvPr/>
        </p:nvPicPr>
        <p:blipFill>
          <a:blip r:embed="rId5">
            <a:extLst>
              <a:ext uri="{28A0092B-C50C-407E-A947-70E740481C1C}">
                <a14:useLocalDpi xmlns="" xmlns:a14="http://schemas.microsoft.com/office/drawing/2010/main" val="0"/>
              </a:ext>
            </a:extLst>
          </a:blip>
          <a:srcRect/>
          <a:stretch>
            <a:fillRect/>
          </a:stretch>
        </p:blipFill>
        <p:spPr bwMode="auto">
          <a:xfrm>
            <a:off x="9567864" y="5857876"/>
            <a:ext cx="1100137" cy="1000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399428387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814</TotalTime>
  <Words>3912</Words>
  <Application>Microsoft Office PowerPoint</Application>
  <PresentationFormat>Custom</PresentationFormat>
  <Paragraphs>299</Paragraphs>
  <Slides>44</Slides>
  <Notes>5</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Flow</vt:lpstr>
      <vt:lpstr>Cloud Computing</vt:lpstr>
      <vt:lpstr>The Next Revolution in IT The Big Switch in IT</vt:lpstr>
      <vt:lpstr>Cloud Computing</vt:lpstr>
      <vt:lpstr>Cloud Computing</vt:lpstr>
      <vt:lpstr>Definition:</vt:lpstr>
      <vt:lpstr>Slide 6</vt:lpstr>
      <vt:lpstr>Slide 7</vt:lpstr>
      <vt:lpstr>Defining attributes</vt:lpstr>
      <vt:lpstr>Slide 9</vt:lpstr>
      <vt:lpstr>Types of cloud computing</vt:lpstr>
      <vt:lpstr>Success of cloud computing</vt:lpstr>
      <vt:lpstr>Obstacles of Cloud Computing</vt:lpstr>
      <vt:lpstr>Obstacles of Cloud Computing</vt:lpstr>
      <vt:lpstr>Cloud computing delivery models and services</vt:lpstr>
      <vt:lpstr>Delivery models and Services</vt:lpstr>
      <vt:lpstr>Three delivery models</vt:lpstr>
      <vt:lpstr>Software-as-a-Service(SaaS)</vt:lpstr>
      <vt:lpstr>Google Docs SaaS</vt:lpstr>
      <vt:lpstr>Platform-as-a-Service(PaaS)</vt:lpstr>
      <vt:lpstr>Heroku PaaS</vt:lpstr>
      <vt:lpstr>Infrastructure-as-a-Service (IaaS)</vt:lpstr>
      <vt:lpstr>AWS IaaS</vt:lpstr>
      <vt:lpstr>Defining Cloud Computing</vt:lpstr>
      <vt:lpstr>Clouds Hold More than Just Rain</vt:lpstr>
      <vt:lpstr>Common Characteristics of Cloud Computing</vt:lpstr>
      <vt:lpstr>Common Characteristics of Cloud Computing</vt:lpstr>
      <vt:lpstr>Common Characteristics of Cloud Computing</vt:lpstr>
      <vt:lpstr>Common Characteristics of Cloud Computing</vt:lpstr>
      <vt:lpstr>Understanding Distributed Application Design</vt:lpstr>
      <vt:lpstr>Clouds Virtualize the Application Development Cycle</vt:lpstr>
      <vt:lpstr> Resource Management Automation</vt:lpstr>
      <vt:lpstr>Clouds Help Deal with Botnets and  Distributed Denial-of-Service Attacks</vt:lpstr>
      <vt:lpstr>Virtualized Computing Environments</vt:lpstr>
      <vt:lpstr>High-Performance Computing Models</vt:lpstr>
      <vt:lpstr>Slide 35</vt:lpstr>
      <vt:lpstr>Slide 36</vt:lpstr>
      <vt:lpstr>Cloud Computing Technologies</vt:lpstr>
      <vt:lpstr>Slide 38</vt:lpstr>
      <vt:lpstr>CHALLENGES</vt:lpstr>
      <vt:lpstr>CHALLENGES</vt:lpstr>
      <vt:lpstr>Ethical issues in cloud computing</vt:lpstr>
      <vt:lpstr>Proactive prevention for ethical issues</vt:lpstr>
      <vt:lpstr>Cloud vulnerabilities</vt:lpstr>
      <vt:lpstr>Future of Cloud Computing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Sanjay Kushwaha</dc:creator>
  <cp:lastModifiedBy>user</cp:lastModifiedBy>
  <cp:revision>77</cp:revision>
  <dcterms:created xsi:type="dcterms:W3CDTF">2014-10-17T05:07:49Z</dcterms:created>
  <dcterms:modified xsi:type="dcterms:W3CDTF">2017-01-15T13:47:26Z</dcterms:modified>
</cp:coreProperties>
</file>